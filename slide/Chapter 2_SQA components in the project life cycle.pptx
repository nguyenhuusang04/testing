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slideLayouts/slideLayout21.xml" ContentType="application/vnd.openxmlformats-officedocument.presentationml.slideLayout+xml"/>
  <Override PartName="/ppt/theme/theme11.xml" ContentType="application/vnd.openxmlformats-officedocument.theme+xml"/>
  <Override PartName="/ppt/slideLayouts/slideLayout22.xml" ContentType="application/vnd.openxmlformats-officedocument.presentationml.slideLayout+xml"/>
  <Override PartName="/ppt/theme/theme12.xml" ContentType="application/vnd.openxmlformats-officedocument.theme+xml"/>
  <Override PartName="/ppt/slideLayouts/slideLayout23.xml" ContentType="application/vnd.openxmlformats-officedocument.presentationml.slideLayout+xml"/>
  <Override PartName="/ppt/theme/theme13.xml" ContentType="application/vnd.openxmlformats-officedocument.theme+xml"/>
  <Override PartName="/ppt/slideLayouts/slideLayout24.xml" ContentType="application/vnd.openxmlformats-officedocument.presentationml.slideLayout+xml"/>
  <Override PartName="/ppt/theme/theme1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0" r:id="rId2"/>
    <p:sldMasterId id="2147483712" r:id="rId3"/>
    <p:sldMasterId id="2147483714" r:id="rId4"/>
    <p:sldMasterId id="2147483716" r:id="rId5"/>
    <p:sldMasterId id="2147483718" r:id="rId6"/>
    <p:sldMasterId id="2147483720" r:id="rId7"/>
    <p:sldMasterId id="2147483722" r:id="rId8"/>
    <p:sldMasterId id="2147483724" r:id="rId9"/>
    <p:sldMasterId id="2147483726" r:id="rId10"/>
    <p:sldMasterId id="2147483728" r:id="rId11"/>
    <p:sldMasterId id="2147483730" r:id="rId12"/>
    <p:sldMasterId id="2147483732" r:id="rId13"/>
    <p:sldMasterId id="2147483734" r:id="rId14"/>
    <p:sldMasterId id="2147483790" r:id="rId15"/>
  </p:sldMasterIdLst>
  <p:notesMasterIdLst>
    <p:notesMasterId r:id="rId128"/>
  </p:notesMasterIdLst>
  <p:handoutMasterIdLst>
    <p:handoutMasterId r:id="rId129"/>
  </p:handoutMasterIdLst>
  <p:sldIdLst>
    <p:sldId id="256" r:id="rId16"/>
    <p:sldId id="488" r:id="rId17"/>
    <p:sldId id="448" r:id="rId18"/>
    <p:sldId id="498" r:id="rId19"/>
    <p:sldId id="257" r:id="rId20"/>
    <p:sldId id="518" r:id="rId21"/>
    <p:sldId id="519" r:id="rId22"/>
    <p:sldId id="520" r:id="rId23"/>
    <p:sldId id="521" r:id="rId24"/>
    <p:sldId id="358" r:id="rId25"/>
    <p:sldId id="359" r:id="rId26"/>
    <p:sldId id="360" r:id="rId27"/>
    <p:sldId id="490" r:id="rId28"/>
    <p:sldId id="491" r:id="rId29"/>
    <p:sldId id="495" r:id="rId30"/>
    <p:sldId id="496" r:id="rId31"/>
    <p:sldId id="493" r:id="rId32"/>
    <p:sldId id="367" r:id="rId33"/>
    <p:sldId id="426" r:id="rId34"/>
    <p:sldId id="368" r:id="rId35"/>
    <p:sldId id="372" r:id="rId36"/>
    <p:sldId id="373" r:id="rId37"/>
    <p:sldId id="374" r:id="rId38"/>
    <p:sldId id="452" r:id="rId39"/>
    <p:sldId id="375" r:id="rId40"/>
    <p:sldId id="376" r:id="rId41"/>
    <p:sldId id="379" r:id="rId42"/>
    <p:sldId id="377" r:id="rId43"/>
    <p:sldId id="378" r:id="rId44"/>
    <p:sldId id="380" r:id="rId45"/>
    <p:sldId id="453" r:id="rId46"/>
    <p:sldId id="382" r:id="rId47"/>
    <p:sldId id="383" r:id="rId48"/>
    <p:sldId id="384" r:id="rId49"/>
    <p:sldId id="385" r:id="rId50"/>
    <p:sldId id="454" r:id="rId51"/>
    <p:sldId id="386" r:id="rId52"/>
    <p:sldId id="455" r:id="rId53"/>
    <p:sldId id="387" r:id="rId54"/>
    <p:sldId id="388" r:id="rId55"/>
    <p:sldId id="531" r:id="rId56"/>
    <p:sldId id="516" r:id="rId57"/>
    <p:sldId id="517" r:id="rId58"/>
    <p:sldId id="390" r:id="rId59"/>
    <p:sldId id="391" r:id="rId60"/>
    <p:sldId id="392" r:id="rId61"/>
    <p:sldId id="393" r:id="rId62"/>
    <p:sldId id="532" r:id="rId63"/>
    <p:sldId id="395" r:id="rId64"/>
    <p:sldId id="396" r:id="rId65"/>
    <p:sldId id="397" r:id="rId66"/>
    <p:sldId id="398" r:id="rId67"/>
    <p:sldId id="399" r:id="rId68"/>
    <p:sldId id="400" r:id="rId69"/>
    <p:sldId id="401" r:id="rId70"/>
    <p:sldId id="402" r:id="rId71"/>
    <p:sldId id="403" r:id="rId72"/>
    <p:sldId id="405" r:id="rId73"/>
    <p:sldId id="406" r:id="rId74"/>
    <p:sldId id="407" r:id="rId75"/>
    <p:sldId id="408" r:id="rId76"/>
    <p:sldId id="409" r:id="rId77"/>
    <p:sldId id="410" r:id="rId78"/>
    <p:sldId id="411" r:id="rId79"/>
    <p:sldId id="412" r:id="rId80"/>
    <p:sldId id="413" r:id="rId81"/>
    <p:sldId id="414" r:id="rId82"/>
    <p:sldId id="415" r:id="rId83"/>
    <p:sldId id="511" r:id="rId84"/>
    <p:sldId id="512" r:id="rId85"/>
    <p:sldId id="418" r:id="rId86"/>
    <p:sldId id="421" r:id="rId87"/>
    <p:sldId id="422" r:id="rId88"/>
    <p:sldId id="423" r:id="rId89"/>
    <p:sldId id="424" r:id="rId90"/>
    <p:sldId id="527" r:id="rId91"/>
    <p:sldId id="528" r:id="rId92"/>
    <p:sldId id="529" r:id="rId93"/>
    <p:sldId id="530" r:id="rId94"/>
    <p:sldId id="389" r:id="rId95"/>
    <p:sldId id="431" r:id="rId96"/>
    <p:sldId id="485" r:id="rId97"/>
    <p:sldId id="432" r:id="rId98"/>
    <p:sldId id="457" r:id="rId99"/>
    <p:sldId id="460" r:id="rId100"/>
    <p:sldId id="462" r:id="rId101"/>
    <p:sldId id="436" r:id="rId102"/>
    <p:sldId id="522" r:id="rId103"/>
    <p:sldId id="435" r:id="rId104"/>
    <p:sldId id="434" r:id="rId105"/>
    <p:sldId id="437" r:id="rId106"/>
    <p:sldId id="439" r:id="rId107"/>
    <p:sldId id="438" r:id="rId108"/>
    <p:sldId id="475" r:id="rId109"/>
    <p:sldId id="440" r:id="rId110"/>
    <p:sldId id="441" r:id="rId111"/>
    <p:sldId id="442" r:id="rId112"/>
    <p:sldId id="443" r:id="rId113"/>
    <p:sldId id="478" r:id="rId114"/>
    <p:sldId id="534" r:id="rId115"/>
    <p:sldId id="533" r:id="rId116"/>
    <p:sldId id="509" r:id="rId117"/>
    <p:sldId id="499" r:id="rId118"/>
    <p:sldId id="500" r:id="rId119"/>
    <p:sldId id="513" r:id="rId120"/>
    <p:sldId id="502" r:id="rId121"/>
    <p:sldId id="515" r:id="rId122"/>
    <p:sldId id="507" r:id="rId123"/>
    <p:sldId id="503" r:id="rId124"/>
    <p:sldId id="506" r:id="rId125"/>
    <p:sldId id="508" r:id="rId126"/>
    <p:sldId id="514" r:id="rId1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22" autoAdjust="0"/>
    <p:restoredTop sz="62025" autoAdjust="0"/>
  </p:normalViewPr>
  <p:slideViewPr>
    <p:cSldViewPr>
      <p:cViewPr varScale="1">
        <p:scale>
          <a:sx n="51" d="100"/>
          <a:sy n="51" d="100"/>
        </p:scale>
        <p:origin x="494" y="38"/>
      </p:cViewPr>
      <p:guideLst>
        <p:guide orient="horz" pos="2160"/>
        <p:guide pos="2880"/>
      </p:guideLst>
    </p:cSldViewPr>
  </p:slideViewPr>
  <p:outlineViewPr>
    <p:cViewPr>
      <p:scale>
        <a:sx n="33" d="100"/>
        <a:sy n="33" d="100"/>
      </p:scale>
      <p:origin x="0" y="4285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2.xml"/><Relationship Id="rId21" Type="http://schemas.openxmlformats.org/officeDocument/2006/relationships/slide" Target="slides/slide6.xml"/><Relationship Id="rId42" Type="http://schemas.openxmlformats.org/officeDocument/2006/relationships/slide" Target="slides/slide27.xml"/><Relationship Id="rId63" Type="http://schemas.openxmlformats.org/officeDocument/2006/relationships/slide" Target="slides/slide48.xml"/><Relationship Id="rId84" Type="http://schemas.openxmlformats.org/officeDocument/2006/relationships/slide" Target="slides/slide69.xml"/><Relationship Id="rId16" Type="http://schemas.openxmlformats.org/officeDocument/2006/relationships/slide" Target="slides/slide1.xml"/><Relationship Id="rId107" Type="http://schemas.openxmlformats.org/officeDocument/2006/relationships/slide" Target="slides/slide92.xml"/><Relationship Id="rId11" Type="http://schemas.openxmlformats.org/officeDocument/2006/relationships/slideMaster" Target="slideMasters/slideMaster11.xml"/><Relationship Id="rId32" Type="http://schemas.openxmlformats.org/officeDocument/2006/relationships/slide" Target="slides/slide17.xml"/><Relationship Id="rId37" Type="http://schemas.openxmlformats.org/officeDocument/2006/relationships/slide" Target="slides/slide22.xml"/><Relationship Id="rId53" Type="http://schemas.openxmlformats.org/officeDocument/2006/relationships/slide" Target="slides/slide38.xml"/><Relationship Id="rId58" Type="http://schemas.openxmlformats.org/officeDocument/2006/relationships/slide" Target="slides/slide43.xml"/><Relationship Id="rId74" Type="http://schemas.openxmlformats.org/officeDocument/2006/relationships/slide" Target="slides/slide59.xml"/><Relationship Id="rId79" Type="http://schemas.openxmlformats.org/officeDocument/2006/relationships/slide" Target="slides/slide64.xml"/><Relationship Id="rId102" Type="http://schemas.openxmlformats.org/officeDocument/2006/relationships/slide" Target="slides/slide87.xml"/><Relationship Id="rId123" Type="http://schemas.openxmlformats.org/officeDocument/2006/relationships/slide" Target="slides/slide108.xml"/><Relationship Id="rId128" Type="http://schemas.openxmlformats.org/officeDocument/2006/relationships/notesMaster" Target="notesMasters/notesMaster1.xml"/><Relationship Id="rId5" Type="http://schemas.openxmlformats.org/officeDocument/2006/relationships/slideMaster" Target="slideMasters/slideMaster5.xml"/><Relationship Id="rId90" Type="http://schemas.openxmlformats.org/officeDocument/2006/relationships/slide" Target="slides/slide75.xml"/><Relationship Id="rId95" Type="http://schemas.openxmlformats.org/officeDocument/2006/relationships/slide" Target="slides/slide80.xml"/><Relationship Id="rId22" Type="http://schemas.openxmlformats.org/officeDocument/2006/relationships/slide" Target="slides/slide7.xml"/><Relationship Id="rId27" Type="http://schemas.openxmlformats.org/officeDocument/2006/relationships/slide" Target="slides/slide12.xml"/><Relationship Id="rId43" Type="http://schemas.openxmlformats.org/officeDocument/2006/relationships/slide" Target="slides/slide28.xml"/><Relationship Id="rId48" Type="http://schemas.openxmlformats.org/officeDocument/2006/relationships/slide" Target="slides/slide33.xml"/><Relationship Id="rId64" Type="http://schemas.openxmlformats.org/officeDocument/2006/relationships/slide" Target="slides/slide49.xml"/><Relationship Id="rId69" Type="http://schemas.openxmlformats.org/officeDocument/2006/relationships/slide" Target="slides/slide54.xml"/><Relationship Id="rId113" Type="http://schemas.openxmlformats.org/officeDocument/2006/relationships/slide" Target="slides/slide98.xml"/><Relationship Id="rId118" Type="http://schemas.openxmlformats.org/officeDocument/2006/relationships/slide" Target="slides/slide103.xml"/><Relationship Id="rId80" Type="http://schemas.openxmlformats.org/officeDocument/2006/relationships/slide" Target="slides/slide65.xml"/><Relationship Id="rId85" Type="http://schemas.openxmlformats.org/officeDocument/2006/relationships/slide" Target="slides/slide70.xml"/><Relationship Id="rId12" Type="http://schemas.openxmlformats.org/officeDocument/2006/relationships/slideMaster" Target="slideMasters/slideMaster12.xml"/><Relationship Id="rId17" Type="http://schemas.openxmlformats.org/officeDocument/2006/relationships/slide" Target="slides/slide2.xml"/><Relationship Id="rId33" Type="http://schemas.openxmlformats.org/officeDocument/2006/relationships/slide" Target="slides/slide18.xml"/><Relationship Id="rId38" Type="http://schemas.openxmlformats.org/officeDocument/2006/relationships/slide" Target="slides/slide23.xml"/><Relationship Id="rId59" Type="http://schemas.openxmlformats.org/officeDocument/2006/relationships/slide" Target="slides/slide44.xml"/><Relationship Id="rId103" Type="http://schemas.openxmlformats.org/officeDocument/2006/relationships/slide" Target="slides/slide88.xml"/><Relationship Id="rId108" Type="http://schemas.openxmlformats.org/officeDocument/2006/relationships/slide" Target="slides/slide93.xml"/><Relationship Id="rId124" Type="http://schemas.openxmlformats.org/officeDocument/2006/relationships/slide" Target="slides/slide109.xml"/><Relationship Id="rId129" Type="http://schemas.openxmlformats.org/officeDocument/2006/relationships/handoutMaster" Target="handoutMasters/handoutMaster1.xml"/><Relationship Id="rId54" Type="http://schemas.openxmlformats.org/officeDocument/2006/relationships/slide" Target="slides/slide39.xml"/><Relationship Id="rId70" Type="http://schemas.openxmlformats.org/officeDocument/2006/relationships/slide" Target="slides/slide55.xml"/><Relationship Id="rId75" Type="http://schemas.openxmlformats.org/officeDocument/2006/relationships/slide" Target="slides/slide60.xml"/><Relationship Id="rId91" Type="http://schemas.openxmlformats.org/officeDocument/2006/relationships/slide" Target="slides/slide76.xml"/><Relationship Id="rId96" Type="http://schemas.openxmlformats.org/officeDocument/2006/relationships/slide" Target="slides/slide8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8.xml"/><Relationship Id="rId28" Type="http://schemas.openxmlformats.org/officeDocument/2006/relationships/slide" Target="slides/slide13.xml"/><Relationship Id="rId49" Type="http://schemas.openxmlformats.org/officeDocument/2006/relationships/slide" Target="slides/slide34.xml"/><Relationship Id="rId114" Type="http://schemas.openxmlformats.org/officeDocument/2006/relationships/slide" Target="slides/slide99.xml"/><Relationship Id="rId119" Type="http://schemas.openxmlformats.org/officeDocument/2006/relationships/slide" Target="slides/slide104.xml"/><Relationship Id="rId44" Type="http://schemas.openxmlformats.org/officeDocument/2006/relationships/slide" Target="slides/slide29.xml"/><Relationship Id="rId60" Type="http://schemas.openxmlformats.org/officeDocument/2006/relationships/slide" Target="slides/slide45.xml"/><Relationship Id="rId65" Type="http://schemas.openxmlformats.org/officeDocument/2006/relationships/slide" Target="slides/slide50.xml"/><Relationship Id="rId81" Type="http://schemas.openxmlformats.org/officeDocument/2006/relationships/slide" Target="slides/slide66.xml"/><Relationship Id="rId86" Type="http://schemas.openxmlformats.org/officeDocument/2006/relationships/slide" Target="slides/slide71.xml"/><Relationship Id="rId130" Type="http://schemas.openxmlformats.org/officeDocument/2006/relationships/presProps" Target="presProps.xml"/><Relationship Id="rId13" Type="http://schemas.openxmlformats.org/officeDocument/2006/relationships/slideMaster" Target="slideMasters/slideMaster13.xml"/><Relationship Id="rId18" Type="http://schemas.openxmlformats.org/officeDocument/2006/relationships/slide" Target="slides/slide3.xml"/><Relationship Id="rId39" Type="http://schemas.openxmlformats.org/officeDocument/2006/relationships/slide" Target="slides/slide24.xml"/><Relationship Id="rId109" Type="http://schemas.openxmlformats.org/officeDocument/2006/relationships/slide" Target="slides/slide94.xml"/><Relationship Id="rId34" Type="http://schemas.openxmlformats.org/officeDocument/2006/relationships/slide" Target="slides/slide19.xml"/><Relationship Id="rId50" Type="http://schemas.openxmlformats.org/officeDocument/2006/relationships/slide" Target="slides/slide35.xml"/><Relationship Id="rId55" Type="http://schemas.openxmlformats.org/officeDocument/2006/relationships/slide" Target="slides/slide40.xml"/><Relationship Id="rId76" Type="http://schemas.openxmlformats.org/officeDocument/2006/relationships/slide" Target="slides/slide61.xml"/><Relationship Id="rId97" Type="http://schemas.openxmlformats.org/officeDocument/2006/relationships/slide" Target="slides/slide82.xml"/><Relationship Id="rId104" Type="http://schemas.openxmlformats.org/officeDocument/2006/relationships/slide" Target="slides/slide89.xml"/><Relationship Id="rId120" Type="http://schemas.openxmlformats.org/officeDocument/2006/relationships/slide" Target="slides/slide105.xml"/><Relationship Id="rId125" Type="http://schemas.openxmlformats.org/officeDocument/2006/relationships/slide" Target="slides/slide110.xml"/><Relationship Id="rId7" Type="http://schemas.openxmlformats.org/officeDocument/2006/relationships/slideMaster" Target="slideMasters/slideMaster7.xml"/><Relationship Id="rId71" Type="http://schemas.openxmlformats.org/officeDocument/2006/relationships/slide" Target="slides/slide56.xml"/><Relationship Id="rId92" Type="http://schemas.openxmlformats.org/officeDocument/2006/relationships/slide" Target="slides/slide77.xml"/><Relationship Id="rId2" Type="http://schemas.openxmlformats.org/officeDocument/2006/relationships/slideMaster" Target="slideMasters/slideMaster2.xml"/><Relationship Id="rId29" Type="http://schemas.openxmlformats.org/officeDocument/2006/relationships/slide" Target="slides/slide14.xml"/><Relationship Id="rId24" Type="http://schemas.openxmlformats.org/officeDocument/2006/relationships/slide" Target="slides/slide9.xml"/><Relationship Id="rId40" Type="http://schemas.openxmlformats.org/officeDocument/2006/relationships/slide" Target="slides/slide25.xml"/><Relationship Id="rId45" Type="http://schemas.openxmlformats.org/officeDocument/2006/relationships/slide" Target="slides/slide30.xml"/><Relationship Id="rId66" Type="http://schemas.openxmlformats.org/officeDocument/2006/relationships/slide" Target="slides/slide51.xml"/><Relationship Id="rId87" Type="http://schemas.openxmlformats.org/officeDocument/2006/relationships/slide" Target="slides/slide72.xml"/><Relationship Id="rId110" Type="http://schemas.openxmlformats.org/officeDocument/2006/relationships/slide" Target="slides/slide95.xml"/><Relationship Id="rId115" Type="http://schemas.openxmlformats.org/officeDocument/2006/relationships/slide" Target="slides/slide100.xml"/><Relationship Id="rId131" Type="http://schemas.openxmlformats.org/officeDocument/2006/relationships/viewProps" Target="viewProps.xml"/><Relationship Id="rId61" Type="http://schemas.openxmlformats.org/officeDocument/2006/relationships/slide" Target="slides/slide46.xml"/><Relationship Id="rId82" Type="http://schemas.openxmlformats.org/officeDocument/2006/relationships/slide" Target="slides/slide67.xml"/><Relationship Id="rId19" Type="http://schemas.openxmlformats.org/officeDocument/2006/relationships/slide" Target="slides/slide4.xml"/><Relationship Id="rId14" Type="http://schemas.openxmlformats.org/officeDocument/2006/relationships/slideMaster" Target="slideMasters/slideMaster14.xml"/><Relationship Id="rId30" Type="http://schemas.openxmlformats.org/officeDocument/2006/relationships/slide" Target="slides/slide15.xml"/><Relationship Id="rId35" Type="http://schemas.openxmlformats.org/officeDocument/2006/relationships/slide" Target="slides/slide20.xml"/><Relationship Id="rId56" Type="http://schemas.openxmlformats.org/officeDocument/2006/relationships/slide" Target="slides/slide41.xml"/><Relationship Id="rId77" Type="http://schemas.openxmlformats.org/officeDocument/2006/relationships/slide" Target="slides/slide62.xml"/><Relationship Id="rId100" Type="http://schemas.openxmlformats.org/officeDocument/2006/relationships/slide" Target="slides/slide85.xml"/><Relationship Id="rId105" Type="http://schemas.openxmlformats.org/officeDocument/2006/relationships/slide" Target="slides/slide90.xml"/><Relationship Id="rId126" Type="http://schemas.openxmlformats.org/officeDocument/2006/relationships/slide" Target="slides/slide111.xml"/><Relationship Id="rId8" Type="http://schemas.openxmlformats.org/officeDocument/2006/relationships/slideMaster" Target="slideMasters/slideMaster8.xml"/><Relationship Id="rId51" Type="http://schemas.openxmlformats.org/officeDocument/2006/relationships/slide" Target="slides/slide36.xml"/><Relationship Id="rId72" Type="http://schemas.openxmlformats.org/officeDocument/2006/relationships/slide" Target="slides/slide57.xml"/><Relationship Id="rId93" Type="http://schemas.openxmlformats.org/officeDocument/2006/relationships/slide" Target="slides/slide78.xml"/><Relationship Id="rId98" Type="http://schemas.openxmlformats.org/officeDocument/2006/relationships/slide" Target="slides/slide83.xml"/><Relationship Id="rId121" Type="http://schemas.openxmlformats.org/officeDocument/2006/relationships/slide" Target="slides/slide106.xml"/><Relationship Id="rId3" Type="http://schemas.openxmlformats.org/officeDocument/2006/relationships/slideMaster" Target="slideMasters/slideMaster3.xml"/><Relationship Id="rId25" Type="http://schemas.openxmlformats.org/officeDocument/2006/relationships/slide" Target="slides/slide10.xml"/><Relationship Id="rId46" Type="http://schemas.openxmlformats.org/officeDocument/2006/relationships/slide" Target="slides/slide31.xml"/><Relationship Id="rId67" Type="http://schemas.openxmlformats.org/officeDocument/2006/relationships/slide" Target="slides/slide52.xml"/><Relationship Id="rId116" Type="http://schemas.openxmlformats.org/officeDocument/2006/relationships/slide" Target="slides/slide101.xml"/><Relationship Id="rId20" Type="http://schemas.openxmlformats.org/officeDocument/2006/relationships/slide" Target="slides/slide5.xml"/><Relationship Id="rId41" Type="http://schemas.openxmlformats.org/officeDocument/2006/relationships/slide" Target="slides/slide26.xml"/><Relationship Id="rId62" Type="http://schemas.openxmlformats.org/officeDocument/2006/relationships/slide" Target="slides/slide47.xml"/><Relationship Id="rId83" Type="http://schemas.openxmlformats.org/officeDocument/2006/relationships/slide" Target="slides/slide68.xml"/><Relationship Id="rId88" Type="http://schemas.openxmlformats.org/officeDocument/2006/relationships/slide" Target="slides/slide73.xml"/><Relationship Id="rId111" Type="http://schemas.openxmlformats.org/officeDocument/2006/relationships/slide" Target="slides/slide96.xml"/><Relationship Id="rId132" Type="http://schemas.openxmlformats.org/officeDocument/2006/relationships/theme" Target="theme/theme1.xml"/><Relationship Id="rId15" Type="http://schemas.openxmlformats.org/officeDocument/2006/relationships/slideMaster" Target="slideMasters/slideMaster15.xml"/><Relationship Id="rId36" Type="http://schemas.openxmlformats.org/officeDocument/2006/relationships/slide" Target="slides/slide21.xml"/><Relationship Id="rId57" Type="http://schemas.openxmlformats.org/officeDocument/2006/relationships/slide" Target="slides/slide42.xml"/><Relationship Id="rId106" Type="http://schemas.openxmlformats.org/officeDocument/2006/relationships/slide" Target="slides/slide91.xml"/><Relationship Id="rId127" Type="http://schemas.openxmlformats.org/officeDocument/2006/relationships/slide" Target="slides/slide112.xml"/><Relationship Id="rId10" Type="http://schemas.openxmlformats.org/officeDocument/2006/relationships/slideMaster" Target="slideMasters/slideMaster10.xml"/><Relationship Id="rId31" Type="http://schemas.openxmlformats.org/officeDocument/2006/relationships/slide" Target="slides/slide16.xml"/><Relationship Id="rId52" Type="http://schemas.openxmlformats.org/officeDocument/2006/relationships/slide" Target="slides/slide37.xml"/><Relationship Id="rId73" Type="http://schemas.openxmlformats.org/officeDocument/2006/relationships/slide" Target="slides/slide58.xml"/><Relationship Id="rId78" Type="http://schemas.openxmlformats.org/officeDocument/2006/relationships/slide" Target="slides/slide63.xml"/><Relationship Id="rId94" Type="http://schemas.openxmlformats.org/officeDocument/2006/relationships/slide" Target="slides/slide79.xml"/><Relationship Id="rId99" Type="http://schemas.openxmlformats.org/officeDocument/2006/relationships/slide" Target="slides/slide84.xml"/><Relationship Id="rId101" Type="http://schemas.openxmlformats.org/officeDocument/2006/relationships/slide" Target="slides/slide86.xml"/><Relationship Id="rId122" Type="http://schemas.openxmlformats.org/officeDocument/2006/relationships/slide" Target="slides/slide107.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 Target="slides/slide11.xml"/><Relationship Id="rId47" Type="http://schemas.openxmlformats.org/officeDocument/2006/relationships/slide" Target="slides/slide32.xml"/><Relationship Id="rId68" Type="http://schemas.openxmlformats.org/officeDocument/2006/relationships/slide" Target="slides/slide53.xml"/><Relationship Id="rId89" Type="http://schemas.openxmlformats.org/officeDocument/2006/relationships/slide" Target="slides/slide74.xml"/><Relationship Id="rId112" Type="http://schemas.openxmlformats.org/officeDocument/2006/relationships/slide" Target="slides/slide97.xml"/><Relationship Id="rId1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338F1E-972C-499F-A6A7-A18452EEE1FF}" type="datetimeFigureOut">
              <a:rPr lang="en-US" smtClean="0"/>
              <a:t>11/9/2025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0F2D1A0-FA2E-48C4-BD8E-AA3A6238A26F}" type="slidenum">
              <a:rPr lang="en-US" smtClean="0"/>
              <a:t>‹#›</a:t>
            </a:fld>
            <a:endParaRPr lang="en-US"/>
          </a:p>
        </p:txBody>
      </p:sp>
    </p:spTree>
    <p:extLst>
      <p:ext uri="{BB962C8B-B14F-4D97-AF65-F5344CB8AC3E}">
        <p14:creationId xmlns:p14="http://schemas.microsoft.com/office/powerpoint/2010/main" val="40283683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8D8DC3-02CE-4FB4-A488-930D9354F57B}" type="datetimeFigureOut">
              <a:rPr lang="en-US" smtClean="0"/>
              <a:t>11/9/2025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3B9007-0201-49BE-A587-7F882848EC05}" type="slidenum">
              <a:rPr lang="en-US" smtClean="0"/>
              <a:t>‹#›</a:t>
            </a:fld>
            <a:endParaRPr lang="en-US"/>
          </a:p>
        </p:txBody>
      </p:sp>
    </p:spTree>
    <p:extLst>
      <p:ext uri="{BB962C8B-B14F-4D97-AF65-F5344CB8AC3E}">
        <p14:creationId xmlns:p14="http://schemas.microsoft.com/office/powerpoint/2010/main" val="5543636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softwareqatest.com/qat_lfaq1.html#LFAQ1_1"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www.softwareqatest.com/qatfaq1.html"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vi.wikipedia.org/wiki/IEEE" TargetMode="External"/><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1</a:t>
            </a:fld>
            <a:endParaRPr lang="en-US"/>
          </a:p>
        </p:txBody>
      </p:sp>
    </p:spTree>
    <p:extLst>
      <p:ext uri="{BB962C8B-B14F-4D97-AF65-F5344CB8AC3E}">
        <p14:creationId xmlns:p14="http://schemas.microsoft.com/office/powerpoint/2010/main" val="1165284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và</a:t>
            </a:r>
            <a:r>
              <a:rPr lang="en-US" baseline="0"/>
              <a:t> Software testing đọc theo tài liệu của ISTQB</a:t>
            </a:r>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3</a:t>
            </a:fld>
            <a:endParaRPr lang="en-US"/>
          </a:p>
        </p:txBody>
      </p:sp>
    </p:spTree>
    <p:extLst>
      <p:ext uri="{BB962C8B-B14F-4D97-AF65-F5344CB8AC3E}">
        <p14:creationId xmlns:p14="http://schemas.microsoft.com/office/powerpoint/2010/main" val="4006638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?CÓ</a:t>
            </a:r>
            <a:r>
              <a:rPr lang="en-US" b="1" baseline="0"/>
              <a:t> NHỮNG MÔ HÌNH PHÁT TRIỂN PHẦN MỀM NÀO?</a:t>
            </a:r>
          </a:p>
          <a:p>
            <a:endParaRPr lang="en-US" b="1"/>
          </a:p>
          <a:p>
            <a:r>
              <a:rPr lang="en-US" b="0"/>
              <a:t>Các</a:t>
            </a:r>
            <a:r>
              <a:rPr lang="en-US" b="0" baseline="0"/>
              <a:t> hoạt động về đảm bảo chất lượng nằm ở đâu trong các model phát triển phần mềm?</a:t>
            </a:r>
          </a:p>
          <a:p>
            <a:endParaRPr lang="en-US" b="0" baseline="0"/>
          </a:p>
          <a:p>
            <a:endParaRPr lang="en-US" b="0"/>
          </a:p>
        </p:txBody>
      </p:sp>
      <p:sp>
        <p:nvSpPr>
          <p:cNvPr id="4" name="Slide Number Placeholder 3"/>
          <p:cNvSpPr>
            <a:spLocks noGrp="1"/>
          </p:cNvSpPr>
          <p:nvPr>
            <p:ph type="sldNum" sz="quarter" idx="10"/>
          </p:nvPr>
        </p:nvSpPr>
        <p:spPr/>
        <p:txBody>
          <a:bodyPr/>
          <a:lstStyle/>
          <a:p>
            <a:fld id="{A63B9007-0201-49BE-A587-7F882848EC05}" type="slidenum">
              <a:rPr lang="en-US" smtClean="0"/>
              <a:t>5</a:t>
            </a:fld>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Bất</a:t>
            </a:r>
            <a:r>
              <a:rPr lang="en-US" baseline="0"/>
              <a:t> lợi của model: </a:t>
            </a:r>
            <a:r>
              <a:rPr lang="en-US" b="1"/>
              <a:t>Defects</a:t>
            </a:r>
            <a:r>
              <a:rPr lang="en-US"/>
              <a:t> were being </a:t>
            </a:r>
            <a:r>
              <a:rPr lang="en-US" b="1"/>
              <a:t>Found Too Late </a:t>
            </a:r>
            <a:r>
              <a:rPr lang="en-US"/>
              <a:t>in the life cycle, as </a:t>
            </a:r>
            <a:r>
              <a:rPr lang="en-US" b="1"/>
              <a:t>Testing</a:t>
            </a:r>
            <a:r>
              <a:rPr lang="en-US"/>
              <a:t> was not involved </a:t>
            </a:r>
            <a:r>
              <a:rPr lang="en-US" b="1"/>
              <a:t>Until The End </a:t>
            </a:r>
            <a:r>
              <a:rPr lang="en-US"/>
              <a:t>of the project.</a:t>
            </a:r>
          </a:p>
        </p:txBody>
      </p:sp>
      <p:sp>
        <p:nvSpPr>
          <p:cNvPr id="4" name="Slide Number Placeholder 3"/>
          <p:cNvSpPr>
            <a:spLocks noGrp="1"/>
          </p:cNvSpPr>
          <p:nvPr>
            <p:ph type="sldNum" sz="quarter" idx="10"/>
          </p:nvPr>
        </p:nvSpPr>
        <p:spPr/>
        <p:txBody>
          <a:bodyPr/>
          <a:lstStyle/>
          <a:p>
            <a:fld id="{A63B9007-0201-49BE-A587-7F882848EC05}" type="slidenum">
              <a:rPr lang="en-US" smtClean="0"/>
              <a:t>6</a:t>
            </a:fld>
            <a:endParaRPr lang="en-US"/>
          </a:p>
        </p:txBody>
      </p:sp>
    </p:spTree>
    <p:extLst>
      <p:ext uri="{BB962C8B-B14F-4D97-AF65-F5344CB8AC3E}">
        <p14:creationId xmlns:p14="http://schemas.microsoft.com/office/powerpoint/2010/main" val="2718529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V-model đã</a:t>
            </a:r>
            <a:r>
              <a:rPr lang="en-US" baseline="0"/>
              <a:t> giải quyết những khó khăn của</a:t>
            </a:r>
            <a:r>
              <a:rPr lang="en-US"/>
              <a:t> traditional waterfall approach.</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a:ea typeface="ＭＳ Ｐゴシック" panose="020B0600070205080204" pitchFamily="50" charset="-128"/>
              </a:rPr>
              <a:t>+ “</a:t>
            </a:r>
            <a:r>
              <a:rPr lang="en-US" altLang="en-US" baseline="0">
                <a:ea typeface="ＭＳ Ｐゴシック" panose="020B0600070205080204" pitchFamily="50" charset="-128"/>
              </a:rPr>
              <a:t>MỖI HOẠT ĐỘNG PHÁT TRIỂN SẼ CÓ MỘT HOẠT ĐỘNG KIỂM THỬ TƯƠNG ỨNG" phù hợp với nguyên tắc kiểm thử pm (?).</a:t>
            </a:r>
            <a:endParaRPr lang="en-US" altLang="en-US">
              <a:ea typeface="ＭＳ Ｐゴシック" panose="020B060007020508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t>+ V-model</a:t>
            </a:r>
            <a:r>
              <a:rPr lang="en-US" baseline="0"/>
              <a:t> cũng cho</a:t>
            </a:r>
            <a:r>
              <a:rPr lang="en-US"/>
              <a:t> thấy</a:t>
            </a:r>
            <a:r>
              <a:rPr lang="en-US" baseline="0"/>
              <a:t> rằng </a:t>
            </a:r>
            <a:r>
              <a:rPr lang="en-US"/>
              <a:t>testing không</a:t>
            </a:r>
            <a:r>
              <a:rPr lang="en-US" baseline="0"/>
              <a:t> chỉ là h</a:t>
            </a:r>
            <a:r>
              <a:rPr lang="vi-VN" baseline="0"/>
              <a:t>oạt động</a:t>
            </a:r>
            <a:r>
              <a:rPr lang="en-US" baseline="0"/>
              <a:t> mang tính thực thi (code)</a:t>
            </a:r>
            <a:r>
              <a:rPr lang="en-US"/>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a:ea typeface="ＭＳ Ｐゴシック" panose="020B060007020508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a:ea typeface="ＭＳ Ｐゴシック" panose="020B060007020508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a:ea typeface="ＭＳ Ｐゴシック" panose="020B0600070205080204" pitchFamily="50" charset="-128"/>
            </a:endParaRPr>
          </a:p>
          <a:p>
            <a:r>
              <a:rPr lang="en-US"/>
              <a:t> </a:t>
            </a:r>
          </a:p>
          <a:p>
            <a:endParaRPr lang="en-US"/>
          </a:p>
          <a:p>
            <a:endParaRPr lang="en-US"/>
          </a:p>
          <a:p>
            <a:endParaRPr lang="en-US"/>
          </a:p>
          <a:p>
            <a:endParaRPr lang="en-US"/>
          </a:p>
          <a:p>
            <a:r>
              <a:rPr lang="en-US"/>
              <a:t>Trong V-model, validation </a:t>
            </a:r>
            <a:r>
              <a:rPr lang="vi-VN"/>
              <a:t>đượ</a:t>
            </a:r>
            <a:r>
              <a:rPr lang="en-US"/>
              <a:t>c tham gia đặc</a:t>
            </a:r>
            <a:r>
              <a:rPr lang="en-US" baseline="0"/>
              <a:t> biệt từ sớm</a:t>
            </a:r>
            <a:r>
              <a:rPr lang="en-US"/>
              <a:t>, </a:t>
            </a:r>
          </a:p>
          <a:p>
            <a:r>
              <a:rPr lang="en-US"/>
              <a:t>e.g. reviewing the user requirements, và</a:t>
            </a:r>
            <a:r>
              <a:rPr lang="en-US" baseline="0"/>
              <a:t> đến cuối vòng đời</a:t>
            </a:r>
            <a:r>
              <a:rPr lang="en-US"/>
              <a:t>, </a:t>
            </a:r>
          </a:p>
          <a:p>
            <a:r>
              <a:rPr lang="en-US"/>
              <a:t>e.g. during user acceptance testing.</a:t>
            </a:r>
          </a:p>
          <a:p>
            <a:r>
              <a:rPr lang="en-US"/>
              <a:t>A common type of V-model uses four test levels, each with their own objectives, are: component testing, integration testing, system testing, acceptance testing</a:t>
            </a:r>
          </a:p>
        </p:txBody>
      </p:sp>
      <p:sp>
        <p:nvSpPr>
          <p:cNvPr id="4" name="Slide Number Placeholder 3"/>
          <p:cNvSpPr>
            <a:spLocks noGrp="1"/>
          </p:cNvSpPr>
          <p:nvPr>
            <p:ph type="sldNum" sz="quarter" idx="10"/>
          </p:nvPr>
        </p:nvSpPr>
        <p:spPr/>
        <p:txBody>
          <a:bodyPr/>
          <a:lstStyle/>
          <a:p>
            <a:fld id="{A63B9007-0201-49BE-A587-7F882848EC05}" type="slidenum">
              <a:rPr lang="en-US" smtClean="0"/>
              <a:t>7</a:t>
            </a:fld>
            <a:endParaRPr lang="en-US"/>
          </a:p>
        </p:txBody>
      </p:sp>
    </p:spTree>
    <p:extLst>
      <p:ext uri="{BB962C8B-B14F-4D97-AF65-F5344CB8AC3E}">
        <p14:creationId xmlns:p14="http://schemas.microsoft.com/office/powerpoint/2010/main" val="1534917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MỘT</a:t>
            </a:r>
            <a:r>
              <a:rPr lang="en-US" b="1" baseline="0"/>
              <a:t> DỰ ÁN T</a:t>
            </a:r>
            <a:r>
              <a:rPr lang="en-US" b="1"/>
              <a:t>HAY VÌ 1</a:t>
            </a:r>
            <a:r>
              <a:rPr lang="en-US" b="1" baseline="0"/>
              <a:t> LẦN PHÁT TRIỂN TỪ ĐẦU ĐẾN CUỐI, NGTA SẼ CHIA THÀNH NHIỀU PHRASE PHÁT TRIỂN NHỎ HƠN, PHRASE SAU HOÀN CHỈNH HƠN PHRASE TRƯỚC, VÀ MỖI PHRASE CÓ ĐẦY ĐỦ CÁC HOẠT ĐỘNG PHÁT TRIỂN</a:t>
            </a:r>
            <a:r>
              <a:rPr lang="en-US" baseline="0"/>
              <a:t>.</a:t>
            </a:r>
          </a:p>
          <a:p>
            <a:r>
              <a:rPr lang="en-US" baseline="0"/>
              <a:t>Vấn đề test: </a:t>
            </a:r>
          </a:p>
          <a:p>
            <a:r>
              <a:rPr lang="en-US" baseline="0"/>
              <a:t>+ Phrase sau phải test nhiều hơn phrase trước vì phải test hồi quy (test những tính năng mới và cả test lại những tính năng cũ (ĐỂ LÀM GÌ?)).</a:t>
            </a:r>
          </a:p>
          <a:p>
            <a:r>
              <a:rPr lang="en-US" baseline="0"/>
              <a:t>+ Sau mỗi phrase, sản phẩm có thể </a:t>
            </a:r>
            <a:r>
              <a:rPr lang="vi-VN" baseline="0"/>
              <a:t>đượ</a:t>
            </a:r>
            <a:r>
              <a:rPr lang="en-US" baseline="0"/>
              <a:t>c đưa ra cho user thấy sớm hơn </a:t>
            </a:r>
            <a:r>
              <a:rPr lang="en-US" baseline="0">
                <a:sym typeface="Wingdings" pitchFamily="2" charset="2"/>
              </a:rPr>
              <a:t> </a:t>
            </a:r>
            <a:r>
              <a:rPr lang="vi-VN" baseline="0">
                <a:sym typeface="Wingdings" pitchFamily="2" charset="2"/>
              </a:rPr>
              <a:t>đượ</a:t>
            </a:r>
            <a:r>
              <a:rPr lang="en-US" baseline="0">
                <a:sym typeface="Wingdings" pitchFamily="2" charset="2"/>
              </a:rPr>
              <a:t>c validation sớm  làm tăng khả năng FITNESS-FOR-USE của sản phẩm.</a:t>
            </a:r>
            <a:endParaRPr lang="en-US" baseline="0"/>
          </a:p>
          <a:p>
            <a:endParaRPr lang="en-US"/>
          </a:p>
          <a:p>
            <a:r>
              <a:rPr lang="en-US"/>
              <a:t>Examples: Prototyping, Rapid Application Development (RAD), Rational Unified Process (RUP) and Agile development…</a:t>
            </a:r>
          </a:p>
        </p:txBody>
      </p:sp>
      <p:sp>
        <p:nvSpPr>
          <p:cNvPr id="4" name="Slide Number Placeholder 3"/>
          <p:cNvSpPr>
            <a:spLocks noGrp="1"/>
          </p:cNvSpPr>
          <p:nvPr>
            <p:ph type="sldNum" sz="quarter" idx="10"/>
          </p:nvPr>
        </p:nvSpPr>
        <p:spPr/>
        <p:txBody>
          <a:bodyPr/>
          <a:lstStyle/>
          <a:p>
            <a:fld id="{A63B9007-0201-49BE-A587-7F882848EC05}" type="slidenum">
              <a:rPr lang="en-US" smtClean="0"/>
              <a:t>8</a:t>
            </a:fld>
            <a:endParaRPr lang="en-US"/>
          </a:p>
        </p:txBody>
      </p:sp>
    </p:spTree>
    <p:extLst>
      <p:ext uri="{BB962C8B-B14F-4D97-AF65-F5344CB8AC3E}">
        <p14:creationId xmlns:p14="http://schemas.microsoft.com/office/powerpoint/2010/main" val="5792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Ngtac kiểm thử sớm đc thể hiện cụ thể qua:</a:t>
            </a:r>
          </a:p>
          <a:p>
            <a:pPr marL="171450" indent="-171450">
              <a:buFont typeface="Wingdings" panose="05000000000000000000" pitchFamily="2" charset="2"/>
              <a:buChar char="à"/>
            </a:pPr>
            <a:r>
              <a:rPr lang="en-US"/>
              <a:t>Nên</a:t>
            </a:r>
            <a:r>
              <a:rPr lang="en-US" baseline="0"/>
              <a:t> có hoạt động test tương ứng hoạt động phát triển.</a:t>
            </a:r>
          </a:p>
          <a:p>
            <a:pPr marL="171450" indent="-171450">
              <a:buFont typeface="Wingdings" panose="05000000000000000000" pitchFamily="2" charset="2"/>
              <a:buChar char="à"/>
            </a:pPr>
            <a:r>
              <a:rPr lang="en-US" baseline="0"/>
              <a:t>Việc pt và tk dữ liệu kiểm thử ở từng mức kt phải bắt đầu trong suốt hoạt động pt tương ứng.</a:t>
            </a:r>
          </a:p>
          <a:p>
            <a:pPr marL="171450" indent="-171450">
              <a:buFont typeface="Wingdings" panose="05000000000000000000" pitchFamily="2" charset="2"/>
              <a:buChar char="à"/>
            </a:pPr>
            <a:r>
              <a:rPr lang="en-US" baseline="0"/>
              <a:t>Tester nên review tài liệu có đc càng sớm càng tốt, ngay khi có bản nháp của tài liệu.</a:t>
            </a:r>
          </a:p>
        </p:txBody>
      </p:sp>
      <p:sp>
        <p:nvSpPr>
          <p:cNvPr id="4" name="Slide Number Placeholder 3"/>
          <p:cNvSpPr>
            <a:spLocks noGrp="1"/>
          </p:cNvSpPr>
          <p:nvPr>
            <p:ph type="sldNum" sz="quarter" idx="10"/>
          </p:nvPr>
        </p:nvSpPr>
        <p:spPr/>
        <p:txBody>
          <a:bodyPr/>
          <a:lstStyle/>
          <a:p>
            <a:fld id="{A63B9007-0201-49BE-A587-7F882848EC05}" type="slidenum">
              <a:rPr lang="en-US" smtClean="0"/>
              <a:t>9</a:t>
            </a:fld>
            <a:endParaRPr lang="en-US"/>
          </a:p>
        </p:txBody>
      </p:sp>
    </p:spTree>
    <p:extLst>
      <p:ext uri="{BB962C8B-B14F-4D97-AF65-F5344CB8AC3E}">
        <p14:creationId xmlns:p14="http://schemas.microsoft.com/office/powerpoint/2010/main" val="686824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baseline="0"/>
              <a:t>Các nội dung: </a:t>
            </a:r>
            <a:r>
              <a:rPr lang="vi-VN" b="1" baseline="0"/>
              <a:t>ĐỊ</a:t>
            </a:r>
            <a:r>
              <a:rPr lang="en-US" b="1" baseline="0"/>
              <a:t>NH NGHĨA; </a:t>
            </a:r>
            <a:r>
              <a:rPr lang="en-US" b="1"/>
              <a:t>MỤC TIÊU; CÁC</a:t>
            </a:r>
            <a:r>
              <a:rPr lang="en-US" b="1" baseline="0"/>
              <a:t> PHƯƠNG PHÁP</a:t>
            </a:r>
            <a:endParaRPr lang="en-US" b="1"/>
          </a:p>
        </p:txBody>
      </p:sp>
      <p:sp>
        <p:nvSpPr>
          <p:cNvPr id="4" name="Slide Number Placeholder 3"/>
          <p:cNvSpPr>
            <a:spLocks noGrp="1"/>
          </p:cNvSpPr>
          <p:nvPr>
            <p:ph type="sldNum" sz="quarter" idx="10"/>
          </p:nvPr>
        </p:nvSpPr>
        <p:spPr/>
        <p:txBody>
          <a:bodyPr/>
          <a:lstStyle/>
          <a:p>
            <a:fld id="{A63B9007-0201-49BE-A587-7F882848EC05}" type="slidenum">
              <a:rPr lang="en-US" smtClean="0"/>
              <a:t>10</a:t>
            </a:fld>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vi-VN" dirty="0"/>
              <a:t>Một </a:t>
            </a:r>
            <a:r>
              <a:rPr lang="en-US" dirty="0" err="1"/>
              <a:t>tiến</a:t>
            </a:r>
            <a:r>
              <a:rPr lang="en-US" baseline="0" dirty="0"/>
              <a:t> </a:t>
            </a:r>
            <a:r>
              <a:rPr lang="vi-VN" dirty="0"/>
              <a:t>trình hay </a:t>
            </a:r>
            <a:r>
              <a:rPr lang="en-US" dirty="0" err="1"/>
              <a:t>cuộc</a:t>
            </a:r>
            <a:r>
              <a:rPr lang="en-US" dirty="0"/>
              <a:t> </a:t>
            </a:r>
            <a:r>
              <a:rPr lang="vi-VN" dirty="0"/>
              <a:t>họp trong đó </a:t>
            </a:r>
            <a:r>
              <a:rPr lang="en-US" dirty="0" err="1"/>
              <a:t>một</a:t>
            </a:r>
            <a:r>
              <a:rPr lang="en-US" baseline="0" dirty="0"/>
              <a:t> </a:t>
            </a:r>
            <a:r>
              <a:rPr lang="en-US" baseline="0" dirty="0" err="1"/>
              <a:t>hoặc</a:t>
            </a:r>
            <a:r>
              <a:rPr lang="en-US" baseline="0" dirty="0"/>
              <a:t> </a:t>
            </a:r>
            <a:r>
              <a:rPr lang="en-US" baseline="0" dirty="0" err="1"/>
              <a:t>nhiều</a:t>
            </a:r>
            <a:r>
              <a:rPr lang="en-US" baseline="0" dirty="0"/>
              <a:t> </a:t>
            </a:r>
            <a:r>
              <a:rPr lang="vi-VN" dirty="0"/>
              <a:t>sản phẩm công việc được trình bày cho nhân viên dự án, các nhà quản lý, người sử dụng, khách hàng, hoặc các bên liên quan khác để </a:t>
            </a:r>
            <a:r>
              <a:rPr lang="en-US" dirty="0" err="1"/>
              <a:t>lấy</a:t>
            </a:r>
            <a:r>
              <a:rPr lang="en-US" baseline="0" dirty="0"/>
              <a:t> ý </a:t>
            </a:r>
            <a:r>
              <a:rPr lang="en-US" baseline="0" dirty="0" err="1"/>
              <a:t>kiến</a:t>
            </a:r>
            <a:r>
              <a:rPr lang="en-US" baseline="0" dirty="0"/>
              <a:t> </a:t>
            </a:r>
            <a:r>
              <a:rPr lang="vi-VN" dirty="0"/>
              <a:t>hoặc phê duyệt.</a:t>
            </a:r>
            <a:r>
              <a:rPr lang="en-US" dirty="0"/>
              <a:t>”</a:t>
            </a:r>
          </a:p>
          <a:p>
            <a:r>
              <a:rPr lang="vi-VN" b="1" dirty="0"/>
              <a:t>SẢN PHẨM CÔNG VIỆC</a:t>
            </a:r>
            <a:r>
              <a:rPr lang="en-US" b="1" dirty="0"/>
              <a:t>? – TÀI</a:t>
            </a:r>
            <a:r>
              <a:rPr lang="en-US" b="1" baseline="0" dirty="0"/>
              <a:t> LIỆU, CODE, CHƯƠNG TRÌNH…</a:t>
            </a:r>
          </a:p>
          <a:p>
            <a:endParaRPr lang="en-US" b="1" baseline="0" dirty="0"/>
          </a:p>
          <a:p>
            <a:endParaRPr lang="en-US" b="1" baseline="0" dirty="0"/>
          </a:p>
          <a:p>
            <a:endParaRPr lang="en-US" b="1" baseline="0" dirty="0"/>
          </a:p>
          <a:p>
            <a:endParaRPr lang="en-US" b="1" baseline="0" dirty="0"/>
          </a:p>
          <a:p>
            <a:r>
              <a:rPr lang="en-US" b="1" baseline="0" dirty="0"/>
              <a:t>VIỆC REVIEW NÀY CÓ THỂ ĐƯỢC THỰC HIỆN BỞI AI? – TÁC GIẢ, NHỮNG NGƯỜI KHÁC </a:t>
            </a:r>
            <a:r>
              <a:rPr lang="en-US" b="0" baseline="0" dirty="0"/>
              <a:t>(</a:t>
            </a:r>
            <a:r>
              <a:rPr lang="en-US" b="0" baseline="0" dirty="0" err="1"/>
              <a:t>như</a:t>
            </a:r>
            <a:r>
              <a:rPr lang="en-US" b="0" baseline="0" dirty="0"/>
              <a:t> </a:t>
            </a:r>
            <a:r>
              <a:rPr lang="en-US" b="0" baseline="0" dirty="0" err="1"/>
              <a:t>đồng</a:t>
            </a:r>
            <a:r>
              <a:rPr lang="en-US" b="0" baseline="0" dirty="0"/>
              <a:t> </a:t>
            </a:r>
            <a:r>
              <a:rPr lang="en-US" b="0" baseline="0" dirty="0" err="1"/>
              <a:t>nghiệp</a:t>
            </a:r>
            <a:r>
              <a:rPr lang="en-US" b="0" baseline="0" dirty="0"/>
              <a:t>, </a:t>
            </a:r>
            <a:r>
              <a:rPr lang="en-US" b="0" baseline="0" dirty="0" err="1"/>
              <a:t>cấp</a:t>
            </a:r>
            <a:r>
              <a:rPr lang="en-US" b="0" baseline="0" dirty="0"/>
              <a:t> </a:t>
            </a:r>
            <a:r>
              <a:rPr lang="en-US" b="0" baseline="0" dirty="0" err="1"/>
              <a:t>trên</a:t>
            </a:r>
            <a:r>
              <a:rPr lang="en-US" b="0" baseline="0" dirty="0"/>
              <a:t>, </a:t>
            </a:r>
            <a:r>
              <a:rPr lang="vi-VN" b="0" baseline="0" dirty="0"/>
              <a:t>các chuyên gia, và các khách hàng đại diện</a:t>
            </a:r>
            <a:r>
              <a:rPr lang="en-US" b="0" baseline="0" dirty="0"/>
              <a:t>)</a:t>
            </a:r>
            <a:r>
              <a:rPr lang="vi-VN" b="0" baseline="0" dirty="0"/>
              <a:t> </a:t>
            </a:r>
            <a:r>
              <a:rPr lang="en-US" b="0" baseline="0" dirty="0"/>
              <a:t>- </a:t>
            </a:r>
            <a:r>
              <a:rPr lang="en-US" b="0" baseline="0" dirty="0" err="1"/>
              <a:t>là</a:t>
            </a:r>
            <a:r>
              <a:rPr lang="en-US" b="0" baseline="0" dirty="0"/>
              <a:t> </a:t>
            </a:r>
            <a:r>
              <a:rPr lang="en-US" b="0" baseline="0" dirty="0" err="1"/>
              <a:t>những</a:t>
            </a:r>
            <a:r>
              <a:rPr lang="en-US" b="0" baseline="0" dirty="0"/>
              <a:t> </a:t>
            </a:r>
            <a:r>
              <a:rPr lang="en-US" b="0" baseline="0" dirty="0" err="1"/>
              <a:t>người</a:t>
            </a:r>
            <a:r>
              <a:rPr lang="en-US" b="0" baseline="0" dirty="0"/>
              <a:t> </a:t>
            </a:r>
            <a:r>
              <a:rPr lang="vi-VN" b="0" baseline="0" dirty="0"/>
              <a:t>có kinh nghiệm và quan điểm</a:t>
            </a:r>
            <a:r>
              <a:rPr lang="en-US" b="0" baseline="0" dirty="0"/>
              <a:t> </a:t>
            </a:r>
            <a:r>
              <a:rPr lang="vi-VN" b="0" baseline="0" dirty="0"/>
              <a:t>khác nhau, </a:t>
            </a:r>
            <a:r>
              <a:rPr lang="en-US" b="0" baseline="0" dirty="0" err="1"/>
              <a:t>và</a:t>
            </a:r>
            <a:r>
              <a:rPr lang="en-US" b="0" baseline="0" dirty="0"/>
              <a:t> </a:t>
            </a:r>
            <a:r>
              <a:rPr lang="vi-VN" b="0" baseline="0" dirty="0"/>
              <a:t>không trực tiếp tham gia trong việc tạo ra các tài liệu – </a:t>
            </a:r>
            <a:r>
              <a:rPr lang="en-US" b="0" baseline="0" dirty="0" err="1"/>
              <a:t>để</a:t>
            </a:r>
            <a:r>
              <a:rPr lang="en-US" b="0" baseline="0" dirty="0"/>
              <a:t> </a:t>
            </a:r>
            <a:r>
              <a:rPr lang="vi-VN" b="0" baseline="0" dirty="0"/>
              <a:t>xem xét sản phẩm và phát hiện lỗi</a:t>
            </a:r>
            <a:r>
              <a:rPr lang="en-US" b="0" baseline="0" dirty="0"/>
              <a:t>.</a:t>
            </a:r>
            <a:endParaRPr lang="en-US" b="1" dirty="0"/>
          </a:p>
        </p:txBody>
      </p:sp>
      <p:sp>
        <p:nvSpPr>
          <p:cNvPr id="4" name="Slide Number Placeholder 3"/>
          <p:cNvSpPr>
            <a:spLocks noGrp="1"/>
          </p:cNvSpPr>
          <p:nvPr>
            <p:ph type="sldNum" sz="quarter" idx="10"/>
          </p:nvPr>
        </p:nvSpPr>
        <p:spPr/>
        <p:txBody>
          <a:bodyPr/>
          <a:lstStyle/>
          <a:p>
            <a:fld id="{A63B9007-0201-49BE-A587-7F882848EC05}" type="slidenum">
              <a:rPr lang="en-US" smtClean="0"/>
              <a:t>11</a:t>
            </a:fld>
            <a:endParaRPr lang="en-US"/>
          </a:p>
        </p:txBody>
      </p:sp>
    </p:spTree>
    <p:extLst>
      <p:ext uri="{BB962C8B-B14F-4D97-AF65-F5344CB8AC3E}">
        <p14:creationId xmlns:p14="http://schemas.microsoft.com/office/powerpoint/2010/main" val="978532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a:t>
            </a:r>
            <a:r>
              <a:rPr lang="en-US" dirty="0" err="1"/>
              <a:t>Mục</a:t>
            </a:r>
            <a:r>
              <a:rPr lang="en-US" baseline="0" dirty="0"/>
              <a:t> </a:t>
            </a:r>
            <a:r>
              <a:rPr lang="en-US" baseline="0" dirty="0" err="1"/>
              <a:t>tiêu</a:t>
            </a:r>
            <a:r>
              <a:rPr lang="en-US" baseline="0" dirty="0"/>
              <a:t> </a:t>
            </a:r>
            <a:r>
              <a:rPr lang="en-US" baseline="0" dirty="0" err="1"/>
              <a:t>trực</a:t>
            </a:r>
            <a:r>
              <a:rPr lang="en-US" baseline="0" dirty="0"/>
              <a:t> </a:t>
            </a:r>
            <a:r>
              <a:rPr lang="en-US" baseline="0" dirty="0" err="1"/>
              <a:t>tiếp</a:t>
            </a:r>
            <a:r>
              <a:rPr lang="en-US" baseline="0" dirty="0"/>
              <a:t>:</a:t>
            </a:r>
          </a:p>
          <a:p>
            <a:pPr marL="0" indent="0">
              <a:buFontTx/>
              <a:buNone/>
            </a:pPr>
            <a:r>
              <a:rPr lang="en-US" dirty="0"/>
              <a:t>      - </a:t>
            </a:r>
            <a:r>
              <a:rPr lang="vi-VN" dirty="0"/>
              <a:t>Để </a:t>
            </a:r>
            <a:r>
              <a:rPr lang="en-US" dirty="0" err="1"/>
              <a:t>tìm</a:t>
            </a:r>
            <a:r>
              <a:rPr lang="en-US" baseline="0" dirty="0"/>
              <a:t> </a:t>
            </a:r>
            <a:r>
              <a:rPr lang="en-US" baseline="0" dirty="0" err="1"/>
              <a:t>lỗi</a:t>
            </a:r>
            <a:r>
              <a:rPr lang="en-US" baseline="0" dirty="0"/>
              <a:t> </a:t>
            </a:r>
            <a:r>
              <a:rPr lang="vi-VN" dirty="0"/>
              <a:t>phân tích và thiết kế</a:t>
            </a:r>
            <a:r>
              <a:rPr lang="en-US" dirty="0"/>
              <a:t>;</a:t>
            </a:r>
            <a:r>
              <a:rPr lang="vi-VN" dirty="0"/>
              <a:t> </a:t>
            </a:r>
            <a:r>
              <a:rPr lang="en-US" b="1" dirty="0"/>
              <a:t>CŨNG</a:t>
            </a:r>
            <a:r>
              <a:rPr lang="en-US" b="1" baseline="0" dirty="0"/>
              <a:t> NHƯ </a:t>
            </a:r>
            <a:r>
              <a:rPr lang="vi-VN" b="1" i="0" dirty="0"/>
              <a:t>CHỈNH</a:t>
            </a:r>
            <a:r>
              <a:rPr lang="en-US" b="1" i="0" dirty="0"/>
              <a:t> SỬA</a:t>
            </a:r>
            <a:r>
              <a:rPr lang="vi-VN" b="1" i="0" dirty="0"/>
              <a:t>, THAY ĐỔI VÀ HOÀN </a:t>
            </a:r>
            <a:r>
              <a:rPr lang="en-US" b="1" i="0" dirty="0"/>
              <a:t>CHỈNH</a:t>
            </a:r>
            <a:r>
              <a:rPr lang="en-US" b="1" i="0" baseline="0" dirty="0"/>
              <a:t> ĐẶC TẢ</a:t>
            </a:r>
          </a:p>
          <a:p>
            <a:pPr marL="0" indent="0">
              <a:buFontTx/>
              <a:buNone/>
            </a:pPr>
            <a:r>
              <a:rPr lang="en-US" b="1" i="0" baseline="0" dirty="0"/>
              <a:t>      - </a:t>
            </a:r>
            <a:r>
              <a:rPr lang="vi-VN" dirty="0"/>
              <a:t>Để </a:t>
            </a:r>
            <a:r>
              <a:rPr lang="en-US" dirty="0" err="1"/>
              <a:t>tìm</a:t>
            </a:r>
            <a:r>
              <a:rPr lang="en-US" baseline="0" dirty="0"/>
              <a:t> </a:t>
            </a:r>
            <a:r>
              <a:rPr lang="vi-VN" dirty="0"/>
              <a:t>những rủi ro mới</a:t>
            </a:r>
            <a:endParaRPr lang="en-US" dirty="0"/>
          </a:p>
          <a:p>
            <a:pPr marL="0" indent="0">
              <a:buFontTx/>
              <a:buNone/>
            </a:pPr>
            <a:r>
              <a:rPr lang="en-US" baseline="0" dirty="0"/>
              <a:t>      - </a:t>
            </a:r>
            <a:r>
              <a:rPr lang="vi-VN" dirty="0"/>
              <a:t>Để </a:t>
            </a:r>
            <a:r>
              <a:rPr lang="en-US" dirty="0" err="1"/>
              <a:t>phát</a:t>
            </a:r>
            <a:r>
              <a:rPr lang="en-US" dirty="0"/>
              <a:t> </a:t>
            </a:r>
            <a:r>
              <a:rPr lang="en-US" dirty="0" err="1"/>
              <a:t>hiện</a:t>
            </a:r>
            <a:r>
              <a:rPr lang="vi-VN" dirty="0"/>
              <a:t> </a:t>
            </a:r>
            <a:r>
              <a:rPr lang="en-US" dirty="0" err="1"/>
              <a:t>các</a:t>
            </a:r>
            <a:r>
              <a:rPr lang="en-US" baseline="0" dirty="0"/>
              <a:t> </a:t>
            </a:r>
            <a:r>
              <a:rPr lang="vi-VN" dirty="0"/>
              <a:t>sai lệch </a:t>
            </a:r>
            <a:r>
              <a:rPr lang="en-US" dirty="0"/>
              <a:t>so </a:t>
            </a:r>
            <a:r>
              <a:rPr lang="en-US" dirty="0" err="1"/>
              <a:t>với</a:t>
            </a:r>
            <a:r>
              <a:rPr lang="en-US" dirty="0"/>
              <a:t> </a:t>
            </a:r>
            <a:r>
              <a:rPr lang="vi-VN" dirty="0"/>
              <a:t>mẫu và thủ tục</a:t>
            </a:r>
            <a:r>
              <a:rPr lang="en-US" dirty="0"/>
              <a:t> </a:t>
            </a:r>
            <a:endParaRPr lang="en-US" i="1" dirty="0"/>
          </a:p>
          <a:p>
            <a:pPr marL="0" indent="0">
              <a:buFontTx/>
              <a:buNone/>
            </a:pPr>
            <a:r>
              <a:rPr lang="en-US" b="1" i="1" baseline="0" dirty="0"/>
              <a:t>      - </a:t>
            </a:r>
            <a:r>
              <a:rPr lang="en-US" b="0" u="none" dirty="0" err="1"/>
              <a:t>Nhằm</a:t>
            </a:r>
            <a:r>
              <a:rPr lang="en-US" b="0" u="none" baseline="0" dirty="0"/>
              <a:t> </a:t>
            </a:r>
            <a:r>
              <a:rPr lang="en-US" b="0" u="none" baseline="0" dirty="0" err="1"/>
              <a:t>thống</a:t>
            </a:r>
            <a:r>
              <a:rPr lang="en-US" b="0" u="none" baseline="0" dirty="0"/>
              <a:t> </a:t>
            </a:r>
            <a:r>
              <a:rPr lang="en-US" b="0" u="none" baseline="0" dirty="0" err="1"/>
              <a:t>nhất</a:t>
            </a:r>
            <a:r>
              <a:rPr lang="en-US" b="0" u="none" baseline="0" dirty="0"/>
              <a:t> </a:t>
            </a:r>
            <a:r>
              <a:rPr lang="en-US" b="0" u="none" baseline="0" dirty="0" err="1"/>
              <a:t>về</a:t>
            </a:r>
            <a:r>
              <a:rPr lang="en-US" b="0" u="none" baseline="0" dirty="0"/>
              <a:t> </a:t>
            </a:r>
            <a:r>
              <a:rPr lang="en-US" b="0" baseline="0" dirty="0" err="1"/>
              <a:t>bản</a:t>
            </a:r>
            <a:r>
              <a:rPr lang="en-US" b="0" baseline="0" dirty="0"/>
              <a:t> </a:t>
            </a:r>
            <a:r>
              <a:rPr lang="vi-VN" b="0" dirty="0"/>
              <a:t>phân tích, thiết kế </a:t>
            </a:r>
            <a:r>
              <a:rPr lang="en-US" b="0" dirty="0" err="1"/>
              <a:t>của</a:t>
            </a:r>
            <a:r>
              <a:rPr lang="en-US" b="0" baseline="0" dirty="0"/>
              <a:t> </a:t>
            </a:r>
            <a:r>
              <a:rPr lang="vi-VN" b="0" dirty="0"/>
              <a:t>sản phẩm.</a:t>
            </a:r>
            <a:endParaRPr lang="en-US" b="1" dirty="0"/>
          </a:p>
          <a:p>
            <a:pPr marL="0" lvl="0" indent="0">
              <a:buFontTx/>
              <a:buNone/>
            </a:pPr>
            <a:endParaRPr lang="en-US" dirty="0"/>
          </a:p>
          <a:p>
            <a:pPr marL="0" lvl="0" indent="0">
              <a:buFontTx/>
              <a:buNone/>
            </a:pPr>
            <a:r>
              <a:rPr lang="en-US" dirty="0"/>
              <a:t>+ </a:t>
            </a:r>
            <a:r>
              <a:rPr lang="en-US" dirty="0" err="1"/>
              <a:t>Gián</a:t>
            </a:r>
            <a:r>
              <a:rPr lang="en-US" baseline="0" dirty="0"/>
              <a:t> </a:t>
            </a:r>
            <a:r>
              <a:rPr lang="en-US" baseline="0" dirty="0" err="1"/>
              <a:t>tiếp</a:t>
            </a:r>
            <a:r>
              <a:rPr lang="en-US" baseline="0" dirty="0"/>
              <a:t>:</a:t>
            </a:r>
          </a:p>
          <a:p>
            <a:pPr marL="0" lvl="0" indent="0">
              <a:buFontTx/>
              <a:buNone/>
            </a:pPr>
            <a:r>
              <a:rPr lang="en-US" baseline="0" dirty="0"/>
              <a:t>     - Trao </a:t>
            </a:r>
            <a:r>
              <a:rPr lang="en-US" baseline="0" dirty="0" err="1"/>
              <a:t>đổi</a:t>
            </a:r>
            <a:r>
              <a:rPr lang="en-US" baseline="0" dirty="0"/>
              <a:t> </a:t>
            </a:r>
            <a:r>
              <a:rPr lang="en-US" baseline="0" dirty="0" err="1"/>
              <a:t>kiến</a:t>
            </a:r>
            <a:r>
              <a:rPr lang="en-US" baseline="0" dirty="0"/>
              <a:t> </a:t>
            </a:r>
            <a:r>
              <a:rPr lang="en-US" baseline="0" dirty="0" err="1"/>
              <a:t>thức</a:t>
            </a:r>
            <a:r>
              <a:rPr lang="en-US" baseline="0" dirty="0"/>
              <a:t> </a:t>
            </a:r>
            <a:r>
              <a:rPr lang="en-US" baseline="0" dirty="0" err="1"/>
              <a:t>chuyên</a:t>
            </a:r>
            <a:r>
              <a:rPr lang="en-US" baseline="0" dirty="0"/>
              <a:t> </a:t>
            </a:r>
            <a:r>
              <a:rPr lang="en-US" baseline="0" dirty="0" err="1"/>
              <a:t>môn</a:t>
            </a:r>
            <a:endParaRPr lang="en-US" baseline="0" dirty="0"/>
          </a:p>
          <a:p>
            <a:pPr marL="0" lvl="0" indent="0">
              <a:buFontTx/>
              <a:buNone/>
            </a:pPr>
            <a:r>
              <a:rPr lang="en-US" baseline="0" dirty="0"/>
              <a:t>     - </a:t>
            </a:r>
            <a:r>
              <a:rPr lang="en-US" dirty="0" err="1"/>
              <a:t>Để</a:t>
            </a:r>
            <a:r>
              <a:rPr lang="en-US" baseline="0" dirty="0"/>
              <a:t> </a:t>
            </a:r>
            <a:r>
              <a:rPr lang="en-US" baseline="0" dirty="0" err="1"/>
              <a:t>ghi</a:t>
            </a:r>
            <a:r>
              <a:rPr lang="en-US" baseline="0" dirty="0"/>
              <a:t> </a:t>
            </a:r>
            <a:r>
              <a:rPr lang="en-US" baseline="0" dirty="0" err="1"/>
              <a:t>nhận</a:t>
            </a:r>
            <a:r>
              <a:rPr lang="en-US" baseline="0" dirty="0"/>
              <a:t> </a:t>
            </a:r>
            <a:r>
              <a:rPr lang="en-US" baseline="0" dirty="0" err="1"/>
              <a:t>các</a:t>
            </a:r>
            <a:r>
              <a:rPr lang="en-US" baseline="0" dirty="0"/>
              <a:t> </a:t>
            </a:r>
            <a:r>
              <a:rPr lang="en-US" baseline="0" dirty="0" err="1"/>
              <a:t>lỗi</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và</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làm</a:t>
            </a:r>
            <a:r>
              <a:rPr lang="en-US" baseline="0" dirty="0"/>
              <a:t> </a:t>
            </a:r>
            <a:r>
              <a:rPr lang="en-US" baseline="0" dirty="0" err="1"/>
              <a:t>nền</a:t>
            </a:r>
            <a:r>
              <a:rPr lang="en-US" baseline="0" dirty="0"/>
              <a:t> </a:t>
            </a:r>
            <a:r>
              <a:rPr lang="en-US" baseline="0" dirty="0" err="1"/>
              <a:t>tảng</a:t>
            </a:r>
            <a:r>
              <a:rPr lang="en-US" baseline="0" dirty="0"/>
              <a:t> </a:t>
            </a:r>
            <a:r>
              <a:rPr lang="en-US" baseline="0" dirty="0" err="1"/>
              <a:t>cho</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chỉnh</a:t>
            </a:r>
            <a:r>
              <a:rPr lang="en-US" baseline="0" dirty="0"/>
              <a:t> </a:t>
            </a:r>
            <a:r>
              <a:rPr lang="en-US" baseline="0" dirty="0" err="1"/>
              <a:t>sửa</a:t>
            </a:r>
            <a:r>
              <a:rPr lang="en-US" baseline="0" dirty="0"/>
              <a:t> </a:t>
            </a:r>
            <a:r>
              <a:rPr lang="en-US" baseline="0" dirty="0" err="1"/>
              <a:t>sau</a:t>
            </a:r>
            <a:r>
              <a:rPr lang="en-US" baseline="0" dirty="0"/>
              <a:t> </a:t>
            </a:r>
            <a:r>
              <a:rPr lang="en-US" baseline="0" dirty="0" err="1"/>
              <a:t>này</a:t>
            </a:r>
            <a:r>
              <a:rPr lang="en-US" baseline="0" dirty="0"/>
              <a:t> (</a:t>
            </a:r>
            <a:r>
              <a:rPr lang="en-US" dirty="0"/>
              <a:t>corrective actions)</a:t>
            </a:r>
          </a:p>
        </p:txBody>
      </p:sp>
      <p:sp>
        <p:nvSpPr>
          <p:cNvPr id="4" name="Slide Number Placeholder 3"/>
          <p:cNvSpPr>
            <a:spLocks noGrp="1"/>
          </p:cNvSpPr>
          <p:nvPr>
            <p:ph type="sldNum" sz="quarter" idx="10"/>
          </p:nvPr>
        </p:nvSpPr>
        <p:spPr/>
        <p:txBody>
          <a:bodyPr/>
          <a:lstStyle/>
          <a:p>
            <a:fld id="{A63B9007-0201-49BE-A587-7F882848EC05}" type="slidenum">
              <a:rPr lang="en-US" smtClean="0"/>
              <a:t>12</a:t>
            </a:fld>
            <a:endParaRPr lang="en-US"/>
          </a:p>
        </p:txBody>
      </p:sp>
    </p:spTree>
    <p:extLst>
      <p:ext uri="{BB962C8B-B14F-4D97-AF65-F5344CB8AC3E}">
        <p14:creationId xmlns:p14="http://schemas.microsoft.com/office/powerpoint/2010/main" val="3923932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err="1"/>
              <a:t>Ngoài</a:t>
            </a:r>
            <a:r>
              <a:rPr lang="en-GB" baseline="0" dirty="0"/>
              <a:t> </a:t>
            </a:r>
            <a:r>
              <a:rPr lang="en-GB" baseline="0" dirty="0" err="1"/>
              <a:t>ra</a:t>
            </a:r>
            <a:r>
              <a:rPr lang="en-GB" baseline="0" dirty="0"/>
              <a:t> </a:t>
            </a:r>
            <a:r>
              <a:rPr lang="en-GB" baseline="0" dirty="0" err="1"/>
              <a:t>còn</a:t>
            </a:r>
            <a:r>
              <a:rPr lang="en-GB" baseline="0" dirty="0"/>
              <a:t> </a:t>
            </a:r>
            <a:r>
              <a:rPr lang="en-GB" baseline="0" dirty="0" err="1"/>
              <a:t>có</a:t>
            </a:r>
            <a:r>
              <a:rPr lang="en-GB" baseline="0" dirty="0"/>
              <a:t> 1 </a:t>
            </a:r>
            <a:r>
              <a:rPr lang="en-GB" baseline="0" dirty="0" err="1"/>
              <a:t>loại</a:t>
            </a:r>
            <a:r>
              <a:rPr lang="en-GB" baseline="0" dirty="0"/>
              <a:t> review </a:t>
            </a:r>
            <a:r>
              <a:rPr lang="en-GB" baseline="0" dirty="0" err="1"/>
              <a:t>khác</a:t>
            </a:r>
            <a:r>
              <a:rPr lang="en-GB" baseline="0" dirty="0"/>
              <a:t> </a:t>
            </a:r>
            <a:r>
              <a:rPr lang="en-GB" baseline="0" dirty="0" err="1"/>
              <a:t>rất</a:t>
            </a:r>
            <a:r>
              <a:rPr lang="en-GB" baseline="0" dirty="0"/>
              <a:t> </a:t>
            </a:r>
            <a:r>
              <a:rPr lang="en-GB" baseline="0" dirty="0" err="1"/>
              <a:t>thông</a:t>
            </a:r>
            <a:r>
              <a:rPr lang="en-GB" baseline="0" dirty="0"/>
              <a:t> </a:t>
            </a:r>
            <a:r>
              <a:rPr lang="en-GB" baseline="0" dirty="0" err="1"/>
              <a:t>dụng</a:t>
            </a:r>
            <a:r>
              <a:rPr lang="en-GB" baseline="0" dirty="0"/>
              <a:t> </a:t>
            </a:r>
            <a:r>
              <a:rPr lang="en-GB" baseline="0" dirty="0" err="1"/>
              <a:t>là</a:t>
            </a:r>
            <a:r>
              <a:rPr lang="en-GB" baseline="0" dirty="0"/>
              <a:t> INFORMAL REVIEW. </a:t>
            </a:r>
            <a:r>
              <a:rPr lang="en-GB" baseline="0" dirty="0" err="1"/>
              <a:t>Có</a:t>
            </a:r>
            <a:r>
              <a:rPr lang="en-GB" baseline="0" dirty="0"/>
              <a:t> </a:t>
            </a:r>
            <a:r>
              <a:rPr lang="en-GB" baseline="0" dirty="0" err="1"/>
              <a:t>tài</a:t>
            </a:r>
            <a:r>
              <a:rPr lang="en-GB" baseline="0" dirty="0"/>
              <a:t> </a:t>
            </a:r>
            <a:r>
              <a:rPr lang="en-GB" baseline="0" dirty="0" err="1"/>
              <a:t>liệu</a:t>
            </a:r>
            <a:r>
              <a:rPr lang="en-GB" baseline="0" dirty="0"/>
              <a:t> </a:t>
            </a:r>
            <a:r>
              <a:rPr lang="en-GB" baseline="0" dirty="0" err="1"/>
              <a:t>phân</a:t>
            </a:r>
            <a:r>
              <a:rPr lang="en-GB" baseline="0" dirty="0"/>
              <a:t> </a:t>
            </a:r>
            <a:r>
              <a:rPr lang="en-GB" baseline="0" dirty="0" err="1"/>
              <a:t>loại</a:t>
            </a:r>
            <a:r>
              <a:rPr lang="en-GB" baseline="0" dirty="0"/>
              <a:t> </a:t>
            </a:r>
            <a:r>
              <a:rPr lang="en-GB" baseline="0" dirty="0" err="1"/>
              <a:t>thêm</a:t>
            </a:r>
            <a:r>
              <a:rPr lang="en-GB" baseline="0" dirty="0"/>
              <a:t>: Management review, audit</a:t>
            </a:r>
            <a:endParaRPr lang="en-US" b="1" dirty="0"/>
          </a:p>
          <a:p>
            <a:r>
              <a:rPr lang="en-US" b="1" dirty="0"/>
              <a:t>KO LOẠI</a:t>
            </a:r>
            <a:r>
              <a:rPr lang="en-US" b="1" baseline="0" dirty="0"/>
              <a:t> NÀO LÀ TỐT HƠN LOẠI NÀO, VÌ </a:t>
            </a:r>
            <a:r>
              <a:rPr lang="en-US" sz="1200" b="1" i="0" kern="1200" dirty="0">
                <a:solidFill>
                  <a:schemeClr val="tx1"/>
                </a:solidFill>
                <a:effectLst/>
                <a:latin typeface="+mn-lt"/>
                <a:ea typeface="+mn-ea"/>
                <a:cs typeface="+mn-cs"/>
              </a:rPr>
              <a:t>MỖI</a:t>
            </a:r>
            <a:r>
              <a:rPr lang="en-US" sz="1200" b="1" i="0" kern="1200" baseline="0" dirty="0">
                <a:solidFill>
                  <a:schemeClr val="tx1"/>
                </a:solidFill>
                <a:effectLst/>
                <a:latin typeface="+mn-lt"/>
                <a:ea typeface="+mn-ea"/>
                <a:cs typeface="+mn-cs"/>
              </a:rPr>
              <a:t> LOẠI</a:t>
            </a:r>
            <a:r>
              <a:rPr lang="vi-VN" sz="1200" b="1" i="0" kern="1200" dirty="0">
                <a:solidFill>
                  <a:schemeClr val="tx1"/>
                </a:solidFill>
                <a:effectLst/>
                <a:latin typeface="+mn-lt"/>
                <a:ea typeface="+mn-ea"/>
                <a:cs typeface="+mn-cs"/>
              </a:rPr>
              <a:t> </a:t>
            </a:r>
            <a:r>
              <a:rPr lang="vi-VN" sz="1200" b="1" i="0" u="sng" kern="1200" dirty="0">
                <a:solidFill>
                  <a:schemeClr val="tx1"/>
                </a:solidFill>
                <a:effectLst/>
                <a:latin typeface="+mn-lt"/>
                <a:ea typeface="+mn-ea"/>
                <a:cs typeface="+mn-cs"/>
              </a:rPr>
              <a:t>PHỤC VỤ CÁC MỤC ĐÍCH KHÁC NHAU Ở CÁC GIAI ĐOẠN KHÁC NHAU</a:t>
            </a:r>
            <a:r>
              <a:rPr lang="vi-VN" sz="1200" b="1" i="0" kern="1200" dirty="0">
                <a:solidFill>
                  <a:schemeClr val="tx1"/>
                </a:solidFill>
                <a:effectLst/>
                <a:latin typeface="+mn-lt"/>
                <a:ea typeface="+mn-ea"/>
                <a:cs typeface="+mn-cs"/>
              </a:rPr>
              <a:t> TRONG VÒNG ĐỜI CỦA MỘT TÀI LIỆU.</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VD/</a:t>
            </a:r>
          </a:p>
          <a:p>
            <a:r>
              <a:rPr lang="en-US" dirty="0"/>
              <a:t>- an </a:t>
            </a:r>
            <a:r>
              <a:rPr lang="en-US" b="1" dirty="0"/>
              <a:t>INFORMAL </a:t>
            </a:r>
            <a:r>
              <a:rPr lang="en-US" b="0" dirty="0"/>
              <a:t>review</a:t>
            </a:r>
            <a:r>
              <a:rPr lang="en-US" b="1" dirty="0"/>
              <a:t> </a:t>
            </a:r>
            <a:r>
              <a:rPr lang="en-US" dirty="0"/>
              <a:t>may be carried out </a:t>
            </a:r>
            <a:r>
              <a:rPr lang="en-US" b="1" dirty="0"/>
              <a:t>BEFORE </a:t>
            </a:r>
            <a:r>
              <a:rPr lang="en-US" b="0" dirty="0"/>
              <a:t>a TECHNICAL REVIEW; </a:t>
            </a:r>
          </a:p>
          <a:p>
            <a:r>
              <a:rPr lang="en-US" dirty="0"/>
              <a:t>- an </a:t>
            </a:r>
            <a:r>
              <a:rPr lang="en-US" b="1" dirty="0"/>
              <a:t>INSPECTION</a:t>
            </a:r>
            <a:r>
              <a:rPr lang="en-US" dirty="0"/>
              <a:t> may be carried out on a requirements specification </a:t>
            </a:r>
            <a:r>
              <a:rPr lang="en-US" b="1" dirty="0"/>
              <a:t>BEFORE</a:t>
            </a:r>
            <a:r>
              <a:rPr lang="en-US" dirty="0"/>
              <a:t> </a:t>
            </a:r>
            <a:r>
              <a:rPr lang="en-US" b="0" dirty="0"/>
              <a:t>a WALKTHROUGH </a:t>
            </a:r>
            <a:r>
              <a:rPr lang="en-US" dirty="0"/>
              <a:t>with customers</a:t>
            </a:r>
          </a:p>
          <a:p>
            <a:endParaRPr lang="en-US" dirty="0"/>
          </a:p>
          <a:p>
            <a:endParaRPr lang="en-GB" dirty="0"/>
          </a:p>
          <a:p>
            <a:r>
              <a:rPr lang="en-GB" dirty="0"/>
              <a:t>Walkthrough:</a:t>
            </a:r>
            <a:r>
              <a:rPr lang="en-GB" baseline="0" dirty="0"/>
              <a:t> </a:t>
            </a:r>
            <a:r>
              <a:rPr lang="en-GB" baseline="0" dirty="0" err="1"/>
              <a:t>Lần</a:t>
            </a:r>
            <a:r>
              <a:rPr lang="en-GB" baseline="0" dirty="0"/>
              <a:t> b</a:t>
            </a:r>
            <a:r>
              <a:rPr lang="vi-VN" baseline="0" dirty="0" err="1"/>
              <a:t>ướ</a:t>
            </a:r>
            <a:r>
              <a:rPr lang="en-US" baseline="0" dirty="0"/>
              <a:t>c</a:t>
            </a:r>
          </a:p>
          <a:p>
            <a:r>
              <a:rPr lang="en-US" sz="1200" b="0" kern="1200" dirty="0">
                <a:solidFill>
                  <a:schemeClr val="tx1"/>
                </a:solidFill>
                <a:effectLst/>
                <a:latin typeface="+mn-lt"/>
                <a:ea typeface="+mn-ea"/>
                <a:cs typeface="+mn-cs"/>
              </a:rPr>
              <a:t>Inspection: “Thanh </a:t>
            </a:r>
            <a:r>
              <a:rPr lang="en-US" sz="1200" b="0" kern="1200" dirty="0" err="1">
                <a:solidFill>
                  <a:schemeClr val="tx1"/>
                </a:solidFill>
                <a:effectLst/>
                <a:latin typeface="+mn-lt"/>
                <a:ea typeface="+mn-ea"/>
                <a:cs typeface="+mn-cs"/>
              </a:rPr>
              <a:t>tra</a:t>
            </a:r>
            <a:r>
              <a:rPr lang="en-US" sz="1200" b="0" kern="1200" dirty="0">
                <a:solidFill>
                  <a:schemeClr val="tx1"/>
                </a:solidFill>
                <a:effectLst/>
                <a:latin typeface="+mn-lt"/>
                <a:ea typeface="+mn-ea"/>
                <a:cs typeface="+mn-cs"/>
              </a:rPr>
              <a:t>”, “Xem </a:t>
            </a:r>
            <a:r>
              <a:rPr lang="en-US" sz="1200" b="0" kern="1200" dirty="0" err="1">
                <a:solidFill>
                  <a:schemeClr val="tx1"/>
                </a:solidFill>
                <a:effectLst/>
                <a:latin typeface="+mn-lt"/>
                <a:ea typeface="+mn-ea"/>
                <a:cs typeface="+mn-cs"/>
              </a:rPr>
              <a:t>xét</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kỹ</a:t>
            </a:r>
            <a:r>
              <a:rPr lang="en-US" sz="1200" b="0" kern="1200" baseline="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SV </a:t>
            </a:r>
            <a:r>
              <a:rPr lang="en-GB" baseline="0" dirty="0" err="1"/>
              <a:t>đã</a:t>
            </a:r>
            <a:r>
              <a:rPr lang="en-GB" baseline="0" dirty="0"/>
              <a:t> </a:t>
            </a:r>
            <a:r>
              <a:rPr lang="en-GB" baseline="0" dirty="0" err="1"/>
              <a:t>được</a:t>
            </a:r>
            <a:r>
              <a:rPr lang="en-GB" baseline="0" dirty="0"/>
              <a:t> </a:t>
            </a:r>
            <a:r>
              <a:rPr lang="en-GB" baseline="0" dirty="0" err="1"/>
              <a:t>giao</a:t>
            </a:r>
            <a:r>
              <a:rPr lang="en-GB" baseline="0" dirty="0"/>
              <a:t> </a:t>
            </a:r>
            <a:r>
              <a:rPr lang="en-GB" baseline="0" dirty="0" err="1"/>
              <a:t>bài</a:t>
            </a:r>
            <a:r>
              <a:rPr lang="en-GB" baseline="0" dirty="0"/>
              <a:t>, </a:t>
            </a:r>
            <a:r>
              <a:rPr lang="en-GB" baseline="0" dirty="0" err="1"/>
              <a:t>yc</a:t>
            </a:r>
            <a:r>
              <a:rPr lang="en-GB" baseline="0" dirty="0"/>
              <a:t> SV </a:t>
            </a:r>
            <a:r>
              <a:rPr lang="en-GB" baseline="0" dirty="0" err="1"/>
              <a:t>trình</a:t>
            </a:r>
            <a:r>
              <a:rPr lang="en-GB" baseline="0" dirty="0"/>
              <a:t> </a:t>
            </a:r>
            <a:r>
              <a:rPr lang="en-GB" baseline="0" dirty="0" err="1"/>
              <a:t>bày</a:t>
            </a:r>
            <a:r>
              <a:rPr lang="en-GB" baseline="0" dirty="0"/>
              <a:t> </a:t>
            </a:r>
            <a:r>
              <a:rPr lang="en-GB" baseline="0" dirty="0" err="1"/>
              <a:t>để</a:t>
            </a:r>
            <a:r>
              <a:rPr lang="en-GB" baseline="0" dirty="0"/>
              <a:t> </a:t>
            </a:r>
            <a:r>
              <a:rPr lang="en-GB" baseline="0" dirty="0" err="1"/>
              <a:t>cộng</a:t>
            </a:r>
            <a:r>
              <a:rPr lang="en-GB" baseline="0" dirty="0"/>
              <a:t> </a:t>
            </a:r>
            <a:r>
              <a:rPr lang="en-GB" baseline="0" dirty="0" err="1"/>
              <a:t>điểm</a:t>
            </a:r>
            <a:r>
              <a:rPr lang="en-GB" baseline="0" dirty="0"/>
              <a:t>: </a:t>
            </a:r>
            <a:r>
              <a:rPr lang="vi-VN" sz="1200" b="1" kern="1200" dirty="0">
                <a:solidFill>
                  <a:schemeClr val="tx1"/>
                </a:solidFill>
                <a:latin typeface="+mn-lt"/>
                <a:ea typeface="+mn-ea"/>
                <a:cs typeface="+mn-cs"/>
              </a:rPr>
              <a:t>PHÂN BIỆT </a:t>
            </a:r>
            <a:r>
              <a:rPr lang="vi-VN" sz="1200" b="1" kern="1200" dirty="0" err="1">
                <a:solidFill>
                  <a:schemeClr val="tx1"/>
                </a:solidFill>
                <a:latin typeface="+mn-lt"/>
                <a:ea typeface="+mn-ea"/>
                <a:cs typeface="+mn-cs"/>
              </a:rPr>
              <a:t>Walkthrough</a:t>
            </a:r>
            <a:r>
              <a:rPr lang="vi-VN" sz="1200" b="1" kern="1200" dirty="0">
                <a:solidFill>
                  <a:schemeClr val="tx1"/>
                </a:solidFill>
                <a:latin typeface="+mn-lt"/>
                <a:ea typeface="+mn-ea"/>
                <a:cs typeface="+mn-cs"/>
              </a:rPr>
              <a:t> và </a:t>
            </a:r>
            <a:r>
              <a:rPr lang="vi-VN" sz="1200" b="1" kern="1200" dirty="0" err="1">
                <a:solidFill>
                  <a:schemeClr val="tx1"/>
                </a:solidFill>
                <a:latin typeface="+mn-lt"/>
                <a:ea typeface="+mn-ea"/>
                <a:cs typeface="+mn-cs"/>
              </a:rPr>
              <a:t>Inspection</a:t>
            </a:r>
            <a:r>
              <a:rPr lang="vi-VN" sz="1200" b="1" kern="1200" dirty="0">
                <a:solidFill>
                  <a:schemeClr val="tx1"/>
                </a:solidFill>
                <a:latin typeface="+mn-lt"/>
                <a:ea typeface="+mn-ea"/>
                <a:cs typeface="+mn-cs"/>
              </a:rPr>
              <a:t>: mục đích, đối tượng tham gia (</a:t>
            </a:r>
            <a:r>
              <a:rPr lang="vi-VN" sz="1200" b="1" kern="1200" dirty="0" err="1">
                <a:solidFill>
                  <a:schemeClr val="tx1"/>
                </a:solidFill>
                <a:latin typeface="+mn-lt"/>
                <a:ea typeface="+mn-ea"/>
                <a:cs typeface="+mn-cs"/>
              </a:rPr>
              <a:t>inspection</a:t>
            </a:r>
            <a:r>
              <a:rPr lang="vi-VN" sz="1200" b="1" kern="1200" dirty="0">
                <a:solidFill>
                  <a:schemeClr val="tx1"/>
                </a:solidFill>
                <a:latin typeface="+mn-lt"/>
                <a:ea typeface="+mn-ea"/>
                <a:cs typeface="+mn-cs"/>
              </a:rPr>
              <a:t>: có sự tham gia của quản lý), người chủ trì.</a:t>
            </a:r>
            <a:endParaRPr lang="en-US" sz="1200" b="1" kern="1200" dirty="0">
              <a:solidFill>
                <a:schemeClr val="tx1"/>
              </a:solidFill>
              <a:latin typeface="+mn-lt"/>
              <a:ea typeface="+mn-ea"/>
              <a:cs typeface="+mn-cs"/>
            </a:endParaRPr>
          </a:p>
          <a:p>
            <a:endParaRPr lang="en-US" dirty="0"/>
          </a:p>
        </p:txBody>
      </p:sp>
    </p:spTree>
    <p:extLst>
      <p:ext uri="{BB962C8B-B14F-4D97-AF65-F5344CB8AC3E}">
        <p14:creationId xmlns:p14="http://schemas.microsoft.com/office/powerpoint/2010/main" val="2196841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
          <p:cNvSpPr>
            <a:spLocks noGrp="1" noChangeArrowheads="1"/>
          </p:cNvSpPr>
          <p:nvPr>
            <p:ph type="sldNum" sz="quarter" idx="5"/>
          </p:nvPr>
        </p:nvSpPr>
        <p:spPr>
          <a:ln/>
        </p:spPr>
        <p:txBody>
          <a:bodyPr/>
          <a:lstStyle/>
          <a:p>
            <a:fld id="{2AB4405C-CCE2-43EA-97A0-D4DCEE8D004C}" type="slidenum">
              <a:rPr lang="ar-SA"/>
              <a:pPr/>
              <a:t>14</a:t>
            </a:fld>
            <a:endParaRPr lang="en-GB"/>
          </a:p>
        </p:txBody>
      </p:sp>
      <p:sp>
        <p:nvSpPr>
          <p:cNvPr id="81922" name="Rectangle 1026"/>
          <p:cNvSpPr>
            <a:spLocks noChangeArrowheads="1"/>
          </p:cNvSpPr>
          <p:nvPr/>
        </p:nvSpPr>
        <p:spPr bwMode="auto">
          <a:xfrm>
            <a:off x="3900794" y="10560"/>
            <a:ext cx="2987236" cy="428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615" tIns="44307" rIns="88615" bIns="44307" anchor="ctr"/>
          <a:lstStyle/>
          <a:p>
            <a:endParaRPr lang="en-US"/>
          </a:p>
        </p:txBody>
      </p:sp>
      <p:sp>
        <p:nvSpPr>
          <p:cNvPr id="81923" name="Rectangle 1027"/>
          <p:cNvSpPr>
            <a:spLocks noChangeArrowheads="1"/>
          </p:cNvSpPr>
          <p:nvPr/>
        </p:nvSpPr>
        <p:spPr bwMode="auto">
          <a:xfrm>
            <a:off x="3900794" y="8705052"/>
            <a:ext cx="2987236" cy="42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718" tIns="0" rIns="18718" bIns="0" anchor="b"/>
          <a:lstStyle/>
          <a:p>
            <a:pPr algn="r" defTabSz="759992"/>
            <a:r>
              <a:rPr lang="en-GB" sz="1000" i="1">
                <a:latin typeface="Times New Roman" charset="0"/>
              </a:rPr>
              <a:t>48</a:t>
            </a:r>
          </a:p>
        </p:txBody>
      </p:sp>
      <p:sp>
        <p:nvSpPr>
          <p:cNvPr id="81924" name="Rectangle 1028"/>
          <p:cNvSpPr>
            <a:spLocks noChangeArrowheads="1"/>
          </p:cNvSpPr>
          <p:nvPr/>
        </p:nvSpPr>
        <p:spPr bwMode="auto">
          <a:xfrm>
            <a:off x="-30031" y="8705052"/>
            <a:ext cx="2985656" cy="42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615" tIns="44307" rIns="88615" bIns="44307" anchor="ctr"/>
          <a:lstStyle/>
          <a:p>
            <a:endParaRPr lang="en-US"/>
          </a:p>
        </p:txBody>
      </p:sp>
      <p:sp>
        <p:nvSpPr>
          <p:cNvPr id="81925" name="Rectangle 1029"/>
          <p:cNvSpPr>
            <a:spLocks noChangeArrowheads="1"/>
          </p:cNvSpPr>
          <p:nvPr/>
        </p:nvSpPr>
        <p:spPr bwMode="auto">
          <a:xfrm>
            <a:off x="-30031" y="10560"/>
            <a:ext cx="2985656" cy="428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615" tIns="44307" rIns="88615" bIns="44307" anchor="ctr"/>
          <a:lstStyle/>
          <a:p>
            <a:endParaRPr lang="en-US"/>
          </a:p>
        </p:txBody>
      </p:sp>
      <p:sp>
        <p:nvSpPr>
          <p:cNvPr id="81926" name="Rectangle 1030"/>
          <p:cNvSpPr>
            <a:spLocks noGrp="1" noRot="1" noChangeAspect="1" noChangeArrowheads="1" noTextEdit="1"/>
          </p:cNvSpPr>
          <p:nvPr>
            <p:ph type="sldImg"/>
          </p:nvPr>
        </p:nvSpPr>
        <p:spPr>
          <a:xfrm>
            <a:off x="1397000" y="871538"/>
            <a:ext cx="4067175" cy="3049587"/>
          </a:xfrm>
          <a:ln cap="flat"/>
        </p:spPr>
      </p:sp>
      <p:sp>
        <p:nvSpPr>
          <p:cNvPr id="2" name="Notes Placeholder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a:t>
            </a:r>
            <a:endParaRPr lang="en-US" sz="1200" b="1"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Tác giả </a:t>
            </a:r>
            <a:r>
              <a:rPr lang="en-US" sz="1200" b="1" i="0" kern="1200" baseline="0" dirty="0" err="1">
                <a:solidFill>
                  <a:schemeClr val="tx1"/>
                </a:solidFill>
                <a:effectLst/>
                <a:latin typeface="+mn-lt"/>
                <a:ea typeface="+mn-ea"/>
                <a:cs typeface="+mn-cs"/>
              </a:rPr>
              <a:t>sẽ</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mô</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giải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thích</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từng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bước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về</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sản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phẩm</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của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mình</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và</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yêu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cầu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những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người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tham</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gia</a:t>
            </a:r>
            <a:r>
              <a:rPr lang="en-US" sz="1200" b="1" i="0" kern="1200" baseline="0" dirty="0">
                <a:solidFill>
                  <a:schemeClr val="tx1"/>
                </a:solidFill>
                <a:effectLst/>
                <a:latin typeface="+mn-lt"/>
                <a:ea typeface="+mn-ea"/>
                <a:cs typeface="+mn-cs"/>
              </a:rPr>
              <a:t> CHO Ý KIẾN, BÌNH LUẬN, HAY ĐỀ NGHỊ CẢI TIẾN </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thường</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phục</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vụ</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cho</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việc</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thông</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báo</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cho</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những</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người</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tham</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gia</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về</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sp</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chứ</a:t>
            </a:r>
            <a:r>
              <a:rPr lang="en-US" sz="1200" b="0" i="0" kern="1200" baseline="0" dirty="0">
                <a:solidFill>
                  <a:schemeClr val="tx1"/>
                </a:solidFill>
                <a:effectLst/>
                <a:latin typeface="+mn-lt"/>
                <a:ea typeface="+mn-ea"/>
                <a:cs typeface="+mn-cs"/>
                <a:sym typeface="Wingdings" pitchFamily="2" charset="2"/>
              </a:rPr>
              <a:t> </a:t>
            </a:r>
            <a:r>
              <a:rPr lang="en-US" sz="1200" b="0" i="0" u="sng" kern="1200" baseline="0" dirty="0" err="1">
                <a:solidFill>
                  <a:schemeClr val="tx1"/>
                </a:solidFill>
                <a:effectLst/>
                <a:latin typeface="+mn-lt"/>
                <a:ea typeface="+mn-ea"/>
                <a:cs typeface="+mn-cs"/>
                <a:sym typeface="Wingdings" pitchFamily="2" charset="2"/>
              </a:rPr>
              <a:t>không</a:t>
            </a:r>
            <a:r>
              <a:rPr lang="en-US" sz="1200" b="0" i="0" u="sng" kern="1200" baseline="0" dirty="0">
                <a:solidFill>
                  <a:schemeClr val="tx1"/>
                </a:solidFill>
                <a:effectLst/>
                <a:latin typeface="+mn-lt"/>
                <a:ea typeface="+mn-ea"/>
                <a:cs typeface="+mn-cs"/>
                <a:sym typeface="Wingdings" pitchFamily="2" charset="2"/>
              </a:rPr>
              <a:t> </a:t>
            </a:r>
            <a:r>
              <a:rPr lang="en-US" sz="1200" b="0" i="0" u="sng" kern="1200" baseline="0" dirty="0" err="1">
                <a:solidFill>
                  <a:schemeClr val="tx1"/>
                </a:solidFill>
                <a:effectLst/>
                <a:latin typeface="+mn-lt"/>
                <a:ea typeface="+mn-ea"/>
                <a:cs typeface="+mn-cs"/>
                <a:sym typeface="Wingdings" pitchFamily="2" charset="2"/>
              </a:rPr>
              <a:t>phải</a:t>
            </a:r>
            <a:r>
              <a:rPr lang="en-US" sz="1200" b="0" i="0" u="sng" kern="1200" baseline="0" dirty="0">
                <a:solidFill>
                  <a:schemeClr val="tx1"/>
                </a:solidFill>
                <a:effectLst/>
                <a:latin typeface="+mn-lt"/>
                <a:ea typeface="+mn-ea"/>
                <a:cs typeface="+mn-cs"/>
                <a:sym typeface="Wingdings" pitchFamily="2" charset="2"/>
              </a:rPr>
              <a:t> </a:t>
            </a:r>
            <a:r>
              <a:rPr lang="en-US" sz="1200" b="0" i="0" u="sng" kern="1200" baseline="0" dirty="0" err="1">
                <a:solidFill>
                  <a:schemeClr val="tx1"/>
                </a:solidFill>
                <a:effectLst/>
                <a:latin typeface="+mn-lt"/>
                <a:ea typeface="+mn-ea"/>
                <a:cs typeface="+mn-cs"/>
                <a:sym typeface="Wingdings" pitchFamily="2" charset="2"/>
              </a:rPr>
              <a:t>sửa</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nó</a:t>
            </a:r>
            <a:endParaRPr lang="en-US" sz="1200" b="1"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Mục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đích</a:t>
            </a:r>
            <a:r>
              <a:rPr lang="en-US" sz="1200" b="0" i="0" kern="1200" baseline="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vi-VN" sz="1200" b="0" i="0" kern="1200" baseline="0" dirty="0">
                <a:solidFill>
                  <a:schemeClr val="tx1"/>
                </a:solidFill>
                <a:effectLst/>
                <a:latin typeface="+mn-lt"/>
                <a:ea typeface="+mn-ea"/>
                <a:cs typeface="+mn-cs"/>
              </a:rPr>
              <a:t>để trình bày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giải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thích</a:t>
            </a:r>
            <a:r>
              <a:rPr lang="vi-VN" sz="1200" b="0" i="0" kern="1200" baseline="0" dirty="0">
                <a:solidFill>
                  <a:schemeClr val="tx1"/>
                </a:solidFill>
                <a:effectLst/>
                <a:latin typeface="+mn-lt"/>
                <a:ea typeface="+mn-ea"/>
                <a:cs typeface="+mn-cs"/>
              </a:rPr>
              <a:t> tài liệu </a:t>
            </a:r>
            <a:r>
              <a:rPr lang="en-US" sz="1200" b="0" i="0" kern="1200" baseline="0" dirty="0" err="1">
                <a:solidFill>
                  <a:schemeClr val="tx1"/>
                </a:solidFill>
                <a:effectLst/>
                <a:latin typeface="+mn-lt"/>
                <a:ea typeface="+mn-ea"/>
                <a:cs typeface="+mn-cs"/>
              </a:rPr>
              <a:t>với</a:t>
            </a:r>
            <a:r>
              <a:rPr lang="en-US" sz="1200" b="0" i="0" kern="1200" baseline="0" dirty="0">
                <a:solidFill>
                  <a:schemeClr val="tx1"/>
                </a:solidFill>
                <a:effectLst/>
                <a:latin typeface="+mn-lt"/>
                <a:ea typeface="+mn-ea"/>
                <a:cs typeface="+mn-cs"/>
              </a:rPr>
              <a:t> </a:t>
            </a:r>
            <a:r>
              <a:rPr lang="vi-VN" sz="1200" b="0" i="0" kern="1200" baseline="0" dirty="0">
                <a:solidFill>
                  <a:schemeClr val="tx1"/>
                </a:solidFill>
                <a:effectLst/>
                <a:latin typeface="+mn-lt"/>
                <a:ea typeface="+mn-ea"/>
                <a:cs typeface="+mn-cs"/>
              </a:rPr>
              <a:t>các bên liên quan</a:t>
            </a:r>
            <a:r>
              <a:rPr lang="en-US" sz="1200" b="0" i="0" kern="1200" baseline="0" dirty="0">
                <a:solidFill>
                  <a:schemeClr val="tx1"/>
                </a:solidFill>
                <a:effectLst/>
                <a:latin typeface="+mn-lt"/>
                <a:ea typeface="+mn-ea"/>
                <a:cs typeface="+mn-cs"/>
              </a:rPr>
              <a:t>, VD/ </a:t>
            </a:r>
            <a:r>
              <a:rPr lang="en-US" sz="1200" b="1" i="0" kern="1200" baseline="0" dirty="0">
                <a:solidFill>
                  <a:schemeClr val="tx1"/>
                </a:solidFill>
                <a:effectLst/>
                <a:latin typeface="+mn-lt"/>
                <a:ea typeface="+mn-ea"/>
                <a:cs typeface="+mn-cs"/>
              </a:rPr>
              <a:t>DESIGNER TRÌNH BÀY CHO NHÓM CODER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kern="1200" baseline="0" dirty="0">
                <a:solidFill>
                  <a:schemeClr val="tx1"/>
                </a:solidFill>
                <a:effectLst/>
                <a:latin typeface="+mn-lt"/>
                <a:ea typeface="+mn-ea"/>
                <a:cs typeface="+mn-cs"/>
              </a:rPr>
              <a:t>      + </a:t>
            </a:r>
            <a:r>
              <a:rPr lang="en-US" sz="1200" b="0" i="0" u="none" kern="1200" baseline="0" dirty="0" err="1">
                <a:solidFill>
                  <a:schemeClr val="tx1"/>
                </a:solidFill>
                <a:effectLst/>
                <a:latin typeface="+mn-lt"/>
                <a:ea typeface="+mn-ea"/>
                <a:cs typeface="+mn-cs"/>
              </a:rPr>
              <a:t>để</a:t>
            </a:r>
            <a:r>
              <a:rPr lang="en-US" sz="1200" b="0" i="0" u="none" kern="1200" baseline="0" dirty="0">
                <a:solidFill>
                  <a:schemeClr val="tx1"/>
                </a:solidFill>
                <a:effectLst/>
                <a:latin typeface="+mn-lt"/>
                <a:ea typeface="+mn-ea"/>
                <a:cs typeface="+mn-cs"/>
              </a:rPr>
              <a:t> </a:t>
            </a:r>
            <a:r>
              <a:rPr lang="en-US" dirty="0"/>
              <a:t>ng</a:t>
            </a:r>
            <a:r>
              <a:rPr lang="vi-VN" dirty="0" err="1"/>
              <a:t>ườ</a:t>
            </a:r>
            <a:r>
              <a:rPr lang="en-US" dirty="0" err="1"/>
              <a:t>i</a:t>
            </a:r>
            <a:r>
              <a:rPr lang="en-US" dirty="0"/>
              <a:t> </a:t>
            </a:r>
            <a:r>
              <a:rPr lang="en-US" dirty="0" err="1"/>
              <a:t>nghe</a:t>
            </a:r>
            <a:r>
              <a:rPr lang="en-US" dirty="0"/>
              <a:t> </a:t>
            </a:r>
            <a:r>
              <a:rPr lang="en-US" dirty="0" err="1"/>
              <a:t>làm</a:t>
            </a:r>
            <a:r>
              <a:rPr lang="en-US" baseline="0" dirty="0"/>
              <a:t> </a:t>
            </a:r>
            <a:r>
              <a:rPr lang="en-US" baseline="0" dirty="0" err="1"/>
              <a:t>quen</a:t>
            </a:r>
            <a:r>
              <a:rPr lang="en-US" baseline="0" dirty="0"/>
              <a:t> </a:t>
            </a:r>
            <a:r>
              <a:rPr lang="en-US" baseline="0" dirty="0" err="1"/>
              <a:t>với</a:t>
            </a:r>
            <a:r>
              <a:rPr lang="en-US" baseline="0" dirty="0"/>
              <a:t> </a:t>
            </a:r>
            <a:r>
              <a:rPr lang="en-US" baseline="0" dirty="0" err="1"/>
              <a:t>nội</a:t>
            </a:r>
            <a:r>
              <a:rPr lang="en-US" baseline="0" dirty="0"/>
              <a:t> dung </a:t>
            </a:r>
            <a:r>
              <a:rPr lang="en-US" baseline="0" dirty="0" err="1"/>
              <a:t>của</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để</a:t>
            </a:r>
            <a:r>
              <a:rPr lang="en-US" baseline="0" dirty="0"/>
              <a:t> </a:t>
            </a:r>
            <a:r>
              <a:rPr lang="en-US" baseline="0" dirty="0" err="1"/>
              <a:t>hiểu</a:t>
            </a:r>
            <a:r>
              <a:rPr lang="en-US" baseline="0" dirty="0"/>
              <a:t> </a:t>
            </a:r>
            <a:r>
              <a:rPr lang="en-US" baseline="0" dirty="0" err="1"/>
              <a:t>tài</a:t>
            </a:r>
            <a:r>
              <a:rPr lang="en-US" baseline="0" dirty="0"/>
              <a:t> </a:t>
            </a:r>
            <a:r>
              <a:rPr lang="en-US" baseline="0" dirty="0" err="1"/>
              <a:t>liệu</a:t>
            </a:r>
            <a:endParaRPr lang="en-US"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để </a:t>
            </a:r>
            <a:r>
              <a:rPr lang="vi-VN" sz="1200" b="0" i="0" u="none" kern="1200" dirty="0">
                <a:solidFill>
                  <a:schemeClr val="tx1"/>
                </a:solidFill>
                <a:effectLst/>
                <a:latin typeface="+mn-lt"/>
                <a:ea typeface="+mn-ea"/>
                <a:cs typeface="+mn-cs"/>
              </a:rPr>
              <a:t>thu thập thông tin phản hồi</a:t>
            </a:r>
            <a:endParaRPr lang="en-US" sz="1200" b="0" i="0" u="none"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kern="1200" baseline="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để kiểm tra và thảo luận về </a:t>
            </a:r>
            <a:r>
              <a:rPr lang="vi-VN" sz="1200" b="0" i="0" u="sng" kern="1200" dirty="0">
                <a:solidFill>
                  <a:schemeClr val="tx1"/>
                </a:solidFill>
                <a:effectLst/>
                <a:latin typeface="+mn-lt"/>
                <a:ea typeface="+mn-ea"/>
                <a:cs typeface="+mn-cs"/>
              </a:rPr>
              <a:t>các giải pháp </a:t>
            </a:r>
            <a:r>
              <a:rPr lang="en-US" sz="1200" b="0" i="0" u="sng" kern="1200" dirty="0" err="1">
                <a:solidFill>
                  <a:schemeClr val="tx1"/>
                </a:solidFill>
                <a:effectLst/>
                <a:latin typeface="+mn-lt"/>
                <a:ea typeface="+mn-ea"/>
                <a:cs typeface="+mn-cs"/>
              </a:rPr>
              <a:t>được</a:t>
            </a:r>
            <a:r>
              <a:rPr lang="en-US" sz="1200" b="0" i="0" u="sng" kern="1200" baseline="0" dirty="0">
                <a:solidFill>
                  <a:schemeClr val="tx1"/>
                </a:solidFill>
                <a:effectLst/>
                <a:latin typeface="+mn-lt"/>
                <a:ea typeface="+mn-ea"/>
                <a:cs typeface="+mn-cs"/>
              </a:rPr>
              <a:t> </a:t>
            </a:r>
            <a:r>
              <a:rPr lang="vi-VN" sz="1200" b="0" i="0" u="sng" kern="1200" dirty="0">
                <a:solidFill>
                  <a:schemeClr val="tx1"/>
                </a:solidFill>
                <a:effectLst/>
                <a:latin typeface="+mn-lt"/>
                <a:ea typeface="+mn-ea"/>
                <a:cs typeface="+mn-cs"/>
              </a:rPr>
              <a:t>đề xuất</a:t>
            </a:r>
            <a:r>
              <a:rPr lang="vi-VN" sz="1200" b="0" i="0" kern="1200" dirty="0">
                <a:solidFill>
                  <a:schemeClr val="tx1"/>
                </a:solidFill>
                <a:effectLst/>
                <a:latin typeface="+mn-lt"/>
                <a:ea typeface="+mn-ea"/>
                <a:cs typeface="+mn-cs"/>
              </a:rPr>
              <a:t> và </a:t>
            </a:r>
            <a:r>
              <a:rPr lang="en-US" sz="1200" b="0" i="0" kern="1200" dirty="0" err="1">
                <a:solidFill>
                  <a:schemeClr val="tx1"/>
                </a:solidFill>
                <a:effectLst/>
                <a:latin typeface="+mn-lt"/>
                <a:ea typeface="+mn-ea"/>
                <a:cs typeface="+mn-cs"/>
              </a:rPr>
              <a:t>tính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của</a:t>
            </a:r>
            <a:r>
              <a:rPr lang="en-US" sz="1200" b="0" i="0"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các</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giải</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pháp</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dự</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phòng</a:t>
            </a:r>
            <a:endParaRPr lang="en-US" sz="1200" b="0" i="0" u="none"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Cách</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này</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đặc</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biệt</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có</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ích</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cho</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nhóm</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có</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người</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ngoài</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dự</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án</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hoặc</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các</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tài</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liệu</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mức</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cao</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như</a:t>
            </a:r>
            <a:r>
              <a:rPr lang="en-US" sz="1200" b="0" i="0" u="none" kern="1200" baseline="0" dirty="0">
                <a:solidFill>
                  <a:schemeClr val="tx1"/>
                </a:solidFill>
                <a:effectLst/>
                <a:latin typeface="+mn-lt"/>
                <a:ea typeface="+mn-ea"/>
                <a:cs typeface="+mn-cs"/>
              </a:rPr>
              <a:t> </a:t>
            </a:r>
            <a:r>
              <a:rPr lang="en-IE" b="1" dirty="0"/>
              <a:t>REQUIREMENTS SPECIFICATIONS </a:t>
            </a:r>
            <a:r>
              <a:rPr lang="en-IE" dirty="0" err="1"/>
              <a:t>và</a:t>
            </a:r>
            <a:r>
              <a:rPr lang="en-IE" baseline="0" dirty="0"/>
              <a:t> </a:t>
            </a:r>
            <a:r>
              <a:rPr lang="en-IE" b="1" dirty="0"/>
              <a:t>ARCHITECTURAL DOCUMENTS.</a:t>
            </a:r>
            <a:endParaRPr lang="en-US" sz="1200" b="1" i="0" u="none"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baseline="0" dirty="0">
                <a:solidFill>
                  <a:schemeClr val="tx1"/>
                </a:solidFill>
                <a:effectLst/>
                <a:latin typeface="+mn-lt"/>
                <a:ea typeface="+mn-ea"/>
                <a:cs typeface="+mn-cs"/>
              </a:rPr>
              <a:t>? REVIEW NÀY CÓ ĐÒI HỎI PHẢI NGHIÊN CỨU CHI TIẾT TÀI LIỆU TRƯỚC KHÔNG? - KHÔNG</a:t>
            </a:r>
          </a:p>
        </p:txBody>
      </p:sp>
    </p:spTree>
    <p:extLst>
      <p:ext uri="{BB962C8B-B14F-4D97-AF65-F5344CB8AC3E}">
        <p14:creationId xmlns:p14="http://schemas.microsoft.com/office/powerpoint/2010/main" val="446518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
          <p:cNvSpPr>
            <a:spLocks noGrp="1" noChangeArrowheads="1"/>
          </p:cNvSpPr>
          <p:nvPr>
            <p:ph type="sldNum" sz="quarter" idx="5"/>
          </p:nvPr>
        </p:nvSpPr>
        <p:spPr>
          <a:ln/>
        </p:spPr>
        <p:txBody>
          <a:bodyPr/>
          <a:lstStyle/>
          <a:p>
            <a:fld id="{2AB4405C-CCE2-43EA-97A0-D4DCEE8D004C}" type="slidenum">
              <a:rPr lang="ar-SA"/>
              <a:pPr/>
              <a:t>15</a:t>
            </a:fld>
            <a:endParaRPr lang="en-GB"/>
          </a:p>
        </p:txBody>
      </p:sp>
      <p:sp>
        <p:nvSpPr>
          <p:cNvPr id="81922" name="Rectangle 1026"/>
          <p:cNvSpPr>
            <a:spLocks noChangeArrowheads="1"/>
          </p:cNvSpPr>
          <p:nvPr/>
        </p:nvSpPr>
        <p:spPr bwMode="auto">
          <a:xfrm>
            <a:off x="3900794" y="10560"/>
            <a:ext cx="2987236" cy="428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615" tIns="44307" rIns="88615" bIns="44307" anchor="ctr"/>
          <a:lstStyle/>
          <a:p>
            <a:endParaRPr lang="en-US"/>
          </a:p>
        </p:txBody>
      </p:sp>
      <p:sp>
        <p:nvSpPr>
          <p:cNvPr id="81923" name="Rectangle 1027"/>
          <p:cNvSpPr>
            <a:spLocks noChangeArrowheads="1"/>
          </p:cNvSpPr>
          <p:nvPr/>
        </p:nvSpPr>
        <p:spPr bwMode="auto">
          <a:xfrm>
            <a:off x="3900794" y="8705052"/>
            <a:ext cx="2987236" cy="42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718" tIns="0" rIns="18718" bIns="0" anchor="b"/>
          <a:lstStyle/>
          <a:p>
            <a:pPr algn="r" defTabSz="759992"/>
            <a:r>
              <a:rPr lang="en-GB" sz="1000" i="1">
                <a:latin typeface="Times New Roman" charset="0"/>
              </a:rPr>
              <a:t>48</a:t>
            </a:r>
          </a:p>
        </p:txBody>
      </p:sp>
      <p:sp>
        <p:nvSpPr>
          <p:cNvPr id="81924" name="Rectangle 1028"/>
          <p:cNvSpPr>
            <a:spLocks noChangeArrowheads="1"/>
          </p:cNvSpPr>
          <p:nvPr/>
        </p:nvSpPr>
        <p:spPr bwMode="auto">
          <a:xfrm>
            <a:off x="-30031" y="8705052"/>
            <a:ext cx="2985656" cy="42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615" tIns="44307" rIns="88615" bIns="44307" anchor="ctr"/>
          <a:lstStyle/>
          <a:p>
            <a:endParaRPr lang="en-US"/>
          </a:p>
        </p:txBody>
      </p:sp>
      <p:sp>
        <p:nvSpPr>
          <p:cNvPr id="81925" name="Rectangle 1029"/>
          <p:cNvSpPr>
            <a:spLocks noChangeArrowheads="1"/>
          </p:cNvSpPr>
          <p:nvPr/>
        </p:nvSpPr>
        <p:spPr bwMode="auto">
          <a:xfrm>
            <a:off x="-30031" y="10560"/>
            <a:ext cx="2985656" cy="428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615" tIns="44307" rIns="88615" bIns="44307" anchor="ctr"/>
          <a:lstStyle/>
          <a:p>
            <a:endParaRPr lang="en-US"/>
          </a:p>
        </p:txBody>
      </p:sp>
      <p:sp>
        <p:nvSpPr>
          <p:cNvPr id="81926" name="Rectangle 1030"/>
          <p:cNvSpPr>
            <a:spLocks noGrp="1" noRot="1" noChangeAspect="1" noChangeArrowheads="1" noTextEdit="1"/>
          </p:cNvSpPr>
          <p:nvPr>
            <p:ph type="sldImg"/>
          </p:nvPr>
        </p:nvSpPr>
        <p:spPr>
          <a:xfrm>
            <a:off x="1397000" y="871538"/>
            <a:ext cx="4067175" cy="3049587"/>
          </a:xfrm>
          <a:ln cap="flat"/>
        </p:spPr>
      </p:sp>
      <p:sp>
        <p:nvSpPr>
          <p:cNvPr id="2" name="Notes Placeholder 1"/>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INSPECTION CHO HẦU</a:t>
            </a:r>
            <a:r>
              <a:rPr lang="en-GB" baseline="0" dirty="0"/>
              <a:t> NHƯ </a:t>
            </a:r>
            <a:r>
              <a:rPr lang="en-GB" dirty="0"/>
              <a:t>CÁC</a:t>
            </a:r>
            <a:r>
              <a:rPr lang="en-GB" baseline="0" dirty="0"/>
              <a:t> LOẠI TÀI LIỆU: </a:t>
            </a:r>
            <a:r>
              <a:rPr lang="en-US" sz="1200" b="0" i="0" kern="1200" dirty="0">
                <a:solidFill>
                  <a:schemeClr val="tx1"/>
                </a:solidFill>
                <a:effectLst/>
                <a:latin typeface="+mn-lt"/>
                <a:ea typeface="+mn-ea"/>
                <a:cs typeface="+mn-cs"/>
              </a:rPr>
              <a:t>requirements, design and code, project management plan, SQA plan, software conﬁguration plan, risk management plan, test cases, user manual, etc.</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Loại </a:t>
            </a:r>
            <a:r>
              <a:rPr lang="en-US" sz="1200" b="0" i="0" kern="1200" dirty="0">
                <a:solidFill>
                  <a:schemeClr val="tx1"/>
                </a:solidFill>
                <a:effectLst/>
                <a:latin typeface="+mn-lt"/>
                <a:ea typeface="+mn-ea"/>
                <a:cs typeface="+mn-cs"/>
              </a:rPr>
              <a:t>review</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kiểu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cách</a:t>
            </a:r>
            <a:r>
              <a:rPr lang="en-US" sz="1200" b="0" i="0" kern="1200" baseline="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nhất</a:t>
            </a:r>
            <a:endParaRPr lang="en-US"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tính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hệ</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thống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tuân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thủ</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nghiêm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ngặt</a:t>
            </a:r>
            <a:r>
              <a:rPr lang="en-US" sz="1200" b="0"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a:t>
            </a:r>
            <a:r>
              <a:rPr lang="en-US" sz="1200" b="1" i="0" kern="1200" baseline="0" dirty="0" err="1">
                <a:solidFill>
                  <a:schemeClr val="tx1"/>
                </a:solidFill>
                <a:effectLst/>
                <a:latin typeface="+mn-lt"/>
                <a:ea typeface="+mn-ea"/>
                <a:cs typeface="+mn-cs"/>
              </a:rPr>
              <a:t>theo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đúng</a:t>
            </a:r>
            <a:r>
              <a:rPr lang="en-US" sz="1200" b="1" i="0" kern="1200" baseline="0" dirty="0">
                <a:solidFill>
                  <a:schemeClr val="tx1"/>
                </a:solidFill>
                <a:effectLst/>
                <a:latin typeface="+mn-lt"/>
                <a:ea typeface="+mn-ea"/>
                <a:cs typeface="+mn-cs"/>
              </a:rPr>
              <a:t> 6 </a:t>
            </a:r>
            <a:r>
              <a:rPr lang="en-US" sz="1200" b="1" i="0" kern="1200" baseline="0" dirty="0" err="1">
                <a:solidFill>
                  <a:schemeClr val="tx1"/>
                </a:solidFill>
                <a:effectLst/>
                <a:latin typeface="+mn-lt"/>
                <a:ea typeface="+mn-ea"/>
                <a:cs typeface="+mn-cs"/>
              </a:rPr>
              <a:t>bước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của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quy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trình</a:t>
            </a:r>
            <a:r>
              <a:rPr lang="en-US" sz="1200" b="1" i="0" kern="1200" baseline="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vai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trò</a:t>
            </a:r>
            <a:r>
              <a:rPr lang="en-US" sz="1200" b="0" i="0" kern="1200" baseline="0" dirty="0">
                <a:solidFill>
                  <a:schemeClr val="tx1"/>
                </a:solidFill>
                <a:effectLst/>
                <a:latin typeface="+mn-lt"/>
                <a:ea typeface="+mn-ea"/>
                <a:cs typeface="+mn-cs"/>
              </a:rPr>
              <a:t> (...) </a:t>
            </a:r>
            <a:r>
              <a:rPr lang="en-US" sz="1200" b="0" i="0" kern="1200" baseline="0" dirty="0" err="1">
                <a:solidFill>
                  <a:schemeClr val="tx1"/>
                </a:solidFill>
                <a:effectLst/>
                <a:latin typeface="+mn-lt"/>
                <a:ea typeface="+mn-ea"/>
                <a:cs typeface="+mn-cs"/>
              </a:rPr>
              <a:t>phải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rạch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ròi</a:t>
            </a:r>
            <a:r>
              <a:rPr lang="en-US" sz="1200" b="0" i="0" kern="1200" baseline="0" dirty="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Được dẫn dắt bởi </a:t>
            </a:r>
            <a:r>
              <a:rPr lang="en-US" sz="1200" b="0" i="0" kern="1200" dirty="0">
                <a:solidFill>
                  <a:schemeClr val="tx1"/>
                </a:solidFill>
                <a:effectLst/>
                <a:latin typeface="+mn-lt"/>
                <a:ea typeface="+mn-ea"/>
                <a:cs typeface="+mn-cs"/>
              </a:rPr>
              <a:t>NG</a:t>
            </a:r>
            <a:r>
              <a:rPr lang="vi-VN" sz="1200" b="0" i="0" kern="1200" dirty="0">
                <a:solidFill>
                  <a:schemeClr val="tx1"/>
                </a:solidFill>
                <a:effectLst/>
                <a:latin typeface="+mn-lt"/>
                <a:ea typeface="+mn-ea"/>
                <a:cs typeface="+mn-cs"/>
              </a:rPr>
              <a:t>ƯỜ</a:t>
            </a:r>
            <a:r>
              <a:rPr lang="en-US" sz="1200" b="0" i="0" kern="1200" dirty="0">
                <a:solidFill>
                  <a:schemeClr val="tx1"/>
                </a:solidFill>
                <a:effectLst/>
                <a:latin typeface="+mn-lt"/>
                <a:ea typeface="+mn-ea"/>
                <a:cs typeface="+mn-cs"/>
              </a:rPr>
              <a:t>I ĐIỀU PHỐI, NG</a:t>
            </a:r>
            <a:r>
              <a:rPr lang="vi-VN" sz="1200" b="0" i="0" kern="1200" dirty="0">
                <a:solidFill>
                  <a:schemeClr val="tx1"/>
                </a:solidFill>
                <a:effectLst/>
                <a:latin typeface="+mn-lt"/>
                <a:ea typeface="+mn-ea"/>
                <a:cs typeface="+mn-cs"/>
              </a:rPr>
              <a:t>ƯỜ</a:t>
            </a:r>
            <a:r>
              <a:rPr lang="en-US" sz="1200" b="0" i="0" kern="1200" dirty="0">
                <a:solidFill>
                  <a:schemeClr val="tx1"/>
                </a:solidFill>
                <a:effectLst/>
                <a:latin typeface="+mn-lt"/>
                <a:ea typeface="+mn-ea"/>
                <a:cs typeface="+mn-cs"/>
              </a:rPr>
              <a:t>I TRUNG</a:t>
            </a:r>
            <a:r>
              <a:rPr lang="en-US" sz="1200" b="0" i="0" kern="1200" baseline="0" dirty="0">
                <a:solidFill>
                  <a:schemeClr val="tx1"/>
                </a:solidFill>
                <a:effectLst/>
                <a:latin typeface="+mn-lt"/>
                <a:ea typeface="+mn-ea"/>
                <a:cs typeface="+mn-cs"/>
              </a:rPr>
              <a:t> GIAN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Người tham dự phải chuẩn bị cho cuộc họp bằng cách đọc qua tài liệu</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VD/ CONTRACT REVIEW, REQUIREMENT REVIEW, TEST PLAN REVIEW…</a:t>
            </a:r>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What's an 'inspection'?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 inspection is more formalized than a 'walkthrough', typically with 3-8 people including a moderator, reader, and a recorder to take notes. The subject of the inspection is typically a document such as a REQUIREMENTS SPEC or a TEST PLAN, and the purpose is to find problems and see what's missing, not to fix anything. Attendees should prepare for this type of meeting by reading thru the document; most problems will be found during this preparation. The result of the inspection meeting should be a written report. Thorough preparation for inspections is difficult, painstaking work, but is one of the most cost effective methods of ensuring quality. Employees who are most skilled at inspections are like the 'eldest brother' in the parable in </a:t>
            </a:r>
            <a:r>
              <a:rPr lang="en-US" sz="1200" b="0" i="0" kern="1200" dirty="0">
                <a:solidFill>
                  <a:schemeClr val="tx1"/>
                </a:solidFill>
                <a:effectLst/>
                <a:latin typeface="+mn-lt"/>
                <a:ea typeface="+mn-ea"/>
                <a:cs typeface="+mn-cs"/>
                <a:hlinkClick r:id="rId3"/>
              </a:rPr>
              <a:t>'Why is it often hard for organizations to get serious about quality assurance?'</a:t>
            </a:r>
            <a:r>
              <a:rPr lang="en-US" sz="1200" b="0" i="0" kern="1200" dirty="0">
                <a:solidFill>
                  <a:schemeClr val="tx1"/>
                </a:solidFill>
                <a:effectLst/>
                <a:latin typeface="+mn-lt"/>
                <a:ea typeface="+mn-ea"/>
                <a:cs typeface="+mn-cs"/>
              </a:rPr>
              <a:t>. Their skill may have low visibility but they are extremely valuable to any software development organization, since bug prevention is far more cost-effective than bug detection.</a:t>
            </a:r>
          </a:p>
          <a:p>
            <a:pPr marL="0" indent="0">
              <a:buFontTx/>
              <a:buNone/>
            </a:pPr>
            <a:r>
              <a:rPr lang="en-US" dirty="0"/>
              <a:t>(</a:t>
            </a:r>
            <a:r>
              <a:rPr lang="en-US" dirty="0">
                <a:hlinkClick r:id="rId4"/>
              </a:rPr>
              <a:t>http://www.softwareqatest.com/qatfaq1.html</a:t>
            </a:r>
            <a:r>
              <a:rPr lang="en-US" dirty="0"/>
              <a:t>)</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479114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vi-VN" sz="1200" b="0" i="0" kern="1200" dirty="0">
                <a:solidFill>
                  <a:schemeClr val="tx1"/>
                </a:solidFill>
                <a:effectLst/>
                <a:latin typeface="+mn-lt"/>
                <a:ea typeface="+mn-ea"/>
                <a:cs typeface="+mn-cs"/>
              </a:rPr>
              <a:t>Tùy thuộc vào các tổ chức và mục tiêu của dự án, có một số mục tiêu</a:t>
            </a:r>
            <a:r>
              <a:rPr lang="en-US" sz="1200" b="0" i="0"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loại bỏ </a:t>
            </a:r>
            <a:r>
              <a:rPr lang="en-US" sz="1200" b="0" i="0" kern="1200" dirty="0" err="1">
                <a:solidFill>
                  <a:schemeClr val="tx1"/>
                </a:solidFill>
                <a:effectLst/>
                <a:latin typeface="+mn-lt"/>
                <a:ea typeface="+mn-ea"/>
                <a:cs typeface="+mn-cs"/>
              </a:rPr>
              <a:t>lỗi</a:t>
            </a:r>
            <a:r>
              <a:rPr lang="vi-VN" sz="1200" b="0" i="0" kern="1200" dirty="0">
                <a:solidFill>
                  <a:schemeClr val="tx1"/>
                </a:solidFill>
                <a:effectLst/>
                <a:latin typeface="+mn-lt"/>
                <a:ea typeface="+mn-ea"/>
                <a:cs typeface="+mn-cs"/>
              </a:rPr>
              <a:t> hiệu quả</a:t>
            </a:r>
            <a:endParaRPr lang="en-US" sz="1200" b="0" i="0" kern="1200" dirty="0">
              <a:solidFill>
                <a:schemeClr val="tx1"/>
              </a:solidFill>
              <a:effectLst/>
              <a:latin typeface="+mn-lt"/>
              <a:ea typeface="+mn-ea"/>
              <a:cs typeface="+mn-cs"/>
            </a:endParaRPr>
          </a:p>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giúp tác giả nâng cao chất lượng của tài liệu</a:t>
            </a:r>
            <a:endParaRPr lang="en-US" sz="1200" b="0" i="0" kern="1200" dirty="0">
              <a:solidFill>
                <a:schemeClr val="tx1"/>
              </a:solidFill>
              <a:effectLst/>
              <a:latin typeface="+mn-lt"/>
              <a:ea typeface="+mn-ea"/>
              <a:cs typeface="+mn-cs"/>
            </a:endParaRPr>
          </a:p>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đào tạo nhân viên mới</a:t>
            </a:r>
            <a:endParaRPr lang="en-US" sz="1200" b="0" i="0" kern="1200" dirty="0">
              <a:solidFill>
                <a:schemeClr val="tx1"/>
              </a:solidFill>
              <a:effectLst/>
              <a:latin typeface="+mn-lt"/>
              <a:ea typeface="+mn-ea"/>
              <a:cs typeface="+mn-cs"/>
            </a:endParaRPr>
          </a:p>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học hỏi từ lỗi được tìm thấy và cải thiện quy trình để ngăn chặn sự tái phát của</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các </a:t>
            </a:r>
            <a:r>
              <a:rPr lang="en-US" sz="1200" b="0" i="0" kern="1200" dirty="0" err="1">
                <a:solidFill>
                  <a:schemeClr val="tx1"/>
                </a:solidFill>
                <a:effectLst/>
                <a:latin typeface="+mn-lt"/>
                <a:ea typeface="+mn-ea"/>
                <a:cs typeface="+mn-cs"/>
              </a:rPr>
              <a:t>lỗi</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tương </a:t>
            </a:r>
            <a:r>
              <a:rPr lang="en-US" sz="1200" b="0" i="0" kern="1200" dirty="0">
                <a:solidFill>
                  <a:schemeClr val="tx1"/>
                </a:solidFill>
                <a:effectLst/>
                <a:latin typeface="+mn-lt"/>
                <a:ea typeface="+mn-ea"/>
                <a:cs typeface="+mn-cs"/>
              </a:rPr>
              <a:t>t</a:t>
            </a:r>
            <a:r>
              <a:rPr lang="vi-VN" sz="1200" b="0" i="0" kern="1200" dirty="0">
                <a:solidFill>
                  <a:schemeClr val="tx1"/>
                </a:solidFill>
                <a:effectLst/>
                <a:latin typeface="+mn-lt"/>
                <a:ea typeface="+mn-ea"/>
                <a:cs typeface="+mn-cs"/>
              </a:rPr>
              <a:t>ự</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232637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Là thảo luận </a:t>
            </a:r>
            <a:r>
              <a:rPr lang="en-US" sz="1200" b="0" i="0" kern="1200" dirty="0" err="1">
                <a:solidFill>
                  <a:schemeClr val="tx1"/>
                </a:solidFill>
                <a:effectLst/>
                <a:latin typeface="+mn-lt"/>
                <a:ea typeface="+mn-ea"/>
                <a:cs typeface="+mn-cs"/>
              </a:rPr>
              <a:t>nhằm</a:t>
            </a:r>
            <a:r>
              <a:rPr lang="vi-VN"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THỐNG</a:t>
            </a:r>
            <a:r>
              <a:rPr lang="en-US" sz="1200" b="1" i="0" kern="1200" baseline="0" dirty="0">
                <a:solidFill>
                  <a:schemeClr val="tx1"/>
                </a:solidFill>
                <a:effectLst/>
                <a:latin typeface="+mn-lt"/>
                <a:ea typeface="+mn-ea"/>
                <a:cs typeface="+mn-cs"/>
              </a:rPr>
              <a:t> NHẤT</a:t>
            </a:r>
            <a:r>
              <a:rPr lang="vi-VN" sz="1200" b="1"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về các nội dung </a:t>
            </a:r>
            <a:r>
              <a:rPr lang="en-US" sz="1200" b="0" i="0" kern="1200" dirty="0" err="1">
                <a:solidFill>
                  <a:schemeClr val="tx1"/>
                </a:solidFill>
                <a:effectLst/>
                <a:latin typeface="+mn-lt"/>
                <a:ea typeface="+mn-ea"/>
                <a:cs typeface="+mn-cs"/>
              </a:rPr>
              <a:t>thuộc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về</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kỹ thuật của tài liệu.</a:t>
            </a:r>
            <a:endParaRPr lang="en-US" sz="1200" b="0" i="0" kern="1200" dirty="0">
              <a:solidFill>
                <a:schemeClr val="tx1"/>
              </a:solidFill>
              <a:effectLst/>
              <a:latin typeface="+mn-lt"/>
              <a:ea typeface="+mn-ea"/>
              <a:cs typeface="+mn-cs"/>
            </a:endParaRPr>
          </a:p>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Bao gồm</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các đồng nghiệp, chuyên gia kỹ thuật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kiến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trúc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sư</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trưởng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thiết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kế</a:t>
            </a:r>
            <a:r>
              <a:rPr lang="en-US" sz="1200" b="0" i="0" kern="1200" baseline="0" dirty="0">
                <a:solidFill>
                  <a:schemeClr val="tx1"/>
                </a:solidFill>
                <a:effectLst/>
                <a:latin typeface="+mn-lt"/>
                <a:ea typeface="+mn-ea"/>
                <a:cs typeface="+mn-cs"/>
              </a:rPr>
              <a:t> hay </a:t>
            </a:r>
            <a:r>
              <a:rPr lang="en-US" sz="1200" b="0" i="0" kern="1200" baseline="0" dirty="0" err="1">
                <a:solidFill>
                  <a:schemeClr val="tx1"/>
                </a:solidFill>
                <a:effectLst/>
                <a:latin typeface="+mn-lt"/>
                <a:ea typeface="+mn-ea"/>
                <a:cs typeface="+mn-cs"/>
              </a:rPr>
              <a:t>người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dùng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chính</a:t>
            </a:r>
            <a:r>
              <a:rPr lang="en-US" sz="1200" b="0"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THƯỜNG ĐC THỰC HIỆN NGANG HÀNG,</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KHÔNG CÓ </a:t>
            </a:r>
            <a:r>
              <a:rPr lang="en-US" sz="1200" b="1" i="0" kern="1200" dirty="0">
                <a:solidFill>
                  <a:schemeClr val="tx1"/>
                </a:solidFill>
                <a:effectLst/>
                <a:latin typeface="+mn-lt"/>
                <a:ea typeface="+mn-ea"/>
                <a:cs typeface="+mn-cs"/>
              </a:rPr>
              <a:t>SỰ</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QUẢN</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LÝ</a:t>
            </a:r>
            <a:endParaRPr lang="en-US" sz="1200" b="0" i="1"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Mục đích chính:</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     + </a:t>
            </a:r>
            <a:r>
              <a:rPr lang="en-US" dirty="0" err="1"/>
              <a:t>Đánh</a:t>
            </a:r>
            <a:r>
              <a:rPr lang="en-US" baseline="0" dirty="0"/>
              <a:t> </a:t>
            </a:r>
            <a:r>
              <a:rPr lang="en-US" baseline="0" dirty="0" err="1"/>
              <a:t>giá</a:t>
            </a:r>
            <a:r>
              <a:rPr lang="en-US" baseline="0" dirty="0"/>
              <a:t> ý </a:t>
            </a:r>
            <a:r>
              <a:rPr lang="en-US" baseline="0" dirty="0" err="1"/>
              <a:t>nghĩa</a:t>
            </a:r>
            <a:r>
              <a:rPr lang="en-US" baseline="0" dirty="0"/>
              <a:t> </a:t>
            </a:r>
            <a:r>
              <a:rPr lang="en-US" baseline="0" dirty="0" err="1"/>
              <a:t>của</a:t>
            </a:r>
            <a:r>
              <a:rPr lang="en-US" baseline="0" dirty="0"/>
              <a:t> </a:t>
            </a:r>
            <a:r>
              <a:rPr lang="en-US" baseline="0" dirty="0" err="1"/>
              <a:t>các</a:t>
            </a:r>
            <a:r>
              <a:rPr lang="en-US" baseline="0" dirty="0"/>
              <a:t> </a:t>
            </a:r>
            <a:r>
              <a:rPr lang="en-US" baseline="0" dirty="0" err="1"/>
              <a:t>khái</a:t>
            </a:r>
            <a:r>
              <a:rPr lang="en-US" baseline="0" dirty="0"/>
              <a:t> </a:t>
            </a:r>
            <a:r>
              <a:rPr lang="en-US" baseline="0" dirty="0" err="1"/>
              <a:t>niệm</a:t>
            </a:r>
            <a:r>
              <a:rPr lang="en-US" baseline="0" dirty="0"/>
              <a:t> </a:t>
            </a:r>
            <a:r>
              <a:rPr lang="en-US" baseline="0" dirty="0" err="1"/>
              <a:t>về</a:t>
            </a:r>
            <a:r>
              <a:rPr lang="en-US" baseline="0" dirty="0"/>
              <a:t> </a:t>
            </a:r>
            <a:r>
              <a:rPr lang="en-US" baseline="0" dirty="0" err="1"/>
              <a:t>kỹ</a:t>
            </a:r>
            <a:r>
              <a:rPr lang="en-US" baseline="0" dirty="0"/>
              <a:t> </a:t>
            </a:r>
            <a:r>
              <a:rPr lang="en-US" baseline="0" dirty="0" err="1"/>
              <a:t>thuật</a:t>
            </a:r>
            <a:r>
              <a:rPr lang="en-US" baseline="0" dirty="0"/>
              <a:t> </a:t>
            </a:r>
            <a:r>
              <a:rPr lang="en-US" baseline="0" dirty="0" err="1"/>
              <a:t>và</a:t>
            </a:r>
            <a:r>
              <a:rPr lang="en-US" baseline="0" dirty="0"/>
              <a:t> </a:t>
            </a:r>
            <a:r>
              <a:rPr lang="en-US" baseline="0" dirty="0" err="1"/>
              <a:t>các</a:t>
            </a:r>
            <a:r>
              <a:rPr lang="en-US" baseline="0" dirty="0"/>
              <a:t> </a:t>
            </a:r>
            <a:r>
              <a:rPr lang="en-US" baseline="0" dirty="0" err="1"/>
              <a:t>từ</a:t>
            </a:r>
            <a:r>
              <a:rPr lang="en-US" baseline="0" dirty="0"/>
              <a:t> </a:t>
            </a:r>
            <a:r>
              <a:rPr lang="en-US" baseline="0" dirty="0" err="1"/>
              <a:t>ngữ</a:t>
            </a:r>
            <a:r>
              <a:rPr lang="en-US" baseline="0" dirty="0"/>
              <a:t> </a:t>
            </a:r>
            <a:r>
              <a:rPr lang="en-US" baseline="0" dirty="0" err="1"/>
              <a:t>kỹ</a:t>
            </a:r>
            <a:r>
              <a:rPr lang="en-US" baseline="0" dirty="0"/>
              <a:t> </a:t>
            </a:r>
            <a:r>
              <a:rPr lang="en-US" baseline="0" dirty="0" err="1"/>
              <a:t>thuật</a:t>
            </a:r>
            <a:r>
              <a:rPr lang="en-US" baseline="0" dirty="0"/>
              <a:t> </a:t>
            </a:r>
            <a:r>
              <a:rPr lang="en-US" baseline="0" dirty="0" err="1"/>
              <a:t>thay</a:t>
            </a:r>
            <a:r>
              <a:rPr lang="en-US" baseline="0" dirty="0"/>
              <a:t> </a:t>
            </a:r>
            <a:r>
              <a:rPr lang="en-US" baseline="0" dirty="0" err="1"/>
              <a:t>thế</a:t>
            </a:r>
            <a:r>
              <a:rPr lang="en-US" baseline="0" dirty="0"/>
              <a:t> </a:t>
            </a:r>
            <a:r>
              <a:rPr lang="en-US" baseline="0" dirty="0" err="1"/>
              <a:t>trong</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và</a:t>
            </a:r>
            <a:r>
              <a:rPr lang="en-US" baseline="0" dirty="0"/>
              <a:t> </a:t>
            </a:r>
            <a:r>
              <a:rPr lang="en-US" baseline="0" dirty="0" err="1"/>
              <a:t>trong</a:t>
            </a:r>
            <a:r>
              <a:rPr lang="en-US" baseline="0" dirty="0"/>
              <a:t> </a:t>
            </a:r>
            <a:r>
              <a:rPr lang="en-US" baseline="0" dirty="0" err="1"/>
              <a:t>môi</a:t>
            </a:r>
            <a:r>
              <a:rPr lang="en-US" baseline="0" dirty="0"/>
              <a:t> </a:t>
            </a:r>
            <a:r>
              <a:rPr lang="en-US" baseline="0" dirty="0" err="1"/>
              <a:t>trường</a:t>
            </a:r>
            <a:r>
              <a:rPr lang="en-US" baseline="0" dirty="0"/>
              <a:t> </a:t>
            </a:r>
            <a:r>
              <a:rPr lang="en-US" baseline="0" dirty="0" err="1"/>
              <a:t>dự</a:t>
            </a:r>
            <a:r>
              <a:rPr lang="en-US" baseline="0" dirty="0"/>
              <a:t> </a:t>
            </a:r>
            <a:r>
              <a:rPr lang="en-US" baseline="0" dirty="0" err="1"/>
              <a:t>án</a:t>
            </a: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Nhất quán trong việc sử dụng và </a:t>
            </a:r>
            <a:r>
              <a:rPr lang="en-US" sz="1200" b="0" i="0" kern="1200" dirty="0" err="1">
                <a:solidFill>
                  <a:schemeClr val="tx1"/>
                </a:solidFill>
                <a:effectLst/>
                <a:latin typeface="+mn-lt"/>
                <a:ea typeface="+mn-ea"/>
                <a:cs typeface="+mn-cs"/>
              </a:rPr>
              <a:t>biểu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diễn</a:t>
            </a:r>
            <a:r>
              <a:rPr lang="vi-VN"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khái niệm kỹ thuật;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VD/ DÙNG</a:t>
            </a:r>
            <a:r>
              <a:rPr lang="en-US" sz="1200" b="1" i="0" kern="1200" baseline="0" dirty="0">
                <a:solidFill>
                  <a:schemeClr val="tx1"/>
                </a:solidFill>
                <a:effectLst/>
                <a:latin typeface="+mn-lt"/>
                <a:ea typeface="+mn-ea"/>
                <a:cs typeface="+mn-cs"/>
              </a:rPr>
              <a:t> THUẬT NGỮ TIẾNG ANH HAY TIẾNG VIỆT, NHIỀU TỪ NGỮ NÓI VỀ 1 KT THÌ CẦN PHẢI THỐNG NHẤT.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Đảm bảo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khái niệm kỹ thuật được sử dụng đúng cách;</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VD/ THẢO</a:t>
            </a:r>
            <a:r>
              <a:rPr lang="en-US" sz="1200" b="1" i="0" kern="1200" baseline="0" dirty="0">
                <a:solidFill>
                  <a:schemeClr val="tx1"/>
                </a:solidFill>
                <a:effectLst/>
                <a:latin typeface="+mn-lt"/>
                <a:ea typeface="+mn-ea"/>
                <a:cs typeface="+mn-cs"/>
              </a:rPr>
              <a:t> LUẬN XEM 1 YÊU CẦU NGHIỆP VỤ NÀO ĐÓ CÓ CẦN </a:t>
            </a:r>
            <a:r>
              <a:rPr lang="vi-VN" sz="1200" b="1" i="0" kern="1200" dirty="0">
                <a:solidFill>
                  <a:schemeClr val="tx1"/>
                </a:solidFill>
                <a:effectLst/>
                <a:latin typeface="+mn-lt"/>
                <a:ea typeface="+mn-ea"/>
                <a:cs typeface="+mn-cs"/>
              </a:rPr>
              <a:t>SƠ ĐỒ TRÌNH TỰ</a:t>
            </a:r>
            <a:r>
              <a:rPr lang="en-US" sz="1200" b="1" i="0" kern="1200" baseline="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SEQUENCE DIAGRAM),</a:t>
            </a:r>
            <a:r>
              <a:rPr lang="en-US" sz="1200" b="1" i="1"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SƠ ĐỒ TRẠNG THÁI (</a:t>
            </a:r>
            <a:r>
              <a:rPr lang="vi-VN" sz="1200" b="1" i="1" kern="1200" dirty="0">
                <a:solidFill>
                  <a:schemeClr val="tx1"/>
                </a:solidFill>
                <a:effectLst/>
                <a:latin typeface="+mn-lt"/>
                <a:ea typeface="+mn-ea"/>
                <a:cs typeface="+mn-cs"/>
              </a:rPr>
              <a:t>STATE MACHINE DIAGRAM</a:t>
            </a:r>
            <a:r>
              <a:rPr lang="vi-VN" sz="1200" b="1"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SƠ ĐỒ HOẠT ĐỘNG (</a:t>
            </a:r>
            <a:r>
              <a:rPr lang="vi-VN" sz="1200" b="1" i="1" kern="1200" dirty="0">
                <a:solidFill>
                  <a:schemeClr val="tx1"/>
                </a:solidFill>
                <a:effectLst/>
                <a:latin typeface="+mn-lt"/>
                <a:ea typeface="+mn-ea"/>
                <a:cs typeface="+mn-cs"/>
              </a:rPr>
              <a:t>ACTIVITY DIAGRAM</a:t>
            </a:r>
            <a:r>
              <a:rPr lang="vi-VN" sz="1200" b="1"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HAY KHÔNG.</a:t>
            </a:r>
            <a:endParaRPr lang="vi-VN"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tài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liệu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ghi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Technical Review </a:t>
            </a:r>
            <a:r>
              <a:rPr lang="vi-VN" sz="1200" b="0" i="0" kern="1200" baseline="0" dirty="0">
                <a:solidFill>
                  <a:schemeClr val="tx1"/>
                </a:solidFill>
                <a:effectLst/>
                <a:latin typeface="+mn-lt"/>
                <a:ea typeface="+mn-ea"/>
                <a:cs typeface="+mn-cs"/>
              </a:rPr>
              <a:t>nhằm đánh giá phần mềm </a:t>
            </a:r>
            <a:r>
              <a:rPr lang="en-US" sz="1200" b="0" i="0" kern="1200" baseline="0" dirty="0" err="1">
                <a:solidFill>
                  <a:schemeClr val="tx1"/>
                </a:solidFill>
                <a:effectLst/>
                <a:latin typeface="+mn-lt"/>
                <a:ea typeface="+mn-ea"/>
                <a:cs typeface="+mn-cs"/>
              </a:rPr>
              <a:t>xem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tuân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theo</a:t>
            </a:r>
            <a:r>
              <a:rPr lang="vi-VN" sz="1200" b="0" i="0" kern="1200" baseline="0" dirty="0">
                <a:solidFill>
                  <a:schemeClr val="tx1"/>
                </a:solidFill>
                <a:effectLst/>
                <a:latin typeface="+mn-lt"/>
                <a:ea typeface="+mn-ea"/>
                <a:cs typeface="+mn-cs"/>
              </a:rPr>
              <a:t> các chuẩn,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vi-VN" sz="1200" b="0" i="0" kern="1200" baseline="0" dirty="0">
                <a:solidFill>
                  <a:schemeClr val="tx1"/>
                </a:solidFill>
                <a:effectLst/>
                <a:latin typeface="+mn-lt"/>
                <a:ea typeface="+mn-ea"/>
                <a:cs typeface="+mn-cs"/>
              </a:rPr>
              <a:t>hướng dẫn và các quy định</a:t>
            </a:r>
            <a:r>
              <a:rPr lang="en-US" sz="1200" b="0" i="0" kern="1200" baseline="0" dirty="0">
                <a:solidFill>
                  <a:schemeClr val="tx1"/>
                </a:solidFill>
                <a:effectLst/>
                <a:latin typeface="+mn-lt"/>
                <a:ea typeface="+mn-ea"/>
                <a:cs typeface="+mn-cs"/>
              </a:rPr>
              <a:t> hay </a:t>
            </a:r>
            <a:r>
              <a:rPr lang="en-US" sz="1200" b="0" i="0" kern="1200" baseline="0" dirty="0" err="1">
                <a:solidFill>
                  <a:schemeClr val="tx1"/>
                </a:solidFill>
                <a:effectLst/>
                <a:latin typeface="+mn-lt"/>
                <a:ea typeface="+mn-ea"/>
                <a:cs typeface="+mn-cs"/>
              </a:rPr>
              <a:t>không</a:t>
            </a:r>
            <a:r>
              <a:rPr lang="en-US" sz="1200" b="0" i="0" kern="1200" baseline="0" dirty="0">
                <a:solidFill>
                  <a:schemeClr val="tx1"/>
                </a:solidFill>
                <a:effectLst/>
                <a:latin typeface="+mn-lt"/>
                <a:ea typeface="+mn-ea"/>
                <a:cs typeface="+mn-cs"/>
              </a:rPr>
              <a:t>,</a:t>
            </a:r>
            <a:r>
              <a:rPr lang="vi-VN" sz="1200" b="0" i="0" kern="1200" baseline="0" dirty="0">
                <a:solidFill>
                  <a:schemeClr val="tx1"/>
                </a:solidFill>
                <a:effectLst/>
                <a:latin typeface="+mn-lt"/>
                <a:ea typeface="+mn-ea"/>
                <a:cs typeface="+mn-cs"/>
              </a:rPr>
              <a:t> để cung cấp cho ban quản lý </a:t>
            </a:r>
            <a:r>
              <a:rPr lang="en-US" sz="1200" b="0" i="0" kern="1200" baseline="0" dirty="0" err="1">
                <a:solidFill>
                  <a:schemeClr val="tx1"/>
                </a:solidFill>
                <a:effectLst/>
                <a:latin typeface="+mn-lt"/>
                <a:ea typeface="+mn-ea"/>
                <a:cs typeface="+mn-cs"/>
              </a:rPr>
              <a:t>minh</a:t>
            </a:r>
            <a:r>
              <a:rPr lang="en-US" sz="1200" b="0" i="0" kern="1200" baseline="0" dirty="0">
                <a:solidFill>
                  <a:schemeClr val="tx1"/>
                </a:solidFill>
                <a:effectLst/>
                <a:latin typeface="+mn-lt"/>
                <a:ea typeface="+mn-ea"/>
                <a:cs typeface="+mn-cs"/>
              </a:rPr>
              <a:t> </a:t>
            </a:r>
            <a:r>
              <a:rPr lang="vi-VN" sz="1200" b="0" i="0" kern="1200" baseline="0" dirty="0">
                <a:solidFill>
                  <a:schemeClr val="tx1"/>
                </a:solidFill>
                <a:effectLst/>
                <a:latin typeface="+mn-lt"/>
                <a:ea typeface="+mn-ea"/>
                <a:cs typeface="+mn-cs"/>
              </a:rPr>
              <a:t>chứng rằng quá trình phát triển đang được tiến hành theo </a:t>
            </a:r>
            <a:r>
              <a:rPr lang="en-US" sz="1200" b="0" i="0" kern="1200" baseline="0" dirty="0" err="1">
                <a:solidFill>
                  <a:schemeClr val="tx1"/>
                </a:solidFill>
                <a:effectLst/>
                <a:latin typeface="+mn-lt"/>
                <a:ea typeface="+mn-ea"/>
                <a:cs typeface="+mn-cs"/>
              </a:rPr>
              <a:t>đúng</a:t>
            </a:r>
            <a:r>
              <a:rPr lang="en-US" sz="1200" b="0" i="0" kern="1200" baseline="0" dirty="0">
                <a:solidFill>
                  <a:schemeClr val="tx1"/>
                </a:solidFill>
                <a:effectLst/>
                <a:latin typeface="+mn-lt"/>
                <a:ea typeface="+mn-ea"/>
                <a:cs typeface="+mn-cs"/>
              </a:rPr>
              <a:t> </a:t>
            </a:r>
            <a:r>
              <a:rPr lang="vi-VN" sz="1200" b="0" i="0" kern="1200" baseline="0" dirty="0">
                <a:solidFill>
                  <a:schemeClr val="tx1"/>
                </a:solidFill>
                <a:effectLst/>
                <a:latin typeface="+mn-lt"/>
                <a:ea typeface="+mn-ea"/>
                <a:cs typeface="+mn-cs"/>
              </a:rPr>
              <a:t>các mục tiêu đã </a:t>
            </a:r>
            <a:r>
              <a:rPr lang="en-US" sz="1200" b="0" i="0" kern="1200" baseline="0" dirty="0" err="1">
                <a:solidFill>
                  <a:schemeClr val="tx1"/>
                </a:solidFill>
                <a:effectLst/>
                <a:latin typeface="+mn-lt"/>
                <a:ea typeface="+mn-ea"/>
                <a:cs typeface="+mn-cs"/>
              </a:rPr>
              <a:t>đề</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ra</a:t>
            </a:r>
            <a:r>
              <a:rPr lang="vi-VN" sz="1200" b="0" i="0" kern="1200" baseline="0" dirty="0">
                <a:solidFill>
                  <a:schemeClr val="tx1"/>
                </a:solidFill>
                <a:effectLst/>
                <a:latin typeface="+mn-lt"/>
                <a:ea typeface="+mn-ea"/>
                <a:cs typeface="+mn-cs"/>
              </a:rPr>
              <a:t>. Nhóm </a:t>
            </a:r>
            <a:r>
              <a:rPr lang="en-US" sz="1200" b="0" i="0" kern="1200" baseline="0" dirty="0">
                <a:solidFill>
                  <a:schemeClr val="tx1"/>
                </a:solidFill>
                <a:effectLst/>
                <a:latin typeface="+mn-lt"/>
                <a:ea typeface="+mn-ea"/>
                <a:cs typeface="+mn-cs"/>
              </a:rPr>
              <a:t>Review </a:t>
            </a:r>
            <a:r>
              <a:rPr lang="en-US" sz="1200" b="0" i="0" kern="1200" baseline="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chỉ</a:t>
            </a:r>
            <a:r>
              <a:rPr lang="en-US" sz="1200" b="0" i="0" kern="1200" baseline="0" dirty="0">
                <a:solidFill>
                  <a:schemeClr val="tx1"/>
                </a:solidFill>
                <a:effectLst/>
                <a:latin typeface="+mn-lt"/>
                <a:ea typeface="+mn-ea"/>
                <a:cs typeface="+mn-cs"/>
              </a:rPr>
              <a:t> </a:t>
            </a:r>
            <a:r>
              <a:rPr lang="vi-VN" sz="1200" b="0" i="0" kern="1200" baseline="0" dirty="0">
                <a:solidFill>
                  <a:schemeClr val="tx1"/>
                </a:solidFill>
                <a:effectLst/>
                <a:latin typeface="+mn-lt"/>
                <a:ea typeface="+mn-ea"/>
                <a:cs typeface="+mn-cs"/>
              </a:rPr>
              <a:t>bao gồm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những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người</a:t>
            </a:r>
            <a:r>
              <a:rPr lang="vi-VN" sz="1200" b="0" i="0" kern="1200" baseline="0" dirty="0">
                <a:solidFill>
                  <a:schemeClr val="tx1"/>
                </a:solidFill>
                <a:effectLst/>
                <a:latin typeface="+mn-lt"/>
                <a:ea typeface="+mn-ea"/>
                <a:cs typeface="+mn-cs"/>
              </a:rPr>
              <a:t> quản lý</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hoặc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những</a:t>
            </a:r>
            <a:r>
              <a:rPr lang="en-US" sz="1200" b="0" i="0" kern="1200" baseline="0" dirty="0">
                <a:solidFill>
                  <a:schemeClr val="tx1"/>
                </a:solidFill>
                <a:effectLst/>
                <a:latin typeface="+mn-lt"/>
                <a:ea typeface="+mn-ea"/>
                <a:cs typeface="+mn-cs"/>
              </a:rPr>
              <a:t> ng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vai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trò</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ngang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hàng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nhau</a:t>
            </a:r>
            <a:r>
              <a:rPr lang="en-US" sz="1200" b="0" i="0" kern="1200" baseline="0" dirty="0">
                <a:solidFill>
                  <a:schemeClr val="tx1"/>
                </a:solidFill>
                <a:effectLst/>
                <a:latin typeface="+mn-lt"/>
                <a:ea typeface="+mn-ea"/>
                <a:cs typeface="+mn-cs"/>
              </a:rPr>
              <a:t>.</a:t>
            </a:r>
            <a:endParaRPr lang="vi-VN"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55284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A63B9007-0201-49BE-A587-7F882848EC05}" type="slidenum">
              <a:rPr lang="en-US" smtClean="0"/>
              <a:t>18</a:t>
            </a:fld>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19</a:t>
            </a:fld>
            <a:endParaRPr lang="en-US"/>
          </a:p>
        </p:txBody>
      </p:sp>
    </p:spTree>
    <p:extLst>
      <p:ext uri="{BB962C8B-B14F-4D97-AF65-F5344CB8AC3E}">
        <p14:creationId xmlns:p14="http://schemas.microsoft.com/office/powerpoint/2010/main" val="231761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b="1" baseline="0"/>
              <a:t>? Nhắc lại mục tiêu trong định nghĩa KTPM.</a:t>
            </a:r>
          </a:p>
          <a:p>
            <a:pPr marL="0" lvl="0" indent="0">
              <a:buFontTx/>
              <a:buNone/>
            </a:pPr>
            <a:r>
              <a:rPr lang="en-US" b="1" baseline="0"/>
              <a:t>NGOÀI RA CÒN MỤC TIÊU </a:t>
            </a:r>
            <a:r>
              <a:rPr lang="en-US" b="1" u="sng" baseline="0"/>
              <a:t>GIÁN TIẾP</a:t>
            </a:r>
            <a:r>
              <a:rPr lang="en-US" b="1" baseline="0"/>
              <a:t>: LÀ ĐỂ TẬP HỢP CÁC LOẠI LỖI CHO CÁC HOẠT ĐỘNG PHÒNG NGỪA (CORRECTIVE AND PREVENTIVE ACTIONS) </a:t>
            </a:r>
          </a:p>
          <a:p>
            <a:pPr marL="0" lvl="0" indent="0">
              <a:buFontTx/>
              <a:buNone/>
            </a:pPr>
            <a:endParaRPr lang="en-US" b="1" baseline="0"/>
          </a:p>
          <a:p>
            <a:pPr marL="0" lvl="0" indent="0">
              <a:buFontTx/>
              <a:buNone/>
            </a:pPr>
            <a:endParaRPr lang="en-US" b="1" baseline="0"/>
          </a:p>
          <a:p>
            <a:pPr marL="0" lvl="0" indent="0">
              <a:buFontTx/>
              <a:buNone/>
            </a:pPr>
            <a:endParaRPr lang="en-US" b="1"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Testing is the </a:t>
            </a:r>
            <a:r>
              <a:rPr lang="en-US" sz="1200" u="sng"/>
              <a:t>process</a:t>
            </a:r>
            <a:r>
              <a:rPr lang="en-US" sz="1200"/>
              <a:t> consisting of </a:t>
            </a:r>
            <a:r>
              <a:rPr lang="en-US" sz="1200" u="sng"/>
              <a:t>all life cycle activities</a:t>
            </a:r>
            <a:r>
              <a:rPr lang="en-US" sz="1200"/>
              <a:t>, both </a:t>
            </a:r>
            <a:r>
              <a:rPr lang="en-US" sz="1200" u="sng"/>
              <a:t>static and dynamic</a:t>
            </a:r>
            <a:r>
              <a:rPr lang="en-US" sz="1200"/>
              <a:t>, concerned with </a:t>
            </a:r>
            <a:r>
              <a:rPr lang="en-US" sz="1200" u="sng"/>
              <a:t>planning</a:t>
            </a:r>
            <a:r>
              <a:rPr lang="en-US" sz="1200"/>
              <a:t>, </a:t>
            </a:r>
            <a:r>
              <a:rPr lang="en-US" sz="1200" u="sng"/>
              <a:t>preparation</a:t>
            </a:r>
            <a:r>
              <a:rPr lang="en-US" sz="1200"/>
              <a:t> and </a:t>
            </a:r>
            <a:r>
              <a:rPr lang="en-US" sz="1200" u="sng"/>
              <a:t>evaluation</a:t>
            </a:r>
            <a:r>
              <a:rPr lang="en-US" sz="1200"/>
              <a:t> of </a:t>
            </a:r>
            <a:r>
              <a:rPr lang="en-US" sz="1200" u="sng"/>
              <a:t>software products and related work products </a:t>
            </a:r>
            <a:r>
              <a:rPr lang="en-US" sz="1200" b="1">
                <a:solidFill>
                  <a:srgbClr val="FF0000"/>
                </a:solidFill>
              </a:rPr>
              <a:t>to</a:t>
            </a:r>
            <a:r>
              <a:rPr lang="en-US" sz="1200"/>
              <a:t> </a:t>
            </a:r>
            <a:r>
              <a:rPr lang="en-US" sz="1200" u="sng"/>
              <a:t>determine that they satisfy specified requirements</a:t>
            </a:r>
            <a:r>
              <a:rPr lang="en-US" sz="1200"/>
              <a:t>,  </a:t>
            </a:r>
            <a:r>
              <a:rPr lang="en-US" sz="1200" b="1">
                <a:solidFill>
                  <a:srgbClr val="FF0000"/>
                </a:solidFill>
              </a:rPr>
              <a:t>to</a:t>
            </a:r>
            <a:r>
              <a:rPr lang="en-US" sz="1200"/>
              <a:t> </a:t>
            </a:r>
            <a:r>
              <a:rPr lang="en-US" sz="1200" u="sng"/>
              <a:t>demonstrate that they are fit for purpose</a:t>
            </a:r>
            <a:r>
              <a:rPr lang="en-US" sz="1200"/>
              <a:t> and </a:t>
            </a:r>
            <a:r>
              <a:rPr lang="en-US" sz="1200" b="1">
                <a:solidFill>
                  <a:srgbClr val="FF0000"/>
                </a:solidFill>
              </a:rPr>
              <a:t>to</a:t>
            </a:r>
            <a:r>
              <a:rPr lang="en-US" sz="1200"/>
              <a:t> </a:t>
            </a:r>
            <a:r>
              <a:rPr lang="en-US" sz="1200" u="sng"/>
              <a:t>detect defects</a:t>
            </a:r>
          </a:p>
          <a:p>
            <a:pPr marL="0" lvl="0" indent="0">
              <a:buFontTx/>
              <a:buNone/>
            </a:pPr>
            <a:endParaRPr lang="en-US" b="1"/>
          </a:p>
        </p:txBody>
      </p:sp>
      <p:sp>
        <p:nvSpPr>
          <p:cNvPr id="4" name="Slide Number Placeholder 3"/>
          <p:cNvSpPr>
            <a:spLocks noGrp="1"/>
          </p:cNvSpPr>
          <p:nvPr>
            <p:ph type="sldNum" sz="quarter" idx="10"/>
          </p:nvPr>
        </p:nvSpPr>
        <p:spPr/>
        <p:txBody>
          <a:bodyPr/>
          <a:lstStyle/>
          <a:p>
            <a:fld id="{A63B9007-0201-49BE-A587-7F882848EC05}" type="slidenum">
              <a:rPr lang="en-US" smtClean="0"/>
              <a:t>20</a:t>
            </a:fld>
            <a:endParaRPr lang="en-US"/>
          </a:p>
        </p:txBody>
      </p:sp>
    </p:spTree>
    <p:extLst>
      <p:ext uri="{BB962C8B-B14F-4D97-AF65-F5344CB8AC3E}">
        <p14:creationId xmlns:p14="http://schemas.microsoft.com/office/powerpoint/2010/main" val="2985338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rPr>
              <a:t>Những hoạt động </a:t>
            </a:r>
            <a:r>
              <a:rPr lang="en-US" sz="1200" b="0" i="0" kern="120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logic</a:t>
            </a:r>
            <a:r>
              <a:rPr lang="vi-VN" sz="1200" b="0" i="0" kern="1200" dirty="0">
                <a:solidFill>
                  <a:schemeClr val="tx1"/>
                </a:solidFill>
                <a:effectLst/>
                <a:latin typeface="+mn-lt"/>
                <a:ea typeface="+mn-ea"/>
                <a:cs typeface="+mn-cs"/>
              </a:rPr>
              <a:t> tuần tự, nhưng, trong một dự án cụ thể, có thể</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chồng chéo lên nhau, </a:t>
            </a:r>
            <a:r>
              <a:rPr lang="en-US" sz="1200" b="0" i="0" kern="1200" dirty="0">
                <a:solidFill>
                  <a:schemeClr val="tx1"/>
                </a:solidFill>
                <a:effectLst/>
                <a:latin typeface="+mn-lt"/>
                <a:ea typeface="+mn-ea"/>
                <a:cs typeface="+mn-cs"/>
              </a:rPr>
              <a:t>hay </a:t>
            </a:r>
            <a:r>
              <a:rPr lang="vi-VN" sz="1200" b="0" i="0" kern="1200" dirty="0">
                <a:solidFill>
                  <a:schemeClr val="tx1"/>
                </a:solidFill>
                <a:effectLst/>
                <a:latin typeface="+mn-lt"/>
                <a:ea typeface="+mn-ea"/>
                <a:cs typeface="+mn-cs"/>
              </a:rPr>
              <a:t>diễn ra đồng thời và thậm chí được lặp đi lặp lại.</a:t>
            </a:r>
            <a:br>
              <a:rPr lang="vi-VN" b="0" dirty="0"/>
            </a:br>
            <a:r>
              <a:rPr lang="en-US" sz="1200" b="0" i="0" kern="1200" baseline="0" dirty="0">
                <a:solidFill>
                  <a:schemeClr val="tx1"/>
                </a:solidFill>
                <a:effectLst/>
                <a:latin typeface="+mn-lt"/>
                <a:ea typeface="+mn-ea"/>
                <a:cs typeface="+mn-cs"/>
              </a:rPr>
              <a:t>SẼ NHẮC LẠI QUY TRÌNH NÀY TRONG CHƯƠNG TEST MANAGEMENT ĐỂ SV HIỂU RÕ HƠN</a:t>
            </a:r>
            <a:endParaRPr lang="en-US" b="0" dirty="0"/>
          </a:p>
          <a:p>
            <a:r>
              <a:rPr lang="en-US" sz="1200" b="1" i="0" kern="1200" baseline="0" dirty="0" err="1">
                <a:solidFill>
                  <a:schemeClr val="tx1"/>
                </a:solidFill>
                <a:effectLst/>
                <a:latin typeface="+mn-lt"/>
                <a:ea typeface="+mn-ea"/>
                <a:cs typeface="+mn-cs"/>
              </a:rPr>
              <a:t>Giáo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trình</a:t>
            </a:r>
            <a:r>
              <a:rPr lang="en-US" sz="1200" b="1" i="0" kern="1200" baseline="0" dirty="0">
                <a:solidFill>
                  <a:schemeClr val="tx1"/>
                </a:solidFill>
                <a:effectLst/>
                <a:latin typeface="+mn-lt"/>
                <a:ea typeface="+mn-ea"/>
                <a:cs typeface="+mn-cs"/>
              </a:rPr>
              <a:t> ĐBCL </a:t>
            </a:r>
            <a:r>
              <a:rPr lang="en-US" sz="1200" b="1" i="0" kern="1200" baseline="0" dirty="0" err="1">
                <a:solidFill>
                  <a:schemeClr val="tx1"/>
                </a:solidFill>
                <a:effectLst/>
                <a:latin typeface="+mn-lt"/>
                <a:ea typeface="+mn-ea"/>
                <a:cs typeface="+mn-cs"/>
              </a:rPr>
              <a:t>không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Control + </a:t>
            </a:r>
            <a:r>
              <a:rPr lang="en-US" sz="1200" b="1" i="0" kern="1200" baseline="0" dirty="0" err="1">
                <a:solidFill>
                  <a:schemeClr val="tx1"/>
                </a:solidFill>
                <a:effectLst/>
                <a:latin typeface="+mn-lt"/>
                <a:ea typeface="+mn-ea"/>
                <a:cs typeface="+mn-cs"/>
              </a:rPr>
              <a:t>giai</a:t>
            </a:r>
            <a:r>
              <a:rPr lang="en-US" sz="1200" b="1" i="0" kern="1200" baseline="0" dirty="0">
                <a:solidFill>
                  <a:schemeClr val="tx1"/>
                </a:solidFill>
                <a:effectLst/>
                <a:latin typeface="+mn-lt"/>
                <a:ea typeface="+mn-ea"/>
                <a:cs typeface="+mn-cs"/>
              </a:rPr>
              <a:t> </a:t>
            </a:r>
            <a:r>
              <a:rPr lang="vi-VN" sz="1200" b="1" i="0" kern="1200" baseline="0" dirty="0">
                <a:solidFill>
                  <a:schemeClr val="tx1"/>
                </a:solidFill>
                <a:effectLst/>
                <a:latin typeface="+mn-lt"/>
                <a:ea typeface="+mn-ea"/>
                <a:cs typeface="+mn-cs"/>
              </a:rPr>
              <a:t>đ</a:t>
            </a:r>
            <a:r>
              <a:rPr lang="en-US" sz="1200" b="1" i="0" kern="1200" baseline="0" dirty="0" err="1">
                <a:solidFill>
                  <a:schemeClr val="tx1"/>
                </a:solidFill>
                <a:effectLst/>
                <a:latin typeface="+mn-lt"/>
                <a:ea typeface="+mn-ea"/>
                <a:cs typeface="+mn-cs"/>
              </a:rPr>
              <a:t>oạn</a:t>
            </a:r>
            <a:r>
              <a:rPr lang="en-US" sz="1200" b="1" i="0" kern="1200" baseline="0" dirty="0">
                <a:solidFill>
                  <a:schemeClr val="tx1"/>
                </a:solidFill>
                <a:effectLst/>
                <a:latin typeface="+mn-lt"/>
                <a:ea typeface="+mn-ea"/>
                <a:cs typeface="+mn-cs"/>
              </a:rPr>
              <a:t> 4 </a:t>
            </a:r>
            <a:r>
              <a:rPr lang="en-US" sz="1200" b="1" i="0" kern="1200" baseline="0" dirty="0" err="1">
                <a:solidFill>
                  <a:schemeClr val="tx1"/>
                </a:solidFill>
                <a:effectLst/>
                <a:latin typeface="+mn-lt"/>
                <a:ea typeface="+mn-ea"/>
                <a:cs typeface="+mn-cs"/>
              </a:rPr>
              <a:t>và</a:t>
            </a:r>
            <a:r>
              <a:rPr lang="en-US" sz="1200" b="1" i="0" kern="1200" baseline="0" dirty="0">
                <a:solidFill>
                  <a:schemeClr val="tx1"/>
                </a:solidFill>
                <a:effectLst/>
                <a:latin typeface="+mn-lt"/>
                <a:ea typeface="+mn-ea"/>
                <a:cs typeface="+mn-cs"/>
              </a:rPr>
              <a:t> 5</a:t>
            </a:r>
          </a:p>
          <a:p>
            <a:endParaRPr lang="en-US" sz="1200" b="0" i="0" kern="1200" baseline="0" dirty="0">
              <a:solidFill>
                <a:schemeClr val="tx1"/>
              </a:solidFill>
              <a:effectLst/>
              <a:latin typeface="+mn-lt"/>
              <a:ea typeface="+mn-ea"/>
              <a:cs typeface="+mn-cs"/>
            </a:endParaRPr>
          </a:p>
          <a:p>
            <a:endParaRPr lang="en-US" sz="1200" b="0" i="0" kern="1200" baseline="0" dirty="0">
              <a:solidFill>
                <a:schemeClr val="tx1"/>
              </a:solidFill>
              <a:effectLst/>
              <a:latin typeface="+mn-lt"/>
              <a:ea typeface="+mn-ea"/>
              <a:cs typeface="+mn-cs"/>
            </a:endParaRPr>
          </a:p>
          <a:p>
            <a:endParaRPr lang="en-US" sz="1200" b="0" i="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CHO</a:t>
            </a:r>
            <a:r>
              <a:rPr lang="en-US" sz="1200" b="1" i="0" kern="1200" baseline="0" dirty="0">
                <a:solidFill>
                  <a:schemeClr val="tx1"/>
                </a:solidFill>
                <a:effectLst/>
                <a:latin typeface="+mn-lt"/>
                <a:ea typeface="+mn-ea"/>
                <a:cs typeface="+mn-cs"/>
              </a:rPr>
              <a:t> SV TỰ THẢO LUẬN THEO NHÓM VÀ TRẢ LỜI CÂU HỎI CÁ NHÂN ĐỂ CỘNG ĐIỂM THƯỜNG KỲ</a:t>
            </a:r>
            <a:endParaRPr lang="en-US" sz="1200" b="1" i="0" kern="1200" dirty="0">
              <a:solidFill>
                <a:schemeClr val="tx1"/>
              </a:solidFill>
              <a:effectLst/>
              <a:latin typeface="+mn-lt"/>
              <a:ea typeface="+mn-ea"/>
              <a:cs typeface="+mn-cs"/>
            </a:endParaRPr>
          </a:p>
          <a:p>
            <a:endParaRPr lang="en-US" b="0" dirty="0"/>
          </a:p>
        </p:txBody>
      </p:sp>
    </p:spTree>
    <p:extLst>
      <p:ext uri="{BB962C8B-B14F-4D97-AF65-F5344CB8AC3E}">
        <p14:creationId xmlns:p14="http://schemas.microsoft.com/office/powerpoint/2010/main" val="4036136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p:txBody>
          <a:bodyPr/>
          <a:lstStyle/>
          <a:p>
            <a:pPr marL="0" indent="0">
              <a:buFontTx/>
              <a:buNone/>
            </a:pPr>
            <a:r>
              <a:rPr lang="en-US" b="1" baseline="0" dirty="0"/>
              <a:t>PHẦN NÀY SẼ </a:t>
            </a:r>
            <a:r>
              <a:rPr lang="vi-VN" b="1" baseline="0" dirty="0"/>
              <a:t>ĐƯỢ</a:t>
            </a:r>
            <a:r>
              <a:rPr lang="en-US" b="1" baseline="0" dirty="0"/>
              <a:t>C NÓI RÕ Ở CH</a:t>
            </a:r>
            <a:r>
              <a:rPr lang="vi-VN" b="1" baseline="0" dirty="0"/>
              <a:t>ƯƠ</a:t>
            </a:r>
            <a:r>
              <a:rPr lang="en-US" b="1" baseline="0" dirty="0"/>
              <a:t>NG QUẢN LÝ KIỂM THỬ</a:t>
            </a:r>
            <a:endParaRPr lang="en-US" b="1" dirty="0"/>
          </a:p>
          <a:p>
            <a:pPr marL="0" indent="0">
              <a:buFontTx/>
              <a:buNone/>
            </a:pPr>
            <a:r>
              <a:rPr lang="en-US" dirty="0"/>
              <a:t>- Định</a:t>
            </a:r>
            <a:r>
              <a:rPr lang="en-US" baseline="0" dirty="0"/>
              <a:t> </a:t>
            </a:r>
            <a:r>
              <a:rPr lang="en-US" baseline="0" dirty="0" err="1"/>
              <a:t>rõ</a:t>
            </a:r>
            <a:r>
              <a:rPr lang="en-US" baseline="0" dirty="0"/>
              <a:t> </a:t>
            </a:r>
            <a:r>
              <a:rPr lang="en-US" baseline="0" dirty="0" err="1"/>
              <a:t>phạm</a:t>
            </a:r>
            <a:r>
              <a:rPr lang="en-US" baseline="0" dirty="0"/>
              <a:t> vi, </a:t>
            </a:r>
            <a:r>
              <a:rPr lang="en-US" baseline="0" dirty="0" err="1"/>
              <a:t>rủi</a:t>
            </a:r>
            <a:r>
              <a:rPr lang="en-US" baseline="0" dirty="0"/>
              <a:t> </a:t>
            </a:r>
            <a:r>
              <a:rPr lang="en-US" baseline="0" dirty="0" err="1"/>
              <a:t>ro</a:t>
            </a:r>
            <a:r>
              <a:rPr lang="en-US" baseline="0" dirty="0"/>
              <a:t> </a:t>
            </a:r>
            <a:r>
              <a:rPr lang="en-US" baseline="0" dirty="0" err="1"/>
              <a:t>và</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các</a:t>
            </a:r>
            <a:r>
              <a:rPr lang="en-US" baseline="0" dirty="0"/>
              <a:t> </a:t>
            </a:r>
            <a:r>
              <a:rPr lang="en-US" baseline="0" dirty="0" err="1"/>
              <a:t>mục</a:t>
            </a:r>
            <a:r>
              <a:rPr lang="en-US" baseline="0" dirty="0"/>
              <a:t> </a:t>
            </a:r>
            <a:r>
              <a:rPr lang="en-US" baseline="0" dirty="0" err="1"/>
              <a:t>tiêu</a:t>
            </a:r>
            <a:r>
              <a:rPr lang="en-US" baseline="0" dirty="0"/>
              <a:t> test:</a:t>
            </a:r>
          </a:p>
          <a:p>
            <a:pPr marL="0" indent="0">
              <a:buFontTx/>
              <a:buNone/>
            </a:pPr>
            <a:r>
              <a:rPr lang="en-US" sz="1200" b="1" i="0" kern="1200" dirty="0">
                <a:solidFill>
                  <a:schemeClr val="tx1"/>
                </a:solidFill>
                <a:effectLst/>
                <a:latin typeface="+mn-lt"/>
                <a:ea typeface="+mn-ea"/>
                <a:cs typeface="+mn-cs"/>
              </a:rPr>
              <a:t>        + </a:t>
            </a:r>
            <a:r>
              <a:rPr lang="en-GB" b="1" dirty="0"/>
              <a:t>Scope</a:t>
            </a:r>
            <a:r>
              <a:rPr lang="en-US" sz="1200" b="1" i="0" kern="1200" baseline="0" dirty="0">
                <a:solidFill>
                  <a:schemeClr val="tx1"/>
                </a:solidFill>
                <a:effectLst/>
                <a:latin typeface="+mn-lt"/>
                <a:ea typeface="+mn-ea"/>
                <a:cs typeface="+mn-cs"/>
              </a:rPr>
              <a:t>: KIỂM THỬ CÁI GÌ, KHÔNG KIỂM THỬ CÁI GÌ VÀ TRONG GIAI ĐOẠN NÀO</a:t>
            </a:r>
            <a:r>
              <a:rPr lang="vi-VN" sz="1200" b="1" i="0" kern="1200" dirty="0">
                <a:solidFill>
                  <a:schemeClr val="tx1"/>
                </a:solidFill>
                <a:effectLst/>
                <a:latin typeface="+mn-lt"/>
                <a:ea typeface="+mn-ea"/>
                <a:cs typeface="+mn-cs"/>
              </a:rPr>
              <a:t> </a:t>
            </a:r>
            <a:endParaRPr lang="en-US" sz="1200" b="1" i="0" kern="1200" dirty="0">
              <a:solidFill>
                <a:schemeClr val="tx1"/>
              </a:solidFill>
              <a:effectLst/>
              <a:latin typeface="+mn-lt"/>
              <a:ea typeface="+mn-ea"/>
              <a:cs typeface="+mn-cs"/>
            </a:endParaRPr>
          </a:p>
          <a:p>
            <a:pPr marL="0" indent="0">
              <a:buFontTx/>
              <a:buNone/>
            </a:pPr>
            <a:r>
              <a:rPr lang="en-US" sz="1200" b="1" i="0" kern="1200" baseline="0" dirty="0">
                <a:solidFill>
                  <a:schemeClr val="tx1"/>
                </a:solidFill>
                <a:effectLst/>
                <a:latin typeface="+mn-lt"/>
                <a:ea typeface="+mn-ea"/>
                <a:cs typeface="+mn-cs"/>
              </a:rPr>
              <a:t>        + </a:t>
            </a:r>
            <a:r>
              <a:rPr lang="en-GB" b="1" dirty="0"/>
              <a:t>Risks</a:t>
            </a:r>
            <a:r>
              <a:rPr lang="en-US" sz="1200" b="1" i="0" kern="1200" dirty="0">
                <a:solidFill>
                  <a:schemeClr val="tx1"/>
                </a:solidFill>
                <a:effectLst/>
                <a:latin typeface="+mn-lt"/>
                <a:ea typeface="+mn-ea"/>
                <a:cs typeface="+mn-cs"/>
              </a:rPr>
              <a:t>: RỦI</a:t>
            </a:r>
            <a:r>
              <a:rPr lang="en-US" sz="1200" b="1" i="0" kern="1200" baseline="0" dirty="0">
                <a:solidFill>
                  <a:schemeClr val="tx1"/>
                </a:solidFill>
                <a:effectLst/>
                <a:latin typeface="+mn-lt"/>
                <a:ea typeface="+mn-ea"/>
                <a:cs typeface="+mn-cs"/>
              </a:rPr>
              <a:t> RO </a:t>
            </a:r>
            <a:r>
              <a:rPr lang="en-US" sz="1200" b="1" i="0" kern="1200" dirty="0">
                <a:solidFill>
                  <a:schemeClr val="tx1"/>
                </a:solidFill>
                <a:effectLst/>
                <a:latin typeface="+mn-lt"/>
                <a:ea typeface="+mn-ea"/>
                <a:cs typeface="+mn-cs"/>
              </a:rPr>
              <a:t>NGHIỆP</a:t>
            </a:r>
            <a:r>
              <a:rPr lang="en-US" sz="1200" b="1" i="0" kern="1200" baseline="0" dirty="0">
                <a:solidFill>
                  <a:schemeClr val="tx1"/>
                </a:solidFill>
                <a:effectLst/>
                <a:latin typeface="+mn-lt"/>
                <a:ea typeface="+mn-ea"/>
                <a:cs typeface="+mn-cs"/>
              </a:rPr>
              <a:t> VỤ</a:t>
            </a:r>
            <a:r>
              <a:rPr lang="vi-VN"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a:t>
            </a:r>
            <a:r>
              <a:rPr lang="vi-VN" sz="1200" b="1" i="0" kern="1200" dirty="0">
                <a:solidFill>
                  <a:schemeClr val="tx1"/>
                </a:solidFill>
                <a:effectLst/>
                <a:latin typeface="+mn-lt"/>
                <a:ea typeface="+mn-ea"/>
                <a:cs typeface="+mn-cs"/>
              </a:rPr>
              <a:t>ẢN PHẨM, DỰ ÁN VÀ KỸ THUẬT CẦN</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ĐƯỢC GIẢI QUYẾT</a:t>
            </a:r>
            <a:endParaRPr lang="en-US" sz="1200" b="1" i="0" kern="1200" dirty="0">
              <a:solidFill>
                <a:schemeClr val="tx1"/>
              </a:solidFill>
              <a:effectLst/>
              <a:latin typeface="+mn-lt"/>
              <a:ea typeface="+mn-ea"/>
              <a:cs typeface="+mn-cs"/>
            </a:endParaRPr>
          </a:p>
          <a:p>
            <a:pPr marL="0" indent="0">
              <a:buFontTx/>
              <a:buNone/>
            </a:pPr>
            <a:r>
              <a:rPr lang="en-US" sz="1200" b="1" i="0" kern="1200" baseline="0" dirty="0">
                <a:solidFill>
                  <a:schemeClr val="tx1"/>
                </a:solidFill>
                <a:effectLst/>
                <a:latin typeface="+mn-lt"/>
                <a:ea typeface="+mn-ea"/>
                <a:cs typeface="+mn-cs"/>
              </a:rPr>
              <a:t>        + </a:t>
            </a:r>
            <a:r>
              <a:rPr lang="en-GB" b="1" dirty="0"/>
              <a:t>Objectives</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ĐỂ </a:t>
            </a:r>
            <a:r>
              <a:rPr lang="en-US" sz="1200" b="1" i="0" kern="1200" dirty="0">
                <a:solidFill>
                  <a:schemeClr val="tx1"/>
                </a:solidFill>
                <a:effectLst/>
                <a:latin typeface="+mn-lt"/>
                <a:ea typeface="+mn-ea"/>
                <a:cs typeface="+mn-cs"/>
              </a:rPr>
              <a:t>XEM</a:t>
            </a:r>
            <a:r>
              <a:rPr lang="vi-VN" sz="1200" b="1" i="0" kern="1200" dirty="0">
                <a:solidFill>
                  <a:schemeClr val="tx1"/>
                </a:solidFill>
                <a:effectLst/>
                <a:latin typeface="+mn-lt"/>
                <a:ea typeface="+mn-ea"/>
                <a:cs typeface="+mn-cs"/>
              </a:rPr>
              <a:t> PHẦN MỀM </a:t>
            </a:r>
            <a:r>
              <a:rPr lang="en-US" sz="1200" b="1" i="0" kern="1200" dirty="0">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ĐÁP ỨNG </a:t>
            </a:r>
            <a:r>
              <a:rPr lang="en-US" sz="1200" b="1" i="0" kern="1200" dirty="0">
                <a:solidFill>
                  <a:schemeClr val="tx1"/>
                </a:solidFill>
                <a:effectLst/>
                <a:latin typeface="+mn-lt"/>
                <a:ea typeface="+mn-ea"/>
                <a:cs typeface="+mn-cs"/>
              </a:rPr>
              <a:t>ĐƯỢC</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CÁC YÊU CẦU</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ĐỂ CHỨNG MINH HỆ THỐNG LÀ THÍCH HỢP </a:t>
            </a:r>
            <a:r>
              <a:rPr lang="en-US" sz="1200" b="1" i="0" kern="1200" dirty="0">
                <a:solidFill>
                  <a:schemeClr val="tx1"/>
                </a:solidFill>
                <a:effectLst/>
                <a:latin typeface="+mn-lt"/>
                <a:ea typeface="+mn-ea"/>
                <a:cs typeface="+mn-cs"/>
              </a:rPr>
              <a:t>VỚI</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MỤC ĐÍCH</a:t>
            </a:r>
            <a:r>
              <a:rPr lang="en-US" sz="1200" b="1" i="0" kern="1200" dirty="0">
                <a:solidFill>
                  <a:schemeClr val="tx1"/>
                </a:solidFill>
                <a:effectLst/>
                <a:latin typeface="+mn-lt"/>
                <a:ea typeface="+mn-ea"/>
                <a:cs typeface="+mn-cs"/>
              </a:rPr>
              <a:t> ĐÃ</a:t>
            </a:r>
            <a:r>
              <a:rPr lang="en-US" sz="1200" b="1" i="0" kern="1200" baseline="0" dirty="0">
                <a:solidFill>
                  <a:schemeClr val="tx1"/>
                </a:solidFill>
                <a:effectLst/>
                <a:latin typeface="+mn-lt"/>
                <a:ea typeface="+mn-ea"/>
                <a:cs typeface="+mn-cs"/>
              </a:rPr>
              <a:t> ĐỀ RA</a:t>
            </a:r>
            <a:r>
              <a:rPr lang="vi-VN" sz="1200" b="1" i="0" kern="1200" dirty="0">
                <a:solidFill>
                  <a:schemeClr val="tx1"/>
                </a:solidFill>
                <a:effectLst/>
                <a:latin typeface="+mn-lt"/>
                <a:ea typeface="+mn-ea"/>
                <a:cs typeface="+mn-cs"/>
              </a:rPr>
              <a:t> HOẶC ĐỂ ĐO </a:t>
            </a:r>
            <a:r>
              <a:rPr lang="en-US" sz="1200" b="1" i="0" kern="1200" dirty="0">
                <a:solidFill>
                  <a:schemeClr val="tx1"/>
                </a:solidFill>
                <a:effectLst/>
                <a:latin typeface="+mn-lt"/>
                <a:ea typeface="+mn-ea"/>
                <a:cs typeface="+mn-cs"/>
              </a:rPr>
              <a:t>CHẤT</a:t>
            </a:r>
            <a:r>
              <a:rPr lang="en-US" sz="1200" b="1" i="0" kern="1200" baseline="0" dirty="0">
                <a:solidFill>
                  <a:schemeClr val="tx1"/>
                </a:solidFill>
                <a:effectLst/>
                <a:latin typeface="+mn-lt"/>
                <a:ea typeface="+mn-ea"/>
                <a:cs typeface="+mn-cs"/>
              </a:rPr>
              <a:t> LƯỢNG</a:t>
            </a:r>
            <a:r>
              <a:rPr lang="vi-VN" sz="1200" b="1" i="0" kern="1200" dirty="0">
                <a:solidFill>
                  <a:schemeClr val="tx1"/>
                </a:solidFill>
                <a:effectLst/>
                <a:latin typeface="+mn-lt"/>
                <a:ea typeface="+mn-ea"/>
                <a:cs typeface="+mn-cs"/>
              </a:rPr>
              <a:t> VÀ CÁC THUỘC TÍNH CỦA PHẦN MỀM.</a:t>
            </a:r>
            <a:endParaRPr lang="en-US" sz="1200" b="1" i="0" kern="1200" dirty="0">
              <a:solidFill>
                <a:schemeClr val="tx1"/>
              </a:solidFill>
              <a:effectLst/>
              <a:latin typeface="+mn-lt"/>
              <a:ea typeface="+mn-ea"/>
              <a:cs typeface="+mn-cs"/>
            </a:endParaRPr>
          </a:p>
          <a:p>
            <a:pPr marL="0" indent="0">
              <a:buFontTx/>
              <a:buNone/>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định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hướng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tiếp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cận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dùng</a:t>
            </a:r>
            <a:r>
              <a:rPr lang="en-US" sz="1200" b="0" i="0" kern="1200" baseline="0" dirty="0">
                <a:solidFill>
                  <a:schemeClr val="tx1"/>
                </a:solidFill>
                <a:effectLst/>
                <a:latin typeface="+mn-lt"/>
                <a:ea typeface="+mn-ea"/>
                <a:cs typeface="+mn-cs"/>
              </a:rPr>
              <a:t> kt </a:t>
            </a:r>
            <a:r>
              <a:rPr lang="en-US" sz="1200" b="0" i="0" kern="1200" baseline="0" dirty="0" err="1">
                <a:solidFill>
                  <a:schemeClr val="tx1"/>
                </a:solidFill>
                <a:effectLst/>
                <a:latin typeface="+mn-lt"/>
                <a:ea typeface="+mn-ea"/>
                <a:cs typeface="+mn-cs"/>
              </a:rPr>
              <a:t>nào</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cái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gì</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mức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độ</a:t>
            </a:r>
            <a:r>
              <a:rPr lang="en-US" sz="1200" b="0" i="0" kern="1200" baseline="0" dirty="0">
                <a:solidFill>
                  <a:schemeClr val="tx1"/>
                </a:solidFill>
                <a:effectLst/>
                <a:latin typeface="+mn-lt"/>
                <a:ea typeface="+mn-ea"/>
                <a:cs typeface="+mn-cs"/>
              </a:rPr>
              <a:t> (coverage), ai test (developers, users, IT infrastructure teams)</a:t>
            </a:r>
            <a:r>
              <a:rPr lang="en-US" sz="1200" b="0" i="0" kern="1200" baseline="0" dirty="0">
                <a:solidFill>
                  <a:schemeClr val="tx1"/>
                </a:solidFill>
                <a:effectLst/>
                <a:latin typeface="+mn-lt"/>
                <a:ea typeface="+mn-ea"/>
                <a:cs typeface="+mn-cs"/>
                <a:sym typeface="Wingdings" pitchFamily="2" charset="2"/>
              </a:rPr>
              <a:t>.</a:t>
            </a:r>
            <a:endParaRPr lang="en-US" sz="1200" b="0" i="0" kern="1200" baseline="0" dirty="0">
              <a:solidFill>
                <a:schemeClr val="tx1"/>
              </a:solidFill>
              <a:effectLst/>
              <a:latin typeface="+mn-lt"/>
              <a:ea typeface="+mn-ea"/>
              <a:cs typeface="+mn-cs"/>
            </a:endParaRPr>
          </a:p>
          <a:p>
            <a:pPr marL="0" lvl="0" indent="0">
              <a:buFontTx/>
              <a:buNone/>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định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tài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nguyên</a:t>
            </a:r>
            <a:r>
              <a:rPr lang="en-US" sz="1200" b="0" i="0" kern="1200" baseline="0" dirty="0">
                <a:solidFill>
                  <a:schemeClr val="tx1"/>
                </a:solidFill>
                <a:effectLst/>
                <a:latin typeface="+mn-lt"/>
                <a:ea typeface="+mn-ea"/>
                <a:cs typeface="+mn-cs"/>
              </a:rPr>
              <a:t>: con </a:t>
            </a:r>
            <a:r>
              <a:rPr lang="en-US" sz="1200" b="0" i="0" kern="1200" baseline="0" dirty="0" err="1">
                <a:solidFill>
                  <a:schemeClr val="tx1"/>
                </a:solidFill>
                <a:effectLst/>
                <a:latin typeface="+mn-lt"/>
                <a:ea typeface="+mn-ea"/>
                <a:cs typeface="+mn-cs"/>
              </a:rPr>
              <a:t>người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môi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trường</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phần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cứng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phần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mềm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cần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chuyên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gia</a:t>
            </a:r>
            <a:r>
              <a:rPr lang="en-US" sz="1200" b="0" i="0" kern="1200" baseline="0" dirty="0">
                <a:solidFill>
                  <a:schemeClr val="tx1"/>
                </a:solidFill>
                <a:effectLst/>
                <a:latin typeface="+mn-lt"/>
                <a:ea typeface="+mn-ea"/>
                <a:cs typeface="+mn-cs"/>
              </a:rPr>
              <a:t> hay cc </a:t>
            </a:r>
            <a:r>
              <a:rPr lang="en-US" sz="1200" b="0" i="0" kern="1200" baseline="0" dirty="0" err="1">
                <a:solidFill>
                  <a:schemeClr val="tx1"/>
                </a:solidFill>
                <a:effectLst/>
                <a:latin typeface="+mn-lt"/>
                <a:ea typeface="+mn-ea"/>
                <a:cs typeface="+mn-cs"/>
              </a:rPr>
              <a:t>hỗ</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nào</a:t>
            </a:r>
            <a:r>
              <a:rPr lang="en-US" sz="1200" b="0" i="0" kern="1200" baseline="0" dirty="0">
                <a:solidFill>
                  <a:schemeClr val="tx1"/>
                </a:solidFill>
                <a:effectLst/>
                <a:latin typeface="+mn-lt"/>
                <a:ea typeface="+mn-ea"/>
                <a:cs typeface="+mn-cs"/>
              </a:rPr>
              <a:t> k.</a:t>
            </a:r>
            <a:endParaRPr lang="en-US" sz="1200" b="0" i="0" kern="1200" dirty="0">
              <a:solidFill>
                <a:schemeClr val="tx1"/>
              </a:solidFill>
              <a:effectLst/>
              <a:latin typeface="+mn-lt"/>
              <a:ea typeface="+mn-ea"/>
              <a:cs typeface="+mn-cs"/>
            </a:endParaRPr>
          </a:p>
          <a:p>
            <a:pPr marL="0" lvl="0" indent="0">
              <a:buFontTx/>
              <a:buNone/>
            </a:pP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Lập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lịch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hoạt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động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phân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tích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thiết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kế</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đánh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giá</a:t>
            </a:r>
            <a:r>
              <a:rPr lang="en-US" sz="1200" b="0" i="0" kern="1200" baseline="0" dirty="0">
                <a:solidFill>
                  <a:schemeClr val="tx1"/>
                </a:solidFill>
                <a:effectLst/>
                <a:latin typeface="+mn-lt"/>
                <a:ea typeface="+mn-ea"/>
                <a:cs typeface="+mn-cs"/>
              </a:rPr>
              <a:t> test, </a:t>
            </a:r>
            <a:r>
              <a:rPr lang="en-US" sz="1200" b="1" i="0" kern="1200" baseline="0" dirty="0">
                <a:solidFill>
                  <a:schemeClr val="tx1"/>
                </a:solidFill>
                <a:effectLst/>
                <a:latin typeface="+mn-lt"/>
                <a:ea typeface="+mn-ea"/>
                <a:cs typeface="+mn-cs"/>
              </a:rPr>
              <a:t>ĐỂ CÓ THỂ</a:t>
            </a:r>
            <a:r>
              <a:rPr lang="en-US" sz="1200" b="1" i="0" kern="1200" dirty="0">
                <a:solidFill>
                  <a:schemeClr val="tx1"/>
                </a:solidFill>
                <a:effectLst/>
                <a:latin typeface="+mn-lt"/>
                <a:ea typeface="+mn-ea"/>
                <a:cs typeface="+mn-cs"/>
              </a:rPr>
              <a:t> THEO DÕI CHÚNG</a:t>
            </a:r>
            <a:r>
              <a:rPr lang="en-US" sz="1200" b="1" i="0" kern="1200" baseline="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VÀ BẢO</a:t>
            </a:r>
            <a:r>
              <a:rPr lang="en-US" sz="1200" b="1" i="0" kern="1200" baseline="0" dirty="0">
                <a:solidFill>
                  <a:schemeClr val="tx1"/>
                </a:solidFill>
                <a:effectLst/>
                <a:latin typeface="+mn-lt"/>
                <a:ea typeface="+mn-ea"/>
                <a:cs typeface="+mn-cs"/>
              </a:rPr>
              <a:t> ĐẢM </a:t>
            </a:r>
            <a:r>
              <a:rPr lang="en-US" sz="1200" b="1" i="0" kern="1200" dirty="0">
                <a:solidFill>
                  <a:schemeClr val="tx1"/>
                </a:solidFill>
                <a:effectLst/>
                <a:latin typeface="+mn-lt"/>
                <a:ea typeface="+mn-ea"/>
                <a:cs typeface="+mn-cs"/>
              </a:rPr>
              <a:t>RẰNG HOÀN THÀNH THỬ NGHIỆM ĐÚNG</a:t>
            </a:r>
            <a:r>
              <a:rPr lang="en-US" sz="1200" b="1" i="0" kern="1200" baseline="0" dirty="0">
                <a:solidFill>
                  <a:schemeClr val="tx1"/>
                </a:solidFill>
                <a:effectLst/>
                <a:latin typeface="+mn-lt"/>
                <a:ea typeface="+mn-ea"/>
                <a:cs typeface="+mn-cs"/>
              </a:rPr>
              <a:t> THỜI HẠN.</a:t>
            </a:r>
          </a:p>
          <a:p>
            <a:pPr marL="0" indent="0">
              <a:buFontTx/>
              <a:buNone/>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định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tiêu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hoàn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thành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(completion criteria):</a:t>
            </a:r>
            <a:r>
              <a:rPr lang="en-US" sz="1200" b="0"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VD/ ĐỘ BAO PHỦ CẦN ĐẠT BAO NHIÊU: NHỮNG TIÊU CHUẨN NÀY SAU NÀY SẼ GIÚP CTA THEO DÕI XEM CÓ HOÀN THÀNH TEST ĐÚNG ĐẮN HAY K.</a:t>
            </a:r>
          </a:p>
          <a:p>
            <a:pPr marL="0" indent="0">
              <a:buFontTx/>
              <a:buNone/>
            </a:pPr>
            <a:endParaRPr lang="en-US" sz="1200" b="1" i="0" kern="1200" dirty="0">
              <a:solidFill>
                <a:schemeClr val="tx1"/>
              </a:solidFill>
              <a:effectLst/>
              <a:latin typeface="+mn-lt"/>
              <a:ea typeface="+mn-ea"/>
              <a:cs typeface="+mn-cs"/>
            </a:endParaRPr>
          </a:p>
          <a:p>
            <a:pPr marL="0" indent="0">
              <a:buFontTx/>
              <a:buNone/>
            </a:pPr>
            <a:endParaRPr lang="en-US"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MẪU: Test Plan_sample_v1.0.doc </a:t>
            </a:r>
            <a:r>
              <a:rPr lang="en-US" dirty="0" err="1"/>
              <a:t>trong</a:t>
            </a:r>
            <a:r>
              <a:rPr lang="en-US" baseline="0" dirty="0"/>
              <a:t> “FSOFT_DOC\FSOFT_GST_TESTER\University\04_TestTech_Mock1\Student\Slides” ,</a:t>
            </a:r>
            <a:r>
              <a:rPr lang="en-US" sz="1200" dirty="0"/>
              <a:t>Test Plan </a:t>
            </a:r>
            <a:r>
              <a:rPr lang="en-US" sz="1200" dirty="0" err="1"/>
              <a:t>Sample_Course</a:t>
            </a:r>
            <a:r>
              <a:rPr lang="en-US" sz="1200" dirty="0"/>
              <a:t> Registration System.doc ?</a:t>
            </a:r>
          </a:p>
        </p:txBody>
      </p:sp>
    </p:spTree>
    <p:extLst>
      <p:ext uri="{BB962C8B-B14F-4D97-AF65-F5344CB8AC3E}">
        <p14:creationId xmlns:p14="http://schemas.microsoft.com/office/powerpoint/2010/main" val="2671804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baseline="0" dirty="0"/>
              <a:t>CÓ KẾ HOẠCH NHƯNG THỰC TẾ KO PHẢI LÚC NÀO CŨNG ĐÚNG THEO KẾ HOẠCH, CHO NÊN CẦN CONTROL:</a:t>
            </a:r>
          </a:p>
          <a:p>
            <a:pPr marL="0" marR="0" indent="0" algn="l" defTabSz="914400" rtl="0" eaLnBrk="1" fontAlgn="auto" latinLnBrk="0" hangingPunct="1">
              <a:lnSpc>
                <a:spcPct val="100000"/>
              </a:lnSpc>
              <a:spcBef>
                <a:spcPts val="0"/>
              </a:spcBef>
              <a:spcAft>
                <a:spcPts val="0"/>
              </a:spcAft>
              <a:buClrTx/>
              <a:buSzTx/>
              <a:buFontTx/>
              <a:buNone/>
              <a:tabLst/>
              <a:defRPr/>
            </a:pPr>
            <a:r>
              <a:rPr lang="en-GB" b="1" baseline="0" dirty="0"/>
              <a:t>+ </a:t>
            </a:r>
            <a:r>
              <a:rPr lang="en-GB" b="0" baseline="0" dirty="0" err="1"/>
              <a:t>Là</a:t>
            </a:r>
            <a:r>
              <a:rPr lang="en-GB" b="0" baseline="0" dirty="0"/>
              <a:t> 1 </a:t>
            </a:r>
            <a:r>
              <a:rPr lang="en-GB" b="0" baseline="0" dirty="0" err="1"/>
              <a:t>hoạt</a:t>
            </a:r>
            <a:r>
              <a:rPr lang="en-GB" b="0" baseline="0" dirty="0"/>
              <a:t> </a:t>
            </a:r>
            <a:r>
              <a:rPr lang="en-GB" b="0" baseline="0" dirty="0" err="1"/>
              <a:t>động</a:t>
            </a:r>
            <a:r>
              <a:rPr lang="en-GB" b="0" baseline="0" dirty="0"/>
              <a:t> </a:t>
            </a:r>
            <a:r>
              <a:rPr lang="en-GB" b="0" baseline="0" dirty="0" err="1"/>
              <a:t>liên</a:t>
            </a:r>
            <a:r>
              <a:rPr lang="en-GB" b="0" baseline="0" dirty="0"/>
              <a:t> </a:t>
            </a:r>
            <a:r>
              <a:rPr lang="en-GB" b="0" baseline="0" dirty="0" err="1"/>
              <a:t>tục</a:t>
            </a:r>
            <a:endParaRPr lang="en-GB"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1" baseline="0" dirty="0"/>
              <a:t>+ </a:t>
            </a:r>
            <a:r>
              <a:rPr lang="en-GB" b="0" baseline="0" dirty="0" err="1"/>
              <a:t>Nhằm</a:t>
            </a:r>
            <a:r>
              <a:rPr lang="en-GB" b="0" baseline="0" dirty="0"/>
              <a:t> </a:t>
            </a:r>
            <a:r>
              <a:rPr lang="en-GB" b="0" baseline="0" dirty="0" err="1"/>
              <a:t>giám</a:t>
            </a:r>
            <a:r>
              <a:rPr lang="en-GB" b="0" baseline="0" dirty="0"/>
              <a:t> </a:t>
            </a:r>
            <a:r>
              <a:rPr lang="en-GB" b="0" baseline="0" dirty="0" err="1"/>
              <a:t>sát</a:t>
            </a:r>
            <a:r>
              <a:rPr lang="en-GB" b="0" baseline="0" dirty="0"/>
              <a:t> </a:t>
            </a:r>
            <a:r>
              <a:rPr lang="en-GB" b="0" baseline="0" dirty="0" err="1"/>
              <a:t>tình</a:t>
            </a:r>
            <a:r>
              <a:rPr lang="en-GB" b="0" baseline="0" dirty="0"/>
              <a:t> </a:t>
            </a:r>
            <a:r>
              <a:rPr lang="en-GB" b="0" baseline="0" dirty="0" err="1"/>
              <a:t>trạng</a:t>
            </a:r>
            <a:r>
              <a:rPr lang="en-GB" b="0" baseline="0" dirty="0"/>
              <a:t> </a:t>
            </a:r>
            <a:r>
              <a:rPr lang="en-GB" b="0" baseline="0" dirty="0" err="1"/>
              <a:t>và</a:t>
            </a:r>
            <a:r>
              <a:rPr lang="en-GB" b="0" baseline="0" dirty="0"/>
              <a:t> đ</a:t>
            </a:r>
            <a:r>
              <a:rPr lang="vi-VN" b="0" baseline="0" dirty="0"/>
              <a:t>ư</a:t>
            </a:r>
            <a:r>
              <a:rPr lang="en-US" b="0" baseline="0" dirty="0"/>
              <a:t>a </a:t>
            </a:r>
            <a:r>
              <a:rPr lang="en-US" b="0" baseline="0" dirty="0" err="1"/>
              <a:t>ra</a:t>
            </a:r>
            <a:r>
              <a:rPr lang="en-US" b="0" baseline="0" dirty="0"/>
              <a:t> </a:t>
            </a:r>
            <a:r>
              <a:rPr lang="en-US" b="0" baseline="0" dirty="0" err="1"/>
              <a:t>các</a:t>
            </a:r>
            <a:r>
              <a:rPr lang="en-US" b="0" baseline="0" dirty="0"/>
              <a:t> </a:t>
            </a:r>
            <a:r>
              <a:rPr lang="en-US" b="0" baseline="0" dirty="0" err="1"/>
              <a:t>hiệu</a:t>
            </a:r>
            <a:r>
              <a:rPr lang="en-US" b="0" baseline="0" dirty="0"/>
              <a:t> </a:t>
            </a:r>
            <a:r>
              <a:rPr lang="en-US" b="0" baseline="0" dirty="0" err="1"/>
              <a:t>chỉnh</a:t>
            </a:r>
            <a:r>
              <a:rPr lang="en-US" b="0" baseline="0" dirty="0"/>
              <a:t> </a:t>
            </a:r>
            <a:r>
              <a:rPr lang="en-US" b="0" baseline="0" dirty="0" err="1"/>
              <a:t>cho</a:t>
            </a:r>
            <a:r>
              <a:rPr lang="en-US" b="0" baseline="0" dirty="0"/>
              <a:t> </a:t>
            </a:r>
            <a:r>
              <a:rPr lang="en-US" b="0" baseline="0" dirty="0" err="1"/>
              <a:t>phù</a:t>
            </a:r>
            <a:r>
              <a:rPr lang="en-US" b="0" baseline="0" dirty="0"/>
              <a:t> </a:t>
            </a:r>
            <a:r>
              <a:rPr lang="en-US" b="0" baseline="0" dirty="0" err="1"/>
              <a:t>hợp</a:t>
            </a:r>
            <a:endParaRPr lang="en-US"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1" dirty="0"/>
              <a:t>+ </a:t>
            </a:r>
            <a:r>
              <a:rPr lang="en-GB" b="0" dirty="0"/>
              <a:t>Các </a:t>
            </a:r>
            <a:r>
              <a:rPr lang="en-GB" b="0" dirty="0" err="1"/>
              <a:t>hoạt</a:t>
            </a:r>
            <a:r>
              <a:rPr lang="en-GB" b="0" dirty="0"/>
              <a:t> </a:t>
            </a:r>
            <a:r>
              <a:rPr lang="en-GB" b="0" dirty="0" err="1"/>
              <a:t>động</a:t>
            </a:r>
            <a:r>
              <a:rPr lang="en-GB" b="0" dirty="0"/>
              <a:t>:</a:t>
            </a:r>
          </a:p>
          <a:p>
            <a:pPr marL="0" indent="0">
              <a:buFontTx/>
              <a:buNone/>
            </a:pPr>
            <a:r>
              <a:rPr lang="en-US" baseline="0" dirty="0"/>
              <a:t>        - </a:t>
            </a:r>
            <a:r>
              <a:rPr lang="en-US" baseline="0" dirty="0" err="1"/>
              <a:t>Đo</a:t>
            </a:r>
            <a:r>
              <a:rPr lang="en-US" baseline="0" dirty="0"/>
              <a:t> </a:t>
            </a:r>
            <a:r>
              <a:rPr lang="en-US" baseline="0" dirty="0" err="1"/>
              <a:t>và</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kết</a:t>
            </a:r>
            <a:r>
              <a:rPr lang="en-US" baseline="0" dirty="0"/>
              <a:t> </a:t>
            </a:r>
            <a:r>
              <a:rPr lang="en-US" baseline="0" dirty="0" err="1"/>
              <a:t>quả</a:t>
            </a:r>
            <a:r>
              <a:rPr lang="en-US" baseline="0" dirty="0"/>
              <a:t> review </a:t>
            </a:r>
            <a:r>
              <a:rPr lang="en-US" baseline="0" dirty="0" err="1"/>
              <a:t>và</a:t>
            </a:r>
            <a:r>
              <a:rPr lang="en-US" baseline="0" dirty="0"/>
              <a:t> test: </a:t>
            </a:r>
            <a:r>
              <a:rPr lang="en-US" b="1" baseline="0" dirty="0"/>
              <a:t>CẦN PHẢI BIẾT BAO NHIÊU REVIEW VÀ TEST ĐÃ THỰC HIỆN XONG; BAO NHIÊU TEST THÀNH CÔNG VÀ BN THẤT BẠI; PT TÍNH QUAN TRỌNG CỦA LỖI</a:t>
            </a:r>
          </a:p>
          <a:p>
            <a:pPr marL="0" lvl="0" indent="0">
              <a:buFontTx/>
              <a:buNone/>
            </a:pPr>
            <a:r>
              <a:rPr lang="en-US" baseline="0" dirty="0"/>
              <a:t>        - </a:t>
            </a:r>
            <a:r>
              <a:rPr lang="en-US" baseline="0" dirty="0" err="1"/>
              <a:t>Giám</a:t>
            </a:r>
            <a:r>
              <a:rPr lang="en-US" baseline="0" dirty="0"/>
              <a:t> </a:t>
            </a:r>
            <a:r>
              <a:rPr lang="en-US" baseline="0" dirty="0" err="1"/>
              <a:t>sát</a:t>
            </a:r>
            <a:r>
              <a:rPr lang="en-US" baseline="0" dirty="0"/>
              <a:t> </a:t>
            </a:r>
            <a:r>
              <a:rPr lang="en-US" baseline="0" dirty="0" err="1"/>
              <a:t>và</a:t>
            </a:r>
            <a:r>
              <a:rPr lang="en-US" baseline="0" dirty="0"/>
              <a:t> </a:t>
            </a:r>
            <a:r>
              <a:rPr lang="en-US" baseline="0" dirty="0" err="1"/>
              <a:t>lập</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theo</a:t>
            </a:r>
            <a:r>
              <a:rPr lang="en-US" baseline="0" dirty="0"/>
              <a:t> </a:t>
            </a:r>
            <a:r>
              <a:rPr lang="en-US" baseline="0" dirty="0" err="1"/>
              <a:t>dõi</a:t>
            </a:r>
            <a:r>
              <a:rPr lang="en-US" baseline="0" dirty="0"/>
              <a:t> </a:t>
            </a:r>
            <a:r>
              <a:rPr lang="en-US" baseline="0" dirty="0" err="1"/>
              <a:t>tiến</a:t>
            </a:r>
            <a:r>
              <a:rPr lang="en-US" baseline="0" dirty="0"/>
              <a:t> </a:t>
            </a:r>
            <a:r>
              <a:rPr lang="en-US" baseline="0" dirty="0" err="1"/>
              <a:t>độ</a:t>
            </a:r>
            <a:r>
              <a:rPr lang="en-US" baseline="0" dirty="0"/>
              <a:t>, </a:t>
            </a:r>
            <a:r>
              <a:rPr lang="en-US" baseline="0" dirty="0" err="1"/>
              <a:t>độ</a:t>
            </a:r>
            <a:r>
              <a:rPr lang="en-US" baseline="0" dirty="0"/>
              <a:t> bao </a:t>
            </a:r>
            <a:r>
              <a:rPr lang="en-US" baseline="0" dirty="0" err="1"/>
              <a:t>phủ</a:t>
            </a:r>
            <a:r>
              <a:rPr lang="en-US" baseline="0" dirty="0"/>
              <a:t> </a:t>
            </a:r>
            <a:r>
              <a:rPr lang="en-US" baseline="0" dirty="0" err="1"/>
              <a:t>và</a:t>
            </a:r>
            <a:r>
              <a:rPr lang="en-US" baseline="0" dirty="0"/>
              <a:t> </a:t>
            </a:r>
            <a:r>
              <a:rPr lang="en-US" baseline="0" dirty="0" err="1"/>
              <a:t>điều</a:t>
            </a:r>
            <a:r>
              <a:rPr lang="en-US" baseline="0" dirty="0"/>
              <a:t> </a:t>
            </a:r>
            <a:r>
              <a:rPr lang="en-US" baseline="0" dirty="0" err="1"/>
              <a:t>kiện</a:t>
            </a:r>
            <a:r>
              <a:rPr lang="en-US" baseline="0" dirty="0"/>
              <a:t> </a:t>
            </a:r>
            <a:r>
              <a:rPr lang="en-US" baseline="0" dirty="0" err="1"/>
              <a:t>dừng</a:t>
            </a:r>
            <a:r>
              <a:rPr lang="en-US" baseline="0" dirty="0"/>
              <a:t>: </a:t>
            </a:r>
            <a:r>
              <a:rPr lang="en-US" b="1" baseline="0" dirty="0"/>
              <a:t>KIỂM THỬ ĐC BAO NHIÊU, KẾT QUẢ LÀ GÌ, CÁC KẾT LUẬN VÀ ĐÁNH GIÁ RỦI RO.</a:t>
            </a:r>
          </a:p>
          <a:p>
            <a:pPr marL="0" lvl="0" indent="0">
              <a:buFontTx/>
              <a:buNone/>
            </a:pPr>
            <a:r>
              <a:rPr lang="en-US" baseline="0" dirty="0"/>
              <a:t>        - Cc </a:t>
            </a:r>
            <a:r>
              <a:rPr lang="en-US" baseline="0" dirty="0" err="1"/>
              <a:t>thông</a:t>
            </a:r>
            <a:r>
              <a:rPr lang="en-US" baseline="0" dirty="0"/>
              <a:t> tin </a:t>
            </a:r>
            <a:r>
              <a:rPr lang="en-US" baseline="0" dirty="0" err="1"/>
              <a:t>về</a:t>
            </a:r>
            <a:r>
              <a:rPr lang="en-US" baseline="0" dirty="0"/>
              <a:t> </a:t>
            </a:r>
            <a:r>
              <a:rPr lang="en-US" baseline="0" dirty="0" err="1"/>
              <a:t>kiểm</a:t>
            </a:r>
            <a:r>
              <a:rPr lang="en-US" baseline="0" dirty="0"/>
              <a:t> </a:t>
            </a:r>
            <a:r>
              <a:rPr lang="en-US" baseline="0" dirty="0" err="1"/>
              <a:t>thử</a:t>
            </a:r>
            <a:r>
              <a:rPr lang="en-US" baseline="0" dirty="0"/>
              <a:t>: ?AI CẦN NHỮNG THÔNG TIN NÀY? - </a:t>
            </a:r>
            <a:r>
              <a:rPr lang="en-US" b="1" baseline="0" dirty="0"/>
              <a:t>NG </a:t>
            </a:r>
            <a:r>
              <a:rPr lang="vi-VN" sz="1200" b="1" i="0" kern="1200" dirty="0">
                <a:solidFill>
                  <a:schemeClr val="tx1"/>
                </a:solidFill>
                <a:effectLst/>
                <a:latin typeface="+mn-lt"/>
                <a:ea typeface="+mn-ea"/>
                <a:cs typeface="+mn-cs"/>
              </a:rPr>
              <a:t>QUẢN LÝ DỰ ÁN, KHÁCH HÀNG VÀ CÁC BÊN</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LIÊN QUAN </a:t>
            </a:r>
            <a:r>
              <a:rPr lang="vi-VN" sz="1200" b="1" i="0" kern="1200" dirty="0" err="1">
                <a:solidFill>
                  <a:schemeClr val="tx1"/>
                </a:solidFill>
                <a:effectLst/>
                <a:latin typeface="+mn-lt"/>
                <a:ea typeface="+mn-ea"/>
                <a:cs typeface="+mn-cs"/>
              </a:rPr>
              <a:t>QUAN</a:t>
            </a:r>
            <a:r>
              <a:rPr lang="vi-VN" sz="1200" b="1" i="0" kern="1200" dirty="0">
                <a:solidFill>
                  <a:schemeClr val="tx1"/>
                </a:solidFill>
                <a:effectLst/>
                <a:latin typeface="+mn-lt"/>
                <a:ea typeface="+mn-ea"/>
                <a:cs typeface="+mn-cs"/>
              </a:rPr>
              <a:t> TRỌNG KHÁC ĐỂ GIÚP HỌ ĐƯA RA QUYẾT ĐỊNH VỀ DỰ</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ÁN</a:t>
            </a:r>
            <a:r>
              <a:rPr lang="en-US" sz="1200" b="1" i="0" kern="1200" dirty="0">
                <a:solidFill>
                  <a:schemeClr val="tx1"/>
                </a:solidFill>
                <a:effectLst/>
                <a:latin typeface="+mn-lt"/>
                <a:ea typeface="+mn-ea"/>
                <a:cs typeface="+mn-cs"/>
              </a:rPr>
              <a:t>.</a:t>
            </a:r>
            <a:endParaRPr lang="en-US" b="1" baseline="0" dirty="0"/>
          </a:p>
          <a:p>
            <a:pPr marL="0" lvl="0" indent="0">
              <a:buFontTx/>
              <a:buNone/>
            </a:pPr>
            <a:r>
              <a:rPr lang="en-US" baseline="0" dirty="0"/>
              <a:t>       - </a:t>
            </a:r>
            <a:r>
              <a:rPr lang="en-US" baseline="0" dirty="0" err="1"/>
              <a:t>Bắt</a:t>
            </a:r>
            <a:r>
              <a:rPr lang="en-US" baseline="0" dirty="0"/>
              <a:t> </a:t>
            </a:r>
            <a:r>
              <a:rPr lang="en-US" baseline="0" dirty="0" err="1"/>
              <a:t>đầu</a:t>
            </a:r>
            <a:r>
              <a:rPr lang="en-US" baseline="0" dirty="0"/>
              <a:t> </a:t>
            </a:r>
            <a:r>
              <a:rPr lang="en-US" baseline="0" dirty="0" err="1"/>
              <a:t>các</a:t>
            </a:r>
            <a:r>
              <a:rPr lang="en-US" baseline="0" dirty="0"/>
              <a:t> HÀNH ĐỘNG SỬA SAI (ĐIỀU CHỈNH PLAN). </a:t>
            </a:r>
            <a:r>
              <a:rPr lang="en-US" b="1" baseline="0" dirty="0"/>
              <a:t>VD/ THẮT CHẶT EXIT CRITERIA; ƯU TIÊN LỖI; TĂNG THỜI GIAN CHO VIỆC GỠ LỖI (DEBUG)…</a:t>
            </a:r>
          </a:p>
          <a:p>
            <a:pPr marL="0" lvl="0" indent="0">
              <a:buFontTx/>
              <a:buNone/>
            </a:pPr>
            <a:r>
              <a:rPr lang="en-US" i="0" dirty="0"/>
              <a:t>       - </a:t>
            </a:r>
            <a:r>
              <a:rPr lang="en-US" i="0" dirty="0" err="1"/>
              <a:t>Căn</a:t>
            </a:r>
            <a:r>
              <a:rPr lang="en-US" i="0" baseline="0" dirty="0"/>
              <a:t> </a:t>
            </a:r>
            <a:r>
              <a:rPr lang="en-US" i="0" baseline="0" dirty="0" err="1"/>
              <a:t>cứ</a:t>
            </a:r>
            <a:r>
              <a:rPr lang="en-US" i="0" baseline="0" dirty="0"/>
              <a:t> </a:t>
            </a:r>
            <a:r>
              <a:rPr lang="en-US" i="0" baseline="0" dirty="0" err="1"/>
              <a:t>vào</a:t>
            </a:r>
            <a:r>
              <a:rPr lang="en-US" i="0" baseline="0" dirty="0"/>
              <a:t> </a:t>
            </a:r>
            <a:r>
              <a:rPr lang="en-US" i="0" baseline="0" dirty="0" err="1"/>
              <a:t>độ</a:t>
            </a:r>
            <a:r>
              <a:rPr lang="en-US" i="0" baseline="0" dirty="0"/>
              <a:t> </a:t>
            </a:r>
            <a:r>
              <a:rPr lang="en-US" i="0" baseline="0" dirty="0" err="1"/>
              <a:t>đo</a:t>
            </a:r>
            <a:r>
              <a:rPr lang="en-US" i="0" baseline="0" dirty="0"/>
              <a:t> </a:t>
            </a:r>
            <a:r>
              <a:rPr lang="en-US" i="0" baseline="0" dirty="0" err="1"/>
              <a:t>và</a:t>
            </a:r>
            <a:r>
              <a:rPr lang="en-US" i="0" baseline="0" dirty="0"/>
              <a:t> </a:t>
            </a:r>
            <a:r>
              <a:rPr lang="en-US" i="0" baseline="0" dirty="0" err="1"/>
              <a:t>các</a:t>
            </a:r>
            <a:r>
              <a:rPr lang="en-US" i="0" baseline="0" dirty="0"/>
              <a:t> </a:t>
            </a:r>
            <a:r>
              <a:rPr lang="en-US" i="0" baseline="0" dirty="0" err="1"/>
              <a:t>thông</a:t>
            </a:r>
            <a:r>
              <a:rPr lang="en-US" i="0" baseline="0" dirty="0"/>
              <a:t> tin </a:t>
            </a:r>
            <a:r>
              <a:rPr lang="en-US" i="0" baseline="0" dirty="0" err="1"/>
              <a:t>thu</a:t>
            </a:r>
            <a:r>
              <a:rPr lang="en-US" i="0" baseline="0" dirty="0"/>
              <a:t> </a:t>
            </a:r>
            <a:r>
              <a:rPr lang="en-US" i="0" baseline="0" dirty="0" err="1"/>
              <a:t>thập</a:t>
            </a:r>
            <a:r>
              <a:rPr lang="en-US" i="0" baseline="0" dirty="0"/>
              <a:t> </a:t>
            </a:r>
            <a:r>
              <a:rPr lang="en-US" i="0" baseline="0" dirty="0" err="1"/>
              <a:t>được</a:t>
            </a:r>
            <a:r>
              <a:rPr lang="en-US" i="0" baseline="0" dirty="0"/>
              <a:t> </a:t>
            </a:r>
            <a:r>
              <a:rPr lang="en-US" i="0" baseline="0" dirty="0" err="1"/>
              <a:t>trong</a:t>
            </a:r>
            <a:r>
              <a:rPr lang="en-US" i="0" baseline="0" dirty="0"/>
              <a:t> qt test, </a:t>
            </a:r>
            <a:r>
              <a:rPr lang="en-US" i="0" dirty="0" err="1"/>
              <a:t>q</a:t>
            </a:r>
            <a:r>
              <a:rPr lang="en-US" dirty="0" err="1"/>
              <a:t>uyết</a:t>
            </a:r>
            <a:r>
              <a:rPr lang="en-US" baseline="0" dirty="0"/>
              <a:t> </a:t>
            </a:r>
            <a:r>
              <a:rPr lang="en-US" baseline="0" dirty="0" err="1"/>
              <a:t>định</a:t>
            </a:r>
            <a:r>
              <a:rPr lang="vi-V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vd</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tiếp tục</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ngừng</a:t>
            </a:r>
            <a:r>
              <a:rPr lang="vi-VN" sz="1200" b="0" i="0" kern="1200" dirty="0">
                <a:solidFill>
                  <a:schemeClr val="tx1"/>
                </a:solidFill>
                <a:effectLst/>
                <a:latin typeface="+mn-lt"/>
                <a:ea typeface="+mn-ea"/>
                <a:cs typeface="+mn-cs"/>
              </a:rPr>
              <a:t> t</a:t>
            </a:r>
            <a:r>
              <a:rPr lang="en-US" sz="1200" b="0" i="0" kern="1200" dirty="0">
                <a:solidFill>
                  <a:schemeClr val="tx1"/>
                </a:solidFill>
                <a:effectLst/>
                <a:latin typeface="+mn-lt"/>
                <a:ea typeface="+mn-ea"/>
                <a:cs typeface="+mn-cs"/>
              </a:rPr>
              <a:t>est</a:t>
            </a:r>
            <a:r>
              <a:rPr lang="vi-VN" sz="1200" b="0" i="0" kern="1200" dirty="0">
                <a:solidFill>
                  <a:schemeClr val="tx1"/>
                </a:solidFill>
                <a:effectLst/>
                <a:latin typeface="+mn-lt"/>
                <a:ea typeface="+mn-ea"/>
                <a:cs typeface="+mn-cs"/>
              </a:rPr>
              <a:t>, phát hành phần mềm hoặc giữ lại nó cho công việc </a:t>
            </a:r>
            <a:r>
              <a:rPr lang="en-US" sz="1200" b="0" i="0" kern="1200" dirty="0" err="1">
                <a:solidFill>
                  <a:schemeClr val="tx1"/>
                </a:solidFill>
                <a:effectLst/>
                <a:latin typeface="+mn-lt"/>
                <a:ea typeface="+mn-ea"/>
                <a:cs typeface="+mn-cs"/>
              </a:rPr>
              <a:t>sau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850036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Trong hoạt động này, cta sẽ lấy các test condition và tạo chúng thành các test case, các test procedure và cũng thiết lập môi trường test, tạo bộ dữ liệu test.</a:t>
            </a:r>
            <a:endParaRPr lang="en-US" b="0"/>
          </a:p>
        </p:txBody>
      </p:sp>
    </p:spTree>
    <p:extLst>
      <p:ext uri="{BB962C8B-B14F-4D97-AF65-F5344CB8AC3E}">
        <p14:creationId xmlns:p14="http://schemas.microsoft.com/office/powerpoint/2010/main" val="4036136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r>
              <a:rPr lang="en-US" dirty="0" err="1"/>
              <a:t>Là</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nhằm</a:t>
            </a:r>
            <a:r>
              <a:rPr lang="en-US" baseline="0" dirty="0"/>
              <a:t> CHUYỂN CÁC MỤC TIÊU TEST THÀNH </a:t>
            </a:r>
            <a:r>
              <a:rPr lang="en-US" baseline="0" dirty="0" err="1"/>
              <a:t>các</a:t>
            </a:r>
            <a:r>
              <a:rPr lang="en-US" baseline="0" dirty="0"/>
              <a:t> test condition </a:t>
            </a:r>
            <a:r>
              <a:rPr lang="en-US" baseline="0" dirty="0" err="1"/>
              <a:t>và</a:t>
            </a:r>
            <a:r>
              <a:rPr lang="en-US" baseline="0" dirty="0"/>
              <a:t> </a:t>
            </a:r>
            <a:r>
              <a:rPr lang="en-US" baseline="0" dirty="0" err="1"/>
              <a:t>các</a:t>
            </a:r>
            <a:r>
              <a:rPr lang="en-US" baseline="0" dirty="0"/>
              <a:t> test case </a:t>
            </a:r>
            <a:r>
              <a:rPr lang="en-US" baseline="0" dirty="0" err="1"/>
              <a:t>cụ</a:t>
            </a:r>
            <a:r>
              <a:rPr lang="en-US" baseline="0" dirty="0"/>
              <a:t> </a:t>
            </a:r>
            <a:r>
              <a:rPr lang="en-US" baseline="0" dirty="0" err="1"/>
              <a:t>thể</a:t>
            </a:r>
            <a:r>
              <a:rPr lang="en-US" baseline="0" dirty="0"/>
              <a:t>. </a:t>
            </a:r>
          </a:p>
          <a:p>
            <a:endParaRPr lang="en-US" sz="1200" dirty="0"/>
          </a:p>
          <a:p>
            <a:r>
              <a:rPr lang="en-US" sz="1200" dirty="0"/>
              <a:t>tangible :</a:t>
            </a:r>
            <a:r>
              <a:rPr lang="en-US" sz="1200" baseline="0" dirty="0"/>
              <a:t> </a:t>
            </a:r>
            <a:r>
              <a:rPr lang="en-US" sz="1200" baseline="0" dirty="0" err="1"/>
              <a:t>có</a:t>
            </a:r>
            <a:r>
              <a:rPr lang="en-US" sz="1200" baseline="0" dirty="0"/>
              <a:t> </a:t>
            </a:r>
            <a:r>
              <a:rPr lang="en-US" sz="1200" baseline="0" dirty="0" err="1"/>
              <a:t>thật</a:t>
            </a:r>
            <a:endParaRPr lang="en-US" dirty="0"/>
          </a:p>
        </p:txBody>
      </p:sp>
    </p:spTree>
    <p:extLst>
      <p:ext uri="{BB962C8B-B14F-4D97-AF65-F5344CB8AC3E}">
        <p14:creationId xmlns:p14="http://schemas.microsoft.com/office/powerpoint/2010/main" val="2807368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r>
              <a:rPr lang="en-US" dirty="0"/>
              <a:t>KHI</a:t>
            </a:r>
            <a:r>
              <a:rPr lang="en-US" baseline="0" dirty="0"/>
              <a:t> NÀO THÌ BẮT ĐẦU PHÂN TÍCH – THIẾT KẾ KT?</a:t>
            </a:r>
          </a:p>
          <a:p>
            <a:r>
              <a:rPr lang="en-US" baseline="0" dirty="0"/>
              <a:t> – KHI CÓ TEST BASIS</a:t>
            </a:r>
            <a:endParaRPr lang="en-US" dirty="0"/>
          </a:p>
          <a:p>
            <a:r>
              <a:rPr lang="en-US" dirty="0"/>
              <a:t>Test basis </a:t>
            </a:r>
            <a:r>
              <a:rPr lang="en-US" dirty="0" err="1"/>
              <a:t>là</a:t>
            </a:r>
            <a:r>
              <a:rPr lang="en-US" baseline="0" dirty="0"/>
              <a:t> BẤT KỲ THÔNG TIN NÀO </a:t>
            </a:r>
            <a:r>
              <a:rPr lang="en-US" baseline="0" dirty="0" err="1"/>
              <a:t>cta</a:t>
            </a:r>
            <a:r>
              <a:rPr lang="en-US" baseline="0" dirty="0"/>
              <a:t> </a:t>
            </a:r>
            <a:r>
              <a:rPr lang="en-US" baseline="0" dirty="0" err="1"/>
              <a:t>cần</a:t>
            </a:r>
            <a:r>
              <a:rPr lang="en-US" baseline="0" dirty="0"/>
              <a:t> </a:t>
            </a:r>
            <a:r>
              <a:rPr lang="en-US" baseline="0" dirty="0" err="1"/>
              <a:t>để</a:t>
            </a:r>
            <a:r>
              <a:rPr lang="en-US" baseline="0" dirty="0"/>
              <a:t> </a:t>
            </a:r>
            <a:r>
              <a:rPr lang="en-US" baseline="0" dirty="0" err="1"/>
              <a:t>bắt</a:t>
            </a:r>
            <a:r>
              <a:rPr lang="en-US" baseline="0" dirty="0"/>
              <a:t> </a:t>
            </a:r>
            <a:r>
              <a:rPr lang="en-US" baseline="0" dirty="0" err="1"/>
              <a:t>đầu</a:t>
            </a:r>
            <a:r>
              <a:rPr lang="en-US" baseline="0" dirty="0"/>
              <a:t> pt </a:t>
            </a:r>
            <a:r>
              <a:rPr lang="en-US" baseline="0" dirty="0" err="1"/>
              <a:t>và</a:t>
            </a:r>
            <a:r>
              <a:rPr lang="en-US" baseline="0" dirty="0"/>
              <a:t> </a:t>
            </a:r>
            <a:r>
              <a:rPr lang="en-US" baseline="0" dirty="0" err="1"/>
              <a:t>thiết</a:t>
            </a:r>
            <a:r>
              <a:rPr lang="en-US" baseline="0" dirty="0"/>
              <a:t> </a:t>
            </a:r>
            <a:r>
              <a:rPr lang="en-US" baseline="0" dirty="0" err="1"/>
              <a:t>kế</a:t>
            </a:r>
            <a:r>
              <a:rPr lang="en-US" baseline="0" dirty="0"/>
              <a:t> test. Thông </a:t>
            </a:r>
            <a:r>
              <a:rPr lang="en-US" baseline="0" dirty="0" err="1"/>
              <a:t>thường</a:t>
            </a:r>
            <a:r>
              <a:rPr lang="en-US" baseline="0" dirty="0"/>
              <a:t> </a:t>
            </a:r>
            <a:r>
              <a:rPr lang="en-US" baseline="0" dirty="0" err="1"/>
              <a:t>nó</a:t>
            </a:r>
            <a:r>
              <a:rPr lang="en-US" baseline="0" dirty="0"/>
              <a:t> </a:t>
            </a:r>
            <a:r>
              <a:rPr lang="en-US" baseline="0" dirty="0" err="1"/>
              <a:t>là</a:t>
            </a:r>
            <a:r>
              <a:rPr lang="en-US" baseline="0" dirty="0"/>
              <a:t> document: requirements, design, architecture, interfaces…</a:t>
            </a:r>
            <a:endParaRPr lang="en-US" dirty="0"/>
          </a:p>
          <a:p>
            <a:r>
              <a:rPr lang="en-US" b="1" baseline="0" dirty="0"/>
              <a:t>KHI REVIEW TEST BASIS, CTA SẼ XÁC </a:t>
            </a:r>
            <a:r>
              <a:rPr lang="vi-VN" b="1" baseline="0" dirty="0"/>
              <a:t>ĐỊ</a:t>
            </a:r>
            <a:r>
              <a:rPr lang="en-US" b="1" baseline="0" dirty="0"/>
              <a:t>NH </a:t>
            </a:r>
            <a:r>
              <a:rPr lang="vi-VN" b="1" baseline="0" dirty="0"/>
              <a:t>ĐƯỢ</a:t>
            </a:r>
            <a:r>
              <a:rPr lang="en-US" b="1" baseline="0" dirty="0"/>
              <a:t>C NHỮNG THIẾU SÓT, NHẬP NHẰNG TRONG </a:t>
            </a:r>
            <a:r>
              <a:rPr lang="vi-VN" b="1" baseline="0" dirty="0"/>
              <a:t>ĐẶ</a:t>
            </a:r>
            <a:r>
              <a:rPr lang="en-US" b="1" baseline="0" dirty="0"/>
              <a:t>C TẢ</a:t>
            </a:r>
          </a:p>
        </p:txBody>
      </p:sp>
    </p:spTree>
    <p:extLst>
      <p:ext uri="{BB962C8B-B14F-4D97-AF65-F5344CB8AC3E}">
        <p14:creationId xmlns:p14="http://schemas.microsoft.com/office/powerpoint/2010/main" val="24742977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pPr marL="0" indent="0">
              <a:buFontTx/>
              <a:buNone/>
            </a:pPr>
            <a:r>
              <a:rPr lang="en-US" dirty="0"/>
              <a:t>- </a:t>
            </a:r>
            <a:r>
              <a:rPr lang="en-US" dirty="0" err="1"/>
              <a:t>Đánh</a:t>
            </a:r>
            <a:r>
              <a:rPr lang="en-US" baseline="0" dirty="0"/>
              <a:t> </a:t>
            </a:r>
            <a:r>
              <a:rPr lang="en-US" baseline="0" dirty="0" err="1"/>
              <a:t>giá</a:t>
            </a:r>
            <a:r>
              <a:rPr lang="en-US" baseline="0" dirty="0"/>
              <a:t> </a:t>
            </a:r>
            <a:r>
              <a:rPr lang="en-US" baseline="0" dirty="0" err="1"/>
              <a:t>tính</a:t>
            </a:r>
            <a:r>
              <a:rPr lang="en-US" baseline="0" dirty="0"/>
              <a:t> </a:t>
            </a:r>
            <a:r>
              <a:rPr lang="en-US" baseline="0" dirty="0" err="1"/>
              <a:t>kiểm</a:t>
            </a:r>
            <a:r>
              <a:rPr lang="en-US" baseline="0" dirty="0"/>
              <a:t> </a:t>
            </a:r>
            <a:r>
              <a:rPr lang="en-US" baseline="0" dirty="0" err="1"/>
              <a:t>thử</a:t>
            </a:r>
            <a:r>
              <a:rPr lang="en-US" baseline="0" dirty="0"/>
              <a:t> </a:t>
            </a:r>
            <a:r>
              <a:rPr lang="vi-VN" baseline="0" dirty="0" err="1"/>
              <a:t>đượ</a:t>
            </a:r>
            <a:r>
              <a:rPr lang="en-US" baseline="0" dirty="0"/>
              <a:t>c </a:t>
            </a:r>
            <a:r>
              <a:rPr lang="en-US" baseline="0" dirty="0" err="1"/>
              <a:t>của</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và</a:t>
            </a:r>
            <a:r>
              <a:rPr lang="en-US" baseline="0" dirty="0"/>
              <a:t> ht.</a:t>
            </a:r>
          </a:p>
          <a:p>
            <a:pPr marL="0" lvl="0" indent="0">
              <a:buFontTx/>
              <a:buNone/>
            </a:pPr>
            <a:r>
              <a:rPr lang="en-US" baseline="0" dirty="0" err="1"/>
              <a:t>vd</a:t>
            </a:r>
            <a:r>
              <a:rPr lang="en-US" baseline="0" dirty="0"/>
              <a:t>/ </a:t>
            </a:r>
            <a:r>
              <a:rPr lang="en-US" baseline="0" dirty="0" err="1"/>
              <a:t>nếu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chỉ</a:t>
            </a:r>
            <a:r>
              <a:rPr lang="en-US" baseline="0" dirty="0"/>
              <a:t> </a:t>
            </a:r>
            <a:r>
              <a:rPr lang="en-US" baseline="0" dirty="0" err="1"/>
              <a:t>nói</a:t>
            </a:r>
            <a:r>
              <a:rPr lang="en-US" baseline="0" dirty="0"/>
              <a:t> “</a:t>
            </a:r>
            <a:r>
              <a:rPr lang="vi-VN" sz="1200" b="0" i="0" kern="1200" dirty="0">
                <a:solidFill>
                  <a:schemeClr val="tx1"/>
                </a:solidFill>
                <a:effectLst/>
                <a:latin typeface="+mn-lt"/>
                <a:ea typeface="+mn-ea"/>
                <a:cs typeface="+mn-cs"/>
              </a:rPr>
              <a:t>phần mềm cần phải đáp ứng </a:t>
            </a:r>
            <a:r>
              <a:rPr lang="en-US" sz="1200" b="0" i="0" kern="1200" dirty="0" err="1">
                <a:solidFill>
                  <a:schemeClr val="tx1"/>
                </a:solidFill>
                <a:effectLst/>
                <a:latin typeface="+mn-lt"/>
                <a:ea typeface="+mn-ea"/>
                <a:cs typeface="+mn-cs"/>
              </a:rPr>
              <a:t>đủ</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nhanh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thì</a:t>
            </a:r>
            <a:r>
              <a:rPr lang="en-US" sz="1200" b="0" i="0" kern="1200" baseline="0" dirty="0">
                <a:solidFill>
                  <a:schemeClr val="tx1"/>
                </a:solidFill>
                <a:effectLst/>
                <a:latin typeface="+mn-lt"/>
                <a:ea typeface="+mn-ea"/>
                <a:cs typeface="+mn-cs"/>
              </a:rPr>
              <a:t> ko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vì</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đủ</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nhanh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ntn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yêu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cầu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như</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thế</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năng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hơn</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phần mềm cần phải trả lời trong 5 giây với 20 người đăng nhập</a:t>
            </a:r>
            <a:r>
              <a:rPr lang="en-US" sz="1200" b="0" i="0" kern="1200" dirty="0">
                <a:solidFill>
                  <a:schemeClr val="tx1"/>
                </a:solidFill>
                <a:effectLst/>
                <a:latin typeface="+mn-lt"/>
                <a:ea typeface="+mn-ea"/>
                <a:cs typeface="+mn-cs"/>
              </a:rPr>
              <a:t>”</a:t>
            </a:r>
            <a:endParaRPr lang="en-US" sz="1200" b="0" i="0" kern="1200" baseline="0" dirty="0">
              <a:solidFill>
                <a:schemeClr val="tx1"/>
              </a:solidFill>
              <a:effectLst/>
              <a:latin typeface="+mn-lt"/>
              <a:ea typeface="+mn-ea"/>
              <a:cs typeface="+mn-cs"/>
            </a:endParaRPr>
          </a:p>
        </p:txBody>
      </p:sp>
    </p:spTree>
    <p:extLst>
      <p:ext uri="{BB962C8B-B14F-4D97-AF65-F5344CB8AC3E}">
        <p14:creationId xmlns:p14="http://schemas.microsoft.com/office/powerpoint/2010/main" val="29381973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pPr marL="0" indent="0">
              <a:buFontTx/>
              <a:buNone/>
            </a:pPr>
            <a:r>
              <a:rPr lang="en-US" baseline="0"/>
              <a:t>Do ng. tắc kt là ko thể kt toàn bộ, nên phải…</a:t>
            </a:r>
          </a:p>
        </p:txBody>
      </p:sp>
    </p:spTree>
    <p:extLst>
      <p:ext uri="{BB962C8B-B14F-4D97-AF65-F5344CB8AC3E}">
        <p14:creationId xmlns:p14="http://schemas.microsoft.com/office/powerpoint/2010/main" val="2128411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44971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pPr marL="0" indent="0">
              <a:buFontTx/>
              <a:buNone/>
            </a:pPr>
            <a:endParaRPr lang="en-US"/>
          </a:p>
        </p:txBody>
      </p:sp>
    </p:spTree>
    <p:extLst>
      <p:ext uri="{BB962C8B-B14F-4D97-AF65-F5344CB8AC3E}">
        <p14:creationId xmlns:p14="http://schemas.microsoft.com/office/powerpoint/2010/main" val="16285621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36136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pPr marL="0" indent="0">
              <a:buFontTx/>
              <a:buNone/>
            </a:pPr>
            <a:r>
              <a:rPr lang="en-GB" b="1" dirty="0"/>
              <a:t>- test data: </a:t>
            </a:r>
            <a:r>
              <a:rPr lang="en-GB" b="0" dirty="0" err="1"/>
              <a:t>tập</a:t>
            </a:r>
            <a:r>
              <a:rPr lang="en-GB" b="0" baseline="0" dirty="0"/>
              <a:t> </a:t>
            </a:r>
            <a:r>
              <a:rPr lang="en-GB" b="0" baseline="0" dirty="0" err="1"/>
              <a:t>dữ</a:t>
            </a:r>
            <a:r>
              <a:rPr lang="en-GB" b="0" baseline="0" dirty="0"/>
              <a:t> </a:t>
            </a:r>
            <a:r>
              <a:rPr lang="en-GB" b="0" baseline="0" dirty="0" err="1"/>
              <a:t>liệu</a:t>
            </a:r>
            <a:r>
              <a:rPr lang="en-GB" b="0" baseline="0" dirty="0"/>
              <a:t> input </a:t>
            </a:r>
            <a:r>
              <a:rPr lang="en-GB" b="0" baseline="0" dirty="0" err="1"/>
              <a:t>cho</a:t>
            </a:r>
            <a:r>
              <a:rPr lang="en-GB" b="0" baseline="0" dirty="0"/>
              <a:t> </a:t>
            </a:r>
            <a:r>
              <a:rPr lang="en-GB" b="0" baseline="0" dirty="0" err="1"/>
              <a:t>các</a:t>
            </a:r>
            <a:r>
              <a:rPr lang="en-GB" b="0" baseline="0" dirty="0"/>
              <a:t> </a:t>
            </a:r>
            <a:r>
              <a:rPr lang="en-GB" b="0" baseline="0" dirty="0" err="1"/>
              <a:t>tc</a:t>
            </a:r>
            <a:r>
              <a:rPr lang="en-GB" b="0" baseline="0" dirty="0"/>
              <a:t>, </a:t>
            </a:r>
            <a:r>
              <a:rPr lang="en-GB" b="0" baseline="0" dirty="0" err="1"/>
              <a:t>để</a:t>
            </a:r>
            <a:r>
              <a:rPr lang="en-GB" b="0" baseline="0" dirty="0"/>
              <a:t> </a:t>
            </a:r>
            <a:r>
              <a:rPr lang="en-GB" b="0" baseline="0" dirty="0" err="1"/>
              <a:t>thực</a:t>
            </a:r>
            <a:r>
              <a:rPr lang="en-GB" b="0" baseline="0" dirty="0"/>
              <a:t> </a:t>
            </a:r>
            <a:r>
              <a:rPr lang="en-GB" b="0" baseline="0" dirty="0" err="1"/>
              <a:t>thi</a:t>
            </a:r>
            <a:r>
              <a:rPr lang="en-GB" b="0" baseline="0" dirty="0"/>
              <a:t> 1 </a:t>
            </a:r>
            <a:r>
              <a:rPr lang="en-GB" b="0" baseline="0" dirty="0" err="1"/>
              <a:t>lần</a:t>
            </a:r>
            <a:endParaRPr lang="en-GB" b="1" dirty="0"/>
          </a:p>
          <a:p>
            <a:pPr marL="0" indent="0">
              <a:buFontTx/>
              <a:buNone/>
            </a:pPr>
            <a:r>
              <a:rPr lang="en-GB" b="1" dirty="0"/>
              <a:t>- </a:t>
            </a:r>
            <a:r>
              <a:rPr lang="en-US" b="1" baseline="0" dirty="0"/>
              <a:t>test procedure: </a:t>
            </a:r>
            <a:r>
              <a:rPr lang="en-US" b="0" baseline="0" dirty="0" err="1"/>
              <a:t>các</a:t>
            </a:r>
            <a:r>
              <a:rPr lang="en-US" b="0" baseline="0" dirty="0"/>
              <a:t> </a:t>
            </a:r>
            <a:r>
              <a:rPr lang="en-US" b="0" baseline="0" dirty="0" err="1"/>
              <a:t>bước</a:t>
            </a:r>
            <a:r>
              <a:rPr lang="en-US" b="0" baseline="0" dirty="0"/>
              <a:t> </a:t>
            </a:r>
            <a:r>
              <a:rPr lang="en-US" b="0" baseline="0" dirty="0" err="1"/>
              <a:t>để</a:t>
            </a:r>
            <a:r>
              <a:rPr lang="en-US" b="0" baseline="0" dirty="0"/>
              <a:t> </a:t>
            </a:r>
            <a:r>
              <a:rPr lang="en-US" b="0" baseline="0" dirty="0" err="1"/>
              <a:t>thực</a:t>
            </a:r>
            <a:r>
              <a:rPr lang="en-US" b="0" baseline="0" dirty="0"/>
              <a:t> </a:t>
            </a:r>
            <a:r>
              <a:rPr lang="en-US" b="0" baseline="0" dirty="0" err="1"/>
              <a:t>thi</a:t>
            </a:r>
            <a:r>
              <a:rPr lang="en-US" b="0" baseline="0" dirty="0"/>
              <a:t> </a:t>
            </a:r>
            <a:r>
              <a:rPr lang="en-US" b="0" baseline="0" dirty="0" err="1"/>
              <a:t>tc</a:t>
            </a:r>
            <a:endParaRPr lang="en-GB" b="1" dirty="0"/>
          </a:p>
          <a:p>
            <a:pPr marL="0" indent="0">
              <a:buFontTx/>
              <a:buNone/>
            </a:pPr>
            <a:r>
              <a:rPr lang="en-GB" b="1" dirty="0"/>
              <a:t>- test suite: </a:t>
            </a:r>
            <a:r>
              <a:rPr lang="en-US" baseline="0" dirty="0"/>
              <a:t>LÀ TẬP CÁC TEST CASE LÀM VIỆC CHUNG VỚI NHAU THEO 1 MỤC TIÊU NÀO ĐÓ. VD/ </a:t>
            </a:r>
            <a:r>
              <a:rPr lang="en-US" baseline="0" dirty="0" err="1"/>
              <a:t>Bộ</a:t>
            </a:r>
            <a:r>
              <a:rPr lang="en-US" baseline="0" dirty="0"/>
              <a:t> test suite </a:t>
            </a:r>
            <a:r>
              <a:rPr lang="en-US" baseline="0" dirty="0" err="1"/>
              <a:t>cho</a:t>
            </a:r>
            <a:r>
              <a:rPr lang="en-US" baseline="0" dirty="0"/>
              <a:t> </a:t>
            </a:r>
            <a:r>
              <a:rPr lang="en-US" baseline="0" dirty="0" err="1"/>
              <a:t>kiểm</a:t>
            </a:r>
            <a:r>
              <a:rPr lang="en-US" baseline="0" dirty="0"/>
              <a:t> </a:t>
            </a:r>
            <a:r>
              <a:rPr lang="en-US" baseline="0" dirty="0" err="1"/>
              <a:t>thử</a:t>
            </a:r>
            <a:r>
              <a:rPr lang="en-US" baseline="0" dirty="0"/>
              <a:t> </a:t>
            </a:r>
            <a:r>
              <a:rPr lang="en-US" baseline="0" dirty="0" err="1"/>
              <a:t>hồi</a:t>
            </a:r>
            <a:r>
              <a:rPr lang="en-US" baseline="0" dirty="0"/>
              <a:t> </a:t>
            </a:r>
            <a:r>
              <a:rPr lang="en-US" baseline="0" dirty="0" err="1"/>
              <a:t>quy</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a,b,c</a:t>
            </a:r>
            <a:r>
              <a:rPr lang="en-US" baseline="0" dirty="0"/>
              <a:t>.</a:t>
            </a:r>
            <a:endParaRPr lang="en-US" dirty="0"/>
          </a:p>
          <a:p>
            <a:pPr marL="0" indent="0">
              <a:buFontTx/>
              <a:buNone/>
            </a:pPr>
            <a:endParaRPr lang="en-US" dirty="0"/>
          </a:p>
          <a:p>
            <a:pPr marL="0" indent="0">
              <a:buFontTx/>
              <a:buNone/>
            </a:pPr>
            <a:r>
              <a:rPr lang="en-US" baseline="0" dirty="0"/>
              <a:t>- </a:t>
            </a:r>
            <a:r>
              <a:rPr lang="en-US" baseline="0" dirty="0" err="1"/>
              <a:t>vd</a:t>
            </a:r>
            <a:r>
              <a:rPr lang="en-US" baseline="0" dirty="0"/>
              <a:t>/ test procedure </a:t>
            </a:r>
          </a:p>
          <a:p>
            <a:pPr marL="457200" lvl="1" indent="0">
              <a:buFontTx/>
              <a:buNone/>
            </a:pPr>
            <a:r>
              <a:rPr lang="en-US" baseline="0" dirty="0"/>
              <a:t>1. </a:t>
            </a:r>
            <a:r>
              <a:rPr lang="en-US" dirty="0"/>
              <a:t>visit </a:t>
            </a:r>
            <a:r>
              <a:rPr lang="en-US" dirty="0" err="1"/>
              <a:t>LoginPage</a:t>
            </a:r>
            <a:endParaRPr lang="en-US" dirty="0"/>
          </a:p>
          <a:p>
            <a:pPr marL="457200" lvl="1" indent="0">
              <a:buFontTx/>
              <a:buNone/>
            </a:pPr>
            <a:r>
              <a:rPr lang="en-US" dirty="0"/>
              <a:t>2. enter </a:t>
            </a:r>
            <a:r>
              <a:rPr lang="en-US" dirty="0" err="1"/>
              <a:t>userID</a:t>
            </a:r>
            <a:endParaRPr lang="en-US" dirty="0"/>
          </a:p>
          <a:p>
            <a:pPr marL="457200" lvl="1" indent="0">
              <a:buFontTx/>
              <a:buNone/>
            </a:pPr>
            <a:r>
              <a:rPr lang="en-US" dirty="0"/>
              <a:t>	</a:t>
            </a:r>
            <a:r>
              <a:rPr lang="en-US" dirty="0" err="1"/>
              <a:t>abc</a:t>
            </a:r>
            <a:endParaRPr lang="en-US" dirty="0"/>
          </a:p>
          <a:p>
            <a:pPr marL="457200" lvl="1" indent="0">
              <a:buFontTx/>
              <a:buNone/>
            </a:pPr>
            <a:r>
              <a:rPr lang="en-US" dirty="0"/>
              <a:t>3. enter password</a:t>
            </a:r>
          </a:p>
          <a:p>
            <a:pPr marL="457200" lvl="1" indent="0">
              <a:buFontTx/>
              <a:buNone/>
            </a:pPr>
            <a:r>
              <a:rPr lang="en-US" dirty="0"/>
              <a:t>	</a:t>
            </a:r>
            <a:r>
              <a:rPr lang="en-US" dirty="0" err="1"/>
              <a:t>xyz</a:t>
            </a:r>
            <a:endParaRPr lang="en-US" dirty="0"/>
          </a:p>
          <a:p>
            <a:pPr marL="457200" lvl="1" indent="0">
              <a:buFontTx/>
              <a:buNone/>
            </a:pPr>
            <a:r>
              <a:rPr lang="en-US" dirty="0"/>
              <a:t>4. click login</a:t>
            </a:r>
          </a:p>
          <a:p>
            <a:pPr marL="457200" lvl="1" indent="0">
              <a:buFontTx/>
              <a:buNone/>
            </a:pPr>
            <a:r>
              <a:rPr lang="en-US" baseline="0" dirty="0"/>
              <a:t>...</a:t>
            </a:r>
          </a:p>
        </p:txBody>
      </p:sp>
    </p:spTree>
    <p:extLst>
      <p:ext uri="{BB962C8B-B14F-4D97-AF65-F5344CB8AC3E}">
        <p14:creationId xmlns:p14="http://schemas.microsoft.com/office/powerpoint/2010/main" val="2532503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pPr marL="0" indent="0">
              <a:buFontTx/>
              <a:buNone/>
            </a:pPr>
            <a:r>
              <a:rPr lang="en-US" b="1" i="0" kern="1200" baseline="0" dirty="0">
                <a:solidFill>
                  <a:schemeClr val="tx1"/>
                </a:solidFill>
                <a:effectLst/>
                <a:latin typeface="+mn-lt"/>
                <a:ea typeface="+mn-ea"/>
                <a:cs typeface="+mn-cs"/>
              </a:rPr>
              <a:t>PHẢI BIẾT CHÍNH XÁC KIỂM THỬ THUỘC VỀ PHIÊN BẢN NÀO CỦA PM (VÌ CÓ THỂ CÓ NHIỀU PHIÊN BẢN PM), PHẢI BÁO CÁO LỖI ĐỐI VỚI PHIÊN BẢN CỤ THỂ;  CÁC ‘TEST LOG’ NÀY CẦN PHẢI GIỮ LẠI CHO KIỂM TRA DẤU VẾT SAU NÀY.</a:t>
            </a:r>
            <a:endParaRPr lang="en-US" b="1" baseline="0" dirty="0"/>
          </a:p>
        </p:txBody>
      </p:sp>
    </p:spTree>
    <p:extLst>
      <p:ext uri="{BB962C8B-B14F-4D97-AF65-F5344CB8AC3E}">
        <p14:creationId xmlns:p14="http://schemas.microsoft.com/office/powerpoint/2010/main" val="252675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pPr marL="0" indent="0">
              <a:buFontTx/>
              <a:buNone/>
            </a:pPr>
            <a:endParaRPr lang="en-US"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32938199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pPr marL="0" indent="0">
              <a:buFontTx/>
              <a:buNone/>
            </a:pPr>
            <a:r>
              <a:rPr lang="en-US" sz="1200" b="0" i="0" kern="1200" dirty="0" err="1">
                <a:solidFill>
                  <a:schemeClr val="tx1"/>
                </a:solidFill>
                <a:effectLst/>
                <a:latin typeface="+mn-lt"/>
                <a:ea typeface="+mn-ea"/>
                <a:cs typeface="+mn-cs"/>
              </a:rPr>
              <a:t>Lặp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hoạt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động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thử</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sau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khi</a:t>
            </a:r>
            <a:r>
              <a:rPr lang="en-US" sz="1200" b="0" i="0" kern="1200" baseline="0" dirty="0">
                <a:solidFill>
                  <a:schemeClr val="tx1"/>
                </a:solidFill>
                <a:effectLst/>
                <a:latin typeface="+mn-lt"/>
                <a:ea typeface="+mn-ea"/>
                <a:cs typeface="+mn-cs"/>
              </a:rPr>
              <a:t> fix </a:t>
            </a:r>
            <a:r>
              <a:rPr lang="en-US" sz="1200" b="0" i="0" kern="1200" baseline="0" dirty="0" err="1">
                <a:solidFill>
                  <a:schemeClr val="tx1"/>
                </a:solidFill>
                <a:effectLst/>
                <a:latin typeface="+mn-lt"/>
                <a:ea typeface="+mn-ea"/>
                <a:cs typeface="+mn-cs"/>
              </a:rPr>
              <a:t>lỗi</a:t>
            </a:r>
            <a:endParaRPr lang="en-US" sz="1200" b="0" i="0" kern="1200" baseline="0" dirty="0">
              <a:solidFill>
                <a:schemeClr val="tx1"/>
              </a:solidFill>
              <a:effectLst/>
              <a:latin typeface="+mn-lt"/>
              <a:ea typeface="+mn-ea"/>
              <a:cs typeface="+mn-cs"/>
            </a:endParaRPr>
          </a:p>
          <a:p>
            <a:pPr marL="0" indent="0">
              <a:buFontTx/>
              <a:buNone/>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lại</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mà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trước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bị</a:t>
            </a:r>
            <a:r>
              <a:rPr lang="en-US" sz="1200" b="0" i="0" kern="1200" baseline="0" dirty="0">
                <a:solidFill>
                  <a:schemeClr val="tx1"/>
                </a:solidFill>
                <a:effectLst/>
                <a:latin typeface="+mn-lt"/>
                <a:ea typeface="+mn-ea"/>
                <a:cs typeface="+mn-cs"/>
              </a:rPr>
              <a:t> fail </a:t>
            </a:r>
            <a:r>
              <a:rPr lang="en-US" sz="1200" b="0" i="0" kern="1200" baseline="0" dirty="0" err="1">
                <a:solidFill>
                  <a:schemeClr val="tx1"/>
                </a:solidFill>
                <a:effectLst/>
                <a:latin typeface="+mn-lt"/>
                <a:ea typeface="+mn-ea"/>
                <a:cs typeface="+mn-cs"/>
              </a:rPr>
              <a:t>để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nhận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sửa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đúng</a:t>
            </a:r>
            <a:r>
              <a:rPr lang="en-US" sz="1200" b="0" i="0" kern="1200" baseline="0" dirty="0">
                <a:solidFill>
                  <a:schemeClr val="tx1"/>
                </a:solidFill>
                <a:effectLst/>
                <a:latin typeface="+mn-lt"/>
                <a:ea typeface="+mn-ea"/>
                <a:cs typeface="+mn-cs"/>
              </a:rPr>
              <a:t> hay </a:t>
            </a:r>
            <a:r>
              <a:rPr lang="en-US" sz="1200" b="0" i="0" kern="1200" baseline="0" dirty="0" err="1">
                <a:solidFill>
                  <a:schemeClr val="tx1"/>
                </a:solidFill>
                <a:effectLst/>
                <a:latin typeface="+mn-lt"/>
                <a:ea typeface="+mn-ea"/>
                <a:cs typeface="+mn-cs"/>
              </a:rPr>
              <a:t>chưa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nhận</a:t>
            </a:r>
            <a:r>
              <a:rPr lang="en-US" sz="1200" b="0" i="0" kern="1200" baseline="0" dirty="0">
                <a:solidFill>
                  <a:schemeClr val="tx1"/>
                </a:solidFill>
                <a:effectLst/>
                <a:latin typeface="+mn-lt"/>
                <a:ea typeface="+mn-ea"/>
                <a:cs typeface="+mn-cs"/>
              </a:rPr>
              <a:t>)</a:t>
            </a:r>
          </a:p>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Thực hiện </a:t>
            </a:r>
            <a:r>
              <a:rPr lang="en-US" sz="1200" b="0" i="0" kern="1200" baseline="0" dirty="0" err="1">
                <a:solidFill>
                  <a:schemeClr val="tx1"/>
                </a:solidFill>
                <a:effectLst/>
                <a:latin typeface="+mn-lt"/>
                <a:ea typeface="+mn-ea"/>
                <a:cs typeface="+mn-cs"/>
              </a:rPr>
              <a:t>lại</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sửa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a:t>
            </a:r>
            <a:r>
              <a:rPr lang="en-US" sz="1200" b="0" i="0" kern="1200" baseline="0" dirty="0" err="1">
                <a:solidFill>
                  <a:schemeClr val="tx1"/>
                </a:solidFill>
                <a:effectLst/>
                <a:latin typeface="+mn-lt"/>
                <a:ea typeface="+mn-ea"/>
                <a:cs typeface="+mn-cs"/>
              </a:rPr>
              <a:t>hoặc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thành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công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đảm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bảo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lỗi</a:t>
            </a:r>
            <a:r>
              <a:rPr lang="en-US" sz="1200" b="0" i="0" kern="1200" baseline="0" dirty="0">
                <a:solidFill>
                  <a:schemeClr val="tx1"/>
                </a:solidFill>
                <a:effectLst/>
                <a:latin typeface="+mn-lt"/>
                <a:ea typeface="+mn-ea"/>
                <a:cs typeface="+mn-cs"/>
              </a:rPr>
              <a:t> ko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vùng</a:t>
            </a:r>
            <a:r>
              <a:rPr lang="en-US" sz="1200" b="0" i="0" kern="1200" baseline="0" dirty="0">
                <a:solidFill>
                  <a:schemeClr val="tx1"/>
                </a:solidFill>
                <a:effectLst/>
                <a:latin typeface="+mn-lt"/>
                <a:ea typeface="+mn-ea"/>
                <a:cs typeface="+mn-cs"/>
              </a:rPr>
              <a:t> ko </a:t>
            </a:r>
            <a:r>
              <a:rPr lang="en-US" sz="1200" b="0" i="0" kern="1200" baseline="0" dirty="0" err="1">
                <a:solidFill>
                  <a:schemeClr val="tx1"/>
                </a:solidFill>
                <a:effectLst/>
                <a:latin typeface="+mn-lt"/>
                <a:ea typeface="+mn-ea"/>
                <a:cs typeface="+mn-cs"/>
              </a:rPr>
              <a:t>thay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đổi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của</a:t>
            </a:r>
            <a:r>
              <a:rPr lang="en-US" sz="1200" b="0" i="0" kern="1200" baseline="0" dirty="0">
                <a:solidFill>
                  <a:schemeClr val="tx1"/>
                </a:solidFill>
                <a:effectLst/>
                <a:latin typeface="+mn-lt"/>
                <a:ea typeface="+mn-ea"/>
                <a:cs typeface="+mn-cs"/>
              </a:rPr>
              <a:t> PM </a:t>
            </a:r>
            <a:r>
              <a:rPr lang="en-US" sz="1200" b="0" i="0" kern="1200" baseline="0" dirty="0" err="1">
                <a:solidFill>
                  <a:schemeClr val="tx1"/>
                </a:solidFill>
                <a:effectLst/>
                <a:latin typeface="+mn-lt"/>
                <a:ea typeface="+mn-ea"/>
                <a:cs typeface="+mn-cs"/>
              </a:rPr>
              <a:t>hoặc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vc</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sửa </a:t>
            </a:r>
            <a:r>
              <a:rPr lang="en-US" sz="1200" b="0" i="0" kern="1200" dirty="0" err="1">
                <a:solidFill>
                  <a:schemeClr val="tx1"/>
                </a:solidFill>
                <a:effectLst/>
                <a:latin typeface="+mn-lt"/>
                <a:ea typeface="+mn-ea"/>
                <a:cs typeface="+mn-cs"/>
              </a:rPr>
              <a:t>lỗi</a:t>
            </a:r>
            <a:r>
              <a:rPr lang="vi-VN" sz="1200" b="0" i="0" kern="1200" dirty="0">
                <a:solidFill>
                  <a:schemeClr val="tx1"/>
                </a:solidFill>
                <a:effectLst/>
                <a:latin typeface="+mn-lt"/>
                <a:ea typeface="+mn-ea"/>
                <a:cs typeface="+mn-cs"/>
              </a:rPr>
              <a:t> đó không </a:t>
            </a:r>
            <a:r>
              <a:rPr lang="en-US" sz="1200" b="0" i="0" kern="1200" dirty="0" err="1">
                <a:solidFill>
                  <a:schemeClr val="tx1"/>
                </a:solidFill>
                <a:effectLst/>
                <a:latin typeface="+mn-lt"/>
                <a:ea typeface="+mn-ea"/>
                <a:cs typeface="+mn-cs"/>
              </a:rPr>
              <a:t>làm</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phát hiện ra các </a:t>
            </a:r>
            <a:r>
              <a:rPr lang="en-US" sz="1200" b="0" i="0" kern="1200" dirty="0" err="1">
                <a:solidFill>
                  <a:schemeClr val="tx1"/>
                </a:solidFill>
                <a:effectLst/>
                <a:latin typeface="+mn-lt"/>
                <a:ea typeface="+mn-ea"/>
                <a:cs typeface="+mn-cs"/>
              </a:rPr>
              <a:t>lỗi</a:t>
            </a:r>
            <a:r>
              <a:rPr lang="vi-VN" sz="1200" b="0" i="0" kern="1200" dirty="0">
                <a:solidFill>
                  <a:schemeClr val="tx1"/>
                </a:solidFill>
                <a:effectLst/>
                <a:latin typeface="+mn-lt"/>
                <a:ea typeface="+mn-ea"/>
                <a:cs typeface="+mn-cs"/>
              </a:rPr>
              <a:t> khác</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(kiểm tra hồi quy)</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I.E.</a:t>
            </a:r>
            <a:r>
              <a:rPr lang="en-US" sz="1200" b="1" i="0" kern="1200" baseline="0" dirty="0">
                <a:solidFill>
                  <a:schemeClr val="tx1"/>
                </a:solidFill>
                <a:effectLst/>
                <a:latin typeface="+mn-lt"/>
                <a:ea typeface="+mn-ea"/>
                <a:cs typeface="+mn-cs"/>
              </a:rPr>
              <a:t> LỖI SAU KHI ĐC SỬA CÓ THỂ LÀM CHO CÁC TEST TRƯỚC ĐÃ CHẠY ĐÚNG THÀNH RA CHẠY SAI </a:t>
            </a:r>
            <a:r>
              <a:rPr lang="en-US" sz="1200" b="1" i="0" kern="1200" baseline="0" dirty="0">
                <a:solidFill>
                  <a:schemeClr val="tx1"/>
                </a:solidFill>
                <a:effectLst/>
                <a:latin typeface="+mn-lt"/>
                <a:ea typeface="+mn-ea"/>
                <a:cs typeface="+mn-cs"/>
                <a:sym typeface="Wingdings" pitchFamily="2" charset="2"/>
              </a:rPr>
              <a:t> CHO NÊN CẦN TEST LẠI HẾT CÁC TEST ĐÃ CHẠY.</a:t>
            </a:r>
          </a:p>
        </p:txBody>
      </p:sp>
    </p:spTree>
    <p:extLst>
      <p:ext uri="{BB962C8B-B14F-4D97-AF65-F5344CB8AC3E}">
        <p14:creationId xmlns:p14="http://schemas.microsoft.com/office/powerpoint/2010/main" val="42732769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40361363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b="1" dirty="0"/>
              <a:t>“assess</a:t>
            </a:r>
            <a:r>
              <a:rPr lang="en-GB" dirty="0"/>
              <a:t> if more tests are needed or if the exit criteria specified should be changed”:</a:t>
            </a:r>
          </a:p>
          <a:p>
            <a:pPr marL="0" indent="0">
              <a:buFontTx/>
              <a:buNone/>
            </a:pPr>
            <a:r>
              <a:rPr lang="en-US" sz="1200" b="1" i="0" kern="1200" dirty="0" err="1">
                <a:solidFill>
                  <a:schemeClr val="tx1"/>
                </a:solidFill>
                <a:effectLst/>
                <a:latin typeface="+mn-lt"/>
                <a:ea typeface="+mn-ea"/>
                <a:cs typeface="+mn-cs"/>
              </a:rPr>
              <a:t>Cần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phải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chạy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thêm</a:t>
            </a:r>
            <a:r>
              <a:rPr lang="en-US" sz="1200" b="1" i="0" kern="1200" baseline="0" dirty="0">
                <a:solidFill>
                  <a:schemeClr val="tx1"/>
                </a:solidFill>
                <a:effectLst/>
                <a:latin typeface="+mn-lt"/>
                <a:ea typeface="+mn-ea"/>
                <a:cs typeface="+mn-cs"/>
              </a:rPr>
              <a:t> test </a:t>
            </a:r>
            <a:r>
              <a:rPr lang="en-US" sz="1200" b="1" i="0" kern="1200" baseline="0" dirty="0" err="1">
                <a:solidFill>
                  <a:schemeClr val="tx1"/>
                </a:solidFill>
                <a:effectLst/>
                <a:latin typeface="+mn-lt"/>
                <a:ea typeface="+mn-ea"/>
                <a:cs typeface="+mn-cs"/>
              </a:rPr>
              <a:t>nếu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chưa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chạy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hết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các</a:t>
            </a:r>
            <a:r>
              <a:rPr lang="en-US" sz="1200" b="1" i="0" kern="1200" baseline="0" dirty="0">
                <a:solidFill>
                  <a:schemeClr val="tx1"/>
                </a:solidFill>
                <a:effectLst/>
                <a:latin typeface="+mn-lt"/>
                <a:ea typeface="+mn-ea"/>
                <a:cs typeface="+mn-cs"/>
              </a:rPr>
              <a:t> test </a:t>
            </a:r>
            <a:r>
              <a:rPr lang="en-US" sz="1200" b="1" i="0" kern="1200" baseline="0" dirty="0" err="1">
                <a:solidFill>
                  <a:schemeClr val="tx1"/>
                </a:solidFill>
                <a:effectLst/>
                <a:latin typeface="+mn-lt"/>
                <a:ea typeface="+mn-ea"/>
                <a:cs typeface="+mn-cs"/>
              </a:rPr>
              <a:t>đã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thiết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kế</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hoặc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chưa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đạt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đến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độ</a:t>
            </a:r>
            <a:r>
              <a:rPr lang="en-US" sz="1200" b="1" i="0" kern="1200" baseline="0" dirty="0">
                <a:solidFill>
                  <a:schemeClr val="tx1"/>
                </a:solidFill>
                <a:effectLst/>
                <a:latin typeface="+mn-lt"/>
                <a:ea typeface="+mn-ea"/>
                <a:cs typeface="+mn-cs"/>
              </a:rPr>
              <a:t> bao </a:t>
            </a:r>
            <a:r>
              <a:rPr lang="en-US" sz="1200" b="1" i="0" kern="1200" baseline="0" dirty="0" err="1">
                <a:solidFill>
                  <a:schemeClr val="tx1"/>
                </a:solidFill>
                <a:effectLst/>
                <a:latin typeface="+mn-lt"/>
                <a:ea typeface="+mn-ea"/>
                <a:cs typeface="+mn-cs"/>
              </a:rPr>
              <a:t>phủ</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mong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muốn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hoặc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nếu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rủi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dự</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án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tăng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lên</a:t>
            </a:r>
            <a:r>
              <a:rPr lang="en-US" sz="1200" b="1" i="0" kern="1200" baseline="0" dirty="0">
                <a:solidFill>
                  <a:schemeClr val="tx1"/>
                </a:solidFill>
                <a:effectLst/>
                <a:latin typeface="+mn-lt"/>
                <a:ea typeface="+mn-ea"/>
                <a:cs typeface="+mn-cs"/>
              </a:rPr>
              <a:t>...</a:t>
            </a:r>
          </a:p>
          <a:p>
            <a:pPr marL="0" indent="0">
              <a:buFontTx/>
              <a:buNone/>
            </a:pPr>
            <a:r>
              <a:rPr lang="en-US" sz="1200" b="1" i="0" kern="1200" baseline="0" dirty="0">
                <a:solidFill>
                  <a:schemeClr val="tx1"/>
                </a:solidFill>
                <a:effectLst/>
                <a:latin typeface="+mn-lt"/>
                <a:ea typeface="+mn-ea"/>
                <a:cs typeface="+mn-cs"/>
              </a:rPr>
              <a:t>E.G. NẾU MỤC TIÊU LÀ PHẢI TEST 85% CÂU LỆNH, NHƯNG THỰC TẾ MỚI </a:t>
            </a:r>
            <a:r>
              <a:rPr lang="vi-VN" sz="1200" b="1" i="0" kern="1200" baseline="0" dirty="0">
                <a:solidFill>
                  <a:schemeClr val="tx1"/>
                </a:solidFill>
                <a:effectLst/>
                <a:latin typeface="+mn-lt"/>
                <a:ea typeface="+mn-ea"/>
                <a:cs typeface="+mn-cs"/>
              </a:rPr>
              <a:t>ĐƯỢ</a:t>
            </a:r>
            <a:r>
              <a:rPr lang="en-US" sz="1200" b="1" i="0" kern="1200" baseline="0" dirty="0">
                <a:solidFill>
                  <a:schemeClr val="tx1"/>
                </a:solidFill>
                <a:effectLst/>
                <a:latin typeface="+mn-lt"/>
                <a:ea typeface="+mn-ea"/>
                <a:cs typeface="+mn-cs"/>
              </a:rPr>
              <a:t>C 75% </a:t>
            </a:r>
            <a:r>
              <a:rPr lang="en-US" sz="1200" b="1" i="0" kern="1200" baseline="0" dirty="0">
                <a:solidFill>
                  <a:schemeClr val="tx1"/>
                </a:solidFill>
                <a:effectLst/>
                <a:latin typeface="+mn-lt"/>
                <a:ea typeface="+mn-ea"/>
                <a:cs typeface="+mn-cs"/>
                <a:sym typeface="Wingdings" pitchFamily="2" charset="2"/>
              </a:rPr>
              <a:t> CHỌN 1 TRONG HAI:</a:t>
            </a:r>
            <a:r>
              <a:rPr lang="en-US" sz="1200" b="1" i="0" kern="1200" baseline="0" dirty="0">
                <a:solidFill>
                  <a:schemeClr val="tx1"/>
                </a:solidFill>
                <a:effectLst/>
                <a:latin typeface="+mn-lt"/>
                <a:ea typeface="+mn-ea"/>
                <a:cs typeface="+mn-cs"/>
              </a:rPr>
              <a:t> CHANGE THE EXIT CRITERIA, OR RUN MORE TESTS</a:t>
            </a:r>
          </a:p>
        </p:txBody>
      </p:sp>
    </p:spTree>
    <p:extLst>
      <p:ext uri="{BB962C8B-B14F-4D97-AF65-F5344CB8AC3E}">
        <p14:creationId xmlns:p14="http://schemas.microsoft.com/office/powerpoint/2010/main" val="14364199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40361363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Hoạt</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độ</a:t>
            </a:r>
            <a:r>
              <a:rPr lang="en-US" sz="1200" b="0" i="0" kern="1200" dirty="0">
                <a:solidFill>
                  <a:schemeClr val="tx1"/>
                </a:solidFill>
                <a:effectLst/>
                <a:latin typeface="+mn-lt"/>
                <a:ea typeface="+mn-ea"/>
                <a:cs typeface="+mn-cs"/>
              </a:rPr>
              <a:t>ng </a:t>
            </a:r>
            <a:r>
              <a:rPr lang="en-US" sz="1200" b="0" i="0" kern="1200" dirty="0" err="1">
                <a:solidFill>
                  <a:schemeClr val="tx1"/>
                </a:solidFill>
                <a:effectLst/>
                <a:latin typeface="+mn-lt"/>
                <a:ea typeface="+mn-ea"/>
                <a:cs typeface="+mn-cs"/>
              </a:rPr>
              <a:t>kết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thúc</a:t>
            </a:r>
            <a:r>
              <a:rPr lang="en-US" sz="1200" b="0" i="0" kern="1200" dirty="0">
                <a:solidFill>
                  <a:schemeClr val="tx1"/>
                </a:solidFill>
                <a:effectLst/>
                <a:latin typeface="+mn-lt"/>
                <a:ea typeface="+mn-ea"/>
                <a:cs typeface="+mn-cs"/>
              </a:rPr>
              <a:t> test: GỒM THU THẬP DỮ LIỆU </a:t>
            </a:r>
            <a:r>
              <a:rPr lang="vi-VN" sz="1200" b="0" i="0" kern="1200" dirty="0">
                <a:solidFill>
                  <a:schemeClr val="tx1"/>
                </a:solidFill>
                <a:effectLst/>
                <a:latin typeface="+mn-lt"/>
                <a:ea typeface="+mn-ea"/>
                <a:cs typeface="+mn-cs"/>
              </a:rPr>
              <a:t>ĐỂ CỦNG CỐ KINH NGHIỆM</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cần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hoạt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động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khi</a:t>
            </a:r>
            <a:r>
              <a:rPr lang="en-US" sz="1200" b="0" i="0" kern="1200" baseline="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PM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phân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phối</a:t>
            </a:r>
            <a:r>
              <a:rPr lang="en-US" sz="1200" b="0"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VÀ CÁC LÝ DO KHÁC NHƯ</a:t>
            </a:r>
            <a:r>
              <a:rPr lang="en-US" sz="1200" b="0" i="0" kern="1200" baseline="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đã thu thập các thông tin cần thiết từ </a:t>
            </a:r>
            <a:r>
              <a:rPr lang="en-US" sz="1200" b="0" i="0" kern="1200" dirty="0">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dự án bị hủy bỏ,</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một cột mốc cụ thể </a:t>
            </a:r>
            <a:r>
              <a:rPr lang="en-US" sz="1200" b="0" i="0" kern="120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xong</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361681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những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gì</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làm</a:t>
            </a:r>
            <a:r>
              <a:rPr lang="en-US" sz="1200" b="0" i="0" kern="1200" baseline="0" dirty="0">
                <a:solidFill>
                  <a:schemeClr val="tx1"/>
                </a:solidFill>
                <a:effectLst/>
                <a:latin typeface="+mn-lt"/>
                <a:ea typeface="+mn-ea"/>
                <a:cs typeface="+mn-cs"/>
              </a:rPr>
              <a:t> </a:t>
            </a:r>
            <a:r>
              <a:rPr lang="vi-VN" sz="1200" b="0" i="0" kern="1200" baseline="0" dirty="0" err="1">
                <a:solidFill>
                  <a:schemeClr val="tx1"/>
                </a:solidFill>
                <a:effectLst/>
                <a:latin typeface="+mn-lt"/>
                <a:ea typeface="+mn-ea"/>
                <a:cs typeface="+mn-cs"/>
              </a:rPr>
              <a:t>đượ</a:t>
            </a:r>
            <a:r>
              <a:rPr lang="en-US" sz="1200" b="0" i="0" kern="1200" baseline="0" dirty="0">
                <a:solidFill>
                  <a:schemeClr val="tx1"/>
                </a:solidFill>
                <a:effectLst/>
                <a:latin typeface="+mn-lt"/>
                <a:ea typeface="+mn-ea"/>
                <a:cs typeface="+mn-cs"/>
              </a:rPr>
              <a:t>c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bảo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đảm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tất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báo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sự</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cố</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giải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quyết</a:t>
            </a:r>
            <a:r>
              <a:rPr lang="en-US" sz="1200" b="0" i="0" kern="1200" baseline="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Hoàn thiện và lưu trữ </a:t>
            </a:r>
            <a:r>
              <a:rPr lang="vi-VN" sz="1200" b="0" i="0" kern="1200" dirty="0" err="1">
                <a:solidFill>
                  <a:schemeClr val="tx1"/>
                </a:solidFill>
                <a:effectLst/>
                <a:latin typeface="+mn-lt"/>
                <a:ea typeface="+mn-ea"/>
                <a:cs typeface="+mn-cs"/>
              </a:rPr>
              <a:t>testware</a:t>
            </a:r>
            <a:r>
              <a:rPr lang="en-US" sz="1200" b="0" i="0" kern="1200" dirty="0">
                <a:solidFill>
                  <a:schemeClr val="tx1"/>
                </a:solidFill>
                <a:effectLst/>
                <a:latin typeface="+mn-lt"/>
                <a:ea typeface="+mn-ea"/>
                <a:cs typeface="+mn-cs"/>
              </a:rPr>
              <a:t> (bao </a:t>
            </a:r>
            <a:r>
              <a:rPr lang="en-US" sz="1200" b="0" i="0" kern="1200" dirty="0" err="1">
                <a:solidFill>
                  <a:schemeClr val="tx1"/>
                </a:solidFill>
                <a:effectLst/>
                <a:latin typeface="+mn-lt"/>
                <a:ea typeface="+mn-ea"/>
                <a:cs typeface="+mn-cs"/>
              </a:rPr>
              <a:t>gồm:TEST</a:t>
            </a:r>
            <a:r>
              <a:rPr lang="en-US" sz="1200" b="0" i="0" kern="1200" dirty="0">
                <a:solidFill>
                  <a:schemeClr val="tx1"/>
                </a:solidFill>
                <a:effectLst/>
                <a:latin typeface="+mn-lt"/>
                <a:ea typeface="+mn-ea"/>
                <a:cs typeface="+mn-cs"/>
              </a:rPr>
              <a:t> CASES, TEST PLAN, TEST DOCUMENT,</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MÔI TRƯỜNG </a:t>
            </a:r>
            <a:r>
              <a:rPr lang="en-US" sz="1200" b="0" i="0" kern="1200" dirty="0">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VÀ CƠ SỞ HẠ TẦNG</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để tái sử dụng sau này</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HOẶC </a:t>
            </a:r>
            <a:r>
              <a:rPr lang="vi-VN" sz="1200" b="0" i="0" kern="1200" baseline="0" dirty="0">
                <a:solidFill>
                  <a:schemeClr val="tx1"/>
                </a:solidFill>
                <a:effectLst/>
                <a:latin typeface="+mn-lt"/>
                <a:ea typeface="+mn-ea"/>
                <a:cs typeface="+mn-cs"/>
              </a:rPr>
              <a:t>ĐƯỢ</a:t>
            </a:r>
            <a:r>
              <a:rPr lang="en-US" sz="1200" b="0" i="0" kern="1200" baseline="0" dirty="0">
                <a:solidFill>
                  <a:schemeClr val="tx1"/>
                </a:solidFill>
                <a:effectLst/>
                <a:latin typeface="+mn-lt"/>
                <a:ea typeface="+mn-ea"/>
                <a:cs typeface="+mn-cs"/>
              </a:rPr>
              <a:t>C DÙNG ĐỂ TÌM LỖI SAU NÀY.</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Bàn giao </a:t>
            </a:r>
            <a:r>
              <a:rPr lang="vi-VN" sz="1200" b="0" i="0" kern="1200" dirty="0" err="1">
                <a:solidFill>
                  <a:schemeClr val="tx1"/>
                </a:solidFill>
                <a:effectLst/>
                <a:latin typeface="+mn-lt"/>
                <a:ea typeface="+mn-ea"/>
                <a:cs typeface="+mn-cs"/>
              </a:rPr>
              <a:t>testware</a:t>
            </a:r>
            <a:r>
              <a:rPr lang="vi-VN"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cho</a:t>
            </a:r>
            <a:r>
              <a:rPr lang="vi-VN" sz="1200" b="0" i="0" kern="1200" dirty="0">
                <a:solidFill>
                  <a:schemeClr val="tx1"/>
                </a:solidFill>
                <a:effectLst/>
                <a:latin typeface="+mn-lt"/>
                <a:ea typeface="+mn-ea"/>
                <a:cs typeface="+mn-cs"/>
              </a:rPr>
              <a:t> tổ bảo trì.</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Phân tích các bài học kinh nghiệm</a:t>
            </a:r>
            <a:endParaRPr lang="en-US" sz="1200" b="0" i="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9445971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Test Planning:</a:t>
            </a:r>
          </a:p>
          <a:p>
            <a:pPr lvl="1" eaLnBrk="1" hangingPunct="1"/>
            <a:r>
              <a:rPr lang="en-US" dirty="0">
                <a:ea typeface="ＭＳ Ｐゴシック" panose="020B0600070205080204" pitchFamily="50" charset="-128"/>
                <a:cs typeface="Calibri" panose="020F0502020204030204" pitchFamily="34" charset="0"/>
              </a:rPr>
              <a:t>Input: Project plan, Customer Requirement &amp; </a:t>
            </a:r>
            <a:r>
              <a:rPr lang="en-US" dirty="0">
                <a:ea typeface="ＭＳ Ｐゴシック" panose="020B0600070205080204" pitchFamily="50" charset="-128"/>
              </a:rPr>
              <a:t>Acceptance criteria/SRS</a:t>
            </a:r>
          </a:p>
          <a:p>
            <a:pPr lvl="1" eaLnBrk="1" hangingPunct="1"/>
            <a:r>
              <a:rPr lang="en-US" dirty="0">
                <a:ea typeface="ＭＳ Ｐゴシック" panose="020B0600070205080204" pitchFamily="50" charset="-128"/>
              </a:rPr>
              <a:t>Output: Test Plan document</a:t>
            </a:r>
          </a:p>
          <a:p>
            <a:pPr eaLnBrk="1" hangingPunct="1"/>
            <a:r>
              <a:rPr lang="en-US" dirty="0"/>
              <a:t>Test </a:t>
            </a:r>
            <a:r>
              <a:rPr lang="en-US" dirty="0">
                <a:ea typeface="ＭＳ Ｐゴシック" panose="020B0600070205080204" pitchFamily="50" charset="-128"/>
              </a:rPr>
              <a:t>Design</a:t>
            </a:r>
            <a:r>
              <a:rPr lang="en-US" dirty="0"/>
              <a:t>:</a:t>
            </a:r>
          </a:p>
          <a:p>
            <a:pPr lvl="1" eaLnBrk="1" hangingPunct="1"/>
            <a:r>
              <a:rPr lang="en-US" dirty="0">
                <a:ea typeface="ＭＳ Ｐゴシック" panose="020B0600070205080204" pitchFamily="50" charset="-128"/>
              </a:rPr>
              <a:t>Input: Test plan, Requirement, Detail design</a:t>
            </a:r>
          </a:p>
          <a:p>
            <a:pPr lvl="1" eaLnBrk="1" hangingPunct="1"/>
            <a:r>
              <a:rPr lang="en-US" dirty="0">
                <a:ea typeface="ＭＳ Ｐゴシック" panose="020B0600070205080204" pitchFamily="50" charset="-128"/>
              </a:rPr>
              <a:t>Output: Test cases, Test scripts, Test data in high level</a:t>
            </a:r>
          </a:p>
          <a:p>
            <a:pPr eaLnBrk="1" hangingPunct="1"/>
            <a:r>
              <a:rPr lang="en-US" dirty="0"/>
              <a:t>Test </a:t>
            </a:r>
            <a:r>
              <a:rPr lang="en-US" dirty="0">
                <a:ea typeface="ＭＳ Ｐゴシック" panose="020B0600070205080204" pitchFamily="50" charset="-128"/>
              </a:rPr>
              <a:t>Implementation and </a:t>
            </a:r>
            <a:r>
              <a:rPr lang="en-US" dirty="0"/>
              <a:t>Execution:</a:t>
            </a:r>
          </a:p>
          <a:p>
            <a:pPr lvl="1" eaLnBrk="1" hangingPunct="1"/>
            <a:r>
              <a:rPr lang="en-US" dirty="0">
                <a:ea typeface="ＭＳ Ｐゴシック" panose="020B0600070205080204" pitchFamily="50" charset="-128"/>
              </a:rPr>
              <a:t>Input:  Test cases, Test data, Test scripts</a:t>
            </a:r>
          </a:p>
          <a:p>
            <a:pPr lvl="1" eaLnBrk="1" hangingPunct="1"/>
            <a:r>
              <a:rPr lang="en-US" dirty="0">
                <a:ea typeface="ＭＳ Ｐゴシック" panose="020B0600070205080204" pitchFamily="50" charset="-128"/>
              </a:rPr>
              <a:t>Output: Test report, Defect list</a:t>
            </a:r>
          </a:p>
          <a:p>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41</a:t>
            </a:fld>
            <a:endParaRPr lang="en-US"/>
          </a:p>
        </p:txBody>
      </p:sp>
    </p:spTree>
    <p:extLst>
      <p:ext uri="{BB962C8B-B14F-4D97-AF65-F5344CB8AC3E}">
        <p14:creationId xmlns:p14="http://schemas.microsoft.com/office/powerpoint/2010/main" val="35110571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1.Test analysis and design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2. Test analysis and design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3. Evaluating test exit criteria</a:t>
            </a:r>
            <a:endParaRPr lang="en-US"/>
          </a:p>
          <a:p>
            <a:r>
              <a:rPr lang="en-US"/>
              <a:t>4. </a:t>
            </a:r>
            <a:r>
              <a:rPr lang="en-US" sz="1200" kern="1200">
                <a:solidFill>
                  <a:schemeClr val="tx1"/>
                </a:solidFill>
                <a:effectLst/>
                <a:latin typeface="+mn-lt"/>
                <a:ea typeface="+mn-ea"/>
                <a:cs typeface="+mn-cs"/>
              </a:rPr>
              <a:t>Hiện thực và thực thi</a:t>
            </a:r>
          </a:p>
          <a:p>
            <a:r>
              <a:rPr lang="en-US" sz="1200" kern="1200">
                <a:solidFill>
                  <a:schemeClr val="tx1"/>
                </a:solidFill>
                <a:effectLst/>
                <a:latin typeface="+mn-lt"/>
                <a:ea typeface="+mn-ea"/>
                <a:cs typeface="+mn-cs"/>
              </a:rPr>
              <a:t>5. Xem slide trước</a:t>
            </a:r>
          </a:p>
        </p:txBody>
      </p:sp>
      <p:sp>
        <p:nvSpPr>
          <p:cNvPr id="4" name="Slide Number Placeholder 3"/>
          <p:cNvSpPr>
            <a:spLocks noGrp="1"/>
          </p:cNvSpPr>
          <p:nvPr>
            <p:ph type="sldNum" sz="quarter" idx="10"/>
          </p:nvPr>
        </p:nvSpPr>
        <p:spPr/>
        <p:txBody>
          <a:bodyPr/>
          <a:lstStyle/>
          <a:p>
            <a:fld id="{A63B9007-0201-49BE-A587-7F882848EC05}" type="slidenum">
              <a:rPr lang="en-US" smtClean="0"/>
              <a:t>42</a:t>
            </a:fld>
            <a:endParaRPr lang="en-US"/>
          </a:p>
        </p:txBody>
      </p:sp>
    </p:spTree>
    <p:extLst>
      <p:ext uri="{BB962C8B-B14F-4D97-AF65-F5344CB8AC3E}">
        <p14:creationId xmlns:p14="http://schemas.microsoft.com/office/powerpoint/2010/main" val="1814105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7C</a:t>
            </a:r>
          </a:p>
          <a:p>
            <a:r>
              <a:rPr lang="en-US"/>
              <a:t>8B</a:t>
            </a:r>
          </a:p>
          <a:p>
            <a:endParaRPr lang="en-US"/>
          </a:p>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43</a:t>
            </a:fld>
            <a:endParaRPr lang="en-US"/>
          </a:p>
        </p:txBody>
      </p:sp>
    </p:spTree>
    <p:extLst>
      <p:ext uri="{BB962C8B-B14F-4D97-AF65-F5344CB8AC3E}">
        <p14:creationId xmlns:p14="http://schemas.microsoft.com/office/powerpoint/2010/main" val="8907607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YÊU CẦU</a:t>
            </a:r>
            <a:r>
              <a:rPr lang="en-US" baseline="0" dirty="0"/>
              <a:t> SV </a:t>
            </a:r>
            <a:r>
              <a:rPr lang="en-US" baseline="0" dirty="0" err="1"/>
              <a:t>giải</a:t>
            </a:r>
            <a:r>
              <a:rPr lang="en-US" baseline="0" dirty="0"/>
              <a:t> </a:t>
            </a:r>
            <a:r>
              <a:rPr lang="en-US" baseline="0" dirty="0" err="1"/>
              <a:t>thích</a:t>
            </a:r>
            <a:r>
              <a:rPr lang="en-US" baseline="0" dirty="0"/>
              <a:t> 4 </a:t>
            </a:r>
            <a:r>
              <a:rPr lang="en-US" baseline="0" dirty="0" err="1"/>
              <a:t>mức</a:t>
            </a:r>
            <a:r>
              <a:rPr lang="en-US" baseline="0" dirty="0"/>
              <a:t> </a:t>
            </a:r>
            <a:r>
              <a:rPr lang="en-US" baseline="0" dirty="0" err="1"/>
              <a:t>này</a:t>
            </a:r>
            <a:r>
              <a:rPr lang="en-US" baseline="0" dirty="0"/>
              <a:t>: </a:t>
            </a:r>
            <a:r>
              <a:rPr lang="en-US" b="0" baseline="0" dirty="0" err="1"/>
              <a:t>Mục</a:t>
            </a:r>
            <a:r>
              <a:rPr lang="en-US" b="0" baseline="0" dirty="0"/>
              <a:t> </a:t>
            </a:r>
            <a:r>
              <a:rPr lang="en-US" b="0" baseline="0" dirty="0" err="1"/>
              <a:t>đích</a:t>
            </a:r>
            <a:r>
              <a:rPr lang="en-US" b="0" baseline="0" dirty="0"/>
              <a:t>, </a:t>
            </a:r>
            <a:r>
              <a:rPr lang="en-US" b="0" baseline="0" dirty="0" err="1"/>
              <a:t>kiểm</a:t>
            </a:r>
            <a:r>
              <a:rPr lang="en-US" b="0" baseline="0" dirty="0"/>
              <a:t> </a:t>
            </a:r>
            <a:r>
              <a:rPr lang="en-US" b="0" baseline="0" dirty="0" err="1"/>
              <a:t>thử</a:t>
            </a:r>
            <a:r>
              <a:rPr lang="en-US" b="0" baseline="0" dirty="0"/>
              <a:t> </a:t>
            </a:r>
            <a:r>
              <a:rPr lang="en-US" b="0" baseline="0" dirty="0" err="1"/>
              <a:t>gì</a:t>
            </a:r>
            <a:r>
              <a:rPr lang="en-US" b="0" baseline="0" dirty="0"/>
              <a:t> (</a:t>
            </a:r>
            <a:r>
              <a:rPr lang="en-US" b="0" baseline="0" dirty="0" err="1"/>
              <a:t>chức</a:t>
            </a:r>
            <a:r>
              <a:rPr lang="en-US" b="0" baseline="0" dirty="0"/>
              <a:t> </a:t>
            </a:r>
            <a:r>
              <a:rPr lang="en-US" b="0" baseline="0" dirty="0" err="1"/>
              <a:t>năng</a:t>
            </a:r>
            <a:r>
              <a:rPr lang="en-US" b="0" baseline="0" dirty="0"/>
              <a:t> hay phi </a:t>
            </a:r>
            <a:r>
              <a:rPr lang="en-US" b="0" baseline="0" dirty="0" err="1"/>
              <a:t>chức</a:t>
            </a:r>
            <a:r>
              <a:rPr lang="en-US" b="0" baseline="0" dirty="0"/>
              <a:t> </a:t>
            </a:r>
            <a:r>
              <a:rPr lang="en-US" b="0" baseline="0" dirty="0" err="1"/>
              <a:t>năng</a:t>
            </a:r>
            <a:r>
              <a:rPr lang="en-US" b="0" baseline="0" dirty="0"/>
              <a:t>), ai </a:t>
            </a:r>
            <a:r>
              <a:rPr lang="en-US" b="0" baseline="0" dirty="0" err="1"/>
              <a:t>thực</a:t>
            </a:r>
            <a:r>
              <a:rPr lang="en-US" b="0" baseline="0" dirty="0"/>
              <a:t> </a:t>
            </a:r>
            <a:r>
              <a:rPr lang="en-US" b="0" baseline="0" dirty="0" err="1"/>
              <a:t>hiện</a:t>
            </a:r>
            <a:r>
              <a:rPr lang="en-US" b="0" baseline="0" dirty="0"/>
              <a:t>, </a:t>
            </a:r>
            <a:r>
              <a:rPr lang="en-US" b="0" baseline="0" dirty="0" err="1"/>
              <a:t>khi</a:t>
            </a:r>
            <a:r>
              <a:rPr lang="en-US" b="0" baseline="0" dirty="0"/>
              <a:t> </a:t>
            </a:r>
            <a:r>
              <a:rPr lang="en-US" b="0" baseline="0" dirty="0" err="1"/>
              <a:t>nào</a:t>
            </a:r>
            <a:r>
              <a:rPr lang="en-US" b="0" baseline="0" dirty="0"/>
              <a:t> </a:t>
            </a:r>
            <a:r>
              <a:rPr lang="en-US" b="0" baseline="0" dirty="0" err="1"/>
              <a:t>thực</a:t>
            </a:r>
            <a:r>
              <a:rPr lang="en-US" b="0" baseline="0" dirty="0"/>
              <a:t> </a:t>
            </a:r>
            <a:r>
              <a:rPr lang="en-US" b="0" baseline="0" dirty="0" err="1"/>
              <a:t>hiện</a:t>
            </a:r>
            <a:r>
              <a:rPr lang="en-US" b="0" baseline="0" dirty="0"/>
              <a:t>?</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SV </a:t>
            </a:r>
            <a:r>
              <a:rPr lang="en-US" b="1" dirty="0" err="1"/>
              <a:t>trả</a:t>
            </a:r>
            <a:r>
              <a:rPr lang="en-US" b="1" baseline="0" dirty="0"/>
              <a:t> </a:t>
            </a:r>
            <a:r>
              <a:rPr lang="en-US" b="1" baseline="0" dirty="0" err="1"/>
              <a:t>lời</a:t>
            </a:r>
            <a:r>
              <a:rPr lang="en-US" b="1" baseline="0" dirty="0"/>
              <a:t>, </a:t>
            </a:r>
            <a:r>
              <a:rPr lang="en-US" b="1" baseline="0" dirty="0" err="1"/>
              <a:t>sau</a:t>
            </a:r>
            <a:r>
              <a:rPr lang="en-US" b="1" baseline="0" dirty="0"/>
              <a:t> </a:t>
            </a:r>
            <a:r>
              <a:rPr lang="en-US" b="1" baseline="0" dirty="0" err="1"/>
              <a:t>đó</a:t>
            </a:r>
            <a:r>
              <a:rPr lang="en-US" b="1" baseline="0" dirty="0"/>
              <a:t> GV </a:t>
            </a:r>
            <a:r>
              <a:rPr lang="en-US" b="1" baseline="0" dirty="0" err="1"/>
              <a:t>sẽ</a:t>
            </a:r>
            <a:r>
              <a:rPr lang="en-US" b="1" baseline="0" dirty="0"/>
              <a:t> </a:t>
            </a:r>
            <a:r>
              <a:rPr lang="en-US" b="1" baseline="0" dirty="0" err="1"/>
              <a:t>giải</a:t>
            </a:r>
            <a:r>
              <a:rPr lang="en-US" b="1" baseline="0" dirty="0"/>
              <a:t> </a:t>
            </a:r>
            <a:r>
              <a:rPr lang="en-US" b="1" baseline="0" dirty="0" err="1"/>
              <a:t>thích</a:t>
            </a:r>
            <a:r>
              <a:rPr lang="en-US" b="1" baseline="0" dirty="0"/>
              <a:t> chi </a:t>
            </a:r>
            <a:r>
              <a:rPr lang="en-US" b="1" baseline="0" dirty="0" err="1"/>
              <a:t>tiết</a:t>
            </a:r>
            <a:r>
              <a:rPr lang="en-US" b="1" baseline="0" dirty="0"/>
              <a:t> ở </a:t>
            </a:r>
            <a:r>
              <a:rPr lang="en-US" b="1" baseline="0" dirty="0" err="1"/>
              <a:t>những</a:t>
            </a:r>
            <a:r>
              <a:rPr lang="en-US" b="1" baseline="0" dirty="0"/>
              <a:t> slide </a:t>
            </a:r>
            <a:r>
              <a:rPr lang="en-US" b="1" baseline="0" dirty="0" err="1"/>
              <a:t>sau</a:t>
            </a:r>
            <a:r>
              <a:rPr lang="en-US" b="1"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a:t>? SV PHÂN BIỆT 2 MỨC CUỐI?</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b="1" dirty="0"/>
              <a:t>- Component testing</a:t>
            </a:r>
            <a:r>
              <a:rPr lang="en-US" b="1" baseline="0" dirty="0"/>
              <a:t> = Unit testing </a:t>
            </a:r>
            <a:r>
              <a:rPr lang="en-US" baseline="0" dirty="0"/>
              <a:t>= </a:t>
            </a:r>
            <a:r>
              <a:rPr lang="en-US" dirty="0"/>
              <a:t>A unit is the "smallest" piece of software. Different programming languages have different units: </a:t>
            </a:r>
          </a:p>
          <a:p>
            <a:r>
              <a:rPr lang="en-US" dirty="0"/>
              <a:t>IN C++ AND JAVA: THE UNIT IS THE CLASS; </a:t>
            </a:r>
          </a:p>
          <a:p>
            <a:r>
              <a:rPr lang="en-US" dirty="0"/>
              <a:t>IN C: THE UNIT IS THE FUNCTION; </a:t>
            </a:r>
          </a:p>
          <a:p>
            <a:r>
              <a:rPr lang="en-US" dirty="0"/>
              <a:t>IN LESS STRUCTURED LANGUAGES LIKE BASIC AND COBOL:</a:t>
            </a:r>
            <a:r>
              <a:rPr lang="en-US" baseline="0" dirty="0"/>
              <a:t> </a:t>
            </a:r>
            <a:r>
              <a:rPr lang="en-US" dirty="0"/>
              <a:t>THE UNIT MAY BE THE ENTIRE PROGRAM.</a:t>
            </a:r>
          </a:p>
          <a:p>
            <a:endParaRPr lang="en-US" dirty="0"/>
          </a:p>
          <a:p>
            <a:r>
              <a:rPr lang="en-US" dirty="0"/>
              <a:t>- </a:t>
            </a:r>
            <a:r>
              <a:rPr lang="en-US" b="1" dirty="0"/>
              <a:t>Integration testing</a:t>
            </a:r>
            <a:r>
              <a:rPr lang="en-US" dirty="0"/>
              <a:t>:</a:t>
            </a:r>
            <a:r>
              <a:rPr lang="en-US" baseline="0" dirty="0"/>
              <a:t> </a:t>
            </a:r>
          </a:p>
          <a:p>
            <a:r>
              <a:rPr lang="en-US" baseline="0" dirty="0" err="1"/>
              <a:t>Sự</a:t>
            </a:r>
            <a:r>
              <a:rPr lang="en-US" baseline="0" dirty="0"/>
              <a:t> </a:t>
            </a:r>
            <a:r>
              <a:rPr lang="en-US" baseline="0" dirty="0" err="1"/>
              <a:t>kết</a:t>
            </a:r>
            <a:r>
              <a:rPr lang="en-US" baseline="0" dirty="0"/>
              <a:t> </a:t>
            </a:r>
            <a:r>
              <a:rPr lang="en-US" baseline="0" dirty="0" err="1"/>
              <a:t>hợp</a:t>
            </a:r>
            <a:r>
              <a:rPr lang="en-US" baseline="0" dirty="0"/>
              <a:t> </a:t>
            </a:r>
            <a:r>
              <a:rPr lang="en-US" baseline="0" dirty="0" err="1"/>
              <a:t>các</a:t>
            </a:r>
            <a:r>
              <a:rPr lang="en-US" baseline="0" dirty="0"/>
              <a:t> </a:t>
            </a:r>
            <a:r>
              <a:rPr lang="en-US" baseline="0" dirty="0" err="1"/>
              <a:t>hàm</a:t>
            </a:r>
            <a:r>
              <a:rPr lang="en-US" baseline="0" dirty="0"/>
              <a:t>, </a:t>
            </a:r>
            <a:r>
              <a:rPr lang="en-US" baseline="0" dirty="0" err="1"/>
              <a:t>gọi</a:t>
            </a:r>
            <a:r>
              <a:rPr lang="en-US" baseline="0" dirty="0"/>
              <a:t> </a:t>
            </a:r>
            <a:r>
              <a:rPr lang="en-US" baseline="0" dirty="0" err="1"/>
              <a:t>hàm</a:t>
            </a:r>
            <a:r>
              <a:rPr lang="en-US" baseline="0" dirty="0"/>
              <a:t> </a:t>
            </a:r>
            <a:r>
              <a:rPr lang="en-US" baseline="0" dirty="0" err="1"/>
              <a:t>lẫn</a:t>
            </a:r>
            <a:r>
              <a:rPr lang="en-US" baseline="0" dirty="0"/>
              <a:t> </a:t>
            </a:r>
            <a:r>
              <a:rPr lang="en-US" baseline="0" dirty="0" err="1"/>
              <a:t>nhau</a:t>
            </a:r>
            <a:r>
              <a:rPr lang="en-US"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vi-VN" b="0" baseline="0" dirty="0"/>
              <a:t>Kiểm tra </a:t>
            </a:r>
            <a:r>
              <a:rPr lang="en-US" sz="1200" b="1" i="0" kern="1200" dirty="0">
                <a:solidFill>
                  <a:schemeClr val="tx1"/>
                </a:solidFill>
                <a:effectLst/>
                <a:latin typeface="+mn-lt"/>
                <a:ea typeface="+mn-ea"/>
                <a:cs typeface="+mn-cs"/>
              </a:rPr>
              <a:t>SỰ GIAO TIẾP </a:t>
            </a:r>
            <a:r>
              <a:rPr lang="vi-VN" b="0" baseline="0" dirty="0"/>
              <a:t>giữa các </a:t>
            </a:r>
            <a:r>
              <a:rPr lang="en-US" sz="1200" b="0" i="0" kern="1200" baseline="0" dirty="0">
                <a:solidFill>
                  <a:schemeClr val="tx1"/>
                </a:solidFill>
                <a:effectLst/>
                <a:latin typeface="+mn-lt"/>
                <a:ea typeface="+mn-ea"/>
                <a:cs typeface="+mn-cs"/>
              </a:rPr>
              <a:t>component</a:t>
            </a:r>
            <a:r>
              <a:rPr lang="vi-VN" b="0" baseline="0" dirty="0"/>
              <a:t>, </a:t>
            </a:r>
            <a:r>
              <a:rPr lang="en-GB" b="1" dirty="0"/>
              <a:t>KIỂM</a:t>
            </a:r>
            <a:r>
              <a:rPr lang="en-GB" b="1" baseline="0" dirty="0"/>
              <a:t> TRA SỰ TƯƠNG TÁC </a:t>
            </a:r>
            <a:r>
              <a:rPr lang="en-GB" b="0" baseline="0" dirty="0"/>
              <a:t> </a:t>
            </a:r>
            <a:r>
              <a:rPr lang="en-GB" b="0" baseline="0" dirty="0" err="1"/>
              <a:t>giữa</a:t>
            </a:r>
            <a:r>
              <a:rPr lang="en-GB" b="0" baseline="0" dirty="0"/>
              <a:t> </a:t>
            </a:r>
            <a:r>
              <a:rPr lang="vi-VN" b="0" baseline="0" dirty="0"/>
              <a:t>các phần khác nhau của hệ thống như hệ điều hành, hệ thống tập tin và phần cứng hoặc các giao diện giữa các hệ thống.</a:t>
            </a:r>
            <a:endParaRPr lang="en-GB" b="0" baseline="0" dirty="0"/>
          </a:p>
          <a:p>
            <a:r>
              <a:rPr lang="en-US" baseline="0" dirty="0"/>
              <a:t>D</a:t>
            </a:r>
            <a:r>
              <a:rPr lang="en-US" dirty="0"/>
              <a:t>one by: by the developers, but preferably by a specialist integration testers</a:t>
            </a:r>
          </a:p>
          <a:p>
            <a:r>
              <a:rPr lang="en-US" i="1" dirty="0" err="1"/>
              <a:t>Đọc</a:t>
            </a:r>
            <a:r>
              <a:rPr lang="en-US" i="1" baseline="0" dirty="0"/>
              <a:t> </a:t>
            </a:r>
            <a:r>
              <a:rPr lang="en-US" i="1" baseline="0" dirty="0" err="1"/>
              <a:t>thêm</a:t>
            </a:r>
            <a:r>
              <a:rPr lang="en-US" i="1" baseline="0" dirty="0"/>
              <a:t>: </a:t>
            </a:r>
            <a:r>
              <a:rPr lang="en-US" i="1" baseline="0" dirty="0" err="1"/>
              <a:t>các</a:t>
            </a:r>
            <a:r>
              <a:rPr lang="en-US" i="1" baseline="0" dirty="0"/>
              <a:t> </a:t>
            </a:r>
            <a:r>
              <a:rPr lang="en-US" i="1" baseline="0" dirty="0" err="1"/>
              <a:t>cách</a:t>
            </a:r>
            <a:r>
              <a:rPr lang="en-US" i="1" baseline="0" dirty="0"/>
              <a:t> </a:t>
            </a:r>
            <a:r>
              <a:rPr lang="en-US" i="1" baseline="0" dirty="0" err="1"/>
              <a:t>tích</a:t>
            </a:r>
            <a:r>
              <a:rPr lang="en-US" i="1" baseline="0" dirty="0"/>
              <a:t> </a:t>
            </a:r>
            <a:r>
              <a:rPr lang="en-US" i="1" baseline="0" dirty="0" err="1"/>
              <a:t>hợp</a:t>
            </a:r>
            <a:r>
              <a:rPr lang="en-US" i="1" baseline="0" dirty="0"/>
              <a:t>.</a:t>
            </a:r>
          </a:p>
          <a:p>
            <a:endParaRPr lang="en-US" i="1" dirty="0"/>
          </a:p>
          <a:p>
            <a:r>
              <a:rPr lang="en-US" dirty="0"/>
              <a:t>- </a:t>
            </a:r>
            <a:r>
              <a:rPr lang="en-US" b="1" dirty="0"/>
              <a:t>System testing</a:t>
            </a:r>
            <a:r>
              <a:rPr lang="en-US" dirty="0"/>
              <a:t>: A system consists of all of the software that make up the product delivered to the customer. </a:t>
            </a:r>
            <a:r>
              <a:rPr lang="en-GB" b="0" dirty="0"/>
              <a:t>VERIFY</a:t>
            </a:r>
            <a:r>
              <a:rPr lang="en-GB" b="1" dirty="0"/>
              <a:t> </a:t>
            </a:r>
            <a:r>
              <a:rPr lang="en-GB" dirty="0"/>
              <a:t>THAT IT </a:t>
            </a:r>
            <a:r>
              <a:rPr lang="en-GB" b="1" dirty="0"/>
              <a:t>MEETS SPECIFIED REQUIREMENTS</a:t>
            </a:r>
            <a:r>
              <a:rPr lang="en-GB" dirty="0"/>
              <a:t>. </a:t>
            </a:r>
            <a:r>
              <a:rPr lang="en-US" dirty="0"/>
              <a:t>Test </a:t>
            </a:r>
            <a:r>
              <a:rPr lang="en-US" dirty="0" err="1"/>
              <a:t>hầu</a:t>
            </a:r>
            <a:r>
              <a:rPr lang="en-US" baseline="0" dirty="0"/>
              <a:t> </a:t>
            </a:r>
            <a:r>
              <a:rPr lang="en-US" baseline="0" dirty="0" err="1"/>
              <a:t>như</a:t>
            </a:r>
            <a:r>
              <a:rPr lang="en-US" baseline="0" dirty="0"/>
              <a:t> </a:t>
            </a:r>
            <a:r>
              <a:rPr lang="en-US" baseline="0" dirty="0" err="1"/>
              <a:t>các</a:t>
            </a:r>
            <a:r>
              <a:rPr lang="en-US" baseline="0" dirty="0"/>
              <a:t> </a:t>
            </a:r>
            <a:r>
              <a:rPr lang="en-US" baseline="0" dirty="0" err="1"/>
              <a:t>loại</a:t>
            </a:r>
            <a:r>
              <a:rPr lang="en-US" baseline="0" dirty="0"/>
              <a:t> </a:t>
            </a:r>
            <a:r>
              <a:rPr lang="en-US" baseline="0" dirty="0" err="1"/>
              <a:t>kiểm</a:t>
            </a:r>
            <a:r>
              <a:rPr lang="en-US" baseline="0" dirty="0"/>
              <a:t> </a:t>
            </a:r>
            <a:r>
              <a:rPr lang="en-US" baseline="0" dirty="0" err="1"/>
              <a:t>thử</a:t>
            </a:r>
            <a:r>
              <a:rPr lang="en-US" baseline="0" dirty="0"/>
              <a:t> </a:t>
            </a:r>
            <a:r>
              <a:rPr lang="en-US" baseline="0" dirty="0" err="1"/>
              <a:t>có</a:t>
            </a:r>
            <a:r>
              <a:rPr lang="en-US" baseline="0" dirty="0"/>
              <a:t> </a:t>
            </a:r>
            <a:r>
              <a:rPr lang="en-US" baseline="0" dirty="0" err="1"/>
              <a:t>trong</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b="1" dirty="0"/>
              <a:t>Acceptance testing</a:t>
            </a:r>
            <a:r>
              <a:rPr lang="en-US" dirty="0"/>
              <a:t>:</a:t>
            </a:r>
            <a:r>
              <a:rPr lang="en-US" baseline="0" dirty="0"/>
              <a:t> </a:t>
            </a:r>
            <a:r>
              <a:rPr lang="en-US" dirty="0"/>
              <a:t>Most often the responsibility of the </a:t>
            </a:r>
            <a:r>
              <a:rPr lang="en-US" b="0" dirty="0"/>
              <a:t>user or customer</a:t>
            </a:r>
            <a:r>
              <a:rPr lang="en-US" dirty="0"/>
              <a:t>, although other stakeholders may be involved as well. VERIFIES THE </a:t>
            </a:r>
            <a:r>
              <a:rPr lang="en-US" b="1" dirty="0"/>
              <a:t>FITNESS FOR USE </a:t>
            </a:r>
            <a:r>
              <a:rPr lang="en-US" dirty="0"/>
              <a:t>OF THE SYSTEM. Trong </a:t>
            </a:r>
            <a:r>
              <a:rPr lang="en-US" dirty="0" err="1"/>
              <a:t>loại</a:t>
            </a:r>
            <a:r>
              <a:rPr lang="en-US" baseline="0" dirty="0"/>
              <a:t> </a:t>
            </a:r>
            <a:r>
              <a:rPr lang="en-US" baseline="0" dirty="0" err="1"/>
              <a:t>này</a:t>
            </a:r>
            <a:r>
              <a:rPr lang="en-US" baseline="0" dirty="0"/>
              <a:t> </a:t>
            </a:r>
            <a:r>
              <a:rPr lang="en-US" baseline="0" dirty="0" err="1"/>
              <a:t>p</a:t>
            </a:r>
            <a:r>
              <a:rPr lang="en-US" dirty="0" err="1"/>
              <a:t>hân</a:t>
            </a:r>
            <a:r>
              <a:rPr lang="en-US" baseline="0" dirty="0"/>
              <a:t> </a:t>
            </a:r>
            <a:r>
              <a:rPr lang="en-US" baseline="0" dirty="0" err="1"/>
              <a:t>biệt</a:t>
            </a:r>
            <a:r>
              <a:rPr lang="en-US" baseline="0" dirty="0"/>
              <a:t> alpha test </a:t>
            </a:r>
            <a:r>
              <a:rPr lang="en-US" baseline="0" dirty="0" err="1"/>
              <a:t>và</a:t>
            </a:r>
            <a:r>
              <a:rPr lang="en-US" baseline="0" dirty="0"/>
              <a:t> beta test.</a:t>
            </a:r>
            <a:endParaRPr lang="en-GB" dirty="0"/>
          </a:p>
          <a:p>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44</a:t>
            </a:fld>
            <a:endParaRPr lang="en-US"/>
          </a:p>
        </p:txBody>
      </p:sp>
    </p:spTree>
    <p:extLst>
      <p:ext uri="{BB962C8B-B14F-4D97-AF65-F5344CB8AC3E}">
        <p14:creationId xmlns:p14="http://schemas.microsoft.com/office/powerpoint/2010/main" val="18669061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b="1" dirty="0"/>
              <a:t>Component testing</a:t>
            </a:r>
            <a:r>
              <a:rPr lang="en-US" b="1" baseline="0" dirty="0"/>
              <a:t> = Unit testing </a:t>
            </a:r>
            <a:r>
              <a:rPr lang="en-US" baseline="0" dirty="0"/>
              <a:t>= </a:t>
            </a:r>
            <a:r>
              <a:rPr lang="en-US" dirty="0"/>
              <a:t>A unit is the "smallest" piece of software. Different programming languages have different units: </a:t>
            </a:r>
          </a:p>
          <a:p>
            <a:r>
              <a:rPr lang="en-US" dirty="0"/>
              <a:t>- IN C++ AND JAVA: THE UNIT IS THE CLASS; </a:t>
            </a:r>
          </a:p>
          <a:p>
            <a:r>
              <a:rPr lang="en-US" dirty="0"/>
              <a:t>- IN C: THE UNIT IS THE FUNCTION; </a:t>
            </a:r>
          </a:p>
          <a:p>
            <a:r>
              <a:rPr lang="en-US" dirty="0"/>
              <a:t>- IN LESS STRUCTURED LANGUAGES LIKE BASIC AND COBOL:</a:t>
            </a:r>
            <a:r>
              <a:rPr lang="en-US" baseline="0" dirty="0"/>
              <a:t> </a:t>
            </a:r>
            <a:r>
              <a:rPr lang="en-US" dirty="0"/>
              <a:t>THE UNIT MAY BE THE ENTIRE PROGRAM.</a:t>
            </a:r>
          </a:p>
          <a:p>
            <a:pPr marL="274320" lvl="1" indent="-274320">
              <a:buClr>
                <a:schemeClr val="accent3"/>
              </a:buClr>
              <a:buSzPct val="95000"/>
            </a:pPr>
            <a:r>
              <a:rPr lang="en-GB" altLang="en-US" sz="2800" dirty="0">
                <a:ea typeface="ＭＳ Ｐゴシック" panose="020B0600070205080204" pitchFamily="50" charset="-128"/>
              </a:rPr>
              <a:t>Test</a:t>
            </a:r>
            <a:r>
              <a:rPr lang="en-GB" altLang="en-US" sz="2800" baseline="0" dirty="0">
                <a:ea typeface="ＭＳ Ｐゴシック" panose="020B0600070205080204" pitchFamily="50" charset="-128"/>
              </a:rPr>
              <a:t> basis:…</a:t>
            </a:r>
          </a:p>
          <a:p>
            <a:pPr marL="274320" lvl="1" indent="-274320">
              <a:buClr>
                <a:schemeClr val="accent3"/>
              </a:buClr>
              <a:buSzPct val="95000"/>
            </a:pPr>
            <a:r>
              <a:rPr lang="en-GB" altLang="en-US" sz="2800" baseline="0" dirty="0" err="1">
                <a:ea typeface="ＭＳ Ｐゴシック" panose="020B0600070205080204" pitchFamily="50" charset="-128"/>
              </a:rPr>
              <a:t>Thực</a:t>
            </a:r>
            <a:r>
              <a:rPr lang="en-GB" altLang="en-US" sz="2800" baseline="0" dirty="0">
                <a:ea typeface="ＭＳ Ｐゴシック" panose="020B0600070205080204" pitchFamily="50" charset="-128"/>
              </a:rPr>
              <a:t> </a:t>
            </a:r>
            <a:r>
              <a:rPr lang="en-GB" altLang="en-US" sz="2800" baseline="0" dirty="0" err="1">
                <a:ea typeface="ＭＳ Ｐゴシック" panose="020B0600070205080204" pitchFamily="50" charset="-128"/>
              </a:rPr>
              <a:t>hiện</a:t>
            </a:r>
            <a:r>
              <a:rPr lang="en-GB" altLang="en-US" sz="2800" baseline="0" dirty="0">
                <a:ea typeface="ＭＳ Ｐゴシック" panose="020B0600070205080204" pitchFamily="50" charset="-128"/>
              </a:rPr>
              <a:t> </a:t>
            </a:r>
            <a:r>
              <a:rPr lang="en-GB" altLang="en-US" sz="2800" baseline="0" dirty="0" err="1">
                <a:ea typeface="ＭＳ Ｐゴシック" panose="020B0600070205080204" pitchFamily="50" charset="-128"/>
              </a:rPr>
              <a:t>bởi</a:t>
            </a:r>
            <a:r>
              <a:rPr lang="en-GB" altLang="en-US" sz="2800" baseline="0" dirty="0">
                <a:ea typeface="ＭＳ Ｐゴシック" panose="020B0600070205080204" pitchFamily="50" charset="-128"/>
              </a:rPr>
              <a:t>:</a:t>
            </a:r>
            <a:r>
              <a:rPr lang="en-GB" dirty="0"/>
              <a:t> </a:t>
            </a:r>
            <a:r>
              <a:rPr lang="en-GB" b="1" dirty="0"/>
              <a:t>programmer </a:t>
            </a:r>
            <a:r>
              <a:rPr lang="en-GB" dirty="0"/>
              <a:t>who wrote the code or by a </a:t>
            </a:r>
            <a:r>
              <a:rPr lang="en-GB" b="1" dirty="0"/>
              <a:t>different programmer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Khi </a:t>
            </a:r>
            <a:r>
              <a:rPr lang="en-US" dirty="0" err="1"/>
              <a:t>nào</a:t>
            </a:r>
            <a:r>
              <a:rPr lang="en-US"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br>
              <a:rPr lang="vi-VN" dirty="0"/>
            </a:br>
            <a:r>
              <a:rPr lang="vi-VN" sz="1200" b="0" i="0" kern="1200" dirty="0">
                <a:solidFill>
                  <a:schemeClr val="tx1"/>
                </a:solidFill>
                <a:effectLst/>
                <a:latin typeface="+mn-lt"/>
                <a:ea typeface="+mn-ea"/>
                <a:cs typeface="+mn-cs"/>
              </a:rPr>
              <a:t>Vì </a:t>
            </a:r>
            <a:r>
              <a:rPr lang="vi-VN" sz="1200" b="0" i="0" kern="1200" dirty="0" err="1">
                <a:solidFill>
                  <a:schemeClr val="tx1"/>
                </a:solidFill>
                <a:effectLst/>
                <a:latin typeface="+mn-lt"/>
                <a:ea typeface="+mn-ea"/>
                <a:cs typeface="+mn-cs"/>
              </a:rPr>
              <a:t>Unit</a:t>
            </a:r>
            <a:r>
              <a:rPr lang="vi-VN" sz="1200" b="0" i="0" kern="1200" dirty="0">
                <a:solidFill>
                  <a:schemeClr val="tx1"/>
                </a:solidFill>
                <a:effectLst/>
                <a:latin typeface="+mn-lt"/>
                <a:ea typeface="+mn-ea"/>
                <a:cs typeface="+mn-cs"/>
              </a:rPr>
              <a:t> được chọn để kiểm tra thường có kích thước nhỏ và chức năng hoạt động đơn giản, chúng ta không khó khăn gì trong việc tổ chức, kiểm tra, ghi nhận và phân tích kết quả kiểm tra. Nếu phát hiện lỗi, việc xác định nguyên nhân và khắc phục cũng tương đối dễ dàng vì chỉ khoanh vùng trong một đơn thể </a:t>
            </a:r>
            <a:r>
              <a:rPr lang="vi-VN" sz="1200" b="0" i="0" kern="1200" dirty="0" err="1">
                <a:solidFill>
                  <a:schemeClr val="tx1"/>
                </a:solidFill>
                <a:effectLst/>
                <a:latin typeface="+mn-lt"/>
                <a:ea typeface="+mn-ea"/>
                <a:cs typeface="+mn-cs"/>
              </a:rPr>
              <a:t>Unit</a:t>
            </a:r>
            <a:r>
              <a:rPr lang="vi-VN" sz="1200" b="0" i="0" kern="1200" dirty="0">
                <a:solidFill>
                  <a:schemeClr val="tx1"/>
                </a:solidFill>
                <a:effectLst/>
                <a:latin typeface="+mn-lt"/>
                <a:ea typeface="+mn-ea"/>
                <a:cs typeface="+mn-cs"/>
              </a:rPr>
              <a:t> đang kiểm tra. Một nguyên lý đúc kết từ thực tiễn: thời gian tốn cho </a:t>
            </a:r>
            <a:r>
              <a:rPr lang="vi-VN" sz="1200" b="0" i="0" kern="1200" dirty="0" err="1">
                <a:solidFill>
                  <a:schemeClr val="tx1"/>
                </a:solidFill>
                <a:effectLst/>
                <a:latin typeface="+mn-lt"/>
                <a:ea typeface="+mn-ea"/>
                <a:cs typeface="+mn-cs"/>
              </a:rPr>
              <a:t>Unit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sẽ được đền bù bằng việc tiết kiệm rất nhiều thời gian và chi phí cho việc kiểm tra và sửa lỗi ở các mức kiểm tra sau đó.</a:t>
            </a:r>
            <a:br>
              <a:rPr lang="vi-VN" dirty="0"/>
            </a:br>
            <a:r>
              <a:rPr lang="vi-VN" sz="1200" b="0" i="0" kern="1200" dirty="0" err="1">
                <a:solidFill>
                  <a:schemeClr val="tx1"/>
                </a:solidFill>
                <a:effectLst/>
                <a:latin typeface="+mn-lt"/>
                <a:ea typeface="+mn-ea"/>
                <a:cs typeface="+mn-cs"/>
              </a:rPr>
              <a:t>Unit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thường do lập trình viên thực hiện. Công đoạn này cần được thực hiện càng sớm càng tốt trong giai đoạn viết </a:t>
            </a:r>
            <a:r>
              <a:rPr lang="vi-VN" sz="1200" b="0" i="0" kern="1200" dirty="0" err="1">
                <a:solidFill>
                  <a:schemeClr val="tx1"/>
                </a:solidFill>
                <a:effectLst/>
                <a:latin typeface="+mn-lt"/>
                <a:ea typeface="+mn-ea"/>
                <a:cs typeface="+mn-cs"/>
              </a:rPr>
              <a:t>code</a:t>
            </a:r>
            <a:r>
              <a:rPr lang="vi-VN" sz="1200" b="0" i="0" kern="1200" dirty="0">
                <a:solidFill>
                  <a:schemeClr val="tx1"/>
                </a:solidFill>
                <a:effectLst/>
                <a:latin typeface="+mn-lt"/>
                <a:ea typeface="+mn-ea"/>
                <a:cs typeface="+mn-cs"/>
              </a:rPr>
              <a:t> và xuyên suốt chu kỳ PTPM. </a:t>
            </a:r>
            <a:br>
              <a:rPr lang="vi-VN" dirty="0"/>
            </a:br>
            <a:r>
              <a:rPr lang="vi-VN" sz="1200" b="0" i="0" kern="1200" dirty="0">
                <a:solidFill>
                  <a:schemeClr val="tx1"/>
                </a:solidFill>
                <a:effectLst/>
                <a:latin typeface="+mn-lt"/>
                <a:ea typeface="+mn-ea"/>
                <a:cs typeface="+mn-cs"/>
              </a:rPr>
              <a:t>Cũng như các mức kiểm tra khác, </a:t>
            </a:r>
            <a:r>
              <a:rPr lang="vi-VN" sz="1200" b="0" i="0" kern="1200" dirty="0" err="1">
                <a:solidFill>
                  <a:schemeClr val="tx1"/>
                </a:solidFill>
                <a:effectLst/>
                <a:latin typeface="+mn-lt"/>
                <a:ea typeface="+mn-ea"/>
                <a:cs typeface="+mn-cs"/>
              </a:rPr>
              <a:t>Unit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cũng đòi hỏi phải chuẩn bị trước các tình huống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case</a:t>
            </a:r>
            <a:r>
              <a:rPr lang="vi-VN" sz="1200" b="0" i="0" kern="1200" dirty="0">
                <a:solidFill>
                  <a:schemeClr val="tx1"/>
                </a:solidFill>
                <a:effectLst/>
                <a:latin typeface="+mn-lt"/>
                <a:ea typeface="+mn-ea"/>
                <a:cs typeface="+mn-cs"/>
              </a:rPr>
              <a:t>) hoặc kịch bản (</a:t>
            </a:r>
            <a:r>
              <a:rPr lang="vi-VN" sz="1200" b="0" i="0" kern="1200" dirty="0" err="1">
                <a:solidFill>
                  <a:schemeClr val="tx1"/>
                </a:solidFill>
                <a:effectLst/>
                <a:latin typeface="+mn-lt"/>
                <a:ea typeface="+mn-ea"/>
                <a:cs typeface="+mn-cs"/>
              </a:rPr>
              <a:t>script</a:t>
            </a:r>
            <a:r>
              <a:rPr lang="vi-VN" sz="1200" b="0" i="0" kern="1200" dirty="0">
                <a:solidFill>
                  <a:schemeClr val="tx1"/>
                </a:solidFill>
                <a:effectLst/>
                <a:latin typeface="+mn-lt"/>
                <a:ea typeface="+mn-ea"/>
                <a:cs typeface="+mn-cs"/>
              </a:rPr>
              <a:t>). Các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case</a:t>
            </a:r>
            <a:r>
              <a:rPr lang="vi-VN" sz="1200" b="0" i="0" kern="1200" dirty="0">
                <a:solidFill>
                  <a:schemeClr val="tx1"/>
                </a:solidFill>
                <a:effectLst/>
                <a:latin typeface="+mn-lt"/>
                <a:ea typeface="+mn-ea"/>
                <a:cs typeface="+mn-cs"/>
              </a:rPr>
              <a:t> và </a:t>
            </a:r>
            <a:r>
              <a:rPr lang="vi-VN" sz="1200" b="0" i="0" kern="1200" dirty="0" err="1">
                <a:solidFill>
                  <a:schemeClr val="tx1"/>
                </a:solidFill>
                <a:effectLst/>
                <a:latin typeface="+mn-lt"/>
                <a:ea typeface="+mn-ea"/>
                <a:cs typeface="+mn-cs"/>
              </a:rPr>
              <a:t>script</a:t>
            </a:r>
            <a:r>
              <a:rPr lang="vi-VN" sz="1200" b="0" i="0" kern="1200" dirty="0">
                <a:solidFill>
                  <a:schemeClr val="tx1"/>
                </a:solidFill>
                <a:effectLst/>
                <a:latin typeface="+mn-lt"/>
                <a:ea typeface="+mn-ea"/>
                <a:cs typeface="+mn-cs"/>
              </a:rPr>
              <a:t> này nên được giữ lại để tái sử dụng.</a:t>
            </a:r>
            <a:endParaRPr lang="en-US" b="0" dirty="0"/>
          </a:p>
        </p:txBody>
      </p:sp>
      <p:sp>
        <p:nvSpPr>
          <p:cNvPr id="4" name="Slide Number Placeholder 3"/>
          <p:cNvSpPr>
            <a:spLocks noGrp="1"/>
          </p:cNvSpPr>
          <p:nvPr>
            <p:ph type="sldNum" sz="quarter" idx="10"/>
          </p:nvPr>
        </p:nvSpPr>
        <p:spPr/>
        <p:txBody>
          <a:bodyPr/>
          <a:lstStyle/>
          <a:p>
            <a:fld id="{A63B9007-0201-49BE-A587-7F882848EC05}" type="slidenum">
              <a:rPr lang="en-US" smtClean="0"/>
              <a:t>45</a:t>
            </a:fld>
            <a:endParaRPr lang="en-US"/>
          </a:p>
        </p:txBody>
      </p:sp>
    </p:spTree>
    <p:extLst>
      <p:ext uri="{BB962C8B-B14F-4D97-AF65-F5344CB8AC3E}">
        <p14:creationId xmlns:p14="http://schemas.microsoft.com/office/powerpoint/2010/main" val="25037895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5618E0-2EAB-4C8B-A917-491D921D7D92}" type="slidenum">
              <a:rPr lang="en-GB"/>
              <a:pPr/>
              <a:t>46</a:t>
            </a:fld>
            <a:endParaRPr lang="en-GB"/>
          </a:p>
        </p:txBody>
      </p:sp>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p:txBody>
          <a:bodyPr/>
          <a:lstStyle/>
          <a:p>
            <a:pPr marL="0" indent="0">
              <a:buFontTx/>
              <a:buNone/>
            </a:pPr>
            <a:r>
              <a:rPr lang="vi-VN" sz="1200" b="0" i="0" kern="1200" dirty="0">
                <a:solidFill>
                  <a:schemeClr val="tx1"/>
                </a:solidFill>
                <a:effectLst/>
                <a:latin typeface="+mn-lt"/>
                <a:ea typeface="+mn-ea"/>
                <a:cs typeface="+mn-cs"/>
              </a:rPr>
              <a:t>KIỂM TRA PHI CHỨC NĂNG</a:t>
            </a:r>
            <a:r>
              <a:rPr lang="en-US" sz="1200" b="0" i="0" kern="1200" dirty="0">
                <a:solidFill>
                  <a:schemeClr val="tx1"/>
                </a:solidFill>
                <a:effectLst/>
                <a:latin typeface="+mn-lt"/>
                <a:ea typeface="+mn-ea"/>
                <a:cs typeface="+mn-cs"/>
              </a:rPr>
              <a:t>:</a:t>
            </a:r>
          </a:p>
          <a:p>
            <a:pPr marL="0" indent="0">
              <a:buFontTx/>
              <a:buNone/>
            </a:pPr>
            <a:r>
              <a:rPr lang="en-US" sz="1200" b="0" i="0" kern="1200" dirty="0" err="1">
                <a:solidFill>
                  <a:schemeClr val="tx1"/>
                </a:solidFill>
                <a:effectLst/>
                <a:latin typeface="+mn-lt"/>
                <a:ea typeface="+mn-ea"/>
                <a:cs typeface="+mn-cs"/>
              </a:rPr>
              <a:t>Vd</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trạng thái của tài nguyên (</a:t>
            </a:r>
            <a:r>
              <a:rPr lang="vi-VN" sz="1200" b="0" i="0" kern="1200" dirty="0" err="1">
                <a:solidFill>
                  <a:schemeClr val="tx1"/>
                </a:solidFill>
                <a:effectLst/>
                <a:latin typeface="+mn-lt"/>
                <a:ea typeface="+mn-ea"/>
                <a:cs typeface="+mn-cs"/>
              </a:rPr>
              <a:t>resource-behavior</a:t>
            </a:r>
            <a:r>
              <a:rPr lang="vi-V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như: rò rỉ bộ nhớ</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bộ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đượ</a:t>
            </a:r>
            <a:r>
              <a:rPr lang="en-US" sz="1200" b="0" i="0" kern="1200" dirty="0">
                <a:solidFill>
                  <a:schemeClr val="tx1"/>
                </a:solidFill>
                <a:effectLst/>
                <a:latin typeface="+mn-lt"/>
                <a:ea typeface="+mn-ea"/>
                <a:cs typeface="+mn-cs"/>
              </a:rPr>
              <a:t>c </a:t>
            </a:r>
            <a:r>
              <a:rPr lang="en-US" sz="1200" b="0" i="0" kern="1200" dirty="0" err="1">
                <a:solidFill>
                  <a:schemeClr val="tx1"/>
                </a:solidFill>
                <a:effectLst/>
                <a:latin typeface="+mn-lt"/>
                <a:ea typeface="+mn-ea"/>
                <a:cs typeface="+mn-cs"/>
              </a:rPr>
              <a:t>giải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phóng</a:t>
            </a:r>
            <a:endParaRPr lang="en-US" sz="1200" b="0" i="0" kern="1200" dirty="0">
              <a:solidFill>
                <a:schemeClr val="tx1"/>
              </a:solidFill>
              <a:effectLst/>
              <a:latin typeface="+mn-lt"/>
              <a:ea typeface="+mn-ea"/>
              <a:cs typeface="+mn-cs"/>
            </a:endParaRPr>
          </a:p>
          <a:p>
            <a:pPr marL="0" indent="0">
              <a:buFontTx/>
              <a:buNone/>
            </a:pPr>
            <a:r>
              <a:rPr lang="en-US" sz="1200" b="0" i="0" kern="1200" dirty="0" err="1">
                <a:solidFill>
                  <a:schemeClr val="tx1"/>
                </a:solidFill>
                <a:effectLst/>
                <a:latin typeface="+mn-lt"/>
                <a:ea typeface="+mn-ea"/>
                <a:cs typeface="+mn-cs"/>
              </a:rPr>
              <a:t>Vd</a:t>
            </a:r>
            <a:r>
              <a:rPr lang="en-US" sz="1200" b="0" i="0" kern="1200" dirty="0">
                <a:solidFill>
                  <a:schemeClr val="tx1"/>
                </a:solidFill>
                <a:effectLst/>
                <a:latin typeface="+mn-lt"/>
                <a:ea typeface="+mn-ea"/>
                <a:cs typeface="+mn-cs"/>
              </a:rPr>
              <a:t>/ kt </a:t>
            </a:r>
            <a:r>
              <a:rPr lang="en-US" sz="1200" b="0" i="0" kern="1200" dirty="0" err="1">
                <a:solidFill>
                  <a:schemeClr val="tx1"/>
                </a:solidFill>
                <a:effectLst/>
                <a:latin typeface="+mn-lt"/>
                <a:ea typeface="+mn-ea"/>
                <a:cs typeface="+mn-cs"/>
              </a:rPr>
              <a:t>hiệu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năng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khai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báo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biến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không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trong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vòng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lặp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khai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báo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khởi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tạo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liền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nếu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không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để</a:t>
            </a:r>
            <a:r>
              <a:rPr lang="en-US" sz="1200" b="0" i="0" kern="1200" baseline="0" dirty="0">
                <a:solidFill>
                  <a:schemeClr val="tx1"/>
                </a:solidFill>
                <a:effectLst/>
                <a:latin typeface="+mn-lt"/>
                <a:ea typeface="+mn-ea"/>
                <a:cs typeface="+mn-cs"/>
              </a:rPr>
              <a:t> 2 </a:t>
            </a:r>
            <a:r>
              <a:rPr lang="en-US" sz="1200" b="0" i="0" kern="1200" baseline="0" dirty="0" err="1">
                <a:solidFill>
                  <a:schemeClr val="tx1"/>
                </a:solidFill>
                <a:effectLst/>
                <a:latin typeface="+mn-lt"/>
                <a:ea typeface="+mn-ea"/>
                <a:cs typeface="+mn-cs"/>
              </a:rPr>
              <a:t>dòng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riêng</a:t>
            </a:r>
            <a:r>
              <a:rPr lang="en-US" sz="1200" b="0" i="0" kern="1200" baseline="0" dirty="0">
                <a:solidFill>
                  <a:schemeClr val="tx1"/>
                </a:solidFill>
                <a:effectLst/>
                <a:latin typeface="+mn-lt"/>
                <a:ea typeface="+mn-ea"/>
                <a:cs typeface="+mn-cs"/>
              </a:rPr>
              <a:t>)</a:t>
            </a:r>
          </a:p>
          <a:p>
            <a:pPr marL="0" indent="0">
              <a:buFontTx/>
              <a:buNone/>
            </a:pPr>
            <a:endParaRPr lang="en-US" sz="1200" b="0" i="0" kern="1200" baseline="0" dirty="0">
              <a:solidFill>
                <a:schemeClr val="tx1"/>
              </a:solidFill>
              <a:effectLst/>
              <a:latin typeface="+mn-lt"/>
              <a:ea typeface="+mn-ea"/>
              <a:cs typeface="+mn-cs"/>
            </a:endParaRPr>
          </a:p>
          <a:p>
            <a:pPr marL="0" indent="0">
              <a:buFontTx/>
              <a:buNone/>
            </a:pPr>
            <a:endParaRPr lang="en-US" sz="1200" b="0" i="0" kern="1200" baseline="0" dirty="0">
              <a:solidFill>
                <a:schemeClr val="tx1"/>
              </a:solidFill>
              <a:effectLst/>
              <a:latin typeface="+mn-lt"/>
              <a:ea typeface="+mn-ea"/>
              <a:cs typeface="+mn-cs"/>
            </a:endParaRPr>
          </a:p>
          <a:p>
            <a:pPr marL="0" indent="0">
              <a:buFontTx/>
              <a:buNone/>
            </a:pPr>
            <a:r>
              <a:rPr lang="en-US" sz="1200" b="0" i="0" kern="1200" baseline="0" dirty="0">
                <a:solidFill>
                  <a:schemeClr val="tx1"/>
                </a:solidFill>
                <a:effectLst/>
                <a:latin typeface="+mn-lt"/>
                <a:ea typeface="+mn-ea"/>
                <a:cs typeface="+mn-cs"/>
              </a:rPr>
              <a:t>One approach in component testing, used in Extreme Programming (XP), is to prepare  and automate  test cases before coding. This is  called a  </a:t>
            </a:r>
            <a:r>
              <a:rPr lang="en-US" sz="1200" b="1" i="0" kern="1200" baseline="0" dirty="0">
                <a:solidFill>
                  <a:schemeClr val="tx1"/>
                </a:solidFill>
                <a:effectLst/>
                <a:latin typeface="+mn-lt"/>
                <a:ea typeface="+mn-ea"/>
                <a:cs typeface="+mn-cs"/>
              </a:rPr>
              <a:t>TEST-FIRST APPROACH </a:t>
            </a:r>
            <a:r>
              <a:rPr lang="en-US" sz="1200" b="0" i="0" kern="1200" baseline="0" dirty="0">
                <a:solidFill>
                  <a:schemeClr val="tx1"/>
                </a:solidFill>
                <a:effectLst/>
                <a:latin typeface="+mn-lt"/>
                <a:ea typeface="+mn-ea"/>
                <a:cs typeface="+mn-cs"/>
              </a:rPr>
              <a:t>or</a:t>
            </a:r>
            <a:r>
              <a:rPr lang="en-US" sz="1200" b="1" i="0" kern="1200" baseline="0" dirty="0">
                <a:solidFill>
                  <a:schemeClr val="tx1"/>
                </a:solidFill>
                <a:effectLst/>
                <a:latin typeface="+mn-lt"/>
                <a:ea typeface="+mn-ea"/>
                <a:cs typeface="+mn-cs"/>
              </a:rPr>
              <a:t> TEST-DRIVEN DEVELOPMENT</a:t>
            </a:r>
            <a:r>
              <a:rPr lang="en-US" sz="1200" b="0" i="0" kern="1200" baseline="0" dirty="0">
                <a:solidFill>
                  <a:schemeClr val="tx1"/>
                </a:solidFill>
                <a:effectLst/>
                <a:latin typeface="+mn-lt"/>
                <a:ea typeface="+mn-ea"/>
                <a:cs typeface="+mn-cs"/>
              </a:rPr>
              <a:t>. This approach is highly iterative and is based on cycles of developing test cases, then building and integrating small pieces of code, and executing the component tests until they pass. (ISTQB)</a:t>
            </a:r>
          </a:p>
        </p:txBody>
      </p:sp>
    </p:spTree>
    <p:extLst>
      <p:ext uri="{BB962C8B-B14F-4D97-AF65-F5344CB8AC3E}">
        <p14:creationId xmlns:p14="http://schemas.microsoft.com/office/powerpoint/2010/main" val="40325943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0" baseline="0" dirty="0"/>
              <a:t>- </a:t>
            </a:r>
            <a:r>
              <a:rPr lang="vi-VN" b="0" baseline="0" dirty="0"/>
              <a:t>Kiểm tra </a:t>
            </a:r>
            <a:r>
              <a:rPr lang="en-US" sz="1200" b="1" i="0" kern="1200" dirty="0">
                <a:solidFill>
                  <a:schemeClr val="tx1"/>
                </a:solidFill>
                <a:effectLst/>
                <a:latin typeface="+mn-lt"/>
                <a:ea typeface="+mn-ea"/>
                <a:cs typeface="+mn-cs"/>
              </a:rPr>
              <a:t>SỰ GIAO TIẾP </a:t>
            </a:r>
            <a:r>
              <a:rPr lang="vi-VN" b="0" baseline="0" dirty="0"/>
              <a:t>giữa các </a:t>
            </a:r>
            <a:r>
              <a:rPr lang="en-US" sz="1200" b="0" i="0" kern="1200" baseline="0" dirty="0">
                <a:solidFill>
                  <a:schemeClr val="tx1"/>
                </a:solidFill>
                <a:effectLst/>
                <a:latin typeface="+mn-lt"/>
                <a:ea typeface="+mn-ea"/>
                <a:cs typeface="+mn-cs"/>
              </a:rPr>
              <a:t>component</a:t>
            </a:r>
            <a:r>
              <a:rPr lang="vi-VN" b="0" baseline="0" dirty="0"/>
              <a:t>, </a:t>
            </a:r>
            <a:r>
              <a:rPr lang="en-GB" b="1" dirty="0"/>
              <a:t>KIỂM</a:t>
            </a:r>
            <a:r>
              <a:rPr lang="en-GB" b="1" baseline="0" dirty="0"/>
              <a:t> TRA SỰ TƯƠNG TÁC </a:t>
            </a:r>
            <a:r>
              <a:rPr lang="en-GB" b="0" baseline="0" dirty="0"/>
              <a:t> </a:t>
            </a:r>
            <a:r>
              <a:rPr lang="en-GB" b="0" baseline="0" dirty="0" err="1"/>
              <a:t>giữa</a:t>
            </a:r>
            <a:r>
              <a:rPr lang="en-GB" b="0" baseline="0" dirty="0"/>
              <a:t> </a:t>
            </a:r>
            <a:r>
              <a:rPr lang="vi-VN" b="0" baseline="0" dirty="0"/>
              <a:t>các phần khác nhau của hệ thống như hệ điều hành, hệ thống tập tin và phần cứng hoặc các giao </a:t>
            </a:r>
            <a:r>
              <a:rPr lang="en-US" b="0" baseline="0" dirty="0" err="1"/>
              <a:t>tiếp</a:t>
            </a:r>
            <a:r>
              <a:rPr lang="en-US" b="0" baseline="0" dirty="0"/>
              <a:t> </a:t>
            </a:r>
            <a:r>
              <a:rPr lang="vi-VN" b="0" baseline="0" dirty="0"/>
              <a:t>giữa các hệ thống</a:t>
            </a:r>
            <a:r>
              <a:rPr lang="en-US" b="0" baseline="0" dirty="0"/>
              <a:t> (CÓ THỂ LÀ TEST SỰ TƯƠNG TÁC CÁC COMPONENT CỦA CÁC TEAM KHI </a:t>
            </a:r>
            <a:r>
              <a:rPr lang="vi-VN" b="0" baseline="0" dirty="0"/>
              <a:t>ĐƯỢ</a:t>
            </a:r>
            <a:r>
              <a:rPr lang="en-US" b="0" baseline="0" dirty="0"/>
              <a:t>C GHÉP LẠI VỚI NHAU)</a:t>
            </a:r>
            <a:endParaRPr lang="en-GB"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aseline="0" dirty="0"/>
              <a:t> D</a:t>
            </a:r>
            <a:r>
              <a:rPr lang="en-US" dirty="0"/>
              <a:t>one by: May be carried out by the developers, but preferably by a specialist integration testers</a:t>
            </a:r>
          </a:p>
          <a:p>
            <a:pPr marL="0" indent="0">
              <a:buFontTx/>
              <a:buNone/>
            </a:pPr>
            <a:endParaRPr lang="en-GB" b="1" baseline="0" dirty="0"/>
          </a:p>
          <a:p>
            <a:pPr marL="0" indent="0">
              <a:buFontTx/>
              <a:buNone/>
            </a:pPr>
            <a:endParaRPr lang="en-GB" b="1" baseline="0" dirty="0"/>
          </a:p>
          <a:p>
            <a:pPr marL="0" indent="0">
              <a:buFontTx/>
              <a:buNone/>
            </a:pPr>
            <a:r>
              <a:rPr lang="en-GB" b="1" baseline="0" dirty="0"/>
              <a:t>Phi </a:t>
            </a:r>
            <a:r>
              <a:rPr lang="en-GB" b="1" baseline="0" dirty="0" err="1"/>
              <a:t>chức</a:t>
            </a:r>
            <a:r>
              <a:rPr lang="en-GB" b="1" baseline="0" dirty="0"/>
              <a:t> </a:t>
            </a:r>
            <a:r>
              <a:rPr lang="en-GB" b="1" baseline="0" dirty="0" err="1"/>
              <a:t>năng</a:t>
            </a:r>
            <a:r>
              <a:rPr lang="en-GB" b="1" baseline="0" dirty="0"/>
              <a:t>: </a:t>
            </a:r>
            <a:r>
              <a:rPr lang="en-GB" b="1" baseline="0" dirty="0" err="1"/>
              <a:t>tính</a:t>
            </a:r>
            <a:r>
              <a:rPr lang="en-GB" b="1" baseline="0" dirty="0"/>
              <a:t> </a:t>
            </a:r>
            <a:r>
              <a:rPr lang="en-GB" b="1" baseline="0" dirty="0" err="1"/>
              <a:t>kiểm</a:t>
            </a:r>
            <a:r>
              <a:rPr lang="en-GB" b="1" baseline="0" dirty="0"/>
              <a:t> </a:t>
            </a:r>
            <a:r>
              <a:rPr lang="en-GB" b="1" baseline="0" dirty="0" err="1"/>
              <a:t>thử</a:t>
            </a:r>
            <a:r>
              <a:rPr lang="en-GB" b="1" baseline="0" dirty="0"/>
              <a:t> </a:t>
            </a:r>
            <a:r>
              <a:rPr lang="en-GB" b="1" baseline="0" dirty="0" err="1"/>
              <a:t>được</a:t>
            </a:r>
            <a:r>
              <a:rPr lang="en-GB" b="1" baseline="0" dirty="0"/>
              <a:t>, </a:t>
            </a:r>
            <a:r>
              <a:rPr lang="en-GB" b="1" baseline="0" dirty="0" err="1"/>
              <a:t>bảo</a:t>
            </a:r>
            <a:r>
              <a:rPr lang="en-GB" b="1" baseline="0" dirty="0"/>
              <a:t> </a:t>
            </a:r>
            <a:r>
              <a:rPr lang="en-GB" b="1" baseline="0" dirty="0" err="1"/>
              <a:t>trì</a:t>
            </a:r>
            <a:r>
              <a:rPr lang="en-GB" b="1" baseline="0" dirty="0"/>
              <a:t> </a:t>
            </a:r>
            <a:r>
              <a:rPr lang="en-GB" b="1" baseline="0" dirty="0" err="1"/>
              <a:t>được</a:t>
            </a:r>
            <a:r>
              <a:rPr lang="en-GB" b="1" baseline="0" dirty="0"/>
              <a:t>…</a:t>
            </a:r>
            <a:endParaRPr lang="en-US" b="1" dirty="0"/>
          </a:p>
        </p:txBody>
      </p:sp>
      <p:sp>
        <p:nvSpPr>
          <p:cNvPr id="4" name="Slide Number Placeholder 3"/>
          <p:cNvSpPr>
            <a:spLocks noGrp="1"/>
          </p:cNvSpPr>
          <p:nvPr>
            <p:ph type="sldNum" sz="quarter" idx="10"/>
          </p:nvPr>
        </p:nvSpPr>
        <p:spPr/>
        <p:txBody>
          <a:bodyPr/>
          <a:lstStyle/>
          <a:p>
            <a:fld id="{A63B9007-0201-49BE-A587-7F882848EC05}" type="slidenum">
              <a:rPr lang="en-US" smtClean="0"/>
              <a:t>47</a:t>
            </a:fld>
            <a:endParaRPr lang="en-US"/>
          </a:p>
        </p:txBody>
      </p:sp>
    </p:spTree>
    <p:extLst>
      <p:ext uri="{BB962C8B-B14F-4D97-AF65-F5344CB8AC3E}">
        <p14:creationId xmlns:p14="http://schemas.microsoft.com/office/powerpoint/2010/main" val="24012520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2745D731-E49F-4385-8ADC-4FD1FD0F8A69}" type="slidenum">
              <a:rPr lang="en-GB"/>
              <a:pPr/>
              <a:t>49</a:t>
            </a:fld>
            <a:endParaRPr lang="en-GB"/>
          </a:p>
        </p:txBody>
      </p:sp>
      <p:sp>
        <p:nvSpPr>
          <p:cNvPr id="294914" name="Rectangle 2"/>
          <p:cNvSpPr>
            <a:spLocks noGrp="1" noRot="1" noChangeAspect="1" noChangeArrowheads="1" noTextEdit="1"/>
          </p:cNvSpPr>
          <p:nvPr>
            <p:ph type="sldImg"/>
          </p:nvPr>
        </p:nvSpPr>
        <p:spPr>
          <a:xfrm>
            <a:off x="1633538" y="696913"/>
            <a:ext cx="4067175" cy="3049587"/>
          </a:xfrm>
          <a:ln cap="flat"/>
        </p:spPr>
      </p:sp>
      <p:sp>
        <p:nvSpPr>
          <p:cNvPr id="2" name="Notes Placeholder 1"/>
          <p:cNvSpPr>
            <a:spLocks noGrp="1"/>
          </p:cNvSpPr>
          <p:nvPr>
            <p:ph type="body" idx="1"/>
          </p:nvPr>
        </p:nvSpPr>
        <p:spPr/>
        <p:txBody>
          <a:bodyPr/>
          <a:lstStyle/>
          <a:p>
            <a:pPr marL="0" marR="0" lvl="1" indent="0" algn="l" defTabSz="914306" rtl="0" eaLnBrk="1" fontAlgn="auto" latinLnBrk="0" hangingPunct="1">
              <a:lnSpc>
                <a:spcPct val="100000"/>
              </a:lnSpc>
              <a:spcBef>
                <a:spcPts val="0"/>
              </a:spcBef>
              <a:spcAft>
                <a:spcPts val="0"/>
              </a:spcAft>
              <a:buClrTx/>
              <a:buSzTx/>
              <a:buFontTx/>
              <a:buNone/>
              <a:tabLst/>
              <a:defRPr/>
            </a:pPr>
            <a:r>
              <a:rPr lang="en-GB" baseline="0" dirty="0"/>
              <a:t>+ Advantage:  </a:t>
            </a:r>
          </a:p>
          <a:p>
            <a:pPr marL="0" marR="0" lvl="1"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 </a:t>
            </a:r>
            <a:r>
              <a:rPr lang="vi-VN" sz="1200" b="0" i="0" kern="1200" dirty="0">
                <a:solidFill>
                  <a:schemeClr val="tx1"/>
                </a:solidFill>
                <a:effectLst/>
                <a:latin typeface="+mn-lt"/>
                <a:ea typeface="+mn-ea"/>
                <a:cs typeface="+mn-cs"/>
              </a:rPr>
              <a:t>tất cả mọi thứ được hoàn tất trước khi bắt đầu </a:t>
            </a:r>
            <a:r>
              <a:rPr lang="en-US" sz="1200" b="0" i="0" kern="1200" dirty="0">
                <a:solidFill>
                  <a:schemeClr val="tx1"/>
                </a:solidFill>
                <a:effectLst/>
                <a:latin typeface="+mn-lt"/>
                <a:ea typeface="+mn-ea"/>
                <a:cs typeface="+mn-cs"/>
              </a:rPr>
              <a:t>test </a:t>
            </a:r>
            <a:r>
              <a:rPr lang="en-US" sz="1200" b="0" i="0" kern="1200" dirty="0" err="1">
                <a:solidFill>
                  <a:schemeClr val="tx1"/>
                </a:solidFill>
                <a:effectLst/>
                <a:latin typeface="+mn-lt"/>
                <a:ea typeface="+mn-ea"/>
                <a:cs typeface="+mn-cs"/>
              </a:rPr>
              <a:t>tích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hợp</a:t>
            </a:r>
            <a:endParaRPr lang="en-US" sz="1200" b="0" i="0" kern="1200" baseline="0" dirty="0">
              <a:solidFill>
                <a:schemeClr val="tx1"/>
              </a:solidFill>
              <a:effectLst/>
              <a:latin typeface="+mn-lt"/>
              <a:ea typeface="+mn-ea"/>
              <a:cs typeface="+mn-cs"/>
            </a:endParaRPr>
          </a:p>
          <a:p>
            <a:pPr marL="0" marR="0" lvl="1" indent="0" algn="l" defTabSz="914306"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k</a:t>
            </a:r>
            <a:r>
              <a:rPr lang="vi-VN" sz="1200" b="0" i="0" kern="1200" dirty="0">
                <a:solidFill>
                  <a:schemeClr val="tx1"/>
                </a:solidFill>
                <a:effectLst/>
                <a:latin typeface="+mn-lt"/>
                <a:ea typeface="+mn-ea"/>
                <a:cs typeface="+mn-cs"/>
              </a:rPr>
              <a:t>hông cần mô phỏng </a:t>
            </a:r>
            <a:r>
              <a:rPr lang="en-US" sz="1200" b="0" i="0" kern="1200" dirty="0" err="1">
                <a:solidFill>
                  <a:schemeClr val="tx1"/>
                </a:solidFill>
                <a:effectLst/>
                <a:latin typeface="+mn-lt"/>
                <a:ea typeface="+mn-ea"/>
                <a:cs typeface="+mn-cs"/>
              </a:rPr>
              <a:t>những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phần</a:t>
            </a:r>
            <a:r>
              <a:rPr lang="vi-VN" sz="1200" b="0" i="0" kern="1200" dirty="0">
                <a:solidFill>
                  <a:schemeClr val="tx1"/>
                </a:solidFill>
                <a:effectLst/>
                <a:latin typeface="+mn-lt"/>
                <a:ea typeface="+mn-ea"/>
                <a:cs typeface="+mn-cs"/>
              </a:rPr>
              <a:t> chưa hoàn chỉn</a:t>
            </a:r>
            <a:r>
              <a:rPr lang="en-US" sz="1200" b="0" i="0" kern="1200" dirty="0">
                <a:solidFill>
                  <a:schemeClr val="tx1"/>
                </a:solidFill>
                <a:effectLst/>
                <a:latin typeface="+mn-lt"/>
                <a:ea typeface="+mn-ea"/>
                <a:cs typeface="+mn-cs"/>
              </a:rPr>
              <a:t>h.</a:t>
            </a:r>
            <a:endParaRPr lang="en-GB" b="0" baseline="0" dirty="0"/>
          </a:p>
          <a:p>
            <a:pPr marL="0" marR="0" lvl="1" indent="0" algn="l" defTabSz="914306" rtl="0" eaLnBrk="1" fontAlgn="auto" latinLnBrk="0" hangingPunct="1">
              <a:lnSpc>
                <a:spcPct val="100000"/>
              </a:lnSpc>
              <a:spcBef>
                <a:spcPts val="0"/>
              </a:spcBef>
              <a:spcAft>
                <a:spcPts val="0"/>
              </a:spcAft>
              <a:buClrTx/>
              <a:buSzTx/>
              <a:buFontTx/>
              <a:buNone/>
              <a:tabLst/>
              <a:defRPr/>
            </a:pPr>
            <a:r>
              <a:rPr lang="en-GB" baseline="0" dirty="0"/>
              <a:t>+ Disadvantage:</a:t>
            </a:r>
          </a:p>
          <a:p>
            <a:pPr marL="0" marR="0" lvl="1"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tốn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gian</a:t>
            </a:r>
            <a:r>
              <a:rPr lang="en-US" sz="1200" b="0"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(VÌ ĐỂ CHỜ ALL COMPONENT PHẢI ĐC TEST XONG – VÌ ĐÔI KHI CÁC COMP TEST VỚI THỜI GIAN KHÁC NHAU)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theo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dõi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nguyên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nhân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lỗi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nếu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xảy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ra.</a:t>
            </a:r>
            <a:endParaRPr lang="en-US" sz="1200" b="0" i="0" kern="1200" dirty="0">
              <a:solidFill>
                <a:schemeClr val="tx1"/>
              </a:solidFill>
              <a:effectLst/>
              <a:latin typeface="+mn-lt"/>
              <a:ea typeface="+mn-ea"/>
              <a:cs typeface="+mn-cs"/>
            </a:endParaRPr>
          </a:p>
          <a:p>
            <a:pPr marL="914306" marR="0" lvl="3" indent="0" algn="l" defTabSz="914306" rtl="0" eaLnBrk="1" fontAlgn="auto" latinLnBrk="0" hangingPunct="1">
              <a:lnSpc>
                <a:spcPct val="100000"/>
              </a:lnSpc>
              <a:spcBef>
                <a:spcPts val="0"/>
              </a:spcBef>
              <a:spcAft>
                <a:spcPts val="0"/>
              </a:spcAft>
              <a:buClrTx/>
              <a:buSzTx/>
              <a:buFontTx/>
              <a:buNone/>
              <a:tabLst/>
              <a:defRPr/>
            </a:pPr>
            <a:r>
              <a:rPr lang="vi-VN" dirty="0"/>
              <a:t>■</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đó</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mất nhiều thời gian để xác định vị trí và sửa chữa lỗi</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khó</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tìm</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lỗi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khó</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cô</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lập</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lỗi</a:t>
            </a:r>
            <a:r>
              <a:rPr lang="en-US" sz="1200" b="1" i="0" kern="1200" baseline="0" dirty="0">
                <a:solidFill>
                  <a:schemeClr val="tx1"/>
                </a:solidFill>
                <a:effectLst/>
                <a:latin typeface="+mn-lt"/>
                <a:ea typeface="+mn-ea"/>
                <a:cs typeface="+mn-cs"/>
              </a:rPr>
              <a:t>.</a:t>
            </a:r>
          </a:p>
          <a:p>
            <a:pPr marL="914306" marR="0" lvl="3"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en-US" sz="1200" b="0" i="0" kern="1200" baseline="0" dirty="0">
                <a:solidFill>
                  <a:schemeClr val="tx1"/>
                </a:solidFill>
                <a:effectLst/>
                <a:latin typeface="+mn-lt"/>
                <a:ea typeface="+mn-ea"/>
                <a:cs typeface="+mn-cs"/>
              </a:rPr>
              <a:t>kt </a:t>
            </a:r>
            <a:r>
              <a:rPr lang="en-US" sz="1200" b="0" i="0" kern="1200" baseline="0" dirty="0" err="1">
                <a:solidFill>
                  <a:schemeClr val="tx1"/>
                </a:solidFill>
                <a:effectLst/>
                <a:latin typeface="+mn-lt"/>
                <a:ea typeface="+mn-ea"/>
                <a:cs typeface="+mn-cs"/>
              </a:rPr>
              <a:t>lại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sau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sửa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lỗi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cũng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hơn</a:t>
            </a:r>
            <a:endParaRPr lang="en-GB" baseline="0" dirty="0"/>
          </a:p>
          <a:p>
            <a:pPr marL="0" marR="0" lvl="1" indent="0" algn="l" defTabSz="914306" rtl="0" eaLnBrk="1" fontAlgn="auto" latinLnBrk="0" hangingPunct="1">
              <a:lnSpc>
                <a:spcPct val="100000"/>
              </a:lnSpc>
              <a:spcBef>
                <a:spcPts val="0"/>
              </a:spcBef>
              <a:spcAft>
                <a:spcPts val="0"/>
              </a:spcAft>
              <a:buClrTx/>
              <a:buSzTx/>
              <a:buFontTx/>
              <a:buNone/>
              <a:tabLst/>
              <a:defRPr/>
            </a:pPr>
            <a:r>
              <a:rPr lang="en-GB" b="1" baseline="0" dirty="0"/>
              <a:t>DO ĐÓ, CHIẾN LƯỢC BIG-BANG THÍCH HỢP CHO NHỮNG PROJECT ÍT CÓ KHẢ NĂNG LỖI</a:t>
            </a:r>
            <a:endParaRPr lang="en-US" b="1" dirty="0"/>
          </a:p>
        </p:txBody>
      </p:sp>
    </p:spTree>
    <p:extLst>
      <p:ext uri="{BB962C8B-B14F-4D97-AF65-F5344CB8AC3E}">
        <p14:creationId xmlns:p14="http://schemas.microsoft.com/office/powerpoint/2010/main" val="27720385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0742CC88-2A24-4251-B0D5-3E16397AF7A7}" type="slidenum">
              <a:rPr lang="en-GB"/>
              <a:pPr/>
              <a:t>50</a:t>
            </a:fld>
            <a:endParaRPr lang="en-GB"/>
          </a:p>
        </p:txBody>
      </p:sp>
      <p:sp>
        <p:nvSpPr>
          <p:cNvPr id="296962" name="Rectangle 2"/>
          <p:cNvSpPr>
            <a:spLocks noGrp="1" noRot="1" noChangeAspect="1" noChangeArrowheads="1" noTextEdit="1"/>
          </p:cNvSpPr>
          <p:nvPr>
            <p:ph type="sldImg"/>
          </p:nvPr>
        </p:nvSpPr>
        <p:spPr>
          <a:xfrm>
            <a:off x="1633538" y="696913"/>
            <a:ext cx="4067175" cy="3049587"/>
          </a:xfrm>
          <a:ln cap="flat"/>
        </p:spPr>
      </p:sp>
      <p:sp>
        <p:nvSpPr>
          <p:cNvPr id="2" name="Notes Placeholder 1"/>
          <p:cNvSpPr>
            <a:spLocks noGrp="1"/>
          </p:cNvSpPr>
          <p:nvPr>
            <p:ph type="body" idx="1"/>
          </p:nvPr>
        </p:nvSpPr>
        <p:spPr/>
        <p:txBody>
          <a:bodyPr/>
          <a:lstStyle/>
          <a:p>
            <a:pPr marL="0" indent="0">
              <a:buFontTx/>
              <a:buNone/>
            </a:pPr>
            <a:r>
              <a:rPr lang="en-US"/>
              <a:t>assembly: khối</a:t>
            </a:r>
            <a:endParaRPr lang="en-GB"/>
          </a:p>
          <a:p>
            <a:pPr marL="0" indent="0">
              <a:buFontTx/>
              <a:buNone/>
            </a:pPr>
            <a:endParaRPr lang="en-GB" baseline="0"/>
          </a:p>
        </p:txBody>
      </p:sp>
    </p:spTree>
    <p:extLst>
      <p:ext uri="{BB962C8B-B14F-4D97-AF65-F5344CB8AC3E}">
        <p14:creationId xmlns:p14="http://schemas.microsoft.com/office/powerpoint/2010/main" val="26597882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LAM VI DU CU THE??? THAM KHAO CL.FSOFT</a:t>
            </a:r>
          </a:p>
          <a:p>
            <a:pPr marL="0" marR="0" lvl="1" indent="0" algn="l" defTabSz="914306" rtl="0" eaLnBrk="1" fontAlgn="auto" latinLnBrk="0" hangingPunct="1">
              <a:lnSpc>
                <a:spcPct val="100000"/>
              </a:lnSpc>
              <a:spcBef>
                <a:spcPts val="0"/>
              </a:spcBef>
              <a:spcAft>
                <a:spcPts val="0"/>
              </a:spcAft>
              <a:buClrTx/>
              <a:buSzTx/>
              <a:buFontTx/>
              <a:buNone/>
              <a:tabLst/>
              <a:defRPr/>
            </a:pPr>
            <a:r>
              <a:rPr lang="vi-VN" sz="1200" b="0" i="0" kern="1200" dirty="0" err="1">
                <a:solidFill>
                  <a:schemeClr val="tx1"/>
                </a:solidFill>
                <a:effectLst/>
                <a:latin typeface="+mn-lt"/>
                <a:ea typeface="+mn-ea"/>
                <a:cs typeface="+mn-cs"/>
              </a:rPr>
              <a:t>Stub</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là một chương trình hoặc thành phần giả lập</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thay thế cho chương trình hoặc thành phần chưa </a:t>
            </a:r>
            <a:r>
              <a:rPr lang="vi-VN" sz="1200" b="0" i="0" kern="1200" dirty="0" err="1">
                <a:solidFill>
                  <a:schemeClr val="tx1"/>
                </a:solidFill>
                <a:effectLst/>
                <a:latin typeface="+mn-lt"/>
                <a:ea typeface="+mn-ea"/>
                <a:cs typeface="+mn-cs"/>
              </a:rPr>
              <a:t>code</a:t>
            </a:r>
            <a:r>
              <a:rPr lang="vi-VN" sz="1200" b="0" i="0" kern="1200" dirty="0">
                <a:solidFill>
                  <a:schemeClr val="tx1"/>
                </a:solidFill>
                <a:effectLst/>
                <a:latin typeface="+mn-lt"/>
                <a:ea typeface="+mn-ea"/>
                <a:cs typeface="+mn-cs"/>
              </a:rPr>
              <a:t> xong để kiểm thử</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VD/</a:t>
            </a:r>
            <a:endParaRPr lang="en-US" b="1" dirty="0"/>
          </a:p>
          <a:p>
            <a:pPr marL="0" marR="0" lvl="1" indent="0" algn="l" defTabSz="914306"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Ví dụ, trong một dự án có 4 </a:t>
            </a:r>
            <a:r>
              <a:rPr lang="vi-VN" sz="1200" b="0" i="0" kern="1200" dirty="0" err="1">
                <a:solidFill>
                  <a:schemeClr val="tx1"/>
                </a:solidFill>
                <a:effectLst/>
                <a:latin typeface="+mn-lt"/>
                <a:ea typeface="+mn-ea"/>
                <a:cs typeface="+mn-cs"/>
              </a:rPr>
              <a:t>modules</a:t>
            </a:r>
            <a:r>
              <a:rPr lang="vi-VN" sz="1200" b="0" i="0" kern="1200" dirty="0">
                <a:solidFill>
                  <a:schemeClr val="tx1"/>
                </a:solidFill>
                <a:effectLst/>
                <a:latin typeface="+mn-lt"/>
                <a:ea typeface="+mn-ea"/>
                <a:cs typeface="+mn-cs"/>
              </a:rPr>
              <a:t>, nhưng đến lúc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mà còn một </a:t>
            </a:r>
            <a:r>
              <a:rPr lang="vi-VN" sz="1200" b="0" i="0" kern="1200" dirty="0" err="1">
                <a:solidFill>
                  <a:schemeClr val="tx1"/>
                </a:solidFill>
                <a:effectLst/>
                <a:latin typeface="+mn-lt"/>
                <a:ea typeface="+mn-ea"/>
                <a:cs typeface="+mn-cs"/>
              </a:rPr>
              <a:t>module</a:t>
            </a:r>
            <a:r>
              <a:rPr lang="vi-VN" sz="1200" b="0" i="0" kern="1200" dirty="0">
                <a:solidFill>
                  <a:schemeClr val="tx1"/>
                </a:solidFill>
                <a:effectLst/>
                <a:latin typeface="+mn-lt"/>
                <a:ea typeface="+mn-ea"/>
                <a:cs typeface="+mn-cs"/>
              </a:rPr>
              <a:t> chưa </a:t>
            </a:r>
            <a:r>
              <a:rPr lang="vi-VN" sz="1200" b="0" i="0" kern="1200" dirty="0" err="1">
                <a:solidFill>
                  <a:schemeClr val="tx1"/>
                </a:solidFill>
                <a:effectLst/>
                <a:latin typeface="+mn-lt"/>
                <a:ea typeface="+mn-ea"/>
                <a:cs typeface="+mn-cs"/>
              </a:rPr>
              <a:t>code</a:t>
            </a:r>
            <a:r>
              <a:rPr lang="vi-VN" sz="1200" b="0" i="0" kern="1200" dirty="0">
                <a:solidFill>
                  <a:schemeClr val="tx1"/>
                </a:solidFill>
                <a:effectLst/>
                <a:latin typeface="+mn-lt"/>
                <a:ea typeface="+mn-ea"/>
                <a:cs typeface="+mn-cs"/>
              </a:rPr>
              <a:t> xong, để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được thì cần phải có 4 </a:t>
            </a:r>
            <a:r>
              <a:rPr lang="vi-VN" sz="1200" b="0" i="0" kern="1200" dirty="0" err="1">
                <a:solidFill>
                  <a:schemeClr val="tx1"/>
                </a:solidFill>
                <a:effectLst/>
                <a:latin typeface="+mn-lt"/>
                <a:ea typeface="+mn-ea"/>
                <a:cs typeface="+mn-cs"/>
              </a:rPr>
              <a:t>modules</a:t>
            </a:r>
            <a:r>
              <a:rPr lang="vi-VN" sz="1200" b="0" i="0" kern="1200" dirty="0">
                <a:solidFill>
                  <a:schemeClr val="tx1"/>
                </a:solidFill>
                <a:effectLst/>
                <a:latin typeface="+mn-lt"/>
                <a:ea typeface="+mn-ea"/>
                <a:cs typeface="+mn-cs"/>
              </a:rPr>
              <a:t> này, vậy thì cần phải có một chương trình giả lập </a:t>
            </a:r>
            <a:r>
              <a:rPr lang="vi-VN" sz="1200" b="0" i="0" kern="1200" dirty="0" err="1">
                <a:solidFill>
                  <a:schemeClr val="tx1"/>
                </a:solidFill>
                <a:effectLst/>
                <a:latin typeface="+mn-lt"/>
                <a:ea typeface="+mn-ea"/>
                <a:cs typeface="+mn-cs"/>
              </a:rPr>
              <a:t>module</a:t>
            </a:r>
            <a:r>
              <a:rPr lang="vi-VN" sz="1200" b="0" i="0" kern="1200" dirty="0">
                <a:solidFill>
                  <a:schemeClr val="tx1"/>
                </a:solidFill>
                <a:effectLst/>
                <a:latin typeface="+mn-lt"/>
                <a:ea typeface="+mn-ea"/>
                <a:cs typeface="+mn-cs"/>
              </a:rPr>
              <a:t> này để thực hiện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Chương trình giả lập cho </a:t>
            </a:r>
            <a:r>
              <a:rPr lang="vi-VN" sz="1200" b="0" i="0" kern="1200" dirty="0" err="1">
                <a:solidFill>
                  <a:schemeClr val="tx1"/>
                </a:solidFill>
                <a:effectLst/>
                <a:latin typeface="+mn-lt"/>
                <a:ea typeface="+mn-ea"/>
                <a:cs typeface="+mn-cs"/>
              </a:rPr>
              <a:t>module</a:t>
            </a:r>
            <a:r>
              <a:rPr lang="vi-VN" sz="1200" b="0" i="0" kern="1200" dirty="0">
                <a:solidFill>
                  <a:schemeClr val="tx1"/>
                </a:solidFill>
                <a:effectLst/>
                <a:latin typeface="+mn-lt"/>
                <a:ea typeface="+mn-ea"/>
                <a:cs typeface="+mn-cs"/>
              </a:rPr>
              <a:t> này được gọi là STUB.</a:t>
            </a:r>
            <a:endParaRPr lang="en-US" sz="1200" b="0" i="0" kern="1200" dirty="0">
              <a:solidFill>
                <a:schemeClr val="tx1"/>
              </a:solidFill>
              <a:effectLst/>
              <a:latin typeface="+mn-lt"/>
              <a:ea typeface="+mn-ea"/>
              <a:cs typeface="+mn-cs"/>
            </a:endParaRPr>
          </a:p>
          <a:p>
            <a:pPr marL="0" marR="0" indent="0" algn="l" defTabSz="914306" rtl="0" eaLnBrk="1" fontAlgn="auto" latinLnBrk="0" hangingPunct="1">
              <a:lnSpc>
                <a:spcPct val="100000"/>
              </a:lnSpc>
              <a:spcBef>
                <a:spcPts val="0"/>
              </a:spcBef>
              <a:spcAft>
                <a:spcPts val="0"/>
              </a:spcAft>
              <a:buClrTx/>
              <a:buSzTx/>
              <a:buFontTx/>
              <a:buNone/>
              <a:tabLst/>
              <a:defRPr/>
            </a:pPr>
            <a:endParaRPr lang="en-US" dirty="0"/>
          </a:p>
          <a:p>
            <a:pPr marL="0" marR="0" indent="0" algn="l" defTabSz="914306" rtl="0" eaLnBrk="1" fontAlgn="auto" latinLnBrk="0" hangingPunct="1">
              <a:lnSpc>
                <a:spcPct val="100000"/>
              </a:lnSpc>
              <a:spcBef>
                <a:spcPts val="0"/>
              </a:spcBef>
              <a:spcAft>
                <a:spcPts val="0"/>
              </a:spcAft>
              <a:buClrTx/>
              <a:buSzTx/>
              <a:buFontTx/>
              <a:buNone/>
              <a:tabLst/>
              <a:defRPr/>
            </a:pPr>
            <a:r>
              <a:rPr lang="en-US" dirty="0"/>
              <a:t>Stub: a piece of code that simulates the activity of missing components </a:t>
            </a:r>
          </a:p>
          <a:p>
            <a:pPr marL="0" marR="0" indent="0" algn="l" defTabSz="914306" rtl="0" eaLnBrk="1" fontAlgn="auto" latinLnBrk="0" hangingPunct="1">
              <a:lnSpc>
                <a:spcPct val="100000"/>
              </a:lnSpc>
              <a:spcBef>
                <a:spcPts val="0"/>
              </a:spcBef>
              <a:spcAft>
                <a:spcPts val="0"/>
              </a:spcAft>
              <a:buClrTx/>
              <a:buSzTx/>
              <a:buFontTx/>
              <a:buNone/>
              <a:tabLst/>
              <a:defRPr/>
            </a:pPr>
            <a:r>
              <a:rPr lang="en-US" dirty="0"/>
              <a:t>For example, suppose you are to implement a function called </a:t>
            </a:r>
            <a:r>
              <a:rPr lang="en-US" dirty="0" err="1"/>
              <a:t>generateRandInt</a:t>
            </a:r>
            <a:r>
              <a:rPr lang="en-US" dirty="0"/>
              <a:t>() that returns a random integer from 1 to  100. If you don't know the code yet to do that, you can simply "stub" the function with a temporary "dummy" return value as follows:</a:t>
            </a:r>
          </a:p>
          <a:p>
            <a:r>
              <a:rPr lang="en-US" dirty="0"/>
              <a:t>public int </a:t>
            </a:r>
            <a:r>
              <a:rPr lang="en-US" dirty="0" err="1"/>
              <a:t>generateRandInt</a:t>
            </a:r>
            <a:r>
              <a:rPr lang="en-US" dirty="0"/>
              <a:t>()</a:t>
            </a:r>
          </a:p>
          <a:p>
            <a:r>
              <a:rPr lang="en-US" dirty="0"/>
              <a:t>{</a:t>
            </a:r>
          </a:p>
          <a:p>
            <a:r>
              <a:rPr lang="en-US" dirty="0"/>
              <a:t>return 1; // eventually need to return a random integer 1..100</a:t>
            </a:r>
          </a:p>
          <a:p>
            <a:r>
              <a:rPr lang="en-US" dirty="0"/>
              <a:t>}</a:t>
            </a:r>
          </a:p>
        </p:txBody>
      </p:sp>
      <p:sp>
        <p:nvSpPr>
          <p:cNvPr id="4" name="Slide Number Placeholder 3"/>
          <p:cNvSpPr>
            <a:spLocks noGrp="1"/>
          </p:cNvSpPr>
          <p:nvPr>
            <p:ph type="sldNum" sz="quarter" idx="10"/>
          </p:nvPr>
        </p:nvSpPr>
        <p:spPr/>
        <p:txBody>
          <a:bodyPr/>
          <a:lstStyle/>
          <a:p>
            <a:fld id="{A63B9007-0201-49BE-A587-7F882848EC05}" type="slidenum">
              <a:rPr lang="en-US" smtClean="0"/>
              <a:t>51</a:t>
            </a:fld>
            <a:endParaRPr lang="en-US"/>
          </a:p>
        </p:txBody>
      </p:sp>
    </p:spTree>
    <p:extLst>
      <p:ext uri="{BB962C8B-B14F-4D97-AF65-F5344CB8AC3E}">
        <p14:creationId xmlns:p14="http://schemas.microsoft.com/office/powerpoint/2010/main" val="11830868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7A62AC56-ADBF-45AC-B35B-5C4D33152314}" type="slidenum">
              <a:rPr lang="en-GB"/>
              <a:pPr/>
              <a:t>52</a:t>
            </a:fld>
            <a:endParaRPr lang="en-GB"/>
          </a:p>
        </p:txBody>
      </p:sp>
      <p:sp>
        <p:nvSpPr>
          <p:cNvPr id="310274" name="Rectangle 2050"/>
          <p:cNvSpPr>
            <a:spLocks noGrp="1" noRot="1" noChangeAspect="1" noChangeArrowheads="1" noTextEdit="1"/>
          </p:cNvSpPr>
          <p:nvPr>
            <p:ph type="sldImg"/>
          </p:nvPr>
        </p:nvSpPr>
        <p:spPr>
          <a:xfrm>
            <a:off x="1633538" y="696913"/>
            <a:ext cx="4067175" cy="3049587"/>
          </a:xfrm>
          <a:ln cap="flat"/>
        </p:spPr>
      </p:sp>
      <p:sp>
        <p:nvSpPr>
          <p:cNvPr id="2" name="Notes Placeholder 1"/>
          <p:cNvSpPr>
            <a:spLocks noGrp="1"/>
          </p:cNvSpPr>
          <p:nvPr>
            <p:ph type="body" idx="1"/>
          </p:nvPr>
        </p:nvSpPr>
        <p:spPr/>
        <p:txBody>
          <a:bodyPr/>
          <a:lstStyle/>
          <a:p>
            <a:r>
              <a:rPr lang="en-US" b="0" dirty="0"/>
              <a:t>DRIVER GIỐNG NH</a:t>
            </a:r>
            <a:r>
              <a:rPr lang="vi-VN" b="0" dirty="0"/>
              <a:t>Ư</a:t>
            </a:r>
            <a:r>
              <a:rPr lang="en-US" b="0" dirty="0"/>
              <a:t> 1 CH</a:t>
            </a:r>
            <a:r>
              <a:rPr lang="vi-VN" b="0" dirty="0"/>
              <a:t>ƯƠ</a:t>
            </a:r>
            <a:r>
              <a:rPr lang="en-US" b="0" dirty="0"/>
              <a:t>NG TRÌNH CHÍNH ĐỂ TEST HÀM TRONG CLASS, </a:t>
            </a:r>
            <a:r>
              <a:rPr lang="en-US" b="0" dirty="0" err="1"/>
              <a:t>vd</a:t>
            </a:r>
            <a:r>
              <a:rPr lang="en-US" b="0" dirty="0"/>
              <a:t>/</a:t>
            </a:r>
          </a:p>
          <a:p>
            <a:r>
              <a:rPr lang="en-US" b="0" dirty="0"/>
              <a:t>public class </a:t>
            </a:r>
            <a:r>
              <a:rPr lang="en-US" b="1" dirty="0" err="1"/>
              <a:t>RandIntTest</a:t>
            </a:r>
            <a:r>
              <a:rPr lang="en-US" b="1" dirty="0"/>
              <a:t> </a:t>
            </a:r>
            <a:r>
              <a:rPr lang="en-US" b="1" baseline="0" dirty="0"/>
              <a:t>  // DRIVER</a:t>
            </a:r>
            <a:endParaRPr lang="en-US" b="1" dirty="0"/>
          </a:p>
          <a:p>
            <a:r>
              <a:rPr lang="en-US" b="0" dirty="0"/>
              <a:t>{</a:t>
            </a:r>
          </a:p>
          <a:p>
            <a:r>
              <a:rPr lang="en-US" b="0" dirty="0"/>
              <a:t>public static void main(String[] </a:t>
            </a:r>
            <a:r>
              <a:rPr lang="en-US" b="0" dirty="0" err="1"/>
              <a:t>args</a:t>
            </a:r>
            <a:r>
              <a:rPr lang="en-US" b="0" dirty="0"/>
              <a:t>)</a:t>
            </a:r>
          </a:p>
          <a:p>
            <a:r>
              <a:rPr lang="en-US" b="0" dirty="0"/>
              <a:t>{</a:t>
            </a:r>
          </a:p>
          <a:p>
            <a:r>
              <a:rPr lang="en-US" b="0" dirty="0" err="1"/>
              <a:t>RandInt</a:t>
            </a:r>
            <a:r>
              <a:rPr lang="en-US" b="0" dirty="0"/>
              <a:t> </a:t>
            </a:r>
            <a:r>
              <a:rPr lang="en-US" b="0" dirty="0" err="1"/>
              <a:t>myRand</a:t>
            </a:r>
            <a:r>
              <a:rPr lang="en-US" b="0" dirty="0"/>
              <a:t> = new </a:t>
            </a:r>
            <a:r>
              <a:rPr lang="en-US" b="0" dirty="0" err="1"/>
              <a:t>RandInt</a:t>
            </a:r>
            <a:r>
              <a:rPr lang="en-US" b="0" dirty="0"/>
              <a:t>();</a:t>
            </a:r>
          </a:p>
          <a:p>
            <a:r>
              <a:rPr lang="en-US" b="0" dirty="0" err="1"/>
              <a:t>System.out.println</a:t>
            </a:r>
            <a:r>
              <a:rPr lang="en-US" b="0" dirty="0"/>
              <a:t>("My first rand int is :" + </a:t>
            </a:r>
            <a:r>
              <a:rPr lang="en-US" b="0" dirty="0" err="1"/>
              <a:t>myRand.generateRandInt</a:t>
            </a:r>
            <a:r>
              <a:rPr lang="en-US" b="0" dirty="0"/>
              <a:t>());  // </a:t>
            </a:r>
            <a:r>
              <a:rPr lang="en-US" b="0" dirty="0">
                <a:sym typeface="Wingdings" pitchFamily="2" charset="2"/>
              </a:rPr>
              <a:t> </a:t>
            </a:r>
            <a:r>
              <a:rPr lang="en-US" b="1" dirty="0">
                <a:sym typeface="Wingdings" pitchFamily="2" charset="2"/>
              </a:rPr>
              <a:t>CH</a:t>
            </a:r>
            <a:r>
              <a:rPr lang="vi-VN" b="1" dirty="0">
                <a:sym typeface="Wingdings" pitchFamily="2" charset="2"/>
              </a:rPr>
              <a:t>Ư</a:t>
            </a:r>
            <a:r>
              <a:rPr lang="en-US" b="1" dirty="0">
                <a:sym typeface="Wingdings" pitchFamily="2" charset="2"/>
              </a:rPr>
              <a:t>A VIẾT HOÀN CHỈNH HÀM </a:t>
            </a:r>
            <a:r>
              <a:rPr lang="en-US" b="1" dirty="0" err="1"/>
              <a:t>generateRandInt</a:t>
            </a:r>
            <a:endParaRPr lang="en-US" b="1" dirty="0"/>
          </a:p>
          <a:p>
            <a:r>
              <a:rPr lang="en-US" b="0" dirty="0"/>
              <a:t>}</a:t>
            </a:r>
          </a:p>
          <a:p>
            <a:r>
              <a:rPr lang="en-US" b="0" dirty="0"/>
              <a:t>}</a:t>
            </a:r>
          </a:p>
        </p:txBody>
      </p:sp>
    </p:spTree>
    <p:extLst>
      <p:ext uri="{BB962C8B-B14F-4D97-AF65-F5344CB8AC3E}">
        <p14:creationId xmlns:p14="http://schemas.microsoft.com/office/powerpoint/2010/main" val="38375177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53</a:t>
            </a:fld>
            <a:endParaRPr lang="en-US"/>
          </a:p>
        </p:txBody>
      </p:sp>
    </p:spTree>
    <p:extLst>
      <p:ext uri="{BB962C8B-B14F-4D97-AF65-F5344CB8AC3E}">
        <p14:creationId xmlns:p14="http://schemas.microsoft.com/office/powerpoint/2010/main" val="570620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Top-down</a:t>
            </a:r>
            <a:r>
              <a:rPr lang="vi-VN" sz="1200" b="0" i="0" kern="1200" dirty="0">
                <a:solidFill>
                  <a:schemeClr val="tx1"/>
                </a:solidFill>
                <a:effectLst/>
                <a:latin typeface="+mn-lt"/>
                <a:ea typeface="+mn-ea"/>
                <a:cs typeface="+mn-cs"/>
              </a:rPr>
              <a:t>: thử nghiệm diễn ra từ trên xuống dưới, theo các dòng điều khiển</a:t>
            </a:r>
            <a:r>
              <a:rPr lang="en-US" sz="1200" b="0" i="0" kern="1200" dirty="0">
                <a:solidFill>
                  <a:schemeClr val="tx1"/>
                </a:solidFill>
                <a:effectLst/>
                <a:latin typeface="+mn-lt"/>
                <a:ea typeface="+mn-ea"/>
                <a:cs typeface="+mn-cs"/>
              </a:rPr>
              <a:t> (control flow)</a:t>
            </a:r>
            <a:r>
              <a:rPr lang="vi-VN" sz="1200" b="0" i="0" kern="1200" dirty="0">
                <a:solidFill>
                  <a:schemeClr val="tx1"/>
                </a:solidFill>
                <a:effectLst/>
                <a:latin typeface="+mn-lt"/>
                <a:ea typeface="+mn-ea"/>
                <a:cs typeface="+mn-cs"/>
              </a:rPr>
              <a:t> hoặc cấu trúc kiến trúc (ví dụ như bắt đầu từ GUI</a:t>
            </a:r>
            <a:r>
              <a:rPr lang="en-US" sz="1200" b="0" i="0" kern="1200" dirty="0">
                <a:solidFill>
                  <a:schemeClr val="tx1"/>
                </a:solidFill>
                <a:effectLst/>
                <a:latin typeface="+mn-lt"/>
                <a:ea typeface="+mn-ea"/>
                <a:cs typeface="+mn-cs"/>
              </a:rPr>
              <a:t> hay </a:t>
            </a:r>
            <a:r>
              <a:rPr lang="vi-VN" sz="1200" b="0" i="0" kern="1200" dirty="0" err="1">
                <a:solidFill>
                  <a:schemeClr val="tx1"/>
                </a:solidFill>
                <a:effectLst/>
                <a:latin typeface="+mn-lt"/>
                <a:ea typeface="+mn-ea"/>
                <a:cs typeface="+mn-cs"/>
              </a:rPr>
              <a:t>menu</a:t>
            </a:r>
            <a:r>
              <a:rPr lang="vi-VN" sz="1200" b="0" i="0" kern="1200" dirty="0">
                <a:solidFill>
                  <a:schemeClr val="tx1"/>
                </a:solidFill>
                <a:effectLst/>
                <a:latin typeface="+mn-lt"/>
                <a:ea typeface="+mn-ea"/>
                <a:cs typeface="+mn-cs"/>
              </a:rPr>
              <a:t> chính).</a:t>
            </a:r>
            <a:endParaRPr lang="en-US" dirty="0"/>
          </a:p>
          <a:p>
            <a:pPr marL="0" indent="0">
              <a:buFontTx/>
              <a:buNone/>
            </a:pPr>
            <a:r>
              <a:rPr lang="en-US" dirty="0"/>
              <a:t>- Ở</a:t>
            </a:r>
            <a:r>
              <a:rPr lang="en-US" baseline="0" dirty="0"/>
              <a:t> baseline 0: </a:t>
            </a:r>
            <a:r>
              <a:rPr lang="en-US" baseline="0" dirty="0" err="1"/>
              <a:t>để</a:t>
            </a:r>
            <a:r>
              <a:rPr lang="en-US" baseline="0" dirty="0"/>
              <a:t> test a, </a:t>
            </a:r>
            <a:r>
              <a:rPr lang="en-US" baseline="0" dirty="0" err="1"/>
              <a:t>cần</a:t>
            </a:r>
            <a:r>
              <a:rPr lang="en-US" baseline="0" dirty="0"/>
              <a:t> </a:t>
            </a:r>
            <a:r>
              <a:rPr lang="en-US" baseline="0" dirty="0" err="1"/>
              <a:t>tạo</a:t>
            </a:r>
            <a:r>
              <a:rPr lang="en-US" baseline="0" dirty="0"/>
              <a:t> stub </a:t>
            </a:r>
            <a:r>
              <a:rPr lang="en-US" baseline="0" dirty="0" err="1"/>
              <a:t>cho</a:t>
            </a:r>
            <a:r>
              <a:rPr lang="en-US" baseline="0" dirty="0"/>
              <a:t> </a:t>
            </a:r>
            <a:r>
              <a:rPr lang="en-US" baseline="0" dirty="0" err="1"/>
              <a:t>b,c</a:t>
            </a:r>
            <a:r>
              <a:rPr lang="en-US" baseline="0" dirty="0"/>
              <a:t>. Sau </a:t>
            </a:r>
            <a:r>
              <a:rPr lang="en-US" baseline="0" dirty="0" err="1"/>
              <a:t>khi</a:t>
            </a:r>
            <a:r>
              <a:rPr lang="en-US" baseline="0" dirty="0"/>
              <a:t> test </a:t>
            </a:r>
            <a:r>
              <a:rPr lang="en-US" baseline="0" dirty="0" err="1"/>
              <a:t>thành</a:t>
            </a:r>
            <a:r>
              <a:rPr lang="en-US" baseline="0" dirty="0"/>
              <a:t> </a:t>
            </a:r>
            <a:r>
              <a:rPr lang="en-US" baseline="0" dirty="0" err="1"/>
              <a:t>công</a:t>
            </a:r>
            <a:r>
              <a:rPr lang="en-US" baseline="0" dirty="0"/>
              <a:t>, </a:t>
            </a:r>
            <a:r>
              <a:rPr lang="en-US" baseline="0" dirty="0" err="1"/>
              <a:t>sẽ</a:t>
            </a:r>
            <a:r>
              <a:rPr lang="en-US" baseline="0" dirty="0"/>
              <a:t> </a:t>
            </a:r>
            <a:r>
              <a:rPr lang="en-US" baseline="0" dirty="0" err="1"/>
              <a:t>lần</a:t>
            </a:r>
            <a:r>
              <a:rPr lang="en-US" baseline="0" dirty="0"/>
              <a:t> </a:t>
            </a:r>
            <a:r>
              <a:rPr lang="en-US" baseline="0" dirty="0" err="1"/>
              <a:t>lượt</a:t>
            </a:r>
            <a:r>
              <a:rPr lang="en-US" baseline="0" dirty="0"/>
              <a:t> </a:t>
            </a:r>
            <a:r>
              <a:rPr lang="en-US" baseline="0" dirty="0" err="1"/>
              <a:t>thay</a:t>
            </a:r>
            <a:r>
              <a:rPr lang="en-US" baseline="0" dirty="0"/>
              <a:t> </a:t>
            </a:r>
            <a:r>
              <a:rPr lang="en-US" baseline="0" dirty="0" err="1"/>
              <a:t>các</a:t>
            </a:r>
            <a:r>
              <a:rPr lang="en-US" baseline="0" dirty="0"/>
              <a:t> stub </a:t>
            </a:r>
            <a:r>
              <a:rPr lang="en-US" baseline="0" dirty="0" err="1"/>
              <a:t>bằng</a:t>
            </a:r>
            <a:r>
              <a:rPr lang="en-US" baseline="0" dirty="0"/>
              <a:t> </a:t>
            </a:r>
            <a:r>
              <a:rPr lang="en-US" baseline="0" dirty="0" err="1"/>
              <a:t>các</a:t>
            </a:r>
            <a:r>
              <a:rPr lang="en-US" baseline="0" dirty="0"/>
              <a:t> module </a:t>
            </a:r>
            <a:r>
              <a:rPr lang="en-US" baseline="0" dirty="0" err="1"/>
              <a:t>thật</a:t>
            </a:r>
            <a:r>
              <a:rPr lang="en-US" baseline="0" dirty="0"/>
              <a:t> </a:t>
            </a:r>
            <a:r>
              <a:rPr lang="en-US" baseline="0" dirty="0" err="1"/>
              <a:t>sự</a:t>
            </a:r>
            <a:r>
              <a:rPr lang="en-US" baseline="0" dirty="0"/>
              <a:t>, </a:t>
            </a:r>
            <a:r>
              <a:rPr lang="en-US" baseline="0" dirty="0" err="1"/>
              <a:t>lại</a:t>
            </a:r>
            <a:r>
              <a:rPr lang="en-US" baseline="0" dirty="0"/>
              <a:t> </a:t>
            </a:r>
            <a:r>
              <a:rPr lang="en-US" baseline="0" dirty="0" err="1"/>
              <a:t>tiếp</a:t>
            </a:r>
            <a:r>
              <a:rPr lang="en-US" baseline="0" dirty="0"/>
              <a:t> </a:t>
            </a:r>
            <a:r>
              <a:rPr lang="en-US" baseline="0" dirty="0" err="1"/>
              <a:t>tục</a:t>
            </a:r>
            <a:r>
              <a:rPr lang="en-US" baseline="0" dirty="0"/>
              <a:t>.</a:t>
            </a:r>
          </a:p>
          <a:p>
            <a:pPr marL="0" indent="0">
              <a:buFontTx/>
              <a:buNone/>
            </a:pPr>
            <a:r>
              <a:rPr lang="en-US" baseline="0" dirty="0"/>
              <a:t>       - </a:t>
            </a:r>
            <a:r>
              <a:rPr lang="en-US" baseline="0" dirty="0" err="1"/>
              <a:t>khi</a:t>
            </a:r>
            <a:r>
              <a:rPr lang="en-US" baseline="0" dirty="0"/>
              <a:t> test </a:t>
            </a:r>
            <a:r>
              <a:rPr lang="en-US" baseline="0" dirty="0" err="1"/>
              <a:t>a,b,c,d</a:t>
            </a:r>
            <a:r>
              <a:rPr lang="en-US" baseline="0" dirty="0"/>
              <a:t> </a:t>
            </a:r>
            <a:r>
              <a:rPr lang="en-US" baseline="0" dirty="0" err="1"/>
              <a:t>thì</a:t>
            </a:r>
            <a:r>
              <a:rPr lang="en-US" baseline="0" dirty="0"/>
              <a:t> </a:t>
            </a:r>
            <a:r>
              <a:rPr lang="en-US" baseline="0" dirty="0" err="1"/>
              <a:t>cần</a:t>
            </a:r>
            <a:r>
              <a:rPr lang="en-US" baseline="0" dirty="0"/>
              <a:t> </a:t>
            </a:r>
            <a:r>
              <a:rPr lang="en-US" baseline="0" dirty="0" err="1"/>
              <a:t>tạo</a:t>
            </a:r>
            <a:r>
              <a:rPr lang="en-US" baseline="0" dirty="0"/>
              <a:t> </a:t>
            </a:r>
            <a:r>
              <a:rPr lang="en-US" baseline="0" dirty="0" err="1"/>
              <a:t>các</a:t>
            </a:r>
            <a:r>
              <a:rPr lang="en-US" baseline="0" dirty="0"/>
              <a:t> stub </a:t>
            </a:r>
            <a:r>
              <a:rPr lang="en-US" baseline="0" dirty="0" err="1"/>
              <a:t>cho</a:t>
            </a:r>
            <a:r>
              <a:rPr lang="en-US" baseline="0" dirty="0"/>
              <a:t> </a:t>
            </a:r>
            <a:r>
              <a:rPr lang="en-US" baseline="0" dirty="0" err="1"/>
              <a:t>e,f,g,h,i,j</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54</a:t>
            </a:fld>
            <a:endParaRPr lang="en-US"/>
          </a:p>
        </p:txBody>
      </p:sp>
    </p:spTree>
    <p:extLst>
      <p:ext uri="{BB962C8B-B14F-4D97-AF65-F5344CB8AC3E}">
        <p14:creationId xmlns:p14="http://schemas.microsoft.com/office/powerpoint/2010/main" val="39926120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CEEE64CD-0DB9-4888-B003-BFBF0ECA93FF}" type="slidenum">
              <a:rPr lang="en-GB"/>
              <a:pPr/>
              <a:t>55</a:t>
            </a:fld>
            <a:endParaRPr lang="en-GB"/>
          </a:p>
        </p:txBody>
      </p:sp>
      <p:sp>
        <p:nvSpPr>
          <p:cNvPr id="304130" name="Rectangle 2"/>
          <p:cNvSpPr>
            <a:spLocks noGrp="1" noRot="1" noChangeAspect="1" noChangeArrowheads="1" noTextEdit="1"/>
          </p:cNvSpPr>
          <p:nvPr>
            <p:ph type="sldImg"/>
          </p:nvPr>
        </p:nvSpPr>
        <p:spPr>
          <a:xfrm>
            <a:off x="1633538" y="696913"/>
            <a:ext cx="4067175" cy="3049587"/>
          </a:xfrm>
          <a:ln cap="flat"/>
        </p:spPr>
      </p:sp>
      <p:sp>
        <p:nvSpPr>
          <p:cNvPr id="2" name="Notes Placeholder 1"/>
          <p:cNvSpPr>
            <a:spLocks noGrp="1"/>
          </p:cNvSpPr>
          <p:nvPr>
            <p:ph type="body" idx="1"/>
          </p:nvPr>
        </p:nvSpPr>
        <p:spPr/>
        <p:txBody>
          <a:bodyPr/>
          <a:lstStyle/>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Ưu điểm:</a:t>
            </a:r>
            <a:endParaRPr lang="en-US" sz="1200" b="0" i="0" kern="1200" dirty="0">
              <a:solidFill>
                <a:schemeClr val="tx1"/>
              </a:solidFill>
              <a:effectLst/>
              <a:latin typeface="+mn-lt"/>
              <a:ea typeface="+mn-ea"/>
              <a:cs typeface="+mn-cs"/>
            </a:endParaRPr>
          </a:p>
          <a:p>
            <a:pPr marL="457153" lvl="1" indent="0">
              <a:buFontTx/>
              <a:buNone/>
            </a:pPr>
            <a:r>
              <a:rPr lang="vi-VN" dirty="0"/>
              <a:t>■</a:t>
            </a:r>
            <a:r>
              <a:rPr lang="en-US" dirty="0"/>
              <a:t> </a:t>
            </a:r>
            <a:r>
              <a:rPr lang="en-US" sz="1200" b="0" i="0" kern="1200" dirty="0" err="1">
                <a:solidFill>
                  <a:schemeClr val="tx1"/>
                </a:solidFill>
                <a:effectLst/>
                <a:latin typeface="+mn-lt"/>
                <a:ea typeface="+mn-ea"/>
                <a:cs typeface="+mn-cs"/>
              </a:rPr>
              <a:t>phần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quan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trọng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test</a:t>
            </a:r>
            <a:r>
              <a:rPr lang="vi-VN"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trước</a:t>
            </a:r>
            <a:r>
              <a:rPr lang="vi-VN" sz="1200" b="0" i="0" kern="1200" dirty="0">
                <a:solidFill>
                  <a:schemeClr val="tx1"/>
                </a:solidFill>
                <a:effectLst/>
                <a:latin typeface="+mn-lt"/>
                <a:ea typeface="+mn-ea"/>
                <a:cs typeface="+mn-cs"/>
              </a:rPr>
              <a:t> và thường xuyên nhất</a:t>
            </a:r>
            <a:endParaRPr lang="en-US" sz="1200" b="0" i="0" kern="1200" dirty="0">
              <a:solidFill>
                <a:schemeClr val="tx1"/>
              </a:solidFill>
              <a:effectLst/>
              <a:latin typeface="+mn-lt"/>
              <a:ea typeface="+mn-ea"/>
              <a:cs typeface="+mn-cs"/>
            </a:endParaRPr>
          </a:p>
          <a:p>
            <a:pPr marL="457153" lvl="1" indent="0">
              <a:buFontTx/>
              <a:buNone/>
            </a:pPr>
            <a:r>
              <a:rPr lang="vi-VN" dirty="0"/>
              <a:t>■</a:t>
            </a:r>
            <a:r>
              <a:rPr lang="en-US" dirty="0"/>
              <a:t> </a:t>
            </a:r>
            <a:r>
              <a:rPr lang="vi-VN" sz="1200" b="0" i="0" kern="1200" dirty="0">
                <a:solidFill>
                  <a:schemeClr val="tx1"/>
                </a:solidFill>
                <a:effectLst/>
                <a:latin typeface="+mn-lt"/>
                <a:ea typeface="+mn-ea"/>
                <a:cs typeface="+mn-cs"/>
              </a:rPr>
              <a:t>có thể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thấy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rõ</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cả</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hệ thống sớm (</a:t>
            </a:r>
            <a:r>
              <a:rPr lang="en-US" sz="1200" b="0" i="0" kern="1200" dirty="0" err="1">
                <a:solidFill>
                  <a:schemeClr val="tx1"/>
                </a:solidFill>
                <a:effectLst/>
                <a:latin typeface="+mn-lt"/>
                <a:ea typeface="+mn-ea"/>
                <a:cs typeface="+mn-cs"/>
              </a:rPr>
              <a:t>thông</a:t>
            </a:r>
            <a:r>
              <a:rPr lang="en-US" sz="1200" b="0" i="0" kern="1200" baseline="0" dirty="0">
                <a:solidFill>
                  <a:schemeClr val="tx1"/>
                </a:solidFill>
                <a:effectLst/>
                <a:latin typeface="+mn-lt"/>
                <a:ea typeface="+mn-ea"/>
                <a:cs typeface="+mn-cs"/>
              </a:rPr>
              <a:t> qua </a:t>
            </a:r>
            <a:r>
              <a:rPr lang="vi-VN" sz="1200" b="0" i="0" kern="1200" dirty="0">
                <a:solidFill>
                  <a:schemeClr val="tx1"/>
                </a:solidFill>
                <a:effectLst/>
                <a:latin typeface="+mn-lt"/>
                <a:ea typeface="+mn-ea"/>
                <a:cs typeface="+mn-cs"/>
              </a:rPr>
              <a:t>hiển thị các </a:t>
            </a:r>
            <a:r>
              <a:rPr lang="vi-VN" sz="1200" b="0" i="0" kern="1200" dirty="0" err="1">
                <a:solidFill>
                  <a:schemeClr val="tx1"/>
                </a:solidFill>
                <a:effectLst/>
                <a:latin typeface="+mn-lt"/>
                <a:ea typeface="+mn-ea"/>
                <a:cs typeface="+mn-cs"/>
              </a:rPr>
              <a:t>menu</a:t>
            </a:r>
            <a:r>
              <a:rPr lang="vi-VN" sz="1200" b="0" i="0" kern="1200" dirty="0">
                <a:solidFill>
                  <a:schemeClr val="tx1"/>
                </a:solidFill>
                <a:effectLst/>
                <a:latin typeface="+mn-lt"/>
                <a:ea typeface="+mn-ea"/>
                <a:cs typeface="+mn-cs"/>
              </a:rPr>
              <a:t> làm việc)</a:t>
            </a:r>
            <a:r>
              <a:rPr lang="en-US" sz="1200" b="0" i="0" kern="1200" dirty="0">
                <a:solidFill>
                  <a:schemeClr val="tx1"/>
                </a:solidFill>
                <a:effectLst/>
                <a:latin typeface="+mn-lt"/>
                <a:ea typeface="+mn-ea"/>
                <a:cs typeface="+mn-cs"/>
              </a:rPr>
              <a:t>.</a:t>
            </a:r>
          </a:p>
          <a:p>
            <a:pPr marL="0" lv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Nhược điểm:</a:t>
            </a:r>
            <a:endParaRPr lang="en-US" sz="1200" b="0" i="0" kern="1200" dirty="0">
              <a:solidFill>
                <a:schemeClr val="tx1"/>
              </a:solidFill>
              <a:effectLst/>
              <a:latin typeface="+mn-lt"/>
              <a:ea typeface="+mn-ea"/>
              <a:cs typeface="+mn-cs"/>
            </a:endParaRPr>
          </a:p>
          <a:p>
            <a:pPr marL="457153" lvl="1" indent="0">
              <a:buFontTx/>
              <a:buNone/>
            </a:pPr>
            <a:r>
              <a:rPr lang="vi-VN" dirty="0"/>
              <a:t>■</a:t>
            </a:r>
            <a:r>
              <a:rPr lang="en-US" dirty="0"/>
              <a:t> </a:t>
            </a:r>
            <a:r>
              <a:rPr lang="en-US" sz="1200" b="0" i="0" kern="1200" dirty="0" err="1">
                <a:solidFill>
                  <a:schemeClr val="tx1"/>
                </a:solidFill>
                <a:effectLst/>
                <a:latin typeface="+mn-lt"/>
                <a:ea typeface="+mn-ea"/>
                <a:cs typeface="+mn-cs"/>
              </a:rPr>
              <a:t>cần</a:t>
            </a:r>
            <a:r>
              <a:rPr lang="en-US" sz="1200" b="0" i="0" kern="1200" baseline="0" dirty="0">
                <a:solidFill>
                  <a:schemeClr val="tx1"/>
                </a:solidFill>
                <a:effectLst/>
                <a:latin typeface="+mn-lt"/>
                <a:ea typeface="+mn-ea"/>
                <a:cs typeface="+mn-cs"/>
              </a:rPr>
              <a:t> </a:t>
            </a:r>
            <a:r>
              <a:rPr lang="en-GB" dirty="0"/>
              <a:t>stubs</a:t>
            </a:r>
            <a:endParaRPr lang="en-US" sz="1200" b="0" i="0" kern="1200" dirty="0">
              <a:solidFill>
                <a:schemeClr val="tx1"/>
              </a:solidFill>
              <a:effectLst/>
              <a:latin typeface="+mn-lt"/>
              <a:ea typeface="+mn-ea"/>
              <a:cs typeface="+mn-cs"/>
            </a:endParaRPr>
          </a:p>
          <a:p>
            <a:pPr marL="457153" lvl="1" indent="0">
              <a:buFontTx/>
              <a:buNone/>
            </a:pPr>
            <a:r>
              <a:rPr lang="vi-VN" dirty="0"/>
              <a:t>■</a:t>
            </a:r>
            <a:r>
              <a:rPr lang="en-US" dirty="0"/>
              <a:t> </a:t>
            </a:r>
            <a:r>
              <a:rPr lang="en-US" sz="1200" b="0" i="0" kern="1200" dirty="0">
                <a:solidFill>
                  <a:schemeClr val="tx1"/>
                </a:solidFill>
                <a:effectLst/>
                <a:latin typeface="+mn-lt"/>
                <a:ea typeface="+mn-ea"/>
                <a:cs typeface="+mn-cs"/>
              </a:rPr>
              <a:t>ko </a:t>
            </a:r>
            <a:r>
              <a:rPr lang="en-US" sz="1200" b="0" i="0" kern="1200" dirty="0" err="1">
                <a:solidFill>
                  <a:schemeClr val="tx1"/>
                </a:solidFill>
                <a:effectLst/>
                <a:latin typeface="+mn-lt"/>
                <a:ea typeface="+mn-ea"/>
                <a:cs typeface="+mn-cs"/>
              </a:rPr>
              <a:t>thấy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chi tiết cho đến </a:t>
            </a:r>
            <a:r>
              <a:rPr lang="en-US" sz="1200" b="0" i="0" kern="1200" dirty="0" err="1">
                <a:solidFill>
                  <a:schemeClr val="tx1"/>
                </a:solidFill>
                <a:effectLst/>
                <a:latin typeface="+mn-lt"/>
                <a:ea typeface="+mn-ea"/>
                <a:cs typeface="+mn-cs"/>
              </a:rPr>
              <a:t>bước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tích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hợp</a:t>
            </a:r>
            <a:r>
              <a:rPr lang="vi-VN" sz="1200" b="0" i="0" kern="1200" dirty="0">
                <a:solidFill>
                  <a:schemeClr val="tx1"/>
                </a:solidFill>
                <a:effectLst/>
                <a:latin typeface="+mn-lt"/>
                <a:ea typeface="+mn-ea"/>
                <a:cs typeface="+mn-cs"/>
              </a:rPr>
              <a:t> cuối cùng</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030453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56</a:t>
            </a:fld>
            <a:endParaRPr lang="en-US"/>
          </a:p>
        </p:txBody>
      </p:sp>
    </p:spTree>
    <p:extLst>
      <p:ext uri="{BB962C8B-B14F-4D97-AF65-F5344CB8AC3E}">
        <p14:creationId xmlns:p14="http://schemas.microsoft.com/office/powerpoint/2010/main" val="9940878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5D4F10CD-FF2C-44E6-95B5-3D09CC688BF1}" type="slidenum">
              <a:rPr lang="en-GB"/>
              <a:pPr/>
              <a:t>57</a:t>
            </a:fld>
            <a:endParaRPr lang="en-GB"/>
          </a:p>
        </p:txBody>
      </p:sp>
      <p:sp>
        <p:nvSpPr>
          <p:cNvPr id="312322" name="Rectangle 1026"/>
          <p:cNvSpPr>
            <a:spLocks noGrp="1" noRot="1" noChangeAspect="1" noChangeArrowheads="1" noTextEdit="1"/>
          </p:cNvSpPr>
          <p:nvPr>
            <p:ph type="sldImg"/>
          </p:nvPr>
        </p:nvSpPr>
        <p:spPr>
          <a:xfrm>
            <a:off x="1633538" y="696913"/>
            <a:ext cx="4067175" cy="3049587"/>
          </a:xfrm>
          <a:ln cap="flat"/>
        </p:spPr>
      </p:sp>
      <p:sp>
        <p:nvSpPr>
          <p:cNvPr id="2" name="Notes Placeholder 1"/>
          <p:cNvSpPr>
            <a:spLocks noGrp="1"/>
          </p:cNvSpPr>
          <p:nvPr>
            <p:ph type="body" idx="1"/>
          </p:nvPr>
        </p:nvSpPr>
        <p:spPr/>
        <p:txBody>
          <a:bodyPr/>
          <a:lstStyle/>
          <a:p>
            <a:pPr marL="0" indent="0">
              <a:buFontTx/>
              <a:buNone/>
            </a:pPr>
            <a:r>
              <a:rPr lang="en-US" sz="1200" b="0" i="0" kern="1200" dirty="0">
                <a:solidFill>
                  <a:schemeClr val="tx1"/>
                </a:solidFill>
                <a:effectLst/>
                <a:latin typeface="+mn-lt"/>
                <a:ea typeface="+mn-ea"/>
                <a:cs typeface="+mn-cs"/>
              </a:rPr>
              <a:t>LỰA CHỌN PP NÀO??</a:t>
            </a:r>
          </a:p>
          <a:p>
            <a:pPr marL="0" indent="0">
              <a:buFontTx/>
              <a:buNone/>
            </a:pPr>
            <a:r>
              <a:rPr lang="vi-VN" sz="1200" b="0" i="0" kern="1200" dirty="0">
                <a:solidFill>
                  <a:schemeClr val="tx1"/>
                </a:solidFill>
                <a:effectLst/>
                <a:latin typeface="+mn-lt"/>
                <a:ea typeface="+mn-ea"/>
                <a:cs typeface="+mn-cs"/>
              </a:rPr>
              <a:t>Tốt nhất là bắt đầu </a:t>
            </a:r>
            <a:r>
              <a:rPr lang="en-US" sz="1200" b="0" i="0" kern="1200" dirty="0" err="1">
                <a:solidFill>
                  <a:schemeClr val="tx1"/>
                </a:solidFill>
                <a:effectLst/>
                <a:latin typeface="+mn-lt"/>
                <a:ea typeface="+mn-ea"/>
                <a:cs typeface="+mn-cs"/>
              </a:rPr>
              <a:t>tích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hợp</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các </a:t>
            </a:r>
            <a:r>
              <a:rPr lang="vi-VN" sz="1200" b="0" i="0" kern="1200" dirty="0" err="1">
                <a:solidFill>
                  <a:schemeClr val="tx1"/>
                </a:solidFill>
                <a:effectLst/>
                <a:latin typeface="+mn-lt"/>
                <a:ea typeface="+mn-ea"/>
                <a:cs typeface="+mn-cs"/>
              </a:rPr>
              <a:t>interface</a:t>
            </a:r>
            <a:r>
              <a:rPr lang="vi-VN" sz="1200" b="0" i="0" kern="1200" dirty="0">
                <a:solidFill>
                  <a:schemeClr val="tx1"/>
                </a:solidFill>
                <a:effectLst/>
                <a:latin typeface="+mn-lt"/>
                <a:ea typeface="+mn-ea"/>
                <a:cs typeface="+mn-cs"/>
              </a:rPr>
              <a:t> được đoán trước ​​sẽ gây ra vấn đề. Làm như vậy sẽ ngăn ngừa </a:t>
            </a:r>
            <a:r>
              <a:rPr lang="vi-VN" sz="1200" b="0" i="0" kern="1200" dirty="0" err="1">
                <a:solidFill>
                  <a:schemeClr val="tx1"/>
                </a:solidFill>
                <a:effectLst/>
                <a:latin typeface="+mn-lt"/>
                <a:ea typeface="+mn-ea"/>
                <a:cs typeface="+mn-cs"/>
              </a:rPr>
              <a:t>dc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defect</a:t>
            </a:r>
            <a:r>
              <a:rPr lang="vi-VN" sz="1200" b="0" i="0" kern="1200" dirty="0">
                <a:solidFill>
                  <a:schemeClr val="tx1"/>
                </a:solidFill>
                <a:effectLst/>
                <a:latin typeface="+mn-lt"/>
                <a:ea typeface="+mn-ea"/>
                <a:cs typeface="+mn-cs"/>
              </a:rPr>
              <a:t> lớn ở cuối giai đoạn tích hợp. Để giảm nguy cơ phát hiện </a:t>
            </a:r>
            <a:r>
              <a:rPr lang="vi-VN" sz="1200" b="0" i="0" kern="1200" dirty="0" err="1">
                <a:solidFill>
                  <a:schemeClr val="tx1"/>
                </a:solidFill>
                <a:effectLst/>
                <a:latin typeface="+mn-lt"/>
                <a:ea typeface="+mn-ea"/>
                <a:cs typeface="+mn-cs"/>
              </a:rPr>
              <a:t>defect</a:t>
            </a:r>
            <a:r>
              <a:rPr lang="vi-VN" sz="1200" b="0" i="0" kern="1200" dirty="0">
                <a:solidFill>
                  <a:schemeClr val="tx1"/>
                </a:solidFill>
                <a:effectLst/>
                <a:latin typeface="+mn-lt"/>
                <a:ea typeface="+mn-ea"/>
                <a:cs typeface="+mn-cs"/>
              </a:rPr>
              <a:t> trễ, nên sử dụng</a:t>
            </a:r>
            <a:r>
              <a:rPr lang="vi-VN" sz="1200" b="0" i="0" kern="1200" baseline="0" dirty="0">
                <a:solidFill>
                  <a:schemeClr val="tx1"/>
                </a:solidFill>
                <a:effectLst/>
                <a:latin typeface="+mn-lt"/>
                <a:ea typeface="+mn-ea"/>
                <a:cs typeface="+mn-cs"/>
              </a:rPr>
              <a:t> tích hợp </a:t>
            </a:r>
            <a:r>
              <a:rPr lang="vi-VN" sz="1200" b="0" i="0" kern="1200" baseline="0" dirty="0" err="1">
                <a:solidFill>
                  <a:schemeClr val="tx1"/>
                </a:solidFill>
                <a:effectLst/>
                <a:latin typeface="+mn-lt"/>
                <a:ea typeface="+mn-ea"/>
                <a:cs typeface="+mn-cs"/>
              </a:rPr>
              <a:t>increamental</a:t>
            </a:r>
            <a:r>
              <a:rPr lang="vi-VN" sz="1200" b="0" i="0" kern="1200" dirty="0">
                <a:solidFill>
                  <a:schemeClr val="tx1"/>
                </a:solidFill>
                <a:effectLst/>
                <a:latin typeface="+mn-lt"/>
                <a:ea typeface="+mn-ea"/>
                <a:cs typeface="+mn-cs"/>
              </a:rPr>
              <a:t> hơn là "</a:t>
            </a:r>
            <a:r>
              <a:rPr lang="vi-VN" sz="1200" b="0" i="0" kern="1200" dirty="0" err="1">
                <a:solidFill>
                  <a:schemeClr val="tx1"/>
                </a:solidFill>
                <a:effectLst/>
                <a:latin typeface="+mn-lt"/>
                <a:ea typeface="+mn-ea"/>
                <a:cs typeface="+mn-cs"/>
              </a:rPr>
              <a:t>big</a:t>
            </a:r>
            <a:r>
              <a:rPr lang="vi-VN" sz="1200" b="0" i="0" kern="1200" dirty="0">
                <a:solidFill>
                  <a:schemeClr val="tx1"/>
                </a:solidFill>
                <a:effectLst/>
                <a:latin typeface="+mn-lt"/>
                <a:ea typeface="+mn-ea"/>
                <a:cs typeface="+mn-cs"/>
              </a:rPr>
              <a:t>-bang '. </a:t>
            </a:r>
          </a:p>
        </p:txBody>
      </p:sp>
    </p:spTree>
    <p:extLst>
      <p:ext uri="{BB962C8B-B14F-4D97-AF65-F5344CB8AC3E}">
        <p14:creationId xmlns:p14="http://schemas.microsoft.com/office/powerpoint/2010/main" val="16682578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Verification</a:t>
            </a:r>
            <a:r>
              <a:rPr lang="en-US" dirty="0"/>
              <a:t> is concerned with evaluating a work product</a:t>
            </a:r>
            <a:r>
              <a:rPr lang="en-US" baseline="0" dirty="0"/>
              <a:t> </a:t>
            </a:r>
            <a:r>
              <a:rPr lang="en-US" dirty="0"/>
              <a:t>to determine whether it meets the requirements set.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SYSTEM TESTING THƯỜNG</a:t>
            </a:r>
            <a:r>
              <a:rPr lang="en-GB" baseline="0" dirty="0"/>
              <a:t> KIỂM THỬ GÌ? – </a:t>
            </a:r>
            <a:r>
              <a:rPr lang="en-GB" i="1" baseline="0" dirty="0" err="1"/>
              <a:t>Dựa</a:t>
            </a:r>
            <a:r>
              <a:rPr lang="en-GB" i="1" baseline="0" dirty="0"/>
              <a:t> </a:t>
            </a:r>
            <a:r>
              <a:rPr lang="en-GB" i="1" baseline="0" dirty="0" err="1"/>
              <a:t>vào</a:t>
            </a:r>
            <a:r>
              <a:rPr lang="en-GB" i="1" baseline="0" dirty="0"/>
              <a:t> test basis </a:t>
            </a:r>
            <a:r>
              <a:rPr lang="en-GB" i="1" baseline="0" dirty="0" err="1"/>
              <a:t>để</a:t>
            </a:r>
            <a:r>
              <a:rPr lang="en-GB" i="1" baseline="0" dirty="0"/>
              <a:t> </a:t>
            </a:r>
            <a:r>
              <a:rPr lang="en-GB" i="1" baseline="0" dirty="0" err="1"/>
              <a:t>trả</a:t>
            </a:r>
            <a:r>
              <a:rPr lang="en-GB" i="1" baseline="0" dirty="0"/>
              <a:t> </a:t>
            </a:r>
            <a:r>
              <a:rPr lang="en-GB" i="1" baseline="0" dirty="0" err="1"/>
              <a:t>lời</a:t>
            </a:r>
            <a:endParaRPr lang="en-GB" i="1"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TẠI</a:t>
            </a:r>
            <a:r>
              <a:rPr lang="en-GB" b="0" baseline="0" dirty="0"/>
              <a:t> SAO CẦN THIẾT LẬP MÔI TRƯỜNG GIỐNG THẬT? – </a:t>
            </a:r>
            <a:r>
              <a:rPr lang="en-GB" b="0" baseline="0" dirty="0" err="1"/>
              <a:t>Để</a:t>
            </a:r>
            <a:r>
              <a:rPr lang="en-GB" b="0" baseline="0" dirty="0"/>
              <a:t> </a:t>
            </a:r>
            <a:r>
              <a:rPr lang="en-GB" b="0" baseline="0" dirty="0" err="1"/>
              <a:t>giảm</a:t>
            </a:r>
            <a:r>
              <a:rPr lang="en-GB" b="0" baseline="0" dirty="0"/>
              <a:t> </a:t>
            </a:r>
            <a:r>
              <a:rPr lang="en-GB" b="0" baseline="0" dirty="0" err="1"/>
              <a:t>thiểu</a:t>
            </a:r>
            <a:r>
              <a:rPr lang="en-GB" b="0" baseline="0" dirty="0"/>
              <a:t> </a:t>
            </a:r>
            <a:r>
              <a:rPr lang="en-GB" b="0" baseline="0" dirty="0" err="1"/>
              <a:t>rủi</a:t>
            </a:r>
            <a:r>
              <a:rPr lang="en-GB" b="0" baseline="0" dirty="0"/>
              <a:t> </a:t>
            </a:r>
            <a:r>
              <a:rPr lang="en-GB" b="0" baseline="0" dirty="0" err="1"/>
              <a:t>ro</a:t>
            </a:r>
            <a:r>
              <a:rPr lang="en-GB" b="0" baseline="0" dirty="0"/>
              <a:t> </a:t>
            </a:r>
            <a:r>
              <a:rPr lang="en-GB" b="0" baseline="0" dirty="0" err="1"/>
              <a:t>lỗi</a:t>
            </a:r>
            <a:r>
              <a:rPr lang="en-GB" b="0" baseline="0" dirty="0"/>
              <a:t> do </a:t>
            </a:r>
            <a:r>
              <a:rPr lang="en-GB" b="0" baseline="0" dirty="0" err="1"/>
              <a:t>môi</a:t>
            </a:r>
            <a:r>
              <a:rPr lang="en-GB" b="0" baseline="0" dirty="0"/>
              <a:t> </a:t>
            </a:r>
            <a:r>
              <a:rPr lang="en-GB" b="0" baseline="0" dirty="0" err="1"/>
              <a:t>trườn</a:t>
            </a:r>
            <a:r>
              <a:rPr lang="en-GB" b="0" i="0" baseline="0" dirty="0" err="1"/>
              <a:t>g</a:t>
            </a:r>
            <a:r>
              <a:rPr lang="en-GB" b="0" i="0" baseline="0" dirty="0"/>
              <a:t> </a:t>
            </a:r>
            <a:r>
              <a:rPr lang="en-GB" b="0" i="0" dirty="0" err="1"/>
              <a:t>vận</a:t>
            </a:r>
            <a:r>
              <a:rPr lang="en-GB" b="0" i="0" baseline="0" dirty="0"/>
              <a:t> </a:t>
            </a:r>
            <a:r>
              <a:rPr lang="en-GB" b="0" i="0" baseline="0" dirty="0" err="1"/>
              <a:t>hành</a:t>
            </a:r>
            <a:r>
              <a:rPr lang="en-GB" b="0" i="0" baseline="0" dirty="0"/>
              <a:t>.</a:t>
            </a:r>
            <a:endParaRPr lang="en-GB"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t>PHÂN BIỆT YÊU CẦU VÀ QUY TRÌNH NGHIỆP VỤ?</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err="1"/>
              <a:t>Vd</a:t>
            </a:r>
            <a:r>
              <a:rPr lang="en-US" b="1" baseline="0" dirty="0"/>
              <a:t> test </a:t>
            </a:r>
            <a:r>
              <a:rPr lang="en-US" b="1" baseline="0" dirty="0" err="1"/>
              <a:t>yêu</a:t>
            </a:r>
            <a:r>
              <a:rPr lang="en-US" b="1" baseline="0" dirty="0"/>
              <a:t> </a:t>
            </a:r>
            <a:r>
              <a:rPr lang="en-US" b="1" baseline="0" dirty="0" err="1"/>
              <a:t>cầu</a:t>
            </a:r>
            <a:r>
              <a:rPr lang="en-US" b="1" baseline="0" dirty="0"/>
              <a:t>: </a:t>
            </a:r>
            <a:r>
              <a:rPr lang="en-US" b="0" baseline="0" dirty="0" err="1"/>
              <a:t>ngày</a:t>
            </a:r>
            <a:r>
              <a:rPr lang="en-US" b="0" baseline="0" dirty="0"/>
              <a:t> </a:t>
            </a:r>
            <a:r>
              <a:rPr lang="en-US" b="0" baseline="0" dirty="0" err="1"/>
              <a:t>trả</a:t>
            </a:r>
            <a:r>
              <a:rPr lang="en-US" b="0" baseline="0" dirty="0"/>
              <a:t> </a:t>
            </a:r>
            <a:r>
              <a:rPr lang="en-US" b="0" baseline="0" dirty="0" err="1"/>
              <a:t>sách</a:t>
            </a:r>
            <a:r>
              <a:rPr lang="en-US" b="0" baseline="0" dirty="0"/>
              <a:t> </a:t>
            </a:r>
            <a:r>
              <a:rPr lang="en-US" b="0" baseline="0" dirty="0" err="1"/>
              <a:t>phải</a:t>
            </a:r>
            <a:r>
              <a:rPr lang="en-US" b="0" baseline="0" dirty="0"/>
              <a:t> </a:t>
            </a:r>
            <a:r>
              <a:rPr lang="en-US" b="0" baseline="0" dirty="0" err="1"/>
              <a:t>sau</a:t>
            </a:r>
            <a:r>
              <a:rPr lang="en-US" b="0" baseline="0" dirty="0"/>
              <a:t> </a:t>
            </a:r>
            <a:r>
              <a:rPr lang="en-US" b="0" baseline="0" dirty="0" err="1"/>
              <a:t>ngày</a:t>
            </a:r>
            <a:r>
              <a:rPr lang="en-US" b="0" baseline="0" dirty="0"/>
              <a:t> </a:t>
            </a:r>
            <a:r>
              <a:rPr lang="en-US" b="0" baseline="0" dirty="0" err="1"/>
              <a:t>mượn</a:t>
            </a:r>
            <a:r>
              <a:rPr lang="en-US" b="0" baseline="0" dirty="0"/>
              <a:t> </a:t>
            </a:r>
            <a:r>
              <a:rPr lang="en-US" b="0" baseline="0" dirty="0" err="1"/>
              <a:t>sách</a:t>
            </a:r>
            <a:r>
              <a:rPr lang="en-US" b="0" baseline="0" dirty="0"/>
              <a:t>; </a:t>
            </a:r>
            <a:r>
              <a:rPr lang="en-US" b="0" baseline="0" dirty="0" err="1"/>
              <a:t>sau</a:t>
            </a:r>
            <a:r>
              <a:rPr lang="en-US" b="0" baseline="0" dirty="0"/>
              <a:t> </a:t>
            </a:r>
            <a:r>
              <a:rPr lang="en-US" b="0" baseline="0" dirty="0" err="1"/>
              <a:t>khi</a:t>
            </a:r>
            <a:r>
              <a:rPr lang="en-US" b="0" baseline="0" dirty="0"/>
              <a:t> </a:t>
            </a:r>
            <a:r>
              <a:rPr lang="en-US" b="0" baseline="0" dirty="0" err="1"/>
              <a:t>thêm</a:t>
            </a:r>
            <a:r>
              <a:rPr lang="en-US" b="0" baseline="0" dirty="0"/>
              <a:t> </a:t>
            </a:r>
            <a:r>
              <a:rPr lang="en-US" b="0" baseline="0" dirty="0" err="1"/>
              <a:t>khách</a:t>
            </a:r>
            <a:r>
              <a:rPr lang="en-US" b="0" baseline="0" dirty="0"/>
              <a:t> </a:t>
            </a:r>
            <a:r>
              <a:rPr lang="en-US" b="0" baseline="0" dirty="0" err="1"/>
              <a:t>hàng</a:t>
            </a:r>
            <a:r>
              <a:rPr lang="en-US" b="0" baseline="0" dirty="0"/>
              <a:t> </a:t>
            </a:r>
            <a:r>
              <a:rPr lang="en-US" b="0" baseline="0" dirty="0" err="1"/>
              <a:t>thì</a:t>
            </a:r>
            <a:r>
              <a:rPr lang="en-US" b="0" baseline="0" dirty="0"/>
              <a:t> </a:t>
            </a:r>
            <a:r>
              <a:rPr lang="en-US" b="0" baseline="0" dirty="0" err="1"/>
              <a:t>phải</a:t>
            </a:r>
            <a:r>
              <a:rPr lang="en-US" b="0" baseline="0" dirty="0"/>
              <a:t> </a:t>
            </a:r>
            <a:r>
              <a:rPr lang="en-US" b="0" baseline="0" dirty="0" err="1"/>
              <a:t>tồn</a:t>
            </a:r>
            <a:r>
              <a:rPr lang="en-US" b="0" baseline="0" dirty="0"/>
              <a:t> </a:t>
            </a:r>
            <a:r>
              <a:rPr lang="en-US" b="0" baseline="0" dirty="0" err="1"/>
              <a:t>tại</a:t>
            </a:r>
            <a:r>
              <a:rPr lang="en-US" b="0" baseline="0" dirty="0"/>
              <a:t> </a:t>
            </a:r>
            <a:r>
              <a:rPr lang="en-US" b="0" baseline="0" dirty="0" err="1"/>
              <a:t>khách</a:t>
            </a:r>
            <a:r>
              <a:rPr lang="en-US" b="0" baseline="0" dirty="0"/>
              <a:t> </a:t>
            </a:r>
            <a:r>
              <a:rPr lang="en-US" b="0" baseline="0" dirty="0" err="1"/>
              <a:t>hàng</a:t>
            </a:r>
            <a:r>
              <a:rPr lang="en-US" b="0" baseline="0" dirty="0"/>
              <a:t> </a:t>
            </a:r>
            <a:r>
              <a:rPr lang="en-US" b="0" baseline="0" dirty="0" err="1"/>
              <a:t>đó</a:t>
            </a:r>
            <a:r>
              <a:rPr lang="en-US" b="0" baseline="0" dirty="0"/>
              <a:t> </a:t>
            </a:r>
            <a:r>
              <a:rPr lang="en-US" b="0" baseline="0" dirty="0" err="1"/>
              <a:t>trong</a:t>
            </a:r>
            <a:r>
              <a:rPr lang="en-US" b="0" baseline="0" dirty="0"/>
              <a:t> ht.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baseline="0" dirty="0" err="1">
                <a:solidFill>
                  <a:schemeClr val="tx1"/>
                </a:solidFill>
                <a:effectLst/>
                <a:latin typeface="+mn-lt"/>
                <a:ea typeface="+mn-ea"/>
                <a:cs typeface="+mn-cs"/>
              </a:rPr>
              <a:t>Vd</a:t>
            </a:r>
            <a:r>
              <a:rPr lang="en-US" sz="1200" b="1" i="0" kern="1200" baseline="0" dirty="0">
                <a:solidFill>
                  <a:schemeClr val="tx1"/>
                </a:solidFill>
                <a:effectLst/>
                <a:latin typeface="+mn-lt"/>
                <a:ea typeface="+mn-ea"/>
                <a:cs typeface="+mn-cs"/>
              </a:rPr>
              <a:t> test </a:t>
            </a:r>
            <a:r>
              <a:rPr lang="en-US" sz="1200" b="1" i="0" kern="1200" baseline="0" dirty="0" err="1">
                <a:solidFill>
                  <a:schemeClr val="tx1"/>
                </a:solidFill>
                <a:effectLst/>
                <a:latin typeface="+mn-lt"/>
                <a:ea typeface="+mn-ea"/>
                <a:cs typeface="+mn-cs"/>
              </a:rPr>
              <a:t>quy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trình</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nghiệp</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vụ</a:t>
            </a:r>
            <a:r>
              <a:rPr lang="en-US" sz="1200" b="1" i="0" kern="1200" baseline="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u="sng" kern="1200" baseline="0" dirty="0">
                <a:solidFill>
                  <a:schemeClr val="tx1"/>
                </a:solidFill>
                <a:effectLst/>
                <a:latin typeface="+mn-lt"/>
                <a:ea typeface="+mn-ea"/>
                <a:cs typeface="+mn-cs"/>
              </a:rPr>
              <a:t>Hệ thống quản lý nhân sự và tiền lương có nghiệp vụ</a:t>
            </a:r>
            <a:r>
              <a:rPr lang="vi-VN" sz="1200" b="0" i="0" kern="1200" baseline="0" dirty="0">
                <a:solidFill>
                  <a:schemeClr val="tx1"/>
                </a:solidFill>
                <a:effectLst/>
                <a:latin typeface="+mn-lt"/>
                <a:ea typeface="+mn-ea"/>
                <a:cs typeface="+mn-cs"/>
              </a:rPr>
              <a:t>: một </a:t>
            </a:r>
            <a:r>
              <a:rPr lang="vi-VN" sz="1200" b="0" i="0" kern="1200" baseline="0" dirty="0" err="1">
                <a:solidFill>
                  <a:schemeClr val="tx1"/>
                </a:solidFill>
                <a:effectLst/>
                <a:latin typeface="+mn-lt"/>
                <a:ea typeface="+mn-ea"/>
                <a:cs typeface="+mn-cs"/>
              </a:rPr>
              <a:t>nv</a:t>
            </a:r>
            <a:r>
              <a:rPr lang="vi-VN" sz="1200" b="0" i="0" kern="1200" baseline="0" dirty="0">
                <a:solidFill>
                  <a:schemeClr val="tx1"/>
                </a:solidFill>
                <a:effectLst/>
                <a:latin typeface="+mn-lt"/>
                <a:ea typeface="+mn-ea"/>
                <a:cs typeface="+mn-cs"/>
              </a:rPr>
              <a:t> bắt đầu vào </a:t>
            </a:r>
            <a:r>
              <a:rPr lang="vi-VN" sz="1200" b="0" i="0" kern="1200" baseline="0" dirty="0" err="1">
                <a:solidFill>
                  <a:schemeClr val="tx1"/>
                </a:solidFill>
                <a:effectLst/>
                <a:latin typeface="+mn-lt"/>
                <a:ea typeface="+mn-ea"/>
                <a:cs typeface="+mn-cs"/>
              </a:rPr>
              <a:t>cty</a:t>
            </a:r>
            <a:r>
              <a:rPr lang="vi-VN" sz="1200" b="0" i="0" kern="1200" baseline="0" dirty="0">
                <a:solidFill>
                  <a:schemeClr val="tx1"/>
                </a:solidFill>
                <a:effectLst/>
                <a:latin typeface="+mn-lt"/>
                <a:ea typeface="+mn-ea"/>
                <a:cs typeface="+mn-cs"/>
              </a:rPr>
              <a:t>, được trả lương, kết thúc hợp đồng - nghỉ việc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về</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hưu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buộc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thôi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việc</a:t>
            </a:r>
            <a:r>
              <a:rPr lang="en-US" sz="1200" b="0" i="0" kern="1200" baseline="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kern="1200" baseline="0" dirty="0">
                <a:solidFill>
                  <a:schemeClr val="tx1"/>
                </a:solidFill>
                <a:effectLst/>
                <a:latin typeface="+mn-lt"/>
                <a:ea typeface="+mn-ea"/>
                <a:cs typeface="+mn-cs"/>
              </a:rPr>
              <a:t>Quản </a:t>
            </a:r>
            <a:r>
              <a:rPr lang="en-US" sz="1200" b="0" i="0" u="sng" kern="1200" baseline="0" dirty="0" err="1">
                <a:solidFill>
                  <a:schemeClr val="tx1"/>
                </a:solidFill>
                <a:effectLst/>
                <a:latin typeface="+mn-lt"/>
                <a:ea typeface="+mn-ea"/>
                <a:cs typeface="+mn-cs"/>
              </a:rPr>
              <a:t>lý</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sổ</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tiết</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kiệm</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trong</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ngân</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hàng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mở</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sổ</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giao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dịch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huỷ</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sổ</a:t>
            </a:r>
            <a:r>
              <a:rPr lang="en-US" sz="1200" b="0" i="0" kern="1200" baseline="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kern="1200" baseline="0" dirty="0">
                <a:solidFill>
                  <a:schemeClr val="tx1"/>
                </a:solidFill>
                <a:effectLst/>
                <a:latin typeface="+mn-lt"/>
                <a:ea typeface="+mn-ea"/>
                <a:cs typeface="+mn-cs"/>
              </a:rPr>
              <a:t>Quản </a:t>
            </a:r>
            <a:r>
              <a:rPr lang="en-US" sz="1200" b="0" i="0" u="sng" kern="1200" baseline="0" dirty="0" err="1">
                <a:solidFill>
                  <a:schemeClr val="tx1"/>
                </a:solidFill>
                <a:effectLst/>
                <a:latin typeface="+mn-lt"/>
                <a:ea typeface="+mn-ea"/>
                <a:cs typeface="+mn-cs"/>
              </a:rPr>
              <a:t>lý</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sinh</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viên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nhập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học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quá</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trình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học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tốt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nghiệp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lưu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hồ</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sơ</a:t>
            </a:r>
            <a:r>
              <a:rPr lang="en-US" sz="1200" b="0" i="0" kern="1200" baseline="0" dirty="0">
                <a:solidFill>
                  <a:schemeClr val="tx1"/>
                </a:solidFill>
                <a:effectLst/>
                <a:latin typeface="+mn-lt"/>
                <a:ea typeface="+mn-ea"/>
                <a:cs typeface="+mn-cs"/>
              </a:rPr>
              <a:t> bao </a:t>
            </a:r>
            <a:r>
              <a:rPr lang="en-US" sz="1200" b="0" i="0" kern="1200" baseline="0" dirty="0" err="1">
                <a:solidFill>
                  <a:schemeClr val="tx1"/>
                </a:solidFill>
                <a:effectLst/>
                <a:latin typeface="+mn-lt"/>
                <a:ea typeface="+mn-ea"/>
                <a:cs typeface="+mn-cs"/>
              </a:rPr>
              <a:t>nhiêu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thì</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xoá</a:t>
            </a:r>
            <a:r>
              <a:rPr lang="en-US" sz="1200" b="0" i="0" kern="1200" baseline="0" dirty="0">
                <a:solidFill>
                  <a:schemeClr val="tx1"/>
                </a:solidFill>
                <a:effectLst/>
                <a:latin typeface="+mn-lt"/>
                <a:ea typeface="+mn-ea"/>
                <a:cs typeface="+mn-cs"/>
              </a:rPr>
              <a:t> hay backup </a:t>
            </a:r>
            <a:r>
              <a:rPr lang="en-US" sz="1200" b="0" i="0" kern="1200" baseline="0" dirty="0" err="1">
                <a:solidFill>
                  <a:schemeClr val="tx1"/>
                </a:solidFill>
                <a:effectLst/>
                <a:latin typeface="+mn-lt"/>
                <a:ea typeface="+mn-ea"/>
                <a:cs typeface="+mn-cs"/>
              </a:rPr>
              <a:t>lưu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riêng</a:t>
            </a:r>
            <a:r>
              <a:rPr lang="en-US" sz="1200" b="0" i="0" kern="1200" baseline="0" dirty="0">
                <a:solidFill>
                  <a:schemeClr val="tx1"/>
                </a:solidFill>
                <a:effectLst/>
                <a:latin typeface="+mn-lt"/>
                <a:ea typeface="+mn-ea"/>
                <a:cs typeface="+mn-cs"/>
              </a:rPr>
              <a:t>).</a:t>
            </a:r>
            <a:endParaRPr lang="en-GB" i="1" dirty="0"/>
          </a:p>
        </p:txBody>
      </p:sp>
      <p:sp>
        <p:nvSpPr>
          <p:cNvPr id="4" name="Slide Number Placeholder 3"/>
          <p:cNvSpPr>
            <a:spLocks noGrp="1"/>
          </p:cNvSpPr>
          <p:nvPr>
            <p:ph type="sldNum" sz="quarter" idx="10"/>
          </p:nvPr>
        </p:nvSpPr>
        <p:spPr/>
        <p:txBody>
          <a:bodyPr/>
          <a:lstStyle/>
          <a:p>
            <a:fld id="{A63B9007-0201-49BE-A587-7F882848EC05}" type="slidenum">
              <a:rPr lang="en-US" smtClean="0"/>
              <a:t>58</a:t>
            </a:fld>
            <a:endParaRPr lang="en-US"/>
          </a:p>
        </p:txBody>
      </p:sp>
    </p:spTree>
    <p:extLst>
      <p:ext uri="{BB962C8B-B14F-4D97-AF65-F5344CB8AC3E}">
        <p14:creationId xmlns:p14="http://schemas.microsoft.com/office/powerpoint/2010/main" val="27712766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59</a:t>
            </a:fld>
            <a:endParaRPr lang="en-US"/>
          </a:p>
        </p:txBody>
      </p:sp>
    </p:spTree>
    <p:extLst>
      <p:ext uri="{BB962C8B-B14F-4D97-AF65-F5344CB8AC3E}">
        <p14:creationId xmlns:p14="http://schemas.microsoft.com/office/powerpoint/2010/main" val="17692557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kern="1200" dirty="0">
                <a:solidFill>
                  <a:schemeClr val="tx1"/>
                </a:solidFill>
                <a:effectLst/>
                <a:latin typeface="+mn-lt"/>
                <a:ea typeface="+mn-ea"/>
                <a:cs typeface="+mn-cs"/>
              </a:rPr>
              <a:t>SAU GIAI ĐOẠN</a:t>
            </a:r>
            <a:r>
              <a:rPr lang="en-US" sz="1200" b="0" i="0" u="none" kern="1200" baseline="0" dirty="0">
                <a:solidFill>
                  <a:schemeClr val="tx1"/>
                </a:solidFill>
                <a:effectLst/>
                <a:latin typeface="+mn-lt"/>
                <a:ea typeface="+mn-ea"/>
                <a:cs typeface="+mn-cs"/>
              </a:rPr>
              <a:t> SYSTEM TEST</a:t>
            </a:r>
            <a:r>
              <a:rPr lang="vi-VN" sz="1200" b="0" i="0" u="none" kern="1200" baseline="0" dirty="0">
                <a:solidFill>
                  <a:schemeClr val="tx1"/>
                </a:solidFill>
                <a:effectLst/>
                <a:latin typeface="+mn-lt"/>
                <a:ea typeface="+mn-ea"/>
                <a:cs typeface="+mn-cs"/>
              </a:rPr>
              <a:t> VÀ FIX LỖI</a:t>
            </a:r>
            <a:r>
              <a:rPr lang="vi-VN" sz="1200" b="0" i="0" kern="1200" baseline="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HỆ THỐNG SẼ ĐƯỢC GỬI ĐẾN NGƯỜI DÙNG</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KHÁCH HÀNG</a:t>
            </a:r>
            <a:r>
              <a:rPr lang="en-US" sz="1200" b="0" i="0" kern="1200" dirty="0">
                <a:solidFill>
                  <a:schemeClr val="tx1"/>
                </a:solidFill>
                <a:effectLst/>
                <a:latin typeface="+mn-lt"/>
                <a:ea typeface="+mn-ea"/>
                <a:cs typeface="+mn-cs"/>
              </a:rPr>
              <a:t> HOẶC</a:t>
            </a:r>
            <a:r>
              <a:rPr lang="en-US" sz="1200" b="0" i="0" kern="1200" baseline="0" dirty="0">
                <a:solidFill>
                  <a:schemeClr val="tx1"/>
                </a:solidFill>
                <a:effectLst/>
                <a:latin typeface="+mn-lt"/>
                <a:ea typeface="+mn-ea"/>
                <a:cs typeface="+mn-cs"/>
              </a:rPr>
              <a:t> NHỮNG NGƯỜI LIÊN QUAN</a:t>
            </a:r>
            <a:r>
              <a:rPr lang="vi-VN"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CHO KIỂM</a:t>
            </a:r>
            <a:r>
              <a:rPr lang="en-US" sz="1200" b="0" i="0" kern="1200" baseline="0" dirty="0">
                <a:solidFill>
                  <a:schemeClr val="tx1"/>
                </a:solidFill>
                <a:effectLst/>
                <a:latin typeface="+mn-lt"/>
                <a:ea typeface="+mn-ea"/>
                <a:cs typeface="+mn-cs"/>
              </a:rPr>
              <a:t> THỬ </a:t>
            </a:r>
            <a:r>
              <a:rPr lang="vi-VN" sz="1200" b="0" i="0" kern="1200" dirty="0">
                <a:solidFill>
                  <a:schemeClr val="tx1"/>
                </a:solidFill>
                <a:effectLst/>
                <a:latin typeface="+mn-lt"/>
                <a:ea typeface="+mn-ea"/>
                <a:cs typeface="+mn-cs"/>
              </a:rPr>
              <a:t>CHẤP NHẬN </a:t>
            </a:r>
            <a:r>
              <a:rPr lang="en-US" sz="1200" b="0" i="0" kern="1200" dirty="0">
                <a:solidFill>
                  <a:schemeClr val="tx1"/>
                </a:solidFill>
                <a:effectLst/>
                <a:latin typeface="+mn-lt"/>
                <a:ea typeface="+mn-ea"/>
                <a:cs typeface="+mn-cs"/>
              </a:rPr>
              <a:t>SP</a:t>
            </a:r>
            <a:r>
              <a:rPr lang="vi-V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baseline="0" dirty="0">
                <a:solidFill>
                  <a:schemeClr val="tx1"/>
                </a:solidFill>
                <a:effectLst/>
                <a:latin typeface="+mn-lt"/>
                <a:ea typeface="+mn-ea"/>
                <a:cs typeface="+mn-cs"/>
              </a:rPr>
              <a:t> CÒN GỌI LÀ </a:t>
            </a:r>
            <a:r>
              <a:rPr lang="en-US" sz="1200" b="1" u="none" kern="1200" dirty="0">
                <a:solidFill>
                  <a:schemeClr val="tx1"/>
                </a:solidFill>
                <a:effectLst/>
                <a:latin typeface="+mn-lt"/>
                <a:ea typeface="+mn-ea"/>
                <a:cs typeface="+mn-cs"/>
              </a:rPr>
              <a:t>NGHIỆM</a:t>
            </a:r>
            <a:r>
              <a:rPr lang="en-US" sz="1200" b="1" u="none" kern="1200" baseline="0" dirty="0">
                <a:solidFill>
                  <a:schemeClr val="tx1"/>
                </a:solidFill>
                <a:effectLst/>
                <a:latin typeface="+mn-lt"/>
                <a:ea typeface="+mn-ea"/>
                <a:cs typeface="+mn-cs"/>
              </a:rPr>
              <a:t> THU</a:t>
            </a:r>
            <a:r>
              <a:rPr lang="vi-VN" sz="1200" b="1" u="none" kern="1200" baseline="0" dirty="0">
                <a:solidFill>
                  <a:schemeClr val="tx1"/>
                </a:solidFill>
                <a:effectLst/>
                <a:latin typeface="+mn-lt"/>
                <a:ea typeface="+mn-ea"/>
                <a:cs typeface="+mn-cs"/>
              </a:rPr>
              <a:t> – </a:t>
            </a:r>
            <a:r>
              <a:rPr lang="en-US" sz="1200" b="1" u="sng" kern="1200" baseline="0" dirty="0">
                <a:solidFill>
                  <a:schemeClr val="tx1"/>
                </a:solidFill>
                <a:effectLst/>
                <a:latin typeface="+mn-lt"/>
                <a:ea typeface="+mn-ea"/>
                <a:cs typeface="+mn-cs"/>
              </a:rPr>
              <a:t>VALIDATION</a:t>
            </a:r>
          </a:p>
          <a:p>
            <a:r>
              <a:rPr lang="en-US" sz="1200" b="1" u="none" kern="1200" baseline="0" dirty="0">
                <a:solidFill>
                  <a:schemeClr val="tx1"/>
                </a:solidFill>
                <a:effectLst/>
                <a:latin typeface="+mn-lt"/>
                <a:ea typeface="+mn-ea"/>
                <a:cs typeface="+mn-cs"/>
              </a:rPr>
              <a:t>GIẢI THÍCH TỪ validation? – </a:t>
            </a:r>
            <a:r>
              <a:rPr lang="en-US" sz="1200" b="1" u="none" kern="1200" baseline="0" dirty="0" err="1">
                <a:solidFill>
                  <a:schemeClr val="tx1"/>
                </a:solidFill>
                <a:effectLst/>
                <a:latin typeface="+mn-lt"/>
                <a:ea typeface="+mn-ea"/>
                <a:cs typeface="+mn-cs"/>
              </a:rPr>
              <a:t>có</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thỏa</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mãn</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yêu</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cầu</a:t>
            </a:r>
            <a:r>
              <a:rPr lang="en-US" sz="1200" b="1" u="none" kern="1200" baseline="0" dirty="0">
                <a:solidFill>
                  <a:schemeClr val="tx1"/>
                </a:solidFill>
                <a:effectLst/>
                <a:latin typeface="+mn-lt"/>
                <a:ea typeface="+mn-ea"/>
                <a:cs typeface="+mn-cs"/>
              </a:rPr>
              <a:t> user </a:t>
            </a:r>
            <a:r>
              <a:rPr lang="en-US" sz="1200" b="1" u="none" kern="1200" baseline="0" dirty="0" err="1">
                <a:solidFill>
                  <a:schemeClr val="tx1"/>
                </a:solidFill>
                <a:effectLst/>
                <a:latin typeface="+mn-lt"/>
                <a:ea typeface="+mn-ea"/>
                <a:cs typeface="+mn-cs"/>
              </a:rPr>
              <a:t>không</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liệu</a:t>
            </a:r>
            <a:r>
              <a:rPr lang="en-US" sz="1200" b="1" u="none" kern="1200" baseline="0" dirty="0">
                <a:solidFill>
                  <a:schemeClr val="tx1"/>
                </a:solidFill>
                <a:effectLst/>
                <a:latin typeface="+mn-lt"/>
                <a:ea typeface="+mn-ea"/>
                <a:cs typeface="+mn-cs"/>
              </a:rPr>
              <a:t> user </a:t>
            </a:r>
            <a:r>
              <a:rPr lang="en-US" sz="1200" b="1" u="none" kern="1200" baseline="0" dirty="0" err="1">
                <a:solidFill>
                  <a:schemeClr val="tx1"/>
                </a:solidFill>
                <a:effectLst/>
                <a:latin typeface="+mn-lt"/>
                <a:ea typeface="+mn-ea"/>
                <a:cs typeface="+mn-cs"/>
              </a:rPr>
              <a:t>có</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chấp</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nhận</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sản</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phẩm</a:t>
            </a:r>
            <a:r>
              <a:rPr lang="en-US" sz="1200" b="1" u="none" kern="1200" baseline="0" dirty="0">
                <a:solidFill>
                  <a:schemeClr val="tx1"/>
                </a:solidFill>
                <a:effectLst/>
                <a:latin typeface="+mn-lt"/>
                <a:ea typeface="+mn-ea"/>
                <a:cs typeface="+mn-cs"/>
              </a:rPr>
              <a:t> </a:t>
            </a:r>
            <a:r>
              <a:rPr lang="en-US" sz="1200" b="1" u="none" kern="1200" baseline="0" dirty="0" err="1">
                <a:solidFill>
                  <a:schemeClr val="tx1"/>
                </a:solidFill>
                <a:effectLst/>
                <a:latin typeface="+mn-lt"/>
                <a:ea typeface="+mn-ea"/>
                <a:cs typeface="+mn-cs"/>
              </a:rPr>
              <a:t>không</a:t>
            </a:r>
            <a:r>
              <a:rPr lang="en-US" sz="1200" b="1" u="none" kern="1200" baseline="0" dirty="0">
                <a:solidFill>
                  <a:schemeClr val="tx1"/>
                </a:solidFill>
                <a:effectLst/>
                <a:latin typeface="+mn-lt"/>
                <a:ea typeface="+mn-ea"/>
                <a:cs typeface="+mn-cs"/>
              </a:rPr>
              <a:t>.</a:t>
            </a:r>
          </a:p>
          <a:p>
            <a:pPr marL="0" indent="0">
              <a:buFontTx/>
              <a:buNone/>
            </a:pPr>
            <a:r>
              <a:rPr lang="en-US" sz="1200" b="1" i="0" kern="1200" dirty="0">
                <a:solidFill>
                  <a:schemeClr val="tx1"/>
                </a:solidFill>
                <a:effectLst/>
                <a:latin typeface="+mn-lt"/>
                <a:ea typeface="+mn-ea"/>
                <a:cs typeface="+mn-cs"/>
              </a:rPr>
              <a:t>TẠI</a:t>
            </a:r>
            <a:r>
              <a:rPr lang="en-US" sz="1200" b="1" i="0" kern="1200" baseline="0" dirty="0">
                <a:solidFill>
                  <a:schemeClr val="tx1"/>
                </a:solidFill>
                <a:effectLst/>
                <a:latin typeface="+mn-lt"/>
                <a:ea typeface="+mn-ea"/>
                <a:cs typeface="+mn-cs"/>
              </a:rPr>
              <a:t> SAO ĐÃ VERIFICATION RỒI CÒN PHẢI VALIDATION?</a:t>
            </a:r>
            <a:endParaRPr lang="en-US" sz="1200" b="1" i="0" kern="1200" dirty="0">
              <a:solidFill>
                <a:schemeClr val="tx1"/>
              </a:solidFill>
              <a:effectLst/>
              <a:latin typeface="+mn-lt"/>
              <a:ea typeface="+mn-ea"/>
              <a:cs typeface="+mn-cs"/>
            </a:endParaRPr>
          </a:p>
          <a:p>
            <a:pPr marL="0" marR="0" indent="0" algn="l" defTabSz="914306"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Thực tế</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phải</a:t>
            </a:r>
            <a:r>
              <a:rPr lang="en-US" sz="1200" b="0" i="0" kern="1200" baseline="0" dirty="0">
                <a:solidFill>
                  <a:schemeClr val="tx1"/>
                </a:solidFill>
                <a:effectLst/>
                <a:latin typeface="+mn-lt"/>
                <a:ea typeface="+mn-ea"/>
                <a:cs typeface="+mn-cs"/>
              </a:rPr>
              <a:t> validation </a:t>
            </a:r>
            <a:r>
              <a:rPr lang="en-US" sz="1200" b="0" i="0" kern="1200" baseline="0" dirty="0" err="1">
                <a:solidFill>
                  <a:schemeClr val="tx1"/>
                </a:solidFill>
                <a:effectLst/>
                <a:latin typeface="+mn-lt"/>
                <a:ea typeface="+mn-ea"/>
                <a:cs typeface="+mn-cs"/>
              </a:rPr>
              <a:t>vì</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nhóm</a:t>
            </a:r>
            <a:r>
              <a:rPr lang="en-US" sz="1200" b="0" i="0" kern="1200" baseline="0" dirty="0">
                <a:solidFill>
                  <a:schemeClr val="tx1"/>
                </a:solidFill>
                <a:effectLst/>
                <a:latin typeface="+mn-lt"/>
                <a:ea typeface="+mn-ea"/>
                <a:cs typeface="+mn-cs"/>
              </a:rPr>
              <a:t> pt</a:t>
            </a:r>
            <a:r>
              <a:rPr lang="vi-VN" sz="1200" b="0" i="0" kern="1200" dirty="0">
                <a:solidFill>
                  <a:schemeClr val="tx1"/>
                </a:solidFill>
                <a:effectLst/>
                <a:latin typeface="+mn-lt"/>
                <a:ea typeface="+mn-ea"/>
                <a:cs typeface="+mn-cs"/>
              </a:rPr>
              <a:t> hiểu sai yêu cầu cũng như sự mong chờ của khách hàng. V</a:t>
            </a:r>
            <a:r>
              <a:rPr lang="en-US" sz="1200" b="0" i="0" kern="1200" dirty="0">
                <a:solidFill>
                  <a:schemeClr val="tx1"/>
                </a:solidFill>
                <a:effectLst/>
                <a:latin typeface="+mn-lt"/>
                <a:ea typeface="+mn-ea"/>
                <a:cs typeface="+mn-cs"/>
              </a:rPr>
              <a:t>D/</a:t>
            </a:r>
            <a:r>
              <a:rPr lang="vi-VN" sz="1200" b="0" i="0" kern="1200" dirty="0">
                <a:solidFill>
                  <a:schemeClr val="tx1"/>
                </a:solidFill>
                <a:effectLst/>
                <a:latin typeface="+mn-lt"/>
                <a:ea typeface="+mn-ea"/>
                <a:cs typeface="+mn-cs"/>
              </a:rPr>
              <a:t> đôi khi một PM xuất sắc vượt qua các </a:t>
            </a:r>
            <a:r>
              <a:rPr lang="en-US" sz="1200" b="0" i="0" kern="1200" dirty="0">
                <a:solidFill>
                  <a:schemeClr val="tx1"/>
                </a:solidFill>
                <a:effectLst/>
                <a:latin typeface="+mn-lt"/>
                <a:ea typeface="+mn-ea"/>
                <a:cs typeface="+mn-cs"/>
              </a:rPr>
              <a:t>test </a:t>
            </a:r>
            <a:r>
              <a:rPr lang="vi-VN" sz="1200" b="0" i="0" kern="1200" dirty="0">
                <a:solidFill>
                  <a:schemeClr val="tx1"/>
                </a:solidFill>
                <a:effectLst/>
                <a:latin typeface="+mn-lt"/>
                <a:ea typeface="+mn-ea"/>
                <a:cs typeface="+mn-cs"/>
              </a:rPr>
              <a:t>về chức năng, nhưng khách hàng khi kiểm tra sau cùng vẫn thất vọng vì</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bố cục màn hình nghèo nàn, thao tác không tự nhiên, không theo tập quán sử dụng của khách hàng </a:t>
            </a:r>
            <a:r>
              <a:rPr lang="vi-VN" sz="1200" b="0" i="0" kern="1200" dirty="0" err="1">
                <a:solidFill>
                  <a:schemeClr val="tx1"/>
                </a:solidFill>
                <a:effectLst/>
                <a:latin typeface="+mn-lt"/>
                <a:ea typeface="+mn-ea"/>
                <a:cs typeface="+mn-cs"/>
              </a:rPr>
              <a:t>v.v</a:t>
            </a:r>
            <a:r>
              <a:rPr lang="vi-VN" sz="1200" b="0" i="0" kern="1200" dirty="0">
                <a:solidFill>
                  <a:schemeClr val="tx1"/>
                </a:solidFill>
                <a:effectLst/>
                <a:latin typeface="+mn-lt"/>
                <a:ea typeface="+mn-ea"/>
                <a:cs typeface="+mn-cs"/>
              </a:rPr>
              <a:t>…</a:t>
            </a:r>
            <a:br>
              <a:rPr lang="vi-VN" i="0" dirty="0"/>
            </a:br>
            <a:endParaRPr lang="en-US" i="0" dirty="0"/>
          </a:p>
          <a:p>
            <a:pPr marL="0" marR="0" indent="0" algn="l" defTabSz="914306" rtl="0" eaLnBrk="1" fontAlgn="auto" latinLnBrk="0" hangingPunct="1">
              <a:lnSpc>
                <a:spcPct val="100000"/>
              </a:lnSpc>
              <a:spcBef>
                <a:spcPts val="0"/>
              </a:spcBef>
              <a:spcAft>
                <a:spcPts val="0"/>
              </a:spcAft>
              <a:buClrTx/>
              <a:buSzTx/>
              <a:buFontTx/>
              <a:buNone/>
              <a:tabLst/>
              <a:defRPr/>
            </a:pPr>
            <a:endParaRPr lang="en-US" i="0" dirty="0"/>
          </a:p>
          <a:p>
            <a:pPr marL="0" marR="0" indent="0" algn="l" defTabSz="914306" rtl="0" eaLnBrk="1" fontAlgn="auto" latinLnBrk="0" hangingPunct="1">
              <a:lnSpc>
                <a:spcPct val="100000"/>
              </a:lnSpc>
              <a:spcBef>
                <a:spcPts val="0"/>
              </a:spcBef>
              <a:spcAft>
                <a:spcPts val="0"/>
              </a:spcAft>
              <a:buClrTx/>
              <a:buSzTx/>
              <a:buFontTx/>
              <a:buNone/>
              <a:tabLst/>
              <a:defRPr/>
            </a:pPr>
            <a:endParaRPr lang="en-US" i="0" dirty="0"/>
          </a:p>
          <a:p>
            <a:pPr marL="0" marR="0" indent="0" algn="l" defTabSz="914306" rtl="0" eaLnBrk="1" fontAlgn="auto" latinLnBrk="0" hangingPunct="1">
              <a:lnSpc>
                <a:spcPct val="100000"/>
              </a:lnSpc>
              <a:spcBef>
                <a:spcPts val="0"/>
              </a:spcBef>
              <a:spcAft>
                <a:spcPts val="0"/>
              </a:spcAft>
              <a:buClrTx/>
              <a:buSzTx/>
              <a:buFontTx/>
              <a:buNone/>
              <a:tabLst/>
              <a:defRPr/>
            </a:pPr>
            <a:endParaRPr lang="en-US" i="0" dirty="0"/>
          </a:p>
          <a:p>
            <a:pPr marL="0" marR="0" indent="0" algn="l" defTabSz="914306"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Validation</a:t>
            </a:r>
            <a:r>
              <a:rPr lang="en-US" sz="1200" b="0" i="0" kern="1200" dirty="0">
                <a:solidFill>
                  <a:schemeClr val="tx1"/>
                </a:solidFill>
                <a:effectLst/>
                <a:latin typeface="+mn-lt"/>
                <a:ea typeface="+mn-ea"/>
                <a:cs typeface="+mn-cs"/>
              </a:rPr>
              <a:t> is concerned with evaluating a work product to determine whether it meets the user needs and requirements. </a:t>
            </a:r>
          </a:p>
          <a:p>
            <a:pPr marL="0" marR="0"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Validation focuses on the question  'Is the deliverable fit for purpose, e.g. does it provide a solution to the problem?'. </a:t>
            </a:r>
          </a:p>
          <a:p>
            <a:pPr marL="0" indent="0">
              <a:buFontTx/>
              <a:buNone/>
            </a:pPr>
            <a:endParaRPr lang="en-US" sz="1200" b="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63B9007-0201-49BE-A587-7F882848EC05}" type="slidenum">
              <a:rPr lang="en-US" smtClean="0"/>
              <a:t>60</a:t>
            </a:fld>
            <a:endParaRPr lang="en-US"/>
          </a:p>
        </p:txBody>
      </p:sp>
    </p:spTree>
    <p:extLst>
      <p:ext uri="{BB962C8B-B14F-4D97-AF65-F5344CB8AC3E}">
        <p14:creationId xmlns:p14="http://schemas.microsoft.com/office/powerpoint/2010/main" val="22095714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306" rtl="0" eaLnBrk="1" fontAlgn="auto" latinLnBrk="0" hangingPunct="1">
              <a:lnSpc>
                <a:spcPct val="100000"/>
              </a:lnSpc>
              <a:spcBef>
                <a:spcPts val="0"/>
              </a:spcBef>
              <a:spcAft>
                <a:spcPts val="0"/>
              </a:spcAft>
              <a:buClrTx/>
              <a:buSzTx/>
              <a:buFontTx/>
              <a:buChar char="-"/>
              <a:tabLst/>
              <a:defRPr/>
            </a:pPr>
            <a:r>
              <a:rPr lang="vi-VN" sz="1200" b="0" i="0" kern="1200" dirty="0" err="1">
                <a:solidFill>
                  <a:schemeClr val="tx1"/>
                </a:solidFill>
                <a:effectLst/>
                <a:latin typeface="+mn-lt"/>
                <a:ea typeface="+mn-ea"/>
                <a:cs typeface="+mn-cs"/>
              </a:rPr>
              <a:t>Acceptance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thông thường </a:t>
            </a:r>
            <a:r>
              <a:rPr lang="en-US" sz="1200" b="0" i="0" kern="1200" dirty="0">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CÁC HÌNH THỨC </a:t>
            </a:r>
            <a:r>
              <a:rPr lang="vi-VN" sz="1200" b="0" i="0" kern="1200" dirty="0">
                <a:solidFill>
                  <a:schemeClr val="tx1"/>
                </a:solidFill>
                <a:effectLst/>
                <a:latin typeface="+mn-lt"/>
                <a:ea typeface="+mn-ea"/>
                <a:cs typeface="+mn-cs"/>
              </a:rPr>
              <a:t>như sau:</a:t>
            </a: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err="1">
                <a:solidFill>
                  <a:schemeClr val="tx1"/>
                </a:solidFill>
                <a:effectLst/>
                <a:latin typeface="+mn-lt"/>
                <a:ea typeface="+mn-ea"/>
                <a:cs typeface="+mn-cs"/>
              </a:rPr>
              <a:t>User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acceptance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(Kiểm thử chấp nhận người dùng)</a:t>
            </a: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Thường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kiểm tra tính phù hợp với </a:t>
            </a:r>
            <a:r>
              <a:rPr lang="en-US" sz="1200" b="0" i="0" kern="1200" baseline="0" dirty="0" err="1">
                <a:solidFill>
                  <a:schemeClr val="tx1"/>
                </a:solidFill>
                <a:effectLst/>
                <a:latin typeface="+mn-lt"/>
                <a:ea typeface="+mn-ea"/>
                <a:cs typeface="+mn-cs"/>
              </a:rPr>
              <a:t>nghiệp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vụ</a:t>
            </a: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err="1">
                <a:solidFill>
                  <a:schemeClr val="tx1"/>
                </a:solidFill>
                <a:effectLst/>
                <a:latin typeface="+mn-lt"/>
                <a:ea typeface="+mn-ea"/>
                <a:cs typeface="+mn-cs"/>
              </a:rPr>
              <a:t>Operational</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acceptance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(Kiểm thử chấp nhận hoạt động)</a:t>
            </a:r>
            <a:endParaRPr lang="en-US" sz="1200" b="0" i="0" kern="1200" dirty="0">
              <a:solidFill>
                <a:schemeClr val="tx1"/>
              </a:solidFill>
              <a:effectLst/>
              <a:latin typeface="+mn-lt"/>
              <a:ea typeface="+mn-ea"/>
              <a:cs typeface="+mn-cs"/>
            </a:endParaRPr>
          </a:p>
          <a:p>
            <a:pPr marL="457153" lvl="1" indent="0">
              <a:buFontTx/>
              <a:buNone/>
            </a:pPr>
            <a:r>
              <a:rPr lang="vi-VN" sz="1200" b="0" i="0" kern="1200" dirty="0">
                <a:solidFill>
                  <a:schemeClr val="tx1"/>
                </a:solidFill>
                <a:effectLst/>
                <a:latin typeface="+mn-lt"/>
                <a:ea typeface="+mn-ea"/>
                <a:cs typeface="+mn-cs"/>
              </a:rPr>
              <a:t>o Kiểm thử sao lưu/phục hồi hệ thống</a:t>
            </a:r>
            <a:br>
              <a:rPr lang="vi-VN" dirty="0"/>
            </a:br>
            <a:r>
              <a:rPr lang="vi-VN" sz="1200" b="0" i="0" kern="1200" dirty="0">
                <a:solidFill>
                  <a:schemeClr val="tx1"/>
                </a:solidFill>
                <a:effectLst/>
                <a:latin typeface="+mn-lt"/>
                <a:ea typeface="+mn-ea"/>
                <a:cs typeface="+mn-cs"/>
              </a:rPr>
              <a:t>o Khôi phục lại hệ thống </a:t>
            </a:r>
            <a:r>
              <a:rPr lang="vi-VN" sz="1200" b="1" i="0" kern="1200" dirty="0">
                <a:solidFill>
                  <a:schemeClr val="tx1"/>
                </a:solidFill>
                <a:effectLst/>
                <a:latin typeface="+mn-lt"/>
                <a:ea typeface="+mn-ea"/>
                <a:cs typeface="+mn-cs"/>
              </a:rPr>
              <a:t>sau khi có sự cố như </a:t>
            </a:r>
            <a:r>
              <a:rPr lang="vi-VN" sz="1200" b="1" i="0" kern="1200" dirty="0" err="1">
                <a:solidFill>
                  <a:schemeClr val="tx1"/>
                </a:solidFill>
                <a:effectLst/>
                <a:latin typeface="+mn-lt"/>
                <a:ea typeface="+mn-ea"/>
                <a:cs typeface="+mn-cs"/>
              </a:rPr>
              <a:t>cúp</a:t>
            </a:r>
            <a:r>
              <a:rPr lang="vi-VN" sz="1200" b="1" i="0" kern="1200" dirty="0">
                <a:solidFill>
                  <a:schemeClr val="tx1"/>
                </a:solidFill>
                <a:effectLst/>
                <a:latin typeface="+mn-lt"/>
                <a:ea typeface="+mn-ea"/>
                <a:cs typeface="+mn-cs"/>
              </a:rPr>
              <a:t> điện, hỏa hoạn...</a:t>
            </a:r>
            <a:br>
              <a:rPr lang="vi-VN" dirty="0"/>
            </a:br>
            <a:r>
              <a:rPr lang="vi-VN" sz="1200" b="0" i="0" kern="1200" dirty="0">
                <a:solidFill>
                  <a:schemeClr val="tx1"/>
                </a:solidFill>
                <a:effectLst/>
                <a:latin typeface="+mn-lt"/>
                <a:ea typeface="+mn-ea"/>
                <a:cs typeface="+mn-cs"/>
              </a:rPr>
              <a:t>o Quản trị người dùng như </a:t>
            </a:r>
            <a:r>
              <a:rPr lang="vi-VN" sz="1200" b="1" i="0" kern="1200" dirty="0">
                <a:solidFill>
                  <a:schemeClr val="tx1"/>
                </a:solidFill>
                <a:effectLst/>
                <a:latin typeface="+mn-lt"/>
                <a:ea typeface="+mn-ea"/>
                <a:cs typeface="+mn-cs"/>
              </a:rPr>
              <a:t>phân quyền, lần lượt </a:t>
            </a:r>
            <a:r>
              <a:rPr lang="vi-VN" sz="1200" b="1" i="0" kern="1200" dirty="0" err="1">
                <a:solidFill>
                  <a:schemeClr val="tx1"/>
                </a:solidFill>
                <a:effectLst/>
                <a:latin typeface="+mn-lt"/>
                <a:ea typeface="+mn-ea"/>
                <a:cs typeface="+mn-cs"/>
              </a:rPr>
              <a:t>login</a:t>
            </a:r>
            <a:r>
              <a:rPr lang="vi-VN" sz="1200" b="1" i="0" kern="1200" dirty="0">
                <a:solidFill>
                  <a:schemeClr val="tx1"/>
                </a:solidFill>
                <a:effectLst/>
                <a:latin typeface="+mn-lt"/>
                <a:ea typeface="+mn-ea"/>
                <a:cs typeface="+mn-cs"/>
              </a:rPr>
              <a:t> bằng tất cả các quyền.</a:t>
            </a:r>
            <a:br>
              <a:rPr lang="vi-VN" b="1" dirty="0"/>
            </a:br>
            <a:r>
              <a:rPr lang="vi-VN" sz="1200" b="0" i="0" kern="1200" dirty="0">
                <a:solidFill>
                  <a:schemeClr val="tx1"/>
                </a:solidFill>
                <a:effectLst/>
                <a:latin typeface="+mn-lt"/>
                <a:ea typeface="+mn-ea"/>
                <a:cs typeface="+mn-cs"/>
              </a:rPr>
              <a:t>o Các nhiệm vụ bảo trì </a:t>
            </a:r>
            <a:br>
              <a:rPr lang="vi-VN" dirty="0"/>
            </a:br>
            <a:r>
              <a:rPr lang="vi-VN" sz="1200" b="0" i="0" kern="1200" dirty="0">
                <a:solidFill>
                  <a:schemeClr val="tx1"/>
                </a:solidFill>
                <a:effectLst/>
                <a:latin typeface="+mn-lt"/>
                <a:ea typeface="+mn-ea"/>
                <a:cs typeface="+mn-cs"/>
              </a:rPr>
              <a:t>o Các nhiệm vụ tải </a:t>
            </a:r>
            <a:r>
              <a:rPr lang="vi-VN" sz="1200" b="0" i="0" kern="1200" dirty="0" err="1">
                <a:solidFill>
                  <a:schemeClr val="tx1"/>
                </a:solidFill>
                <a:effectLst/>
                <a:latin typeface="+mn-lt"/>
                <a:ea typeface="+mn-ea"/>
                <a:cs typeface="+mn-cs"/>
              </a:rPr>
              <a:t>data</a:t>
            </a:r>
            <a:r>
              <a:rPr lang="vi-VN" sz="1200" b="0" i="0" kern="1200" dirty="0">
                <a:solidFill>
                  <a:schemeClr val="tx1"/>
                </a:solidFill>
                <a:effectLst/>
                <a:latin typeface="+mn-lt"/>
                <a:ea typeface="+mn-ea"/>
                <a:cs typeface="+mn-cs"/>
              </a:rPr>
              <a:t> và di chuyển </a:t>
            </a:r>
            <a:r>
              <a:rPr lang="vi-VN" sz="1200" b="0" i="0" kern="1200" dirty="0" err="1">
                <a:solidFill>
                  <a:schemeClr val="tx1"/>
                </a:solidFill>
                <a:effectLst/>
                <a:latin typeface="+mn-lt"/>
                <a:ea typeface="+mn-ea"/>
                <a:cs typeface="+mn-cs"/>
              </a:rPr>
              <a:t>data</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marL="457153" lvl="1" indent="0">
              <a:buFontTx/>
              <a:buNone/>
            </a:pPr>
            <a:r>
              <a:rPr lang="vi-VN" sz="1200" b="0" i="0" kern="1200" dirty="0">
                <a:solidFill>
                  <a:schemeClr val="tx1"/>
                </a:solidFill>
                <a:effectLst/>
                <a:latin typeface="+mn-lt"/>
                <a:ea typeface="+mn-ea"/>
                <a:cs typeface="+mn-cs"/>
              </a:rPr>
              <a:t>o Kiểm tra các lỗ hổng bảo mật định kỳ.</a:t>
            </a: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err="1">
                <a:solidFill>
                  <a:schemeClr val="tx1"/>
                </a:solidFill>
                <a:effectLst/>
                <a:latin typeface="+mn-lt"/>
                <a:ea typeface="+mn-ea"/>
                <a:cs typeface="+mn-cs"/>
              </a:rPr>
              <a:t>Contract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and</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regulation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acceptance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(Kiểm thử </a:t>
            </a:r>
            <a:r>
              <a:rPr lang="en-US" sz="1200" b="0" i="0" kern="1200" dirty="0">
                <a:solidFill>
                  <a:schemeClr val="tx1"/>
                </a:solidFill>
                <a:effectLst/>
                <a:latin typeface="+mn-lt"/>
                <a:ea typeface="+mn-ea"/>
                <a:cs typeface="+mn-cs"/>
              </a:rPr>
              <a:t>NGHIỆM</a:t>
            </a:r>
            <a:r>
              <a:rPr lang="en-US" sz="1200" b="0" i="0" kern="1200" baseline="0" dirty="0">
                <a:solidFill>
                  <a:schemeClr val="tx1"/>
                </a:solidFill>
                <a:effectLst/>
                <a:latin typeface="+mn-lt"/>
                <a:ea typeface="+mn-ea"/>
                <a:cs typeface="+mn-cs"/>
              </a:rPr>
              <a:t> THU HỢP ĐỒNG</a:t>
            </a:r>
            <a:r>
              <a:rPr lang="vi-VN"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Dựa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hợp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đồng</a:t>
            </a: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en-US" sz="1200" b="0" i="0" kern="1200" dirty="0">
                <a:solidFill>
                  <a:schemeClr val="tx1"/>
                </a:solidFill>
                <a:effectLst/>
                <a:latin typeface="+mn-lt"/>
                <a:ea typeface="+mn-ea"/>
                <a:cs typeface="+mn-cs"/>
              </a:rPr>
              <a:t>Alpha and beta testing (</a:t>
            </a: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alpha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beta)</a:t>
            </a:r>
          </a:p>
          <a:p>
            <a:pPr marL="0" indent="0">
              <a:buFontTx/>
              <a:buNone/>
            </a:pPr>
            <a:r>
              <a:rPr lang="vi-VN" sz="1200" b="1" i="0" kern="1200" dirty="0">
                <a:solidFill>
                  <a:schemeClr val="tx1"/>
                </a:solidFill>
                <a:effectLst/>
                <a:latin typeface="+mn-lt"/>
                <a:ea typeface="+mn-ea"/>
                <a:cs typeface="+mn-cs"/>
              </a:rPr>
              <a:t>ĐỐI VỚI NHỮNG SẢN PHẨM DÀNH BÁN RỘNG RÃI TRÊN THỊ TRƯỜNG CHO NHIỀU NGƯỜI SỬ DỤNG, THÔNG THƯỜNG SẼ THÔNG QUA HAI LOẠI KIỂM TRA GỌI LÀ ALPHA TEST VÀ BETA TEST</a:t>
            </a:r>
            <a:r>
              <a:rPr lang="en-US" sz="1200" b="1" i="0" kern="1200" dirty="0">
                <a:solidFill>
                  <a:schemeClr val="tx1"/>
                </a:solidFill>
                <a:effectLst/>
                <a:latin typeface="+mn-lt"/>
                <a:ea typeface="+mn-ea"/>
                <a:cs typeface="+mn-cs"/>
              </a:rPr>
              <a:t>:</a:t>
            </a:r>
            <a:r>
              <a:rPr lang="en-US" sz="1200" b="1" i="0" kern="1200" baseline="0" dirty="0">
                <a:solidFill>
                  <a:schemeClr val="tx1"/>
                </a:solidFill>
                <a:effectLst/>
                <a:latin typeface="+mn-lt"/>
                <a:ea typeface="+mn-ea"/>
                <a:cs typeface="+mn-cs"/>
              </a:rPr>
              <a:t> </a:t>
            </a:r>
            <a:r>
              <a:rPr lang="en-US" sz="1200" b="0" i="0" kern="1200" baseline="0" dirty="0">
                <a:solidFill>
                  <a:schemeClr val="tx1"/>
                </a:solidFill>
                <a:effectLst/>
                <a:latin typeface="+mn-lt"/>
                <a:ea typeface="+mn-ea"/>
                <a:cs typeface="+mn-cs"/>
              </a:rPr>
              <a:t>Windows, Office, Acrobat… </a:t>
            </a:r>
          </a:p>
          <a:p>
            <a:pPr marL="0" indent="0">
              <a:buFontTx/>
              <a:buNone/>
            </a:pPr>
            <a:r>
              <a:rPr lang="en-US" sz="1200" b="0" i="0" kern="1200" baseline="0" dirty="0" err="1">
                <a:solidFill>
                  <a:schemeClr val="tx1"/>
                </a:solidFill>
                <a:effectLst/>
                <a:latin typeface="+mn-lt"/>
                <a:ea typeface="+mn-ea"/>
                <a:cs typeface="+mn-cs"/>
              </a:rPr>
              <a:t>Cách</a:t>
            </a:r>
            <a:r>
              <a:rPr lang="en-US" sz="1200" b="0" i="0" kern="1200" baseline="0" dirty="0">
                <a:solidFill>
                  <a:schemeClr val="tx1"/>
                </a:solidFill>
                <a:effectLst/>
                <a:latin typeface="+mn-lt"/>
                <a:ea typeface="+mn-ea"/>
                <a:cs typeface="+mn-cs"/>
              </a:rPr>
              <a:t> kt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ng dung s</a:t>
            </a:r>
            <a:r>
              <a:rPr lang="vi-VN" sz="1200" b="0" i="0" kern="1200" dirty="0">
                <a:solidFill>
                  <a:schemeClr val="tx1"/>
                </a:solidFill>
                <a:effectLst/>
                <a:latin typeface="+mn-lt"/>
                <a:ea typeface="+mn-ea"/>
                <a:cs typeface="+mn-cs"/>
              </a:rPr>
              <a:t>ử dụng sản phẩm một cách thực tế</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c</a:t>
            </a:r>
            <a:r>
              <a:rPr lang="vi-VN" sz="1200" b="0" i="0" kern="1200" dirty="0">
                <a:solidFill>
                  <a:schemeClr val="tx1"/>
                </a:solidFill>
                <a:effectLst/>
                <a:latin typeface="+mn-lt"/>
                <a:ea typeface="+mn-ea"/>
                <a:cs typeface="+mn-cs"/>
              </a:rPr>
              <a:t>ho ý kiến ​​về sản phẩm</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lỗi</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đề </a:t>
            </a:r>
            <a:r>
              <a:rPr lang="en-US" sz="1200" b="0" i="0" kern="1200" dirty="0" err="1">
                <a:solidFill>
                  <a:schemeClr val="tx1"/>
                </a:solidFill>
                <a:effectLst/>
                <a:latin typeface="+mn-lt"/>
                <a:ea typeface="+mn-ea"/>
                <a:cs typeface="+mn-cs"/>
              </a:rPr>
              <a:t>xuất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cải thiện / nâng cao </a:t>
            </a:r>
            <a:r>
              <a:rPr lang="en-US" sz="1200" b="0" i="0" kern="1200" dirty="0">
                <a:solidFill>
                  <a:schemeClr val="tx1"/>
                </a:solidFill>
                <a:effectLst/>
                <a:latin typeface="+mn-lt"/>
                <a:ea typeface="+mn-ea"/>
                <a:cs typeface="+mn-cs"/>
              </a:rPr>
              <a:t>sp.</a:t>
            </a:r>
          </a:p>
          <a:p>
            <a:pPr marL="0" marR="0" indent="0" algn="l" defTabSz="914306" rtl="0" eaLnBrk="1" fontAlgn="auto" latinLnBrk="0" hangingPunct="1">
              <a:lnSpc>
                <a:spcPct val="100000"/>
              </a:lnSpc>
              <a:spcBef>
                <a:spcPts val="0"/>
              </a:spcBef>
              <a:spcAft>
                <a:spcPts val="0"/>
              </a:spcAft>
              <a:buClrTx/>
              <a:buSzTx/>
              <a:buFontTx/>
              <a:buNone/>
              <a:tabLst/>
              <a:defRPr/>
            </a:pPr>
            <a:r>
              <a:rPr lang="vi-VN" sz="1200" b="0" i="0" kern="1200" dirty="0" err="1">
                <a:solidFill>
                  <a:schemeClr val="tx1"/>
                </a:solidFill>
                <a:effectLst/>
                <a:latin typeface="+mn-lt"/>
                <a:ea typeface="+mn-ea"/>
                <a:cs typeface="+mn-cs"/>
              </a:rPr>
              <a:t>Alpha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err="1">
                <a:solidFill>
                  <a:schemeClr val="tx1"/>
                </a:solidFill>
                <a:effectLst/>
                <a:latin typeface="+mn-lt"/>
                <a:ea typeface="+mn-ea"/>
                <a:cs typeface="+mn-cs"/>
              </a:rPr>
              <a:t>đượ</a:t>
            </a:r>
            <a:r>
              <a:rPr lang="en-US" sz="1200" b="0" i="0" kern="1200" dirty="0">
                <a:solidFill>
                  <a:schemeClr val="tx1"/>
                </a:solidFill>
                <a:effectLst/>
                <a:latin typeface="+mn-lt"/>
                <a:ea typeface="+mn-ea"/>
                <a:cs typeface="+mn-cs"/>
              </a:rPr>
              <a:t>c </a:t>
            </a:r>
            <a:r>
              <a:rPr lang="en-US" sz="1200" b="0" i="0" kern="1200" dirty="0" err="1">
                <a:solidFill>
                  <a:schemeClr val="tx1"/>
                </a:solidFill>
                <a:effectLst/>
                <a:latin typeface="+mn-lt"/>
                <a:ea typeface="+mn-ea"/>
                <a:cs typeface="+mn-cs"/>
              </a:rPr>
              <a:t>thực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phía</a:t>
            </a:r>
            <a:r>
              <a:rPr lang="en-US" sz="1200" b="0" i="0" kern="1200" baseline="0" dirty="0">
                <a:solidFill>
                  <a:schemeClr val="tx1"/>
                </a:solidFill>
                <a:effectLst/>
                <a:latin typeface="+mn-lt"/>
                <a:ea typeface="+mn-ea"/>
                <a:cs typeface="+mn-cs"/>
              </a:rPr>
              <a:t> developer</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LẬP TRÌNH VIÊN SẼ GHI NHẬN CÁC LỖI HOẶC PHẢN HỒI, VÀ LÊN KẾ HOẠCH SỬA CHỮA</a:t>
            </a:r>
            <a:endParaRPr lang="en-US" sz="1200" b="1"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a:solidFill>
                  <a:schemeClr val="tx1"/>
                </a:solidFill>
                <a:effectLst/>
                <a:latin typeface="+mn-lt"/>
                <a:ea typeface="+mn-ea"/>
                <a:cs typeface="+mn-cs"/>
              </a:rPr>
              <a:t>do người dùng/khách hàng tiềm năng hoặc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thành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viên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trong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tổ</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chức</a:t>
            </a:r>
            <a:r>
              <a:rPr lang="en-US" sz="1200" b="0" i="0" kern="1200" baseline="0" dirty="0">
                <a:solidFill>
                  <a:schemeClr val="tx1"/>
                </a:solidFill>
                <a:effectLst/>
                <a:latin typeface="+mn-lt"/>
                <a:ea typeface="+mn-ea"/>
                <a:cs typeface="+mn-cs"/>
              </a:rPr>
              <a:t> pt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sd</a:t>
            </a:r>
            <a:r>
              <a:rPr lang="en-US" sz="1200" b="0" i="0" kern="1200" baseline="0" dirty="0">
                <a:solidFill>
                  <a:schemeClr val="tx1"/>
                </a:solidFill>
                <a:effectLst/>
                <a:latin typeface="+mn-lt"/>
                <a:ea typeface="+mn-ea"/>
                <a:cs typeface="+mn-cs"/>
              </a:rPr>
              <a:t> PM</a:t>
            </a: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1" i="0" kern="1200" dirty="0">
                <a:solidFill>
                  <a:schemeClr val="tx1"/>
                </a:solidFill>
                <a:effectLst/>
                <a:latin typeface="+mn-lt"/>
                <a:ea typeface="+mn-ea"/>
                <a:cs typeface="+mn-cs"/>
              </a:rPr>
              <a:t>LÀ MỘT HÌNH THỨC KIỂM THỬ CHẤP NHẬN NỘI BỘ, TRƯỚC KHI PHẦN MỀM ĐƯỢC TIẾN HÀNH KIỂM THỬ BETA</a:t>
            </a: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Beta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hoặc </a:t>
            </a:r>
            <a:r>
              <a:rPr lang="vi-VN" sz="1200" b="0" i="0" kern="1200" dirty="0" err="1">
                <a:solidFill>
                  <a:schemeClr val="tx1"/>
                </a:solidFill>
                <a:effectLst/>
                <a:latin typeface="+mn-lt"/>
                <a:ea typeface="+mn-ea"/>
                <a:cs typeface="+mn-cs"/>
              </a:rPr>
              <a:t>field-testing</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a:solidFill>
                  <a:schemeClr val="tx1"/>
                </a:solidFill>
                <a:effectLst/>
                <a:latin typeface="+mn-lt"/>
                <a:ea typeface="+mn-ea"/>
                <a:cs typeface="+mn-cs"/>
              </a:rPr>
              <a:t>Sau </a:t>
            </a:r>
            <a:r>
              <a:rPr lang="vi-VN" sz="1200" b="0" i="0" kern="1200" dirty="0" err="1">
                <a:solidFill>
                  <a:schemeClr val="tx1"/>
                </a:solidFill>
                <a:effectLst/>
                <a:latin typeface="+mn-lt"/>
                <a:ea typeface="+mn-ea"/>
                <a:cs typeface="+mn-cs"/>
              </a:rPr>
              <a:t>alpha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PM sẽ được tung ra thị trường cho người dùng sử dụng thử nghiệm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vi-VN" sz="1200" b="0" i="0" kern="1200" dirty="0">
                <a:solidFill>
                  <a:schemeClr val="tx1"/>
                </a:solidFill>
                <a:effectLst/>
                <a:latin typeface="+mn-lt"/>
                <a:ea typeface="+mn-ea"/>
                <a:cs typeface="+mn-cs"/>
              </a:rPr>
              <a:t> trước khi có phiên bản chính thức. Giai đoạn đó gọi là </a:t>
            </a:r>
            <a:r>
              <a:rPr lang="vi-VN" sz="1200" b="0" i="0" kern="1200" dirty="0" err="1">
                <a:solidFill>
                  <a:schemeClr val="tx1"/>
                </a:solidFill>
                <a:effectLst/>
                <a:latin typeface="+mn-lt"/>
                <a:ea typeface="+mn-ea"/>
                <a:cs typeface="+mn-cs"/>
              </a:rPr>
              <a:t>Beta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Bộ phận tiếp nhận phản hồi từ </a:t>
            </a:r>
            <a:r>
              <a:rPr lang="en-US" sz="1200" b="0" i="0" kern="1200" dirty="0" err="1">
                <a:solidFill>
                  <a:schemeClr val="tx1"/>
                </a:solidFill>
                <a:effectLst/>
                <a:latin typeface="+mn-lt"/>
                <a:ea typeface="+mn-ea"/>
                <a:cs typeface="+mn-cs"/>
              </a:rPr>
              <a:t>nhiều</a:t>
            </a:r>
            <a:r>
              <a:rPr lang="en-US" sz="1200" b="0" i="0" kern="1200" baseline="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user</a:t>
            </a:r>
            <a:r>
              <a:rPr lang="vi-VN" sz="1200" b="0" i="0" kern="1200" dirty="0">
                <a:solidFill>
                  <a:schemeClr val="tx1"/>
                </a:solidFill>
                <a:effectLst/>
                <a:latin typeface="+mn-lt"/>
                <a:ea typeface="+mn-ea"/>
                <a:cs typeface="+mn-cs"/>
              </a:rPr>
              <a:t> sẽ phân loại ý kiến người dùng, theo dõi và sửa chữa (nếu cần) trước khi công bố phiên bản chính thức của phần mềm.</a:t>
            </a:r>
          </a:p>
          <a:p>
            <a:pPr marL="0" marR="0" lvl="0" indent="0" algn="l" defTabSz="914306" rtl="0" eaLnBrk="1" fontAlgn="auto" latinLnBrk="0" hangingPunct="1">
              <a:lnSpc>
                <a:spcPct val="100000"/>
              </a:lnSpc>
              <a:spcBef>
                <a:spcPts val="0"/>
              </a:spcBef>
              <a:spcAft>
                <a:spcPts val="0"/>
              </a:spcAft>
              <a:buClrTx/>
              <a:buSzTx/>
              <a:buFontTx/>
              <a:buNone/>
              <a:tabLst/>
              <a:defRPr/>
            </a:pPr>
            <a:endParaRPr lang="en-US" sz="1200" b="0" i="0" kern="1200" baseline="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61</a:t>
            </a:fld>
            <a:endParaRPr lang="en-US"/>
          </a:p>
        </p:txBody>
      </p:sp>
    </p:spTree>
    <p:extLst>
      <p:ext uri="{BB962C8B-B14F-4D97-AF65-F5344CB8AC3E}">
        <p14:creationId xmlns:p14="http://schemas.microsoft.com/office/powerpoint/2010/main" val="2479505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Thông thường dùng để kiểm tra tính phù hợp với </a:t>
            </a:r>
            <a:r>
              <a:rPr lang="en-US" sz="1200" b="0" i="0" kern="1200" baseline="0" dirty="0" err="1">
                <a:solidFill>
                  <a:schemeClr val="tx1"/>
                </a:solidFill>
                <a:effectLst/>
                <a:latin typeface="+mn-lt"/>
                <a:ea typeface="+mn-ea"/>
                <a:cs typeface="+mn-cs"/>
              </a:rPr>
              <a:t>nghiệp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vụ</a:t>
            </a:r>
            <a:r>
              <a:rPr lang="vi-VN"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a:solidFill>
                  <a:schemeClr val="tx1"/>
                </a:solidFill>
                <a:effectLst/>
                <a:latin typeface="+mn-lt"/>
                <a:ea typeface="+mn-ea"/>
                <a:cs typeface="+mn-cs"/>
              </a:rPr>
              <a:t>khách hàng nên thực hiện hoặc được tham gia chặt chẽ</a:t>
            </a:r>
            <a:endParaRPr lang="en-US" sz="1200" b="0"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a:solidFill>
                  <a:schemeClr val="tx1"/>
                </a:solidFill>
                <a:effectLst/>
                <a:latin typeface="+mn-lt"/>
                <a:ea typeface="+mn-ea"/>
                <a:cs typeface="+mn-cs"/>
              </a:rPr>
              <a:t>khách hàng có thể thực hiện bất kỳ kiểm tra mà họ muốn, thường là dựa trên các quy trình </a:t>
            </a:r>
            <a:r>
              <a:rPr lang="en-US" sz="1200" b="0" i="0" kern="1200" dirty="0" err="1">
                <a:solidFill>
                  <a:schemeClr val="tx1"/>
                </a:solidFill>
                <a:effectLst/>
                <a:latin typeface="+mn-lt"/>
                <a:ea typeface="+mn-ea"/>
                <a:cs typeface="+mn-cs"/>
              </a:rPr>
              <a:t>nghiệp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vụ</a:t>
            </a:r>
            <a:r>
              <a:rPr lang="vi-VN" sz="1200" b="0" i="0" kern="1200" dirty="0">
                <a:solidFill>
                  <a:schemeClr val="tx1"/>
                </a:solidFill>
                <a:effectLst/>
                <a:latin typeface="+mn-lt"/>
                <a:ea typeface="+mn-ea"/>
                <a:cs typeface="+mn-cs"/>
              </a:rPr>
              <a:t> của họ</a:t>
            </a:r>
            <a:endParaRPr lang="en-US" sz="1200" b="0" i="0" kern="1200" dirty="0">
              <a:solidFill>
                <a:schemeClr val="tx1"/>
              </a:solidFill>
              <a:effectLst/>
              <a:latin typeface="+mn-lt"/>
              <a:ea typeface="+mn-ea"/>
              <a:cs typeface="+mn-cs"/>
            </a:endParaRPr>
          </a:p>
          <a:p>
            <a:pPr marL="0" indent="0">
              <a:buFontTx/>
              <a:buNone/>
            </a:pPr>
            <a:r>
              <a:rPr lang="en-US" dirty="0"/>
              <a:t>- </a:t>
            </a:r>
            <a:r>
              <a:rPr lang="en-US" dirty="0" err="1"/>
              <a:t>Tại</a:t>
            </a:r>
            <a:r>
              <a:rPr lang="en-US" baseline="0" dirty="0"/>
              <a:t> </a:t>
            </a:r>
            <a:r>
              <a:rPr lang="en-US" baseline="0" dirty="0" err="1"/>
              <a:t>sao</a:t>
            </a:r>
            <a:r>
              <a:rPr lang="en-US" baseline="0" dirty="0"/>
              <a:t> </a:t>
            </a:r>
            <a:r>
              <a:rPr lang="en-US" baseline="0" dirty="0" err="1"/>
              <a:t>lại</a:t>
            </a:r>
            <a:r>
              <a:rPr lang="en-US" baseline="0" dirty="0"/>
              <a:t> </a:t>
            </a:r>
            <a:r>
              <a:rPr lang="en-US" baseline="0" dirty="0" err="1"/>
              <a:t>dính</a:t>
            </a:r>
            <a:r>
              <a:rPr lang="en-US" baseline="0" dirty="0"/>
              <a:t> </a:t>
            </a:r>
            <a:r>
              <a:rPr lang="en-US" baseline="0" dirty="0" err="1"/>
              <a:t>líu</a:t>
            </a:r>
            <a:r>
              <a:rPr lang="en-US" baseline="0" dirty="0"/>
              <a:t> </a:t>
            </a:r>
            <a:r>
              <a:rPr lang="en-US" baseline="0" dirty="0" err="1"/>
              <a:t>đến</a:t>
            </a:r>
            <a:r>
              <a:rPr lang="en-US" baseline="0" dirty="0"/>
              <a:t> KH?</a:t>
            </a:r>
          </a:p>
          <a:p>
            <a:r>
              <a:rPr lang="en-US" baseline="0" dirty="0" err="1"/>
              <a:t>Vì</a:t>
            </a:r>
            <a:r>
              <a:rPr lang="en-US" baseline="0" dirty="0"/>
              <a:t> KH </a:t>
            </a:r>
            <a:r>
              <a:rPr lang="en-US" baseline="0" dirty="0" err="1"/>
              <a:t>biết</a:t>
            </a:r>
            <a:r>
              <a:rPr lang="en-US" baseline="0" dirty="0"/>
              <a:t>:</a:t>
            </a:r>
          </a:p>
          <a:p>
            <a:r>
              <a:rPr lang="en-US" dirty="0"/>
              <a:t>	</a:t>
            </a:r>
            <a:r>
              <a:rPr lang="vi-VN" dirty="0"/>
              <a:t>■</a:t>
            </a:r>
            <a:r>
              <a:rPr lang="en-US" dirty="0"/>
              <a:t> </a:t>
            </a:r>
            <a:r>
              <a:rPr lang="vi-VN" sz="1200" b="0" i="0" kern="1200" dirty="0">
                <a:solidFill>
                  <a:schemeClr val="tx1"/>
                </a:solidFill>
                <a:effectLst/>
                <a:latin typeface="+mn-lt"/>
                <a:ea typeface="+mn-ea"/>
                <a:cs typeface="+mn-cs"/>
              </a:rPr>
              <a:t>những gì thực sự xảy ra trong các tình huống kinh doanh</a:t>
            </a:r>
            <a:br>
              <a:rPr lang="vi-VN" dirty="0"/>
            </a:br>
            <a:r>
              <a:rPr lang="en-US" dirty="0"/>
              <a:t>	</a:t>
            </a:r>
            <a:r>
              <a:rPr lang="vi-VN" dirty="0"/>
              <a:t>■</a:t>
            </a:r>
            <a:r>
              <a:rPr lang="en-US" dirty="0"/>
              <a:t> </a:t>
            </a:r>
            <a:r>
              <a:rPr lang="en-US" dirty="0" err="1"/>
              <a:t>sự</a:t>
            </a:r>
            <a:r>
              <a:rPr lang="en-US" baseline="0" dirty="0"/>
              <a:t> </a:t>
            </a:r>
            <a:r>
              <a:rPr lang="vi-VN" sz="1200" b="0" i="0" kern="1200" dirty="0">
                <a:solidFill>
                  <a:schemeClr val="tx1"/>
                </a:solidFill>
                <a:effectLst/>
                <a:latin typeface="+mn-lt"/>
                <a:ea typeface="+mn-ea"/>
                <a:cs typeface="+mn-cs"/>
              </a:rPr>
              <a:t>phức tạp của các mối quan hệ kinh doanh</a:t>
            </a:r>
            <a:br>
              <a:rPr lang="vi-VN" dirty="0"/>
            </a:br>
            <a:r>
              <a:rPr lang="en-US" dirty="0"/>
              <a:t>	</a:t>
            </a:r>
            <a:r>
              <a:rPr lang="vi-VN" dirty="0"/>
              <a:t>■</a:t>
            </a:r>
            <a:r>
              <a:rPr lang="en-US" dirty="0"/>
              <a:t> </a:t>
            </a:r>
            <a:r>
              <a:rPr lang="en-US" dirty="0" err="1"/>
              <a:t>biết</a:t>
            </a:r>
            <a:r>
              <a:rPr lang="en-US" baseline="0" dirty="0"/>
              <a:t> </a:t>
            </a:r>
            <a:r>
              <a:rPr lang="en-US" baseline="0" dirty="0" err="1"/>
              <a:t>cách</a:t>
            </a:r>
            <a:r>
              <a:rPr lang="en-US" baseline="0" dirty="0"/>
              <a:t> </a:t>
            </a:r>
            <a:r>
              <a:rPr lang="vi-VN" sz="1200" b="0" i="0" kern="1200" dirty="0">
                <a:solidFill>
                  <a:schemeClr val="tx1"/>
                </a:solidFill>
                <a:effectLst/>
                <a:latin typeface="+mn-lt"/>
                <a:ea typeface="+mn-ea"/>
                <a:cs typeface="+mn-cs"/>
              </a:rPr>
              <a:t>làm thế nào sử dụng hệ 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hiệu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nhất</a:t>
            </a:r>
            <a:br>
              <a:rPr lang="vi-VN" dirty="0"/>
            </a:br>
            <a:r>
              <a:rPr lang="en-US" dirty="0"/>
              <a:t>	</a:t>
            </a:r>
            <a:r>
              <a:rPr lang="vi-VN" dirty="0"/>
              <a:t>■</a:t>
            </a:r>
            <a:r>
              <a:rPr lang="en-US" dirty="0"/>
              <a:t> </a:t>
            </a:r>
            <a:r>
              <a:rPr lang="vi-VN" sz="1200" b="0" i="0" kern="1200" dirty="0">
                <a:solidFill>
                  <a:schemeClr val="tx1"/>
                </a:solidFill>
                <a:effectLst/>
                <a:latin typeface="+mn-lt"/>
                <a:ea typeface="+mn-ea"/>
                <a:cs typeface="+mn-cs"/>
              </a:rPr>
              <a:t>ví dụ các trường hợp thực tế</a:t>
            </a:r>
            <a:br>
              <a:rPr lang="vi-VN" dirty="0"/>
            </a:br>
            <a:r>
              <a:rPr lang="en-US" dirty="0"/>
              <a:t>	</a:t>
            </a:r>
            <a:r>
              <a:rPr lang="vi-VN" dirty="0"/>
              <a:t>■</a:t>
            </a:r>
            <a:r>
              <a:rPr lang="en-US" dirty="0"/>
              <a:t> </a:t>
            </a:r>
            <a:r>
              <a:rPr lang="vi-VN" sz="1200" b="0" i="0" kern="1200" dirty="0">
                <a:solidFill>
                  <a:schemeClr val="tx1"/>
                </a:solidFill>
                <a:effectLst/>
                <a:latin typeface="+mn-lt"/>
                <a:ea typeface="+mn-ea"/>
                <a:cs typeface="+mn-cs"/>
              </a:rPr>
              <a:t>làm thế nào để xác định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giải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pháp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thay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thế</a:t>
            </a:r>
            <a:r>
              <a:rPr lang="vi-VN" sz="1200" b="0" i="0" kern="1200" dirty="0">
                <a:solidFill>
                  <a:schemeClr val="tx1"/>
                </a:solidFill>
                <a:effectLst/>
                <a:latin typeface="+mn-lt"/>
                <a:ea typeface="+mn-ea"/>
                <a:cs typeface="+mn-cs"/>
              </a:rPr>
              <a:t> hợp lý</a:t>
            </a: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62</a:t>
            </a:fld>
            <a:endParaRPr lang="en-US"/>
          </a:p>
        </p:txBody>
      </p:sp>
    </p:spTree>
    <p:extLst>
      <p:ext uri="{BB962C8B-B14F-4D97-AF65-F5344CB8AC3E}">
        <p14:creationId xmlns:p14="http://schemas.microsoft.com/office/powerpoint/2010/main" val="6312244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Gồm</a:t>
            </a:r>
            <a:r>
              <a:rPr lang="en-US" sz="1200" b="0" i="0" kern="1200" baseline="0" dirty="0">
                <a:solidFill>
                  <a:schemeClr val="tx1"/>
                </a:solidFill>
                <a:effectLst/>
                <a:latin typeface="+mn-lt"/>
                <a:ea typeface="+mn-ea"/>
                <a:cs typeface="+mn-cs"/>
              </a:rPr>
              <a:t>:</a:t>
            </a:r>
          </a:p>
          <a:p>
            <a:pPr marL="457153" lvl="1" indent="0">
              <a:buFontTx/>
              <a:buNone/>
            </a:pPr>
            <a:r>
              <a:rPr lang="vi-VN" sz="1200" b="0" i="0" kern="1200" dirty="0">
                <a:solidFill>
                  <a:schemeClr val="tx1"/>
                </a:solidFill>
                <a:effectLst/>
                <a:latin typeface="+mn-lt"/>
                <a:ea typeface="+mn-ea"/>
                <a:cs typeface="+mn-cs"/>
              </a:rPr>
              <a:t>o Kiểm thử sao lưu/phục hồi hệ thống</a:t>
            </a:r>
            <a:br>
              <a:rPr lang="vi-VN" dirty="0"/>
            </a:br>
            <a:r>
              <a:rPr lang="vi-VN" sz="1200" b="0" i="0" kern="1200" dirty="0">
                <a:solidFill>
                  <a:schemeClr val="tx1"/>
                </a:solidFill>
                <a:effectLst/>
                <a:latin typeface="+mn-lt"/>
                <a:ea typeface="+mn-ea"/>
                <a:cs typeface="+mn-cs"/>
              </a:rPr>
              <a:t>o Khôi phục lại hệ thống </a:t>
            </a:r>
            <a:r>
              <a:rPr lang="vi-VN" sz="1200" b="1" i="0" kern="1200" dirty="0">
                <a:solidFill>
                  <a:schemeClr val="tx1"/>
                </a:solidFill>
                <a:effectLst/>
                <a:latin typeface="+mn-lt"/>
                <a:ea typeface="+mn-ea"/>
                <a:cs typeface="+mn-cs"/>
              </a:rPr>
              <a:t>sau khi có sự cố như </a:t>
            </a:r>
            <a:r>
              <a:rPr lang="vi-VN" sz="1200" b="1" i="0" kern="1200" dirty="0" err="1">
                <a:solidFill>
                  <a:schemeClr val="tx1"/>
                </a:solidFill>
                <a:effectLst/>
                <a:latin typeface="+mn-lt"/>
                <a:ea typeface="+mn-ea"/>
                <a:cs typeface="+mn-cs"/>
              </a:rPr>
              <a:t>cúp</a:t>
            </a:r>
            <a:r>
              <a:rPr lang="vi-VN" sz="1200" b="1" i="0" kern="1200" dirty="0">
                <a:solidFill>
                  <a:schemeClr val="tx1"/>
                </a:solidFill>
                <a:effectLst/>
                <a:latin typeface="+mn-lt"/>
                <a:ea typeface="+mn-ea"/>
                <a:cs typeface="+mn-cs"/>
              </a:rPr>
              <a:t> điện, hỏa hoạn...</a:t>
            </a:r>
            <a:br>
              <a:rPr lang="vi-VN" dirty="0"/>
            </a:br>
            <a:r>
              <a:rPr lang="vi-VN" sz="1200" b="0" i="0" kern="1200" dirty="0">
                <a:solidFill>
                  <a:schemeClr val="tx1"/>
                </a:solidFill>
                <a:effectLst/>
                <a:latin typeface="+mn-lt"/>
                <a:ea typeface="+mn-ea"/>
                <a:cs typeface="+mn-cs"/>
              </a:rPr>
              <a:t>o Quản trị người dùng như </a:t>
            </a:r>
            <a:r>
              <a:rPr lang="vi-VN" sz="1200" b="1" i="0" kern="1200" dirty="0">
                <a:solidFill>
                  <a:schemeClr val="tx1"/>
                </a:solidFill>
                <a:effectLst/>
                <a:latin typeface="+mn-lt"/>
                <a:ea typeface="+mn-ea"/>
                <a:cs typeface="+mn-cs"/>
              </a:rPr>
              <a:t>phân quyền, lần lượt </a:t>
            </a:r>
            <a:r>
              <a:rPr lang="vi-VN" sz="1200" b="1" i="0" kern="1200" dirty="0" err="1">
                <a:solidFill>
                  <a:schemeClr val="tx1"/>
                </a:solidFill>
                <a:effectLst/>
                <a:latin typeface="+mn-lt"/>
                <a:ea typeface="+mn-ea"/>
                <a:cs typeface="+mn-cs"/>
              </a:rPr>
              <a:t>login</a:t>
            </a:r>
            <a:r>
              <a:rPr lang="vi-VN" sz="1200" b="1" i="0" kern="1200" dirty="0">
                <a:solidFill>
                  <a:schemeClr val="tx1"/>
                </a:solidFill>
                <a:effectLst/>
                <a:latin typeface="+mn-lt"/>
                <a:ea typeface="+mn-ea"/>
                <a:cs typeface="+mn-cs"/>
              </a:rPr>
              <a:t> bằng tất cả các quyền.</a:t>
            </a:r>
            <a:br>
              <a:rPr lang="vi-VN" b="1" dirty="0"/>
            </a:br>
            <a:r>
              <a:rPr lang="vi-VN" sz="1200" b="0" i="0" kern="1200" dirty="0">
                <a:solidFill>
                  <a:schemeClr val="tx1"/>
                </a:solidFill>
                <a:effectLst/>
                <a:latin typeface="+mn-lt"/>
                <a:ea typeface="+mn-ea"/>
                <a:cs typeface="+mn-cs"/>
              </a:rPr>
              <a:t>o Các nhiệm vụ bảo trì </a:t>
            </a:r>
            <a:br>
              <a:rPr lang="vi-VN" dirty="0"/>
            </a:br>
            <a:r>
              <a:rPr lang="vi-VN" sz="1200" b="0" i="0" kern="1200" dirty="0">
                <a:solidFill>
                  <a:schemeClr val="tx1"/>
                </a:solidFill>
                <a:effectLst/>
                <a:latin typeface="+mn-lt"/>
                <a:ea typeface="+mn-ea"/>
                <a:cs typeface="+mn-cs"/>
              </a:rPr>
              <a:t>o Các nhiệm vụ tải </a:t>
            </a:r>
            <a:r>
              <a:rPr lang="vi-VN" sz="1200" b="0" i="0" kern="1200" dirty="0" err="1">
                <a:solidFill>
                  <a:schemeClr val="tx1"/>
                </a:solidFill>
                <a:effectLst/>
                <a:latin typeface="+mn-lt"/>
                <a:ea typeface="+mn-ea"/>
                <a:cs typeface="+mn-cs"/>
              </a:rPr>
              <a:t>data</a:t>
            </a:r>
            <a:r>
              <a:rPr lang="vi-VN" sz="1200" b="0" i="0" kern="1200" dirty="0">
                <a:solidFill>
                  <a:schemeClr val="tx1"/>
                </a:solidFill>
                <a:effectLst/>
                <a:latin typeface="+mn-lt"/>
                <a:ea typeface="+mn-ea"/>
                <a:cs typeface="+mn-cs"/>
              </a:rPr>
              <a:t> và di chuyển </a:t>
            </a:r>
            <a:r>
              <a:rPr lang="vi-VN" sz="1200" b="0" i="0" kern="1200" dirty="0" err="1">
                <a:solidFill>
                  <a:schemeClr val="tx1"/>
                </a:solidFill>
                <a:effectLst/>
                <a:latin typeface="+mn-lt"/>
                <a:ea typeface="+mn-ea"/>
                <a:cs typeface="+mn-cs"/>
              </a:rPr>
              <a:t>data</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marL="457153" lvl="1" indent="0">
              <a:buFontTx/>
              <a:buNone/>
            </a:pPr>
            <a:r>
              <a:rPr lang="vi-VN" sz="1200" b="0" i="0" kern="1200" dirty="0">
                <a:solidFill>
                  <a:schemeClr val="tx1"/>
                </a:solidFill>
                <a:effectLst/>
                <a:latin typeface="+mn-lt"/>
                <a:ea typeface="+mn-ea"/>
                <a:cs typeface="+mn-cs"/>
              </a:rPr>
              <a:t>o Kiểm tra các lỗ hổng bảo mật định kỳ.</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63B9007-0201-49BE-A587-7F882848EC05}" type="slidenum">
              <a:rPr lang="en-US" smtClean="0"/>
              <a:t>63</a:t>
            </a:fld>
            <a:endParaRPr lang="en-US"/>
          </a:p>
        </p:txBody>
      </p:sp>
    </p:spTree>
    <p:extLst>
      <p:ext uri="{BB962C8B-B14F-4D97-AF65-F5344CB8AC3E}">
        <p14:creationId xmlns:p14="http://schemas.microsoft.com/office/powerpoint/2010/main" val="35612991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1" i="0" kern="1200" dirty="0">
                <a:solidFill>
                  <a:schemeClr val="tx1"/>
                </a:solidFill>
                <a:effectLst/>
                <a:latin typeface="+mn-lt"/>
                <a:ea typeface="+mn-ea"/>
                <a:cs typeface="+mn-cs"/>
              </a:rPr>
              <a:t>- NGHIỆM</a:t>
            </a:r>
            <a:r>
              <a:rPr lang="en-US" sz="1200" b="1" i="0" kern="1200" baseline="0" dirty="0">
                <a:solidFill>
                  <a:schemeClr val="tx1"/>
                </a:solidFill>
                <a:effectLst/>
                <a:latin typeface="+mn-lt"/>
                <a:ea typeface="+mn-ea"/>
                <a:cs typeface="+mn-cs"/>
              </a:rPr>
              <a:t> THU HỢP ĐỒNG </a:t>
            </a:r>
            <a:r>
              <a:rPr lang="vi-VN" sz="1200" b="0" i="0" kern="1200" dirty="0">
                <a:solidFill>
                  <a:schemeClr val="tx1"/>
                </a:solidFill>
                <a:effectLst/>
                <a:latin typeface="+mn-lt"/>
                <a:ea typeface="+mn-ea"/>
                <a:cs typeface="+mn-cs"/>
              </a:rPr>
              <a:t>được thực hiện </a:t>
            </a:r>
            <a:r>
              <a:rPr lang="en-US" sz="1200" b="0" i="0" kern="1200" dirty="0" err="1">
                <a:solidFill>
                  <a:schemeClr val="tx1"/>
                </a:solidFill>
                <a:effectLst/>
                <a:latin typeface="+mn-lt"/>
                <a:ea typeface="+mn-ea"/>
                <a:cs typeface="+mn-cs"/>
              </a:rPr>
              <a:t>dựa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trên</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kiện</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hợp đồng và bất kỳ thỏa thuận </a:t>
            </a:r>
            <a:r>
              <a:rPr lang="en-US" sz="1200" b="0" i="0" kern="1200" dirty="0" err="1">
                <a:solidFill>
                  <a:schemeClr val="tx1"/>
                </a:solidFill>
                <a:effectLst/>
                <a:latin typeface="+mn-lt"/>
                <a:ea typeface="+mn-ea"/>
                <a:cs typeface="+mn-cs"/>
              </a:rPr>
              <a:t>nào</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marL="0" indent="0">
              <a:buFontTx/>
              <a:buNone/>
            </a:pPr>
            <a:r>
              <a:rPr lang="en-US" sz="1200" b="0" i="0" kern="1200" dirty="0">
                <a:solidFill>
                  <a:schemeClr val="tx1"/>
                </a:solidFill>
                <a:effectLst/>
                <a:latin typeface="+mn-lt"/>
                <a:ea typeface="+mn-ea"/>
                <a:cs typeface="+mn-cs"/>
              </a:rPr>
              <a:t>- KT </a:t>
            </a:r>
            <a:r>
              <a:rPr lang="en-US" sz="1200" b="0" i="0" kern="1200" dirty="0" err="1">
                <a:solidFill>
                  <a:schemeClr val="tx1"/>
                </a:solidFill>
                <a:effectLst/>
                <a:latin typeface="+mn-lt"/>
                <a:ea typeface="+mn-ea"/>
                <a:cs typeface="+mn-cs"/>
              </a:rPr>
              <a:t>chấp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nhận</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định</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được thực hiện đối với bất kỳ quy định </a:t>
            </a:r>
            <a:r>
              <a:rPr lang="en-US" sz="1200" b="0" i="0" kern="1200" baseline="0" dirty="0" err="1">
                <a:solidFill>
                  <a:schemeClr val="tx1"/>
                </a:solidFill>
                <a:effectLst/>
                <a:latin typeface="+mn-lt"/>
                <a:ea typeface="+mn-ea"/>
                <a:cs typeface="+mn-cs"/>
              </a:rPr>
              <a:t>nào</a:t>
            </a:r>
            <a:r>
              <a:rPr lang="vi-VN" sz="1200" b="0" i="0" kern="1200" dirty="0">
                <a:solidFill>
                  <a:schemeClr val="tx1"/>
                </a:solidFill>
                <a:effectLst/>
                <a:latin typeface="+mn-lt"/>
                <a:ea typeface="+mn-ea"/>
                <a:cs typeface="+mn-cs"/>
              </a:rPr>
              <a:t>, chẳng hạn như quy định của chính phủ, pháp luật hoặc các điều lệ an toàn.</a:t>
            </a: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64</a:t>
            </a:fld>
            <a:endParaRPr lang="en-US"/>
          </a:p>
        </p:txBody>
      </p:sp>
    </p:spTree>
    <p:extLst>
      <p:ext uri="{BB962C8B-B14F-4D97-AF65-F5344CB8AC3E}">
        <p14:creationId xmlns:p14="http://schemas.microsoft.com/office/powerpoint/2010/main" val="20856268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vi-VN" sz="1200" b="1" i="0" kern="1200" dirty="0">
                <a:solidFill>
                  <a:schemeClr val="tx1"/>
                </a:solidFill>
                <a:effectLst/>
                <a:latin typeface="+mn-lt"/>
                <a:ea typeface="+mn-ea"/>
                <a:cs typeface="+mn-cs"/>
              </a:rPr>
              <a:t>ĐỐI VỚI NHỮNG SẢN PHẨM DÀNH BÁN RỘNG RÃI TRÊN THỊ TRƯỜNG CHO NHIỀU NGƯỜI SỬ DỤNG, THÔNG THƯỜNG SẼ THÔNG QUA HAI LOẠI KIỂM TRA GỌI LÀ ALPHA TEST VÀ BETA TEST.</a:t>
            </a:r>
            <a:endParaRPr lang="en-US" sz="1200" b="1" i="0" kern="1200" baseline="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 … COTS: Windows,…</a:t>
            </a:r>
            <a:endParaRPr lang="en-US" sz="1200" b="0" i="0" kern="1200" dirty="0">
              <a:solidFill>
                <a:schemeClr val="tx1"/>
              </a:solidFill>
              <a:effectLst/>
              <a:latin typeface="+mn-lt"/>
              <a:ea typeface="+mn-ea"/>
              <a:cs typeface="+mn-cs"/>
            </a:endParaRPr>
          </a:p>
          <a:p>
            <a:pPr marL="0" lvl="0" indent="0">
              <a:buFontTx/>
              <a:buNone/>
            </a:pPr>
            <a:r>
              <a:rPr lang="en-US" sz="1200" b="0" i="0" kern="1200" dirty="0">
                <a:solidFill>
                  <a:schemeClr val="tx1"/>
                </a:solidFill>
                <a:effectLst/>
                <a:latin typeface="+mn-lt"/>
                <a:ea typeface="+mn-ea"/>
                <a:cs typeface="+mn-cs"/>
              </a:rPr>
              <a:t>- KT </a:t>
            </a:r>
            <a:r>
              <a:rPr lang="vi-VN" sz="1200" b="0" i="0" kern="1200" dirty="0">
                <a:solidFill>
                  <a:schemeClr val="tx1"/>
                </a:solidFill>
                <a:effectLst/>
                <a:latin typeface="+mn-lt"/>
                <a:ea typeface="+mn-ea"/>
                <a:cs typeface="+mn-cs"/>
              </a:rPr>
              <a:t>khi phần mềm ổn định</a:t>
            </a:r>
            <a:endParaRPr lang="en-US" sz="1200" b="0" i="0" kern="1200" dirty="0">
              <a:solidFill>
                <a:schemeClr val="tx1"/>
              </a:solidFill>
              <a:effectLst/>
              <a:latin typeface="+mn-lt"/>
              <a:ea typeface="+mn-ea"/>
              <a:cs typeface="+mn-cs"/>
            </a:endParaRPr>
          </a:p>
          <a:p>
            <a:pPr marL="0" lv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Sử dụng sản phẩm một cách thực tế trong môi trường hoạt động</a:t>
            </a:r>
            <a:endParaRPr lang="en-US" sz="1200" b="0" i="0" kern="1200" dirty="0">
              <a:solidFill>
                <a:schemeClr val="tx1"/>
              </a:solidFill>
              <a:effectLst/>
              <a:latin typeface="+mn-lt"/>
              <a:ea typeface="+mn-ea"/>
              <a:cs typeface="+mn-cs"/>
            </a:endParaRPr>
          </a:p>
          <a:p>
            <a:pPr marL="0" lv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Cho ý kiến ​​về sản phẩm</a:t>
            </a:r>
            <a:br>
              <a:rPr lang="vi-VN" dirty="0"/>
            </a:br>
            <a:r>
              <a:rPr lang="en-US" dirty="0"/>
              <a:t>	</a:t>
            </a:r>
            <a:r>
              <a:rPr lang="vi-VN" dirty="0"/>
              <a:t>■</a:t>
            </a:r>
            <a:r>
              <a:rPr lang="en-US" dirty="0"/>
              <a:t> </a:t>
            </a:r>
            <a:r>
              <a:rPr lang="vi-VN" sz="1200" b="0" i="0" kern="1200" dirty="0">
                <a:solidFill>
                  <a:schemeClr val="tx1"/>
                </a:solidFill>
                <a:effectLst/>
                <a:latin typeface="+mn-lt"/>
                <a:ea typeface="+mn-ea"/>
                <a:cs typeface="+mn-cs"/>
              </a:rPr>
              <a:t>lỗi tìm thấy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gì</a:t>
            </a:r>
            <a:br>
              <a:rPr lang="vi-VN" dirty="0"/>
            </a:br>
            <a:r>
              <a:rPr lang="en-US" dirty="0"/>
              <a:t>	</a:t>
            </a:r>
            <a:r>
              <a:rPr lang="vi-VN" dirty="0"/>
              <a:t>■</a:t>
            </a:r>
            <a:r>
              <a:rPr lang="en-US" dirty="0"/>
              <a:t> </a:t>
            </a:r>
            <a:r>
              <a:rPr lang="vi-VN" sz="1200" b="0" i="0" kern="1200" dirty="0">
                <a:solidFill>
                  <a:schemeClr val="tx1"/>
                </a:solidFill>
                <a:effectLst/>
                <a:latin typeface="+mn-lt"/>
                <a:ea typeface="+mn-ea"/>
                <a:cs typeface="+mn-cs"/>
              </a:rPr>
              <a:t>làm thế nào sản phẩm đáp ứng mong đợi của họ</a:t>
            </a:r>
            <a:br>
              <a:rPr lang="vi-VN" dirty="0"/>
            </a:br>
            <a:r>
              <a:rPr lang="en-US" dirty="0"/>
              <a:t>	</a:t>
            </a:r>
            <a:r>
              <a:rPr lang="vi-VN" dirty="0"/>
              <a:t>■</a:t>
            </a:r>
            <a:r>
              <a:rPr lang="en-US" dirty="0"/>
              <a:t> </a:t>
            </a:r>
            <a:r>
              <a:rPr lang="vi-VN" sz="1200" b="0" i="0" kern="1200" dirty="0">
                <a:solidFill>
                  <a:schemeClr val="tx1"/>
                </a:solidFill>
                <a:effectLst/>
                <a:latin typeface="+mn-lt"/>
                <a:ea typeface="+mn-ea"/>
                <a:cs typeface="+mn-cs"/>
              </a:rPr>
              <a:t>đề nghị</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cải thiện / nâng cao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63B9007-0201-49BE-A587-7F882848EC05}" type="slidenum">
              <a:rPr lang="en-US" smtClean="0"/>
              <a:t>65</a:t>
            </a:fld>
            <a:endParaRPr lang="en-US"/>
          </a:p>
        </p:txBody>
      </p:sp>
    </p:spTree>
    <p:extLst>
      <p:ext uri="{BB962C8B-B14F-4D97-AF65-F5344CB8AC3E}">
        <p14:creationId xmlns:p14="http://schemas.microsoft.com/office/powerpoint/2010/main" val="30710392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Alpha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err="1">
                <a:solidFill>
                  <a:schemeClr val="tx1"/>
                </a:solidFill>
                <a:effectLst/>
                <a:latin typeface="+mn-lt"/>
                <a:ea typeface="+mn-ea"/>
                <a:cs typeface="+mn-cs"/>
              </a:rPr>
              <a:t>đượ</a:t>
            </a:r>
            <a:r>
              <a:rPr lang="en-US" sz="1200" b="0" i="0" kern="1200" dirty="0">
                <a:solidFill>
                  <a:schemeClr val="tx1"/>
                </a:solidFill>
                <a:effectLst/>
                <a:latin typeface="+mn-lt"/>
                <a:ea typeface="+mn-ea"/>
                <a:cs typeface="+mn-cs"/>
              </a:rPr>
              <a:t>c </a:t>
            </a:r>
            <a:r>
              <a:rPr lang="en-US" sz="1200" b="0" i="0" kern="1200" dirty="0" err="1">
                <a:solidFill>
                  <a:schemeClr val="tx1"/>
                </a:solidFill>
                <a:effectLst/>
                <a:latin typeface="+mn-lt"/>
                <a:ea typeface="+mn-ea"/>
                <a:cs typeface="+mn-cs"/>
              </a:rPr>
              <a:t>thực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phía</a:t>
            </a:r>
            <a:r>
              <a:rPr lang="en-US" sz="1200" b="0" i="0" kern="1200" baseline="0" dirty="0">
                <a:solidFill>
                  <a:schemeClr val="tx1"/>
                </a:solidFill>
                <a:effectLst/>
                <a:latin typeface="+mn-lt"/>
                <a:ea typeface="+mn-ea"/>
                <a:cs typeface="+mn-cs"/>
              </a:rPr>
              <a:t> developer</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LẬP TRÌNH VIÊN SẼ GHI NHẬN CÁC LỖI HOẶC PHẢN HỒI, VÀ LÊN KẾ HOẠCH SỬA CHỮA</a:t>
            </a:r>
            <a:endParaRPr lang="en-US" sz="1200" b="1"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a:solidFill>
                  <a:schemeClr val="tx1"/>
                </a:solidFill>
                <a:effectLst/>
                <a:latin typeface="+mn-lt"/>
                <a:ea typeface="+mn-ea"/>
                <a:cs typeface="+mn-cs"/>
              </a:rPr>
              <a:t>do người dùng/khách hàng tiềm năng hoặc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thành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viên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trong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tổ</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chức</a:t>
            </a:r>
            <a:r>
              <a:rPr lang="en-US" sz="1200" b="0" i="0" kern="1200" baseline="0" dirty="0">
                <a:solidFill>
                  <a:schemeClr val="tx1"/>
                </a:solidFill>
                <a:effectLst/>
                <a:latin typeface="+mn-lt"/>
                <a:ea typeface="+mn-ea"/>
                <a:cs typeface="+mn-cs"/>
              </a:rPr>
              <a:t> pt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sd</a:t>
            </a:r>
            <a:r>
              <a:rPr lang="en-US" sz="1200" b="0" i="0" kern="1200" baseline="0" dirty="0">
                <a:solidFill>
                  <a:schemeClr val="tx1"/>
                </a:solidFill>
                <a:effectLst/>
                <a:latin typeface="+mn-lt"/>
                <a:ea typeface="+mn-ea"/>
                <a:cs typeface="+mn-cs"/>
              </a:rPr>
              <a:t> PM</a:t>
            </a: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1" i="0" kern="1200" dirty="0">
                <a:solidFill>
                  <a:schemeClr val="tx1"/>
                </a:solidFill>
                <a:effectLst/>
                <a:latin typeface="+mn-lt"/>
                <a:ea typeface="+mn-ea"/>
                <a:cs typeface="+mn-cs"/>
              </a:rPr>
              <a:t>LÀ MỘT HÌNH THỨC KIỂM THỬ CHẤP NHẬN NỘI BỘ, TRƯỚC KHI PHẦN MỀM ĐƯỢC TIẾN HÀNH KIỂM THỬ BETA</a:t>
            </a:r>
            <a:endParaRPr lang="en-US" sz="1200" b="1"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Beta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testing</a:t>
            </a:r>
            <a:r>
              <a:rPr lang="vi-VN" sz="1200" b="0" i="0" kern="1200" dirty="0">
                <a:solidFill>
                  <a:schemeClr val="tx1"/>
                </a:solidFill>
                <a:effectLst/>
                <a:latin typeface="+mn-lt"/>
                <a:ea typeface="+mn-ea"/>
                <a:cs typeface="+mn-cs"/>
              </a:rPr>
              <a:t> hoặc </a:t>
            </a:r>
            <a:r>
              <a:rPr lang="vi-VN" sz="1200" b="0" i="0" kern="1200" dirty="0" err="1">
                <a:solidFill>
                  <a:schemeClr val="tx1"/>
                </a:solidFill>
                <a:effectLst/>
                <a:latin typeface="+mn-lt"/>
                <a:ea typeface="+mn-ea"/>
                <a:cs typeface="+mn-cs"/>
              </a:rPr>
              <a:t>field-testing</a:t>
            </a:r>
            <a:r>
              <a:rPr lang="vi-VN"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kern="1200" dirty="0">
                <a:solidFill>
                  <a:schemeClr val="tx1"/>
                </a:solidFill>
                <a:effectLst/>
                <a:latin typeface="+mn-lt"/>
                <a:ea typeface="+mn-ea"/>
                <a:cs typeface="+mn-cs"/>
              </a:rPr>
              <a:t>Sau </a:t>
            </a:r>
            <a:r>
              <a:rPr lang="vi-VN" sz="1200" b="0" i="0" kern="1200" dirty="0" err="1">
                <a:solidFill>
                  <a:schemeClr val="tx1"/>
                </a:solidFill>
                <a:effectLst/>
                <a:latin typeface="+mn-lt"/>
                <a:ea typeface="+mn-ea"/>
                <a:cs typeface="+mn-cs"/>
              </a:rPr>
              <a:t>alpha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PM sẽ được tung ra thị trường cho người dùng sử dụng thử nghiệm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vi-VN" sz="1200" b="0" i="0" kern="1200" dirty="0">
                <a:solidFill>
                  <a:schemeClr val="tx1"/>
                </a:solidFill>
                <a:effectLst/>
                <a:latin typeface="+mn-lt"/>
                <a:ea typeface="+mn-ea"/>
                <a:cs typeface="+mn-cs"/>
              </a:rPr>
              <a:t> trước khi có phiên bản chính thức. Giai đoạn đó gọi là </a:t>
            </a:r>
            <a:r>
              <a:rPr lang="vi-VN" sz="1200" b="0" i="0" kern="1200" dirty="0" err="1">
                <a:solidFill>
                  <a:schemeClr val="tx1"/>
                </a:solidFill>
                <a:effectLst/>
                <a:latin typeface="+mn-lt"/>
                <a:ea typeface="+mn-ea"/>
                <a:cs typeface="+mn-cs"/>
              </a:rPr>
              <a:t>Beta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Test</a:t>
            </a:r>
            <a:r>
              <a:rPr lang="vi-VN" sz="1200" b="0" i="0" kern="1200" dirty="0">
                <a:solidFill>
                  <a:schemeClr val="tx1"/>
                </a:solidFill>
                <a:effectLst/>
                <a:latin typeface="+mn-lt"/>
                <a:ea typeface="+mn-ea"/>
                <a:cs typeface="+mn-cs"/>
              </a:rPr>
              <a:t>. Bộ phận tiếp nhận phản hồi từ vô </a:t>
            </a:r>
            <a:r>
              <a:rPr lang="en-US" sz="1200" b="0" i="0" kern="1200" dirty="0" err="1">
                <a:solidFill>
                  <a:schemeClr val="tx1"/>
                </a:solidFill>
                <a:effectLst/>
                <a:latin typeface="+mn-lt"/>
                <a:ea typeface="+mn-ea"/>
                <a:cs typeface="+mn-cs"/>
              </a:rPr>
              <a:t>số</a:t>
            </a:r>
            <a:r>
              <a:rPr lang="en-US" sz="1200" b="0" i="0" kern="1200" baseline="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user</a:t>
            </a:r>
            <a:r>
              <a:rPr lang="vi-VN" sz="1200" b="0" i="0" kern="1200" dirty="0">
                <a:solidFill>
                  <a:schemeClr val="tx1"/>
                </a:solidFill>
                <a:effectLst/>
                <a:latin typeface="+mn-lt"/>
                <a:ea typeface="+mn-ea"/>
                <a:cs typeface="+mn-cs"/>
              </a:rPr>
              <a:t> sẽ phân loại ý kiến người dùng, theo dõi và sửa chữa (nếu cần) trước khi công bố phiên bản chính thức của phần mềm.</a:t>
            </a:r>
          </a:p>
        </p:txBody>
      </p:sp>
      <p:sp>
        <p:nvSpPr>
          <p:cNvPr id="4" name="Slide Number Placeholder 3"/>
          <p:cNvSpPr>
            <a:spLocks noGrp="1"/>
          </p:cNvSpPr>
          <p:nvPr>
            <p:ph type="sldNum" sz="quarter" idx="10"/>
          </p:nvPr>
        </p:nvSpPr>
        <p:spPr/>
        <p:txBody>
          <a:bodyPr/>
          <a:lstStyle/>
          <a:p>
            <a:fld id="{A63B9007-0201-49BE-A587-7F882848EC05}" type="slidenum">
              <a:rPr lang="en-US" smtClean="0"/>
              <a:t>66</a:t>
            </a:fld>
            <a:endParaRPr lang="en-US"/>
          </a:p>
        </p:txBody>
      </p:sp>
    </p:spTree>
    <p:extLst>
      <p:ext uri="{BB962C8B-B14F-4D97-AF65-F5344CB8AC3E}">
        <p14:creationId xmlns:p14="http://schemas.microsoft.com/office/powerpoint/2010/main" val="42133309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a:t>NÓI</a:t>
            </a:r>
            <a:r>
              <a:rPr lang="en-US" b="1" baseline="0" dirty="0"/>
              <a:t> TÓM TẮT TRONG SLIDE NÀY, TRỪ LOẠI KT CUỐI</a:t>
            </a:r>
            <a:endParaRPr lang="en-US" b="1"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err="1"/>
              <a:t>Có</a:t>
            </a:r>
            <a:r>
              <a:rPr lang="en-US" baseline="0" dirty="0"/>
              <a:t> </a:t>
            </a:r>
            <a:r>
              <a:rPr lang="en-US" baseline="0" dirty="0" err="1"/>
              <a:t>sách</a:t>
            </a:r>
            <a:r>
              <a:rPr lang="en-US" baseline="0" dirty="0"/>
              <a:t> </a:t>
            </a:r>
            <a:r>
              <a:rPr lang="en-US" baseline="0" dirty="0" err="1"/>
              <a:t>phân</a:t>
            </a:r>
            <a:r>
              <a:rPr lang="en-US" baseline="0" dirty="0"/>
              <a:t> </a:t>
            </a:r>
            <a:r>
              <a:rPr lang="en-US" baseline="0" dirty="0" err="1"/>
              <a:t>làm</a:t>
            </a:r>
            <a:r>
              <a:rPr lang="en-US" baseline="0" dirty="0"/>
              <a:t> 2 </a:t>
            </a:r>
            <a:r>
              <a:rPr lang="en-US" baseline="0" dirty="0" err="1"/>
              <a:t>loại</a:t>
            </a:r>
            <a:r>
              <a:rPr lang="en-US" baseline="0" dirty="0"/>
              <a:t>: white box, black box.</a:t>
            </a:r>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 </a:t>
            </a:r>
            <a:r>
              <a:rPr lang="en-US" b="1" dirty="0"/>
              <a:t>functional testing</a:t>
            </a:r>
            <a:r>
              <a:rPr lang="en-US" dirty="0"/>
              <a:t>: Test </a:t>
            </a:r>
            <a:r>
              <a:rPr lang="en-US" b="0" dirty="0"/>
              <a:t>functions</a:t>
            </a:r>
            <a:r>
              <a:rPr lang="en-US" b="0" baseline="0" dirty="0"/>
              <a:t> (</a:t>
            </a:r>
            <a:r>
              <a:rPr lang="en-US" b="0" dirty="0"/>
              <a:t>“what” the system does). Test </a:t>
            </a:r>
            <a:r>
              <a:rPr lang="en-US" b="0" dirty="0" err="1"/>
              <a:t>cả</a:t>
            </a:r>
            <a:r>
              <a:rPr lang="en-US" b="0" baseline="0" dirty="0"/>
              <a:t> </a:t>
            </a:r>
            <a:r>
              <a:rPr lang="en-US" b="0" baseline="0" dirty="0" err="1"/>
              <a:t>yêu</a:t>
            </a:r>
            <a:r>
              <a:rPr lang="en-US" b="0" baseline="0" dirty="0"/>
              <a:t> </a:t>
            </a:r>
            <a:r>
              <a:rPr lang="en-US" b="0" baseline="0" dirty="0" err="1"/>
              <a:t>cầu</a:t>
            </a:r>
            <a:r>
              <a:rPr lang="en-US" b="0" baseline="0" dirty="0"/>
              <a:t> </a:t>
            </a:r>
            <a:r>
              <a:rPr lang="en-US" b="0" baseline="0" dirty="0" err="1"/>
              <a:t>và</a:t>
            </a:r>
            <a:r>
              <a:rPr lang="en-US" b="0" baseline="0" dirty="0"/>
              <a:t> </a:t>
            </a:r>
            <a:r>
              <a:rPr lang="en-US" b="0" baseline="0" dirty="0" err="1"/>
              <a:t>cả</a:t>
            </a:r>
            <a:r>
              <a:rPr lang="en-US" b="0" baseline="0" dirty="0"/>
              <a:t> </a:t>
            </a:r>
            <a:r>
              <a:rPr lang="en-US" b="0" baseline="0" dirty="0" err="1"/>
              <a:t>quy</a:t>
            </a:r>
            <a:r>
              <a:rPr lang="en-US" b="0" baseline="0" dirty="0"/>
              <a:t> </a:t>
            </a:r>
            <a:r>
              <a:rPr lang="en-US" b="0" baseline="0" dirty="0" err="1"/>
              <a:t>trình</a:t>
            </a:r>
            <a:r>
              <a:rPr lang="en-US" b="0" baseline="0" dirty="0"/>
              <a:t> </a:t>
            </a:r>
            <a:r>
              <a:rPr lang="en-US" b="0" baseline="0" dirty="0" err="1"/>
              <a:t>nghiệp</a:t>
            </a:r>
            <a:r>
              <a:rPr lang="en-US" b="0" baseline="0" dirty="0"/>
              <a:t> </a:t>
            </a:r>
            <a:r>
              <a:rPr lang="en-US" b="0" baseline="0" dirty="0" err="1"/>
              <a:t>vụ</a:t>
            </a:r>
            <a:r>
              <a:rPr lang="en-US" b="0" baseline="0" dirty="0"/>
              <a:t> (</a:t>
            </a:r>
            <a:r>
              <a:rPr lang="en-US" b="1" baseline="0" dirty="0"/>
              <a:t>?</a:t>
            </a:r>
            <a:r>
              <a:rPr lang="en-US" b="1" baseline="0" dirty="0" err="1"/>
              <a:t>Phân</a:t>
            </a:r>
            <a:r>
              <a:rPr lang="en-US" b="1" baseline="0" dirty="0"/>
              <a:t> </a:t>
            </a:r>
            <a:r>
              <a:rPr lang="en-US" b="1" baseline="0" dirty="0" err="1"/>
              <a:t>biệt</a:t>
            </a:r>
            <a:r>
              <a:rPr lang="en-US" b="0" baseline="0" dirty="0"/>
              <a:t>). </a:t>
            </a:r>
            <a:endParaRPr lang="en-US" b="0"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 </a:t>
            </a:r>
            <a:r>
              <a:rPr lang="en-US" b="1" dirty="0"/>
              <a:t>non-functional testing</a:t>
            </a:r>
            <a:r>
              <a:rPr lang="en-US" dirty="0"/>
              <a:t>: Test </a:t>
            </a:r>
            <a:r>
              <a:rPr lang="en-US" b="0" dirty="0"/>
              <a:t>non-functional quality characteristics</a:t>
            </a:r>
            <a:r>
              <a:rPr lang="en-US" b="0" baseline="0" dirty="0"/>
              <a:t> (</a:t>
            </a:r>
            <a:r>
              <a:rPr lang="en-US" b="0" dirty="0"/>
              <a:t>“how well” the system works). Lưu</a:t>
            </a:r>
            <a:r>
              <a:rPr lang="en-US" b="0" baseline="0" dirty="0"/>
              <a:t> ý </a:t>
            </a:r>
            <a:r>
              <a:rPr lang="en-US" b="0" baseline="0" dirty="0" err="1"/>
              <a:t>yêu</a:t>
            </a:r>
            <a:r>
              <a:rPr lang="en-US" b="0" baseline="0" dirty="0"/>
              <a:t> </a:t>
            </a:r>
            <a:r>
              <a:rPr lang="en-US" b="0" baseline="0" dirty="0" err="1"/>
              <a:t>cầu</a:t>
            </a:r>
            <a:r>
              <a:rPr lang="en-US" b="0" baseline="0" dirty="0"/>
              <a:t> </a:t>
            </a:r>
            <a:r>
              <a:rPr lang="en-US" b="0" baseline="0" dirty="0" err="1"/>
              <a:t>phải</a:t>
            </a:r>
            <a:r>
              <a:rPr lang="en-US" b="0" baseline="0" dirty="0"/>
              <a:t> </a:t>
            </a:r>
            <a:r>
              <a:rPr lang="vi-VN" b="0" baseline="0" dirty="0" err="1"/>
              <a:t>đượ</a:t>
            </a:r>
            <a:r>
              <a:rPr lang="en-US" b="0" baseline="0" dirty="0"/>
              <a:t>c </a:t>
            </a:r>
            <a:r>
              <a:rPr lang="en-US" b="0" baseline="0" dirty="0" err="1"/>
              <a:t>nêu</a:t>
            </a:r>
            <a:r>
              <a:rPr lang="en-US" b="0" baseline="0" dirty="0"/>
              <a:t> </a:t>
            </a:r>
            <a:r>
              <a:rPr lang="en-US" b="0" baseline="0" dirty="0" err="1"/>
              <a:t>kiểu</a:t>
            </a:r>
            <a:r>
              <a:rPr lang="en-US" b="0" baseline="0" dirty="0"/>
              <a:t> </a:t>
            </a:r>
            <a:r>
              <a:rPr lang="en-US" b="0" baseline="0" dirty="0" err="1"/>
              <a:t>định</a:t>
            </a:r>
            <a:r>
              <a:rPr lang="en-US" b="0" baseline="0" dirty="0"/>
              <a:t> </a:t>
            </a:r>
            <a:r>
              <a:rPr lang="en-US" b="0" baseline="0" dirty="0" err="1"/>
              <a:t>lượng</a:t>
            </a:r>
            <a:r>
              <a:rPr lang="en-US" b="0" baseline="0" dirty="0"/>
              <a:t> </a:t>
            </a:r>
            <a:r>
              <a:rPr lang="en-US" b="0" baseline="0" dirty="0" err="1"/>
              <a:t>mới</a:t>
            </a:r>
            <a:r>
              <a:rPr lang="en-US" b="0" baseline="0" dirty="0"/>
              <a:t> test </a:t>
            </a:r>
            <a:r>
              <a:rPr lang="vi-VN" b="0" baseline="0" dirty="0" err="1"/>
              <a:t>đượ</a:t>
            </a:r>
            <a:r>
              <a:rPr lang="en-US" b="0" baseline="0" dirty="0"/>
              <a:t>c. </a:t>
            </a:r>
            <a:r>
              <a:rPr lang="en-US" b="0" baseline="0" dirty="0" err="1"/>
              <a:t>Vd</a:t>
            </a:r>
            <a:r>
              <a:rPr lang="en-US" b="0" baseline="0" dirty="0"/>
              <a:t>/ </a:t>
            </a:r>
            <a:r>
              <a:rPr lang="en-US" sz="1200" dirty="0"/>
              <a:t>performance testing</a:t>
            </a:r>
            <a:r>
              <a:rPr lang="en-US" sz="1200" baseline="0" dirty="0"/>
              <a:t> (</a:t>
            </a:r>
            <a:r>
              <a:rPr lang="en-US" sz="1200" baseline="0" dirty="0" err="1"/>
              <a:t>sử</a:t>
            </a:r>
            <a:r>
              <a:rPr lang="en-US" sz="1200" baseline="0" dirty="0"/>
              <a:t> </a:t>
            </a:r>
            <a:r>
              <a:rPr lang="en-US" sz="1200" baseline="0" dirty="0" err="1"/>
              <a:t>dụng</a:t>
            </a:r>
            <a:r>
              <a:rPr lang="en-US" sz="1200" baseline="0" dirty="0"/>
              <a:t> </a:t>
            </a:r>
            <a:r>
              <a:rPr lang="en-US" sz="1200" baseline="0" dirty="0" err="1"/>
              <a:t>bộ</a:t>
            </a:r>
            <a:r>
              <a:rPr lang="en-US" sz="1200" baseline="0" dirty="0"/>
              <a:t> </a:t>
            </a:r>
            <a:r>
              <a:rPr lang="en-US" sz="1200" baseline="0" dirty="0" err="1"/>
              <a:t>nhớ</a:t>
            </a:r>
            <a:r>
              <a:rPr lang="en-US" sz="1200" baseline="0" dirty="0"/>
              <a:t>)</a:t>
            </a:r>
            <a:r>
              <a:rPr lang="en-US" sz="1200" dirty="0"/>
              <a:t>, usability testing, maintainability testing, reliability testing…</a:t>
            </a:r>
            <a:endParaRPr lang="en-US" b="0"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 </a:t>
            </a:r>
            <a:r>
              <a:rPr lang="en-US" b="1" dirty="0"/>
              <a:t>structural testing</a:t>
            </a:r>
            <a:r>
              <a:rPr lang="en-US" dirty="0"/>
              <a:t>: Referred to as 'white-box' or 'glass-box‘.</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a:t>
            </a:r>
          </a:p>
          <a:p>
            <a:pPr marL="0" indent="0">
              <a:buFontTx/>
              <a:buNone/>
            </a:pP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67</a:t>
            </a:fld>
            <a:endParaRPr lang="en-US"/>
          </a:p>
        </p:txBody>
      </p:sp>
    </p:spTree>
    <p:extLst>
      <p:ext uri="{BB962C8B-B14F-4D97-AF65-F5344CB8AC3E}">
        <p14:creationId xmlns:p14="http://schemas.microsoft.com/office/powerpoint/2010/main" val="16084790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err="1"/>
              <a:t>Vd</a:t>
            </a:r>
            <a:r>
              <a:rPr lang="en-US" b="1" baseline="0" dirty="0"/>
              <a:t> test </a:t>
            </a:r>
            <a:r>
              <a:rPr lang="en-US" b="1" baseline="0" dirty="0" err="1"/>
              <a:t>theo</a:t>
            </a:r>
            <a:r>
              <a:rPr lang="en-US" b="1" baseline="0" dirty="0"/>
              <a:t> </a:t>
            </a:r>
            <a:r>
              <a:rPr lang="en-US" b="1" baseline="0" dirty="0" err="1"/>
              <a:t>yêu</a:t>
            </a:r>
            <a:r>
              <a:rPr lang="en-US" b="1" baseline="0" dirty="0"/>
              <a:t> </a:t>
            </a:r>
            <a:r>
              <a:rPr lang="en-US" b="1" baseline="0" dirty="0" err="1"/>
              <a:t>cầu</a:t>
            </a:r>
            <a:r>
              <a:rPr lang="en-US" b="1" baseline="0" dirty="0"/>
              <a:t> (DỰA VÀO DANH SÁCH CÁC YÊU CẦU): </a:t>
            </a:r>
            <a:r>
              <a:rPr lang="en-US" b="0" baseline="0" dirty="0" err="1"/>
              <a:t>ngày</a:t>
            </a:r>
            <a:r>
              <a:rPr lang="en-US" b="0" baseline="0" dirty="0"/>
              <a:t> </a:t>
            </a:r>
            <a:r>
              <a:rPr lang="en-US" b="0" baseline="0" dirty="0" err="1"/>
              <a:t>trả</a:t>
            </a:r>
            <a:r>
              <a:rPr lang="en-US" b="0" baseline="0" dirty="0"/>
              <a:t> </a:t>
            </a:r>
            <a:r>
              <a:rPr lang="en-US" b="0" baseline="0" dirty="0" err="1"/>
              <a:t>sách</a:t>
            </a:r>
            <a:r>
              <a:rPr lang="en-US" b="0" baseline="0" dirty="0"/>
              <a:t> </a:t>
            </a:r>
            <a:r>
              <a:rPr lang="en-US" b="0" baseline="0" dirty="0" err="1"/>
              <a:t>phải</a:t>
            </a:r>
            <a:r>
              <a:rPr lang="en-US" b="0" baseline="0" dirty="0"/>
              <a:t> </a:t>
            </a:r>
            <a:r>
              <a:rPr lang="en-US" b="0" baseline="0" dirty="0" err="1"/>
              <a:t>sau</a:t>
            </a:r>
            <a:r>
              <a:rPr lang="en-US" b="0" baseline="0" dirty="0"/>
              <a:t> </a:t>
            </a:r>
            <a:r>
              <a:rPr lang="en-US" b="0" baseline="0" dirty="0" err="1"/>
              <a:t>ngày</a:t>
            </a:r>
            <a:r>
              <a:rPr lang="en-US" b="0" baseline="0" dirty="0"/>
              <a:t> </a:t>
            </a:r>
            <a:r>
              <a:rPr lang="en-US" b="0" baseline="0" dirty="0" err="1"/>
              <a:t>mượn</a:t>
            </a:r>
            <a:r>
              <a:rPr lang="en-US" b="0" baseline="0" dirty="0"/>
              <a:t> </a:t>
            </a:r>
            <a:r>
              <a:rPr lang="en-US" b="0" baseline="0" dirty="0" err="1"/>
              <a:t>sách</a:t>
            </a:r>
            <a:r>
              <a:rPr lang="en-US" b="0" baseline="0" dirty="0"/>
              <a:t>; </a:t>
            </a:r>
            <a:r>
              <a:rPr lang="en-US" b="0" baseline="0" dirty="0" err="1"/>
              <a:t>sau</a:t>
            </a:r>
            <a:r>
              <a:rPr lang="en-US" b="0" baseline="0" dirty="0"/>
              <a:t> </a:t>
            </a:r>
            <a:r>
              <a:rPr lang="en-US" b="0" baseline="0" dirty="0" err="1"/>
              <a:t>khi</a:t>
            </a:r>
            <a:r>
              <a:rPr lang="en-US" b="0" baseline="0" dirty="0"/>
              <a:t> </a:t>
            </a:r>
            <a:r>
              <a:rPr lang="en-US" b="0" baseline="0" dirty="0" err="1"/>
              <a:t>thêm</a:t>
            </a:r>
            <a:r>
              <a:rPr lang="en-US" b="0" baseline="0" dirty="0"/>
              <a:t> </a:t>
            </a:r>
            <a:r>
              <a:rPr lang="en-US" b="0" baseline="0" dirty="0" err="1"/>
              <a:t>khách</a:t>
            </a:r>
            <a:r>
              <a:rPr lang="en-US" b="0" baseline="0" dirty="0"/>
              <a:t> </a:t>
            </a:r>
            <a:r>
              <a:rPr lang="en-US" b="0" baseline="0" dirty="0" err="1"/>
              <a:t>hàng</a:t>
            </a:r>
            <a:r>
              <a:rPr lang="en-US" b="0" baseline="0" dirty="0"/>
              <a:t> </a:t>
            </a:r>
            <a:r>
              <a:rPr lang="en-US" b="0" baseline="0" dirty="0" err="1"/>
              <a:t>thì</a:t>
            </a:r>
            <a:r>
              <a:rPr lang="en-US" b="0" baseline="0" dirty="0"/>
              <a:t> </a:t>
            </a:r>
            <a:r>
              <a:rPr lang="en-US" b="0" baseline="0" dirty="0" err="1"/>
              <a:t>phải</a:t>
            </a:r>
            <a:r>
              <a:rPr lang="en-US" b="0" baseline="0" dirty="0"/>
              <a:t> </a:t>
            </a:r>
            <a:r>
              <a:rPr lang="en-US" b="0" baseline="0" dirty="0" err="1"/>
              <a:t>tồn</a:t>
            </a:r>
            <a:r>
              <a:rPr lang="en-US" b="0" baseline="0" dirty="0"/>
              <a:t> </a:t>
            </a:r>
            <a:r>
              <a:rPr lang="en-US" b="0" baseline="0" dirty="0" err="1"/>
              <a:t>tại</a:t>
            </a:r>
            <a:r>
              <a:rPr lang="en-US" b="0" baseline="0" dirty="0"/>
              <a:t> </a:t>
            </a:r>
            <a:r>
              <a:rPr lang="en-US" b="0" baseline="0" dirty="0" err="1"/>
              <a:t>khách</a:t>
            </a:r>
            <a:r>
              <a:rPr lang="en-US" b="0" baseline="0" dirty="0"/>
              <a:t> </a:t>
            </a:r>
            <a:r>
              <a:rPr lang="en-US" b="0" baseline="0" dirty="0" err="1"/>
              <a:t>hàng</a:t>
            </a:r>
            <a:r>
              <a:rPr lang="en-US" b="0" baseline="0" dirty="0"/>
              <a:t> </a:t>
            </a:r>
            <a:r>
              <a:rPr lang="en-US" b="0" baseline="0" dirty="0" err="1"/>
              <a:t>đó</a:t>
            </a:r>
            <a:r>
              <a:rPr lang="en-US" b="0" baseline="0" dirty="0"/>
              <a:t> </a:t>
            </a:r>
            <a:r>
              <a:rPr lang="en-US" b="0" baseline="0" dirty="0" err="1"/>
              <a:t>trong</a:t>
            </a:r>
            <a:r>
              <a:rPr lang="en-US" b="0" baseline="0" dirty="0"/>
              <a:t> ht.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baseline="0" dirty="0" err="1">
                <a:solidFill>
                  <a:schemeClr val="tx1"/>
                </a:solidFill>
                <a:effectLst/>
                <a:latin typeface="+mn-lt"/>
                <a:ea typeface="+mn-ea"/>
                <a:cs typeface="+mn-cs"/>
              </a:rPr>
              <a:t>Vd</a:t>
            </a:r>
            <a:r>
              <a:rPr lang="en-US" sz="1200" b="1" i="0" kern="1200" baseline="0" dirty="0">
                <a:solidFill>
                  <a:schemeClr val="tx1"/>
                </a:solidFill>
                <a:effectLst/>
                <a:latin typeface="+mn-lt"/>
                <a:ea typeface="+mn-ea"/>
                <a:cs typeface="+mn-cs"/>
              </a:rPr>
              <a:t> test </a:t>
            </a:r>
            <a:r>
              <a:rPr lang="en-US" sz="1200" b="1" i="0" kern="1200" baseline="0" dirty="0" err="1">
                <a:solidFill>
                  <a:schemeClr val="tx1"/>
                </a:solidFill>
                <a:effectLst/>
                <a:latin typeface="+mn-lt"/>
                <a:ea typeface="+mn-ea"/>
                <a:cs typeface="+mn-cs"/>
              </a:rPr>
              <a:t>theo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quy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trình</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nghiệp</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vụ</a:t>
            </a:r>
            <a:r>
              <a:rPr lang="en-US" sz="1200" b="1" i="0" kern="1200" baseline="0" dirty="0">
                <a:solidFill>
                  <a:schemeClr val="tx1"/>
                </a:solidFill>
                <a:effectLst/>
                <a:latin typeface="+mn-lt"/>
                <a:ea typeface="+mn-ea"/>
                <a:cs typeface="+mn-cs"/>
              </a:rPr>
              <a:t> (DỰA VÀO </a:t>
            </a:r>
            <a:r>
              <a:rPr lang="en-GB" b="1" dirty="0"/>
              <a:t>SCENARIOS</a:t>
            </a:r>
            <a:r>
              <a:rPr lang="en-GB" dirty="0"/>
              <a:t> </a:t>
            </a:r>
            <a:r>
              <a:rPr lang="en-US" sz="1200" b="1" i="0" kern="1200" baseline="0" dirty="0">
                <a:solidFill>
                  <a:schemeClr val="tx1"/>
                </a:solidFill>
                <a:effectLst/>
                <a:latin typeface="+mn-lt"/>
                <a:ea typeface="+mn-ea"/>
                <a:cs typeface="+mn-cs"/>
              </a:rPr>
              <a:t>(KỊCH BẢN), USE-CASE):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u="sng" kern="1200" baseline="0" dirty="0">
                <a:solidFill>
                  <a:schemeClr val="tx1"/>
                </a:solidFill>
                <a:effectLst/>
                <a:latin typeface="+mn-lt"/>
                <a:ea typeface="+mn-ea"/>
                <a:cs typeface="+mn-cs"/>
              </a:rPr>
              <a:t>Hệ thống quản lý nhân sự và tiền lương có nghiệp vụ</a:t>
            </a:r>
            <a:r>
              <a:rPr lang="vi-VN" sz="1200" b="0" i="0" kern="1200" baseline="0" dirty="0">
                <a:solidFill>
                  <a:schemeClr val="tx1"/>
                </a:solidFill>
                <a:effectLst/>
                <a:latin typeface="+mn-lt"/>
                <a:ea typeface="+mn-ea"/>
                <a:cs typeface="+mn-cs"/>
              </a:rPr>
              <a:t>: một </a:t>
            </a:r>
            <a:r>
              <a:rPr lang="vi-VN" sz="1200" b="0" i="0" kern="1200" baseline="0" dirty="0" err="1">
                <a:solidFill>
                  <a:schemeClr val="tx1"/>
                </a:solidFill>
                <a:effectLst/>
                <a:latin typeface="+mn-lt"/>
                <a:ea typeface="+mn-ea"/>
                <a:cs typeface="+mn-cs"/>
              </a:rPr>
              <a:t>nv</a:t>
            </a:r>
            <a:r>
              <a:rPr lang="vi-VN" sz="1200" b="0" i="0" kern="1200" baseline="0" dirty="0">
                <a:solidFill>
                  <a:schemeClr val="tx1"/>
                </a:solidFill>
                <a:effectLst/>
                <a:latin typeface="+mn-lt"/>
                <a:ea typeface="+mn-ea"/>
                <a:cs typeface="+mn-cs"/>
              </a:rPr>
              <a:t> bắt đầu vào </a:t>
            </a:r>
            <a:r>
              <a:rPr lang="vi-VN" sz="1200" b="0" i="0" kern="1200" baseline="0" dirty="0" err="1">
                <a:solidFill>
                  <a:schemeClr val="tx1"/>
                </a:solidFill>
                <a:effectLst/>
                <a:latin typeface="+mn-lt"/>
                <a:ea typeface="+mn-ea"/>
                <a:cs typeface="+mn-cs"/>
              </a:rPr>
              <a:t>cty</a:t>
            </a:r>
            <a:r>
              <a:rPr lang="vi-VN" sz="1200" b="0" i="0" kern="1200" baseline="0" dirty="0">
                <a:solidFill>
                  <a:schemeClr val="tx1"/>
                </a:solidFill>
                <a:effectLst/>
                <a:latin typeface="+mn-lt"/>
                <a:ea typeface="+mn-ea"/>
                <a:cs typeface="+mn-cs"/>
              </a:rPr>
              <a:t>, được trả lương, kết thúc hợp đồng - nghỉ việc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về</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hưu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buộc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thôi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việc</a:t>
            </a:r>
            <a:r>
              <a:rPr lang="en-US" sz="1200" b="0" i="0" kern="1200" baseline="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kern="1200" baseline="0" dirty="0">
                <a:solidFill>
                  <a:schemeClr val="tx1"/>
                </a:solidFill>
                <a:effectLst/>
                <a:latin typeface="+mn-lt"/>
                <a:ea typeface="+mn-ea"/>
                <a:cs typeface="+mn-cs"/>
              </a:rPr>
              <a:t>Quản </a:t>
            </a:r>
            <a:r>
              <a:rPr lang="en-US" sz="1200" b="0" i="0" u="sng" kern="1200" baseline="0" dirty="0" err="1">
                <a:solidFill>
                  <a:schemeClr val="tx1"/>
                </a:solidFill>
                <a:effectLst/>
                <a:latin typeface="+mn-lt"/>
                <a:ea typeface="+mn-ea"/>
                <a:cs typeface="+mn-cs"/>
              </a:rPr>
              <a:t>lý</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sổ</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tiết</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kiệm</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trong</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ngân</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hàng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mở</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sổ</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giao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dịch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huỷ</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sổ</a:t>
            </a:r>
            <a:r>
              <a:rPr lang="en-US" sz="1200" b="0" i="0" kern="1200" baseline="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kern="1200" baseline="0" dirty="0">
                <a:solidFill>
                  <a:schemeClr val="tx1"/>
                </a:solidFill>
                <a:effectLst/>
                <a:latin typeface="+mn-lt"/>
                <a:ea typeface="+mn-ea"/>
                <a:cs typeface="+mn-cs"/>
              </a:rPr>
              <a:t>Quản </a:t>
            </a:r>
            <a:r>
              <a:rPr lang="en-US" sz="1200" b="0" i="0" u="sng" kern="1200" baseline="0" dirty="0" err="1">
                <a:solidFill>
                  <a:schemeClr val="tx1"/>
                </a:solidFill>
                <a:effectLst/>
                <a:latin typeface="+mn-lt"/>
                <a:ea typeface="+mn-ea"/>
                <a:cs typeface="+mn-cs"/>
              </a:rPr>
              <a:t>lý</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sinh</a:t>
            </a:r>
            <a:r>
              <a:rPr lang="en-US" sz="1200" b="0" i="0" u="sng" kern="1200" baseline="0" dirty="0">
                <a:solidFill>
                  <a:schemeClr val="tx1"/>
                </a:solidFill>
                <a:effectLst/>
                <a:latin typeface="+mn-lt"/>
                <a:ea typeface="+mn-ea"/>
                <a:cs typeface="+mn-cs"/>
              </a:rPr>
              <a:t> </a:t>
            </a:r>
            <a:r>
              <a:rPr lang="en-US" sz="1200" b="0" i="0" u="sng" kern="1200" baseline="0" dirty="0" err="1">
                <a:solidFill>
                  <a:schemeClr val="tx1"/>
                </a:solidFill>
                <a:effectLst/>
                <a:latin typeface="+mn-lt"/>
                <a:ea typeface="+mn-ea"/>
                <a:cs typeface="+mn-cs"/>
              </a:rPr>
              <a:t>viên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nhập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học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quá</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trình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học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tốt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nghiệp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lưu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hồ</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sơ</a:t>
            </a:r>
            <a:r>
              <a:rPr lang="en-US" sz="1200" b="0" i="0" kern="1200" baseline="0" dirty="0">
                <a:solidFill>
                  <a:schemeClr val="tx1"/>
                </a:solidFill>
                <a:effectLst/>
                <a:latin typeface="+mn-lt"/>
                <a:ea typeface="+mn-ea"/>
                <a:cs typeface="+mn-cs"/>
              </a:rPr>
              <a:t> bao </a:t>
            </a:r>
            <a:r>
              <a:rPr lang="en-US" sz="1200" b="0" i="0" kern="1200" baseline="0" dirty="0" err="1">
                <a:solidFill>
                  <a:schemeClr val="tx1"/>
                </a:solidFill>
                <a:effectLst/>
                <a:latin typeface="+mn-lt"/>
                <a:ea typeface="+mn-ea"/>
                <a:cs typeface="+mn-cs"/>
              </a:rPr>
              <a:t>nhiêu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thì</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xoá</a:t>
            </a:r>
            <a:r>
              <a:rPr lang="en-US" sz="1200" b="0" i="0" kern="1200" baseline="0" dirty="0">
                <a:solidFill>
                  <a:schemeClr val="tx1"/>
                </a:solidFill>
                <a:effectLst/>
                <a:latin typeface="+mn-lt"/>
                <a:ea typeface="+mn-ea"/>
                <a:cs typeface="+mn-cs"/>
              </a:rPr>
              <a:t> hay backup </a:t>
            </a:r>
            <a:r>
              <a:rPr lang="en-US" sz="1200" b="0" i="0" kern="1200" baseline="0" dirty="0" err="1">
                <a:solidFill>
                  <a:schemeClr val="tx1"/>
                </a:solidFill>
                <a:effectLst/>
                <a:latin typeface="+mn-lt"/>
                <a:ea typeface="+mn-ea"/>
                <a:cs typeface="+mn-cs"/>
              </a:rPr>
              <a:t>lưu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riêng</a:t>
            </a:r>
            <a:r>
              <a:rPr lang="en-US" sz="1200" b="0" i="0" kern="1200" baseline="0" dirty="0">
                <a:solidFill>
                  <a:schemeClr val="tx1"/>
                </a:solidFill>
                <a:effectLst/>
                <a:latin typeface="+mn-lt"/>
                <a:ea typeface="+mn-ea"/>
                <a:cs typeface="+mn-cs"/>
              </a:rPr>
              <a:t>).</a:t>
            </a:r>
            <a:endParaRPr lang="en-US" b="0" baseline="0" dirty="0"/>
          </a:p>
        </p:txBody>
      </p:sp>
      <p:sp>
        <p:nvSpPr>
          <p:cNvPr id="4" name="Slide Number Placeholder 3"/>
          <p:cNvSpPr>
            <a:spLocks noGrp="1"/>
          </p:cNvSpPr>
          <p:nvPr>
            <p:ph type="sldNum" sz="quarter" idx="10"/>
          </p:nvPr>
        </p:nvSpPr>
        <p:spPr/>
        <p:txBody>
          <a:bodyPr/>
          <a:lstStyle/>
          <a:p>
            <a:fld id="{A63B9007-0201-49BE-A587-7F882848EC05}" type="slidenum">
              <a:rPr lang="en-US" smtClean="0"/>
              <a:t>68</a:t>
            </a:fld>
            <a:endParaRPr lang="en-US"/>
          </a:p>
        </p:txBody>
      </p:sp>
    </p:spTree>
    <p:extLst>
      <p:ext uri="{BB962C8B-B14F-4D97-AF65-F5344CB8AC3E}">
        <p14:creationId xmlns:p14="http://schemas.microsoft.com/office/powerpoint/2010/main" val="376802625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Thường trong đặc tả yêu cầu có một danh mục các yêu cầu,</a:t>
            </a:r>
            <a:r>
              <a:rPr lang="vi-VN" b="1" baseline="0" dirty="0"/>
              <a:t> </a:t>
            </a:r>
            <a:r>
              <a:rPr lang="vi-VN" b="1" baseline="0" dirty="0" err="1"/>
              <a:t>testing</a:t>
            </a:r>
            <a:r>
              <a:rPr lang="vi-VN" b="1" baseline="0" dirty="0"/>
              <a:t> nên bắt đầu từ danh mục này để biết cần cái gì cần </a:t>
            </a:r>
            <a:r>
              <a:rPr lang="vi-VN" b="1" baseline="0" dirty="0" err="1"/>
              <a:t>test</a:t>
            </a:r>
            <a:r>
              <a:rPr lang="vi-VN" b="1" baseline="0" dirty="0"/>
              <a:t>, cái gì không, nên ưu tiên yêu cầu dựa vào  mức độ rủi ro và dựa vào đó để ưu tiên </a:t>
            </a:r>
            <a:r>
              <a:rPr lang="vi-VN" b="1" baseline="0" dirty="0" err="1"/>
              <a:t>test</a:t>
            </a:r>
            <a:r>
              <a:rPr lang="vi-VN" b="1" baseline="0" dirty="0"/>
              <a:t>, để đảm bảo những yêu cầu quan trọng được </a:t>
            </a:r>
            <a:r>
              <a:rPr lang="vi-VN" b="1" baseline="0" dirty="0" err="1"/>
              <a:t>test</a:t>
            </a:r>
            <a:r>
              <a:rPr lang="vi-VN" b="1" baseline="0" dirty="0"/>
              <a:t> kỹ.</a:t>
            </a:r>
            <a:endParaRPr lang="en-US" sz="1200" b="0" i="0"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63B9007-0201-49BE-A587-7F882848EC05}" type="slidenum">
              <a:rPr lang="en-US" smtClean="0"/>
              <a:t>69</a:t>
            </a:fld>
            <a:endParaRPr lang="en-US"/>
          </a:p>
        </p:txBody>
      </p:sp>
    </p:spTree>
    <p:extLst>
      <p:ext uri="{BB962C8B-B14F-4D97-AF65-F5344CB8AC3E}">
        <p14:creationId xmlns:p14="http://schemas.microsoft.com/office/powerpoint/2010/main" val="37730144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kiến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qui</a:t>
            </a:r>
            <a:r>
              <a:rPr lang="en-US" sz="1200" b="0" i="0" kern="1200" baseline="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doanh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trình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nghiệp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vụ</a:t>
            </a:r>
            <a:r>
              <a:rPr lang="en-US" sz="1200" b="0" i="0" kern="1200" baseline="0" dirty="0">
                <a:solidFill>
                  <a:schemeClr val="tx1"/>
                </a:solidFill>
                <a:effectLst/>
                <a:latin typeface="+mn-lt"/>
                <a:ea typeface="+mn-ea"/>
                <a:cs typeface="+mn-cs"/>
              </a:rPr>
              <a:t> bao </a:t>
            </a:r>
            <a:r>
              <a:rPr lang="en-US" sz="1200" b="0" i="0" kern="1200" baseline="0" dirty="0" err="1">
                <a:solidFill>
                  <a:schemeClr val="tx1"/>
                </a:solidFill>
                <a:effectLst/>
                <a:latin typeface="+mn-lt"/>
                <a:ea typeface="+mn-ea"/>
                <a:cs typeface="+mn-cs"/>
              </a:rPr>
              <a:t>gồm</a:t>
            </a:r>
            <a:r>
              <a:rPr lang="en-US" sz="1200" b="0" i="0" kern="1200" baseline="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457153" lvl="1" indent="0">
              <a:buFontTx/>
              <a:buNone/>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Kịch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bản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nghiệp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vụ</a:t>
            </a:r>
            <a:r>
              <a:rPr lang="en-US" sz="1200" b="0"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LIÊN QUAN ĐẾN THỰC HIỆN NGHIỆP VỤ HÀNG NGÀY. VD/</a:t>
            </a:r>
            <a:r>
              <a:rPr lang="vi-VN" sz="1200" b="1" i="0" kern="1200" baseline="0" dirty="0">
                <a:solidFill>
                  <a:schemeClr val="tx1"/>
                </a:solidFill>
                <a:effectLst/>
                <a:latin typeface="+mn-lt"/>
                <a:ea typeface="+mn-ea"/>
                <a:cs typeface="+mn-cs"/>
              </a:rPr>
              <a:t>HỆ THỐNG QUẢN LÝ NHÂN SỰ VÀ TIỀN LƯƠNG CÓ NGHIỆP VỤ: MỘT NV BẮT ĐẦU VÀO CTY, ĐƯỢC TRẢ LƯƠNG, KẾT THÚC HỢP ĐỒNG - NGHỈ VIỆC</a:t>
            </a:r>
            <a:endParaRPr lang="en-US" sz="1200" b="1" i="0" kern="1200" baseline="0" dirty="0">
              <a:solidFill>
                <a:schemeClr val="tx1"/>
              </a:solidFill>
              <a:effectLst/>
              <a:latin typeface="+mn-lt"/>
              <a:ea typeface="+mn-ea"/>
              <a:cs typeface="+mn-cs"/>
            </a:endParaRPr>
          </a:p>
          <a:p>
            <a:pPr marL="457153" lvl="1" indent="0">
              <a:buFontTx/>
              <a:buNone/>
            </a:pPr>
            <a:r>
              <a:rPr lang="en-US" sz="1200" b="0" i="0" kern="1200" dirty="0">
                <a:solidFill>
                  <a:schemeClr val="tx1"/>
                </a:solidFill>
                <a:effectLst/>
                <a:latin typeface="+mn-lt"/>
                <a:ea typeface="+mn-ea"/>
                <a:cs typeface="+mn-cs"/>
              </a:rPr>
              <a:t>- Use case: </a:t>
            </a:r>
            <a:r>
              <a:rPr lang="en-US" b="1" i="0" kern="1200" baseline="0" dirty="0">
                <a:solidFill>
                  <a:schemeClr val="tx1"/>
                </a:solidFill>
                <a:effectLst/>
                <a:latin typeface="+mn-lt"/>
                <a:ea typeface="+mn-ea"/>
                <a:cs typeface="+mn-cs"/>
              </a:rPr>
              <a:t>TRƯỚC ĐÂY CHỈ SD CHO PT HƯỚNG ĐỐI TƯỢNG, NHƯNG GIỜ NÓ PHỔ BIẾN CHO NHIỀU MÔ HÌNH PT</a:t>
            </a:r>
          </a:p>
          <a:p>
            <a:pPr marL="457153" lvl="1"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b="0" i="0" baseline="0" dirty="0">
                <a:sym typeface="Wingdings" pitchFamily="2" charset="2"/>
              </a:rPr>
              <a:t>KIỂM THỬ CHỨC NĂNG LÀ VERIFICATION HAY VALIDATION?</a:t>
            </a:r>
            <a:r>
              <a:rPr lang="en-US" b="0" i="0" baseline="0" dirty="0">
                <a:sym typeface="Wingdings" pitchFamily="2" charset="2"/>
              </a:rPr>
              <a:t> - </a:t>
            </a:r>
            <a:r>
              <a:rPr lang="vi-VN" b="0" i="0" baseline="0" dirty="0">
                <a:sym typeface="Wingdings" pitchFamily="2" charset="2"/>
              </a:rPr>
              <a:t>VERIFICATION </a:t>
            </a:r>
          </a:p>
          <a:p>
            <a:pPr marL="0" lvl="0" indent="0">
              <a:buFontTx/>
              <a:buNone/>
            </a:pP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70</a:t>
            </a:fld>
            <a:endParaRPr lang="en-US"/>
          </a:p>
        </p:txBody>
      </p:sp>
    </p:spTree>
    <p:extLst>
      <p:ext uri="{BB962C8B-B14F-4D97-AF65-F5344CB8AC3E}">
        <p14:creationId xmlns:p14="http://schemas.microsoft.com/office/powerpoint/2010/main" val="6726472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FFF5D94C-1740-404D-831A-5E50788BF9E7}" type="slidenum">
              <a:rPr lang="en-GB"/>
              <a:pPr/>
              <a:t>71</a:t>
            </a:fld>
            <a:endParaRPr lang="en-GB"/>
          </a:p>
        </p:txBody>
      </p:sp>
      <p:sp>
        <p:nvSpPr>
          <p:cNvPr id="59394" name="Rectangle 2"/>
          <p:cNvSpPr>
            <a:spLocks noGrp="1" noRot="1" noChangeAspect="1" noChangeArrowheads="1" noTextEdit="1"/>
          </p:cNvSpPr>
          <p:nvPr>
            <p:ph type="sldImg"/>
          </p:nvPr>
        </p:nvSpPr>
        <p:spPr>
          <a:ln cap="flat"/>
        </p:spPr>
      </p:sp>
      <p:sp>
        <p:nvSpPr>
          <p:cNvPr id="2" name="Notes Placeholder 1"/>
          <p:cNvSpPr>
            <a:spLocks noGrp="1"/>
          </p:cNvSpPr>
          <p:nvPr>
            <p:ph type="body" idx="1"/>
          </p:nvPr>
        </p:nvSpPr>
        <p:spPr/>
        <p:txBody>
          <a:bodyPr/>
          <a:lstStyle/>
          <a:p>
            <a:pPr marL="0" indent="0">
              <a:buFontTx/>
              <a:buNone/>
            </a:pPr>
            <a:r>
              <a:rPr lang="en-US" baseline="0" dirty="0" err="1"/>
              <a:t>Đó</a:t>
            </a:r>
            <a:r>
              <a:rPr lang="en-US" baseline="0" dirty="0"/>
              <a:t> </a:t>
            </a:r>
            <a:r>
              <a:rPr lang="en-US" baseline="0" dirty="0" err="1"/>
              <a:t>là</a:t>
            </a:r>
            <a:r>
              <a:rPr lang="en-US" baseline="0" dirty="0"/>
              <a:t> test HỆ THỐNG LÀM TỐT NHƯ THẾ NÀO</a:t>
            </a:r>
            <a:r>
              <a:rPr lang="vi-VN" baseline="0" dirty="0"/>
              <a:t>, </a:t>
            </a:r>
            <a:r>
              <a:rPr lang="en-US" baseline="0" dirty="0"/>
              <a:t>i.e. </a:t>
            </a:r>
            <a:r>
              <a:rPr lang="en-US" baseline="0" dirty="0" err="1"/>
              <a:t>cta</a:t>
            </a:r>
            <a:r>
              <a:rPr lang="en-US" baseline="0" dirty="0"/>
              <a:t> </a:t>
            </a:r>
            <a:r>
              <a:rPr lang="en-US" b="1" baseline="0" dirty="0" err="1"/>
              <a:t>cần</a:t>
            </a:r>
            <a:r>
              <a:rPr lang="en-US" b="1" baseline="0" dirty="0"/>
              <a:t> test </a:t>
            </a:r>
            <a:r>
              <a:rPr lang="en-US" b="1" baseline="0" dirty="0" err="1"/>
              <a:t>cái</a:t>
            </a:r>
            <a:r>
              <a:rPr lang="en-US" b="1" baseline="0" dirty="0"/>
              <a:t> </a:t>
            </a:r>
            <a:r>
              <a:rPr lang="en-US" b="1" baseline="0" dirty="0" err="1"/>
              <a:t>gì</a:t>
            </a:r>
            <a:r>
              <a:rPr lang="en-US" b="1" baseline="0" dirty="0"/>
              <a:t> </a:t>
            </a:r>
            <a:r>
              <a:rPr lang="en-US" b="1" baseline="0" dirty="0" err="1"/>
              <a:t>đó</a:t>
            </a:r>
            <a:r>
              <a:rPr lang="en-US" b="1" baseline="0" dirty="0"/>
              <a:t> </a:t>
            </a:r>
            <a:r>
              <a:rPr lang="en-US" b="1" baseline="0" dirty="0" err="1"/>
              <a:t>mà</a:t>
            </a:r>
            <a:r>
              <a:rPr lang="en-US" b="1" baseline="0" dirty="0"/>
              <a:t> </a:t>
            </a:r>
            <a:r>
              <a:rPr lang="en-US" b="1" baseline="0" dirty="0" err="1"/>
              <a:t>cta</a:t>
            </a:r>
            <a:r>
              <a:rPr lang="en-US" b="1" baseline="0" dirty="0"/>
              <a:t> </a:t>
            </a:r>
            <a:r>
              <a:rPr lang="en-US" b="1" baseline="0" dirty="0" err="1"/>
              <a:t>có</a:t>
            </a:r>
            <a:r>
              <a:rPr lang="en-US" b="1" baseline="0" dirty="0"/>
              <a:t> </a:t>
            </a:r>
            <a:r>
              <a:rPr lang="en-US" b="1" baseline="0" dirty="0" err="1"/>
              <a:t>thể</a:t>
            </a:r>
            <a:r>
              <a:rPr lang="en-US" b="1" baseline="0" dirty="0"/>
              <a:t> </a:t>
            </a:r>
            <a:r>
              <a:rPr lang="en-US" b="1" baseline="0" dirty="0" err="1"/>
              <a:t>đo</a:t>
            </a:r>
            <a:r>
              <a:rPr lang="en-US" b="1" baseline="0" dirty="0"/>
              <a:t> </a:t>
            </a:r>
            <a:r>
              <a:rPr lang="en-US" b="1" baseline="0" dirty="0" err="1"/>
              <a:t>lường</a:t>
            </a:r>
            <a:r>
              <a:rPr lang="en-US" b="1" baseline="0" dirty="0"/>
              <a:t> </a:t>
            </a:r>
            <a:r>
              <a:rPr lang="en-US" b="1" baseline="0" dirty="0" err="1"/>
              <a:t>đc</a:t>
            </a:r>
            <a:r>
              <a:rPr lang="en-US" baseline="0" dirty="0"/>
              <a:t>, </a:t>
            </a:r>
            <a:r>
              <a:rPr lang="en-US" baseline="0" dirty="0" err="1"/>
              <a:t>vd</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hồi</a:t>
            </a:r>
            <a:r>
              <a:rPr lang="en-US" baseline="0" dirty="0"/>
              <a:t> </a:t>
            </a:r>
            <a:r>
              <a:rPr lang="en-US" baseline="0" dirty="0" err="1"/>
              <a:t>đáp</a:t>
            </a:r>
            <a:endParaRPr lang="en-US" baseline="0" dirty="0"/>
          </a:p>
          <a:p>
            <a:pPr marL="0" indent="0">
              <a:buFontTx/>
              <a:buNone/>
            </a:pPr>
            <a:endParaRPr lang="en-US" sz="1200" b="0" i="0" kern="1200" dirty="0">
              <a:solidFill>
                <a:schemeClr val="tx1"/>
              </a:solidFill>
              <a:effectLst/>
              <a:latin typeface="+mn-lt"/>
              <a:ea typeface="+mn-ea"/>
              <a:cs typeface="+mn-cs"/>
            </a:endParaRPr>
          </a:p>
          <a:p>
            <a:pPr marL="0" indent="0">
              <a:buFontTx/>
              <a:buNone/>
            </a:pPr>
            <a:r>
              <a:rPr lang="vi-VN" dirty="0"/>
              <a:t>■</a:t>
            </a:r>
            <a:r>
              <a:rPr lang="en-US" dirty="0"/>
              <a:t> </a:t>
            </a:r>
            <a:r>
              <a:rPr lang="en-US" b="1" i="0" dirty="0"/>
              <a:t>PERFORMANCE</a:t>
            </a:r>
            <a:r>
              <a:rPr lang="vi-VN" b="1" i="0" dirty="0"/>
              <a:t> TESTING</a:t>
            </a:r>
            <a:r>
              <a:rPr lang="vi-VN" b="1" i="0" baseline="0" dirty="0"/>
              <a:t>: </a:t>
            </a:r>
            <a:r>
              <a:rPr lang="en-US" b="1" i="0" dirty="0"/>
              <a:t>time behavior</a:t>
            </a:r>
            <a:r>
              <a:rPr lang="vi-VN" b="1" i="0" dirty="0"/>
              <a:t>, </a:t>
            </a:r>
            <a:r>
              <a:rPr lang="vi-VN" sz="1200" b="1" i="0" kern="1200" dirty="0">
                <a:solidFill>
                  <a:schemeClr val="tx1"/>
                </a:solidFill>
                <a:effectLst/>
                <a:latin typeface="+mn-lt"/>
                <a:ea typeface="+mn-ea"/>
                <a:cs typeface="+mn-cs"/>
              </a:rPr>
              <a:t>sử dụng tài nguyên</a:t>
            </a:r>
            <a:endParaRPr lang="en-US" sz="1200" b="1" i="0" kern="1200" dirty="0">
              <a:solidFill>
                <a:schemeClr val="tx1"/>
              </a:solidFill>
              <a:effectLst/>
              <a:latin typeface="+mn-lt"/>
              <a:ea typeface="+mn-ea"/>
              <a:cs typeface="+mn-cs"/>
            </a:endParaRPr>
          </a:p>
          <a:p>
            <a:pPr marL="0" indent="0">
              <a:buFontTx/>
              <a:buNone/>
            </a:pPr>
            <a:r>
              <a:rPr lang="vi-VN" dirty="0"/>
              <a:t>■</a:t>
            </a:r>
            <a:r>
              <a:rPr lang="en-US" dirty="0"/>
              <a:t> </a:t>
            </a:r>
            <a:r>
              <a:rPr lang="en-US" sz="1200" b="1" i="0" dirty="0"/>
              <a:t>LOAD TESTING</a:t>
            </a:r>
            <a:r>
              <a:rPr lang="vi-VN" sz="1200" b="1" i="0" dirty="0"/>
              <a:t>: đánh giá hệ thống khi nó vượt qua giới hạn cho phép</a:t>
            </a:r>
            <a:endParaRPr lang="en-US" sz="1200" b="1" i="0" dirty="0"/>
          </a:p>
          <a:p>
            <a:pPr marL="0" indent="0">
              <a:buFontTx/>
              <a:buNone/>
            </a:pPr>
            <a:r>
              <a:rPr lang="vi-VN" dirty="0"/>
              <a:t>■</a:t>
            </a:r>
            <a:r>
              <a:rPr lang="en-US" dirty="0"/>
              <a:t> </a:t>
            </a:r>
            <a:r>
              <a:rPr lang="en-US" sz="1200" b="1" i="0" dirty="0"/>
              <a:t>STRESS TESTING</a:t>
            </a:r>
            <a:r>
              <a:rPr lang="vi-VN" sz="1200" b="1" i="0" dirty="0"/>
              <a:t> (MỨC ĐỘ ĐÁP ỨNG):</a:t>
            </a:r>
            <a:endParaRPr lang="en-US" sz="1200" b="1" i="0" dirty="0"/>
          </a:p>
          <a:p>
            <a:pPr marL="0" indent="0">
              <a:buFontTx/>
              <a:buNone/>
            </a:pPr>
            <a:r>
              <a:rPr lang="vi-VN" dirty="0"/>
              <a:t>■</a:t>
            </a:r>
            <a:r>
              <a:rPr lang="en-US" dirty="0"/>
              <a:t> </a:t>
            </a:r>
            <a:r>
              <a:rPr lang="en-US" sz="1200" b="1" i="0" dirty="0"/>
              <a:t>USABILITY TESTING</a:t>
            </a:r>
            <a:r>
              <a:rPr lang="vi-VN"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liên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quan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đến</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kiểm tra giao diện người dùng có dễ sử dụng và dễ hiểu hay không</a:t>
            </a:r>
            <a:endParaRPr lang="en-US" sz="1200" b="1" i="0" kern="1200" dirty="0">
              <a:solidFill>
                <a:schemeClr val="tx1"/>
              </a:solidFill>
              <a:effectLst/>
              <a:latin typeface="+mn-lt"/>
              <a:ea typeface="+mn-ea"/>
              <a:cs typeface="+mn-cs"/>
            </a:endParaRPr>
          </a:p>
          <a:p>
            <a:pPr marL="0" indent="0">
              <a:buFontTx/>
              <a:buNone/>
            </a:pPr>
            <a:r>
              <a:rPr lang="vi-VN" dirty="0"/>
              <a:t>■</a:t>
            </a:r>
            <a:r>
              <a:rPr lang="en-US" dirty="0"/>
              <a:t> </a:t>
            </a:r>
            <a:r>
              <a:rPr lang="en-US" sz="1200" b="1" i="0" dirty="0"/>
              <a:t>MAINTAINABILITY</a:t>
            </a:r>
            <a:r>
              <a:rPr lang="vi-VN" sz="1200" b="1" i="0" dirty="0"/>
              <a:t>:</a:t>
            </a:r>
            <a:r>
              <a:rPr lang="vi-VN"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khả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năng</a:t>
            </a:r>
            <a:r>
              <a:rPr lang="en-US" sz="1200" b="1" i="0" kern="1200" baseline="0" dirty="0">
                <a:solidFill>
                  <a:schemeClr val="tx1"/>
                </a:solidFill>
                <a:effectLst/>
                <a:latin typeface="+mn-lt"/>
                <a:ea typeface="+mn-ea"/>
                <a:cs typeface="+mn-cs"/>
              </a:rPr>
              <a:t> pt,</a:t>
            </a:r>
            <a:r>
              <a:rPr lang="vi-VN"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khả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năng</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thay đổi</a:t>
            </a:r>
            <a:endParaRPr lang="en-US" sz="1200" b="1" i="0" kern="1200" dirty="0">
              <a:solidFill>
                <a:schemeClr val="tx1"/>
              </a:solidFill>
              <a:effectLst/>
              <a:latin typeface="+mn-lt"/>
              <a:ea typeface="+mn-ea"/>
              <a:cs typeface="+mn-cs"/>
            </a:endParaRPr>
          </a:p>
          <a:p>
            <a:pPr marL="0" indent="0">
              <a:buFontTx/>
              <a:buNone/>
            </a:pPr>
            <a:r>
              <a:rPr lang="vi-VN" dirty="0"/>
              <a:t>■</a:t>
            </a:r>
            <a:r>
              <a:rPr lang="en-US" dirty="0"/>
              <a:t> </a:t>
            </a:r>
            <a:r>
              <a:rPr lang="en-US" sz="1200" b="1" i="0" dirty="0"/>
              <a:t>RELIABILITY TESTING </a:t>
            </a:r>
            <a:r>
              <a:rPr lang="vi-VN" sz="1200" b="1" i="0" dirty="0"/>
              <a:t>(</a:t>
            </a:r>
            <a:r>
              <a:rPr lang="vi-VN" sz="1200" b="1" i="0" kern="1200" dirty="0">
                <a:solidFill>
                  <a:schemeClr val="tx1"/>
                </a:solidFill>
                <a:effectLst/>
                <a:latin typeface="+mn-lt"/>
                <a:ea typeface="+mn-ea"/>
                <a:cs typeface="+mn-cs"/>
              </a:rPr>
              <a:t>ĐỘ TIN CẬY): chịu lỗi, khả năng </a:t>
            </a:r>
            <a:r>
              <a:rPr lang="en-US" sz="1200" b="1" i="0" kern="1200" dirty="0" err="1">
                <a:solidFill>
                  <a:schemeClr val="tx1"/>
                </a:solidFill>
                <a:effectLst/>
                <a:latin typeface="+mn-lt"/>
                <a:ea typeface="+mn-ea"/>
                <a:cs typeface="+mn-cs"/>
              </a:rPr>
              <a:t>phục</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hồi </a:t>
            </a:r>
            <a:endParaRPr lang="en-US" sz="1200" b="1" i="0" kern="1200" dirty="0">
              <a:solidFill>
                <a:schemeClr val="tx1"/>
              </a:solidFill>
              <a:effectLst/>
              <a:latin typeface="+mn-lt"/>
              <a:ea typeface="+mn-ea"/>
              <a:cs typeface="+mn-cs"/>
            </a:endParaRPr>
          </a:p>
          <a:p>
            <a:pPr marL="0" indent="0">
              <a:buFontTx/>
              <a:buNone/>
            </a:pPr>
            <a:r>
              <a:rPr lang="vi-VN" dirty="0"/>
              <a:t>■</a:t>
            </a:r>
            <a:r>
              <a:rPr lang="en-US" dirty="0"/>
              <a:t> </a:t>
            </a:r>
            <a:r>
              <a:rPr lang="en-US" sz="1200" b="1" i="0" dirty="0"/>
              <a:t>PORTABILITY TESTING</a:t>
            </a:r>
            <a:r>
              <a:rPr lang="vi-VN" sz="1200" b="1" i="0" dirty="0"/>
              <a:t> (</a:t>
            </a:r>
            <a:r>
              <a:rPr lang="en-US" sz="1200" b="1" i="0" kern="1200" dirty="0">
                <a:solidFill>
                  <a:schemeClr val="tx1"/>
                </a:solidFill>
                <a:effectLst/>
                <a:latin typeface="+mn-lt"/>
                <a:ea typeface="+mn-ea"/>
                <a:cs typeface="+mn-cs"/>
              </a:rPr>
              <a:t>TÍNH KHẢ CHUYỂN</a:t>
            </a:r>
            <a:r>
              <a:rPr lang="vi-VN" sz="1200" b="1" i="0" kern="1200" dirty="0">
                <a:solidFill>
                  <a:schemeClr val="tx1"/>
                </a:solidFill>
                <a:effectLst/>
                <a:latin typeface="+mn-lt"/>
                <a:ea typeface="+mn-ea"/>
                <a:cs typeface="+mn-cs"/>
              </a:rPr>
              <a:t>):khả năng thích ứng</a:t>
            </a:r>
            <a:endParaRPr lang="en-US" sz="1200" b="1" i="0" kern="1200" dirty="0">
              <a:solidFill>
                <a:schemeClr val="tx1"/>
              </a:solidFill>
              <a:effectLst/>
              <a:latin typeface="+mn-lt"/>
              <a:ea typeface="+mn-ea"/>
              <a:cs typeface="+mn-cs"/>
            </a:endParaRPr>
          </a:p>
          <a:p>
            <a:pPr marL="0" indent="0">
              <a:buFontTx/>
              <a:buNone/>
            </a:pPr>
            <a:endParaRPr lang="en-US" sz="1200" b="1" i="0" kern="1200" dirty="0">
              <a:solidFill>
                <a:schemeClr val="tx1"/>
              </a:solidFill>
              <a:effectLst/>
              <a:latin typeface="+mn-lt"/>
              <a:ea typeface="+mn-ea"/>
              <a:cs typeface="+mn-cs"/>
            </a:endParaRPr>
          </a:p>
          <a:p>
            <a:pPr marL="0" indent="0">
              <a:buFontTx/>
              <a:buNone/>
            </a:pPr>
            <a:endParaRPr lang="en-US" sz="1200" b="1" i="0" kern="1200" dirty="0">
              <a:solidFill>
                <a:schemeClr val="tx1"/>
              </a:solidFill>
              <a:effectLst/>
              <a:latin typeface="+mn-lt"/>
              <a:ea typeface="+mn-ea"/>
              <a:cs typeface="+mn-cs"/>
            </a:endParaRPr>
          </a:p>
          <a:p>
            <a:pPr marL="0" indent="0">
              <a:buFontTx/>
              <a:buNone/>
            </a:pPr>
            <a:endParaRPr lang="en-US" sz="1200" b="1" i="0" kern="1200" dirty="0">
              <a:solidFill>
                <a:schemeClr val="tx1"/>
              </a:solidFill>
              <a:effectLst/>
              <a:latin typeface="+mn-lt"/>
              <a:ea typeface="+mn-ea"/>
              <a:cs typeface="+mn-cs"/>
            </a:endParaRPr>
          </a:p>
          <a:p>
            <a:pPr marL="0" indent="0">
              <a:buFontTx/>
              <a:buNone/>
            </a:pPr>
            <a:endParaRPr lang="en-US" sz="1200" b="1" i="0" kern="1200" dirty="0">
              <a:solidFill>
                <a:schemeClr val="tx1"/>
              </a:solidFill>
              <a:effectLst/>
              <a:latin typeface="+mn-lt"/>
              <a:ea typeface="+mn-ea"/>
              <a:cs typeface="+mn-cs"/>
            </a:endParaRPr>
          </a:p>
          <a:p>
            <a:pPr marL="0" indent="0">
              <a:buFontTx/>
              <a:buNone/>
            </a:pPr>
            <a:r>
              <a:rPr lang="en-US" sz="1200" b="1" i="0" kern="1200" dirty="0">
                <a:solidFill>
                  <a:schemeClr val="tx1"/>
                </a:solidFill>
                <a:effectLst/>
                <a:latin typeface="+mn-lt"/>
                <a:ea typeface="+mn-ea"/>
                <a:cs typeface="+mn-cs"/>
              </a:rPr>
              <a:t>Performance testing</a:t>
            </a:r>
            <a:br>
              <a:rPr lang="en-US" dirty="0"/>
            </a:br>
            <a:r>
              <a:rPr lang="en-US" sz="1200" b="1" i="0" kern="1200" dirty="0">
                <a:solidFill>
                  <a:schemeClr val="tx1"/>
                </a:solidFill>
                <a:effectLst/>
                <a:latin typeface="+mn-lt"/>
                <a:ea typeface="+mn-ea"/>
                <a:cs typeface="+mn-cs"/>
              </a:rPr>
              <a:t>Performance testing</a:t>
            </a:r>
            <a:r>
              <a:rPr lang="en-US" sz="1200" b="0" i="0" kern="1200" dirty="0">
                <a:solidFill>
                  <a:schemeClr val="tx1"/>
                </a:solidFill>
                <a:effectLst/>
                <a:latin typeface="+mn-lt"/>
                <a:ea typeface="+mn-ea"/>
                <a:cs typeface="+mn-cs"/>
              </a:rPr>
              <a:t> is executed to determine how fast a system or sub-system performs under a particular workload. It can also serve to validate and verify other quality attributes of the system, such as scalability, reliability and resource usage. Load testing is primarily concerned with testing that can continue to operate under a specific load, whether that be large quantities of data or a large number of users. This is generally referred to as software scalability. The related load testing activity of when performed as a non-functional activity is often referred to as endurance testing.</a:t>
            </a:r>
            <a:br>
              <a:rPr lang="en-US" dirty="0"/>
            </a:br>
            <a:br>
              <a:rPr lang="en-US" dirty="0"/>
            </a:br>
            <a:r>
              <a:rPr lang="en-US" sz="1200" b="0" i="0" kern="1200" dirty="0">
                <a:solidFill>
                  <a:schemeClr val="tx1"/>
                </a:solidFill>
                <a:effectLst/>
                <a:latin typeface="+mn-lt"/>
                <a:ea typeface="+mn-ea"/>
                <a:cs typeface="+mn-cs"/>
              </a:rPr>
              <a:t>Volume testing is a way to test functionality. Stress testing is a way to test reliability. Load testing is a way to test performance. There is little agreement on what the specific goals of load testing are. The terms load testing, performance testing, reliability testing, and volume testing, are often used interchangeably.</a:t>
            </a:r>
            <a:br>
              <a:rPr lang="en-US" dirty="0"/>
            </a:br>
            <a:br>
              <a:rPr lang="en-US" dirty="0"/>
            </a:br>
            <a:r>
              <a:rPr lang="en-US" sz="1200" b="1" i="0" kern="1200" dirty="0">
                <a:solidFill>
                  <a:schemeClr val="tx1"/>
                </a:solidFill>
                <a:effectLst/>
                <a:latin typeface="+mn-lt"/>
                <a:ea typeface="+mn-ea"/>
                <a:cs typeface="+mn-cs"/>
              </a:rPr>
              <a:t>Load testing</a:t>
            </a:r>
            <a:br>
              <a:rPr lang="en-US" dirty="0"/>
            </a:br>
            <a:r>
              <a:rPr lang="en-US" sz="1200" b="1" i="0" kern="1200" dirty="0">
                <a:solidFill>
                  <a:schemeClr val="tx1"/>
                </a:solidFill>
                <a:effectLst/>
                <a:latin typeface="+mn-lt"/>
                <a:ea typeface="+mn-ea"/>
                <a:cs typeface="+mn-cs"/>
              </a:rPr>
              <a:t>Load testing</a:t>
            </a:r>
            <a:r>
              <a:rPr lang="en-US" sz="1200" b="0" i="0" kern="1200" dirty="0">
                <a:solidFill>
                  <a:schemeClr val="tx1"/>
                </a:solidFill>
                <a:effectLst/>
                <a:latin typeface="+mn-lt"/>
                <a:ea typeface="+mn-ea"/>
                <a:cs typeface="+mn-cs"/>
              </a:rPr>
              <a:t> is the process of putting demand on a system or device and measuring its response. Load testing is performed to determine a system’s behavior under both normal and anticipated peak load conditions. It helps to identify the maximum operating capacity of an application as well as any bottlenecks and determine which element is causing degradation. When the load placed on the system is raised beyond normal usage patterns, in order to test the system's response at unusually high or peak loads, it is known as stress testing. The load is usually so great that error conditions are the expected result, although no clear boundary exists when an activity ceases to be a load test and becomes a stress test</a:t>
            </a:r>
            <a:br>
              <a:rPr lang="en-US" dirty="0"/>
            </a:br>
            <a:br>
              <a:rPr lang="en-US" dirty="0"/>
            </a:br>
            <a:r>
              <a:rPr lang="en-US" sz="1200" b="1" i="0" kern="1200" dirty="0">
                <a:solidFill>
                  <a:schemeClr val="tx1"/>
                </a:solidFill>
                <a:effectLst/>
                <a:latin typeface="+mn-lt"/>
                <a:ea typeface="+mn-ea"/>
                <a:cs typeface="+mn-cs"/>
              </a:rPr>
              <a:t>Volume testing</a:t>
            </a:r>
            <a:br>
              <a:rPr lang="en-US" dirty="0"/>
            </a:br>
            <a:r>
              <a:rPr lang="en-US" sz="1200" b="1" i="0" kern="1200" dirty="0">
                <a:solidFill>
                  <a:schemeClr val="tx1"/>
                </a:solidFill>
                <a:effectLst/>
                <a:latin typeface="+mn-lt"/>
                <a:ea typeface="+mn-ea"/>
                <a:cs typeface="+mn-cs"/>
              </a:rPr>
              <a:t>Volume Testing</a:t>
            </a:r>
            <a:r>
              <a:rPr lang="en-US" sz="1200" b="0" i="0" kern="1200" dirty="0">
                <a:solidFill>
                  <a:schemeClr val="tx1"/>
                </a:solidFill>
                <a:effectLst/>
                <a:latin typeface="+mn-lt"/>
                <a:ea typeface="+mn-ea"/>
                <a:cs typeface="+mn-cs"/>
              </a:rPr>
              <a:t> belongs to the group of non-functional tests, which are often misunderstood and/or used interchangeably. Volume testing refers to testing a software application with a certain amount of data. This amount can, in generic terms, be the database size or it could also be the size of an interface file that is the subject of volume testing. For example, if you want to volume test your application with a specific database size, you will expand your database to that size and then test the application's performance on it. Another example could be when there is a requirement for your application to interact with an interface file (could be any file such as .</a:t>
            </a:r>
            <a:r>
              <a:rPr lang="en-US" sz="1200" b="0" i="0" kern="1200" dirty="0" err="1">
                <a:solidFill>
                  <a:schemeClr val="tx1"/>
                </a:solidFill>
                <a:effectLst/>
                <a:latin typeface="+mn-lt"/>
                <a:ea typeface="+mn-ea"/>
                <a:cs typeface="+mn-cs"/>
              </a:rPr>
              <a:t>dat</a:t>
            </a:r>
            <a:r>
              <a:rPr lang="en-US" sz="1200" b="0" i="0" kern="1200" dirty="0">
                <a:solidFill>
                  <a:schemeClr val="tx1"/>
                </a:solidFill>
                <a:effectLst/>
                <a:latin typeface="+mn-lt"/>
                <a:ea typeface="+mn-ea"/>
                <a:cs typeface="+mn-cs"/>
              </a:rPr>
              <a:t>, .xml); this interaction could be reading and/or writing on to/from the file. You will create a sample file of the size you want and then test the application's functionality with that file in order to test the performance.</a:t>
            </a:r>
            <a:br>
              <a:rPr lang="en-US" dirty="0"/>
            </a:br>
            <a:br>
              <a:rPr lang="en-US" dirty="0"/>
            </a:br>
            <a:r>
              <a:rPr lang="en-US" sz="1200" b="1" i="0" kern="1200" dirty="0">
                <a:solidFill>
                  <a:schemeClr val="tx1"/>
                </a:solidFill>
                <a:effectLst/>
                <a:latin typeface="+mn-lt"/>
                <a:ea typeface="+mn-ea"/>
                <a:cs typeface="+mn-cs"/>
              </a:rPr>
              <a:t>Stress testing</a:t>
            </a:r>
            <a:br>
              <a:rPr lang="en-US" dirty="0"/>
            </a:br>
            <a:r>
              <a:rPr lang="en-US" sz="1200" b="1" i="0" kern="1200" dirty="0">
                <a:solidFill>
                  <a:schemeClr val="tx1"/>
                </a:solidFill>
                <a:effectLst/>
                <a:latin typeface="+mn-lt"/>
                <a:ea typeface="+mn-ea"/>
                <a:cs typeface="+mn-cs"/>
              </a:rPr>
              <a:t>Stress testing</a:t>
            </a:r>
            <a:r>
              <a:rPr lang="en-US" sz="1200" b="0" i="0" kern="1200" dirty="0">
                <a:solidFill>
                  <a:schemeClr val="tx1"/>
                </a:solidFill>
                <a:effectLst/>
                <a:latin typeface="+mn-lt"/>
                <a:ea typeface="+mn-ea"/>
                <a:cs typeface="+mn-cs"/>
              </a:rPr>
              <a:t> is a form of testing that is used to determine the stability of a given system or entity. It involves testing beyond normal operational capacity, often to a breaking point, in order to observe the results. Stress testing may have a more specific meaning in certain industries, such as fatigue testing for materials.</a:t>
            </a:r>
            <a:br>
              <a:rPr lang="en-US" dirty="0"/>
            </a:br>
            <a:br>
              <a:rPr lang="en-US" dirty="0"/>
            </a:br>
            <a:r>
              <a:rPr lang="en-US" sz="1200" b="1" i="0" kern="1200" dirty="0">
                <a:solidFill>
                  <a:schemeClr val="tx1"/>
                </a:solidFill>
                <a:effectLst/>
                <a:latin typeface="+mn-lt"/>
                <a:ea typeface="+mn-ea"/>
                <a:cs typeface="+mn-cs"/>
              </a:rPr>
              <a:t>VÍ DỤ:</a:t>
            </a:r>
            <a:br>
              <a:rPr lang="en-US" dirty="0"/>
            </a:br>
            <a:br>
              <a:rPr lang="en-US" dirty="0"/>
            </a:br>
            <a:r>
              <a:rPr lang="en-US" sz="1200" b="1" i="0" kern="1200" dirty="0">
                <a:solidFill>
                  <a:schemeClr val="tx1"/>
                </a:solidFill>
                <a:effectLst/>
                <a:latin typeface="+mn-lt"/>
                <a:ea typeface="+mn-ea"/>
                <a:cs typeface="+mn-cs"/>
              </a:rPr>
              <a:t>Load test</a:t>
            </a:r>
            <a:br>
              <a:rPr lang="en-US" dirty="0"/>
            </a:b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load test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Website A: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100user login </a:t>
            </a:r>
            <a:r>
              <a:rPr lang="en-US" sz="1200" b="0" i="0" kern="1200" dirty="0" err="1">
                <a:solidFill>
                  <a:schemeClr val="tx1"/>
                </a:solidFill>
                <a:effectLst/>
                <a:latin typeface="+mn-lt"/>
                <a:ea typeface="+mn-ea"/>
                <a:cs typeface="+mn-cs"/>
              </a:rPr>
              <a:t>cùng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lúc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200user, 500user, 1000user,...</a:t>
            </a:r>
            <a:br>
              <a:rPr lang="en-US" dirty="0"/>
            </a:b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website: </a:t>
            </a:r>
            <a:r>
              <a:rPr lang="en-US" sz="1200" b="0" i="0" kern="1200" dirty="0" err="1">
                <a:solidFill>
                  <a:schemeClr val="tx1"/>
                </a:solidFill>
                <a:effectLst/>
                <a:latin typeface="+mn-lt"/>
                <a:ea typeface="+mn-ea"/>
                <a:cs typeface="+mn-cs"/>
              </a:rPr>
              <a:t>thời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đáp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ứng</a:t>
            </a:r>
            <a:r>
              <a:rPr lang="en-US" sz="1200" b="0" i="0" kern="1200" dirty="0">
                <a:solidFill>
                  <a:schemeClr val="tx1"/>
                </a:solidFill>
                <a:effectLst/>
                <a:latin typeface="+mn-lt"/>
                <a:ea typeface="+mn-ea"/>
                <a:cs typeface="+mn-cs"/>
              </a:rPr>
              <a:t> bao </a:t>
            </a:r>
            <a:r>
              <a:rPr lang="en-US" sz="1200" b="0" i="0" kern="1200" dirty="0" err="1">
                <a:solidFill>
                  <a:schemeClr val="tx1"/>
                </a:solidFill>
                <a:effectLst/>
                <a:latin typeface="+mn-lt"/>
                <a:ea typeface="+mn-ea"/>
                <a:cs typeface="+mn-cs"/>
              </a:rPr>
              <a:t>nhiêu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mỗi</a:t>
            </a:r>
            <a:r>
              <a:rPr lang="en-US" sz="1200" b="0" i="0" kern="1200" dirty="0">
                <a:solidFill>
                  <a:schemeClr val="tx1"/>
                </a:solidFill>
                <a:effectLst/>
                <a:latin typeface="+mn-lt"/>
                <a:ea typeface="+mn-ea"/>
                <a:cs typeface="+mn-cs"/>
              </a:rPr>
              <a:t> user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năng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nhau</a:t>
            </a:r>
            <a:r>
              <a:rPr lang="en-US" sz="1200" b="0" i="0" kern="1200" dirty="0">
                <a:solidFill>
                  <a:schemeClr val="tx1"/>
                </a:solidFill>
                <a:effectLst/>
                <a:latin typeface="+mn-lt"/>
                <a:ea typeface="+mn-ea"/>
                <a:cs typeface="+mn-cs"/>
              </a:rPr>
              <a:t> =&gt;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năng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đáp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ứng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hay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xảy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lỗi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gì</a:t>
            </a:r>
            <a:r>
              <a:rPr lang="en-US" sz="1200" b="0" i="0" kern="1200" dirty="0">
                <a:solidFill>
                  <a:schemeClr val="tx1"/>
                </a:solidFill>
                <a:effectLst/>
                <a:latin typeface="+mn-lt"/>
                <a:ea typeface="+mn-ea"/>
                <a:cs typeface="+mn-cs"/>
              </a:rPr>
              <a:t> hay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a:t>
            </a:r>
            <a:br>
              <a:rPr lang="en-US" dirty="0"/>
            </a:br>
            <a:br>
              <a:rPr lang="en-US" dirty="0"/>
            </a:br>
            <a:r>
              <a:rPr lang="en-US" sz="1200" b="1" i="0" kern="1200" dirty="0">
                <a:solidFill>
                  <a:schemeClr val="tx1"/>
                </a:solidFill>
                <a:effectLst/>
                <a:latin typeface="+mn-lt"/>
                <a:ea typeface="+mn-ea"/>
                <a:cs typeface="+mn-cs"/>
              </a:rPr>
              <a:t>Stress test</a:t>
            </a:r>
            <a:br>
              <a:rPr lang="en-US" dirty="0"/>
            </a:br>
            <a:r>
              <a:rPr lang="en-US" sz="1200" b="0" i="0" kern="1200" dirty="0" err="1">
                <a:solidFill>
                  <a:schemeClr val="tx1"/>
                </a:solidFill>
                <a:effectLst/>
                <a:latin typeface="+mn-lt"/>
                <a:ea typeface="+mn-ea"/>
                <a:cs typeface="+mn-cs"/>
              </a:rPr>
              <a:t>Mong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muốn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chủ</a:t>
            </a:r>
            <a:r>
              <a:rPr lang="en-US" sz="1200" b="0" i="0" kern="1200" dirty="0">
                <a:solidFill>
                  <a:schemeClr val="tx1"/>
                </a:solidFill>
                <a:effectLst/>
                <a:latin typeface="+mn-lt"/>
                <a:ea typeface="+mn-ea"/>
                <a:cs typeface="+mn-cs"/>
              </a:rPr>
              <a:t> website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1000user online </a:t>
            </a:r>
            <a:r>
              <a:rPr lang="en-US" sz="1200" b="0" i="0" kern="1200" dirty="0" err="1">
                <a:solidFill>
                  <a:schemeClr val="tx1"/>
                </a:solidFill>
                <a:effectLst/>
                <a:latin typeface="+mn-lt"/>
                <a:ea typeface="+mn-ea"/>
                <a:cs typeface="+mn-cs"/>
              </a:rPr>
              <a:t>cùng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lúc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vậy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chúng</a:t>
            </a:r>
            <a:r>
              <a:rPr lang="en-US" sz="1200" b="0" i="0" kern="1200" dirty="0">
                <a:solidFill>
                  <a:schemeClr val="tx1"/>
                </a:solidFill>
                <a:effectLst/>
                <a:latin typeface="+mn-lt"/>
                <a:ea typeface="+mn-ea"/>
                <a:cs typeface="+mn-cs"/>
              </a:rPr>
              <a:t> ta </a:t>
            </a:r>
            <a:r>
              <a:rPr lang="en-US" sz="1200" b="0" i="0" kern="1200" dirty="0" err="1">
                <a:solidFill>
                  <a:schemeClr val="tx1"/>
                </a:solidFill>
                <a:effectLst/>
                <a:latin typeface="+mn-lt"/>
                <a:ea typeface="+mn-ea"/>
                <a:cs typeface="+mn-cs"/>
              </a:rPr>
              <a:t>sẽ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900user, 999user, 1000user, 1100user =&gt; </a:t>
            </a:r>
            <a:r>
              <a:rPr lang="en-US" sz="1200" b="0" i="0" kern="1200" dirty="0" err="1">
                <a:solidFill>
                  <a:schemeClr val="tx1"/>
                </a:solidFill>
                <a:effectLst/>
                <a:latin typeface="+mn-lt"/>
                <a:ea typeface="+mn-ea"/>
                <a:cs typeface="+mn-cs"/>
              </a:rPr>
              <a:t>xem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lỗi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gì</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a:t>
            </a:r>
            <a:br>
              <a:rPr lang="en-US" dirty="0"/>
            </a:br>
            <a:r>
              <a:rPr lang="en-US" sz="1200" b="0" i="0" kern="1200" dirty="0" err="1">
                <a:solidFill>
                  <a:schemeClr val="tx1"/>
                </a:solidFill>
                <a:effectLst/>
                <a:latin typeface="+mn-lt"/>
                <a:ea typeface="+mn-ea"/>
                <a:cs typeface="+mn-cs"/>
              </a:rPr>
              <a:t>Hoặc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muốn</a:t>
            </a:r>
            <a:r>
              <a:rPr lang="en-US" sz="1200" b="0" i="0" kern="1200" dirty="0">
                <a:solidFill>
                  <a:schemeClr val="tx1"/>
                </a:solidFill>
                <a:effectLst/>
                <a:latin typeface="+mn-lt"/>
                <a:ea typeface="+mn-ea"/>
                <a:cs typeface="+mn-cs"/>
              </a:rPr>
              <a:t> server </a:t>
            </a:r>
            <a:r>
              <a:rPr lang="en-US" sz="1200" b="0" i="0" kern="1200" dirty="0" err="1">
                <a:solidFill>
                  <a:schemeClr val="tx1"/>
                </a:solidFill>
                <a:effectLst/>
                <a:latin typeface="+mn-lt"/>
                <a:ea typeface="+mn-ea"/>
                <a:cs typeface="+mn-cs"/>
              </a:rPr>
              <a:t>chạy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cấu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Pentium i3, RAM 2GB, HDD 500GB =&gt; </a:t>
            </a:r>
            <a:r>
              <a:rPr lang="en-US" sz="1200" b="0" i="0" kern="1200" dirty="0" err="1">
                <a:solidFill>
                  <a:schemeClr val="tx1"/>
                </a:solidFill>
                <a:effectLst/>
                <a:latin typeface="+mn-lt"/>
                <a:ea typeface="+mn-ea"/>
                <a:cs typeface="+mn-cs"/>
              </a:rPr>
              <a:t>chúng</a:t>
            </a:r>
            <a:r>
              <a:rPr lang="en-US" sz="1200" b="0" i="0" kern="1200" dirty="0">
                <a:solidFill>
                  <a:schemeClr val="tx1"/>
                </a:solidFill>
                <a:effectLst/>
                <a:latin typeface="+mn-lt"/>
                <a:ea typeface="+mn-ea"/>
                <a:cs typeface="+mn-cs"/>
              </a:rPr>
              <a:t> ta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website </a:t>
            </a:r>
            <a:r>
              <a:rPr lang="en-US" sz="1200" b="0" i="0" kern="1200" dirty="0" err="1">
                <a:solidFill>
                  <a:schemeClr val="tx1"/>
                </a:solidFill>
                <a:effectLst/>
                <a:latin typeface="+mn-lt"/>
                <a:ea typeface="+mn-ea"/>
                <a:cs typeface="+mn-cs"/>
              </a:rPr>
              <a:t>chạy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server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cấu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tương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tự</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nhưng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lượt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thay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thế</a:t>
            </a:r>
            <a:r>
              <a:rPr lang="en-US" sz="1200" b="0" i="0" kern="1200" dirty="0">
                <a:solidFill>
                  <a:schemeClr val="tx1"/>
                </a:solidFill>
                <a:effectLst/>
                <a:latin typeface="+mn-lt"/>
                <a:ea typeface="+mn-ea"/>
                <a:cs typeface="+mn-cs"/>
              </a:rPr>
              <a:t> CPU, RAM, HDD </a:t>
            </a:r>
            <a:r>
              <a:rPr lang="en-US" sz="1200" b="0" i="0" kern="1200" dirty="0" err="1">
                <a:solidFill>
                  <a:schemeClr val="tx1"/>
                </a:solidFill>
                <a:effectLst/>
                <a:latin typeface="+mn-lt"/>
                <a:ea typeface="+mn-ea"/>
                <a:cs typeface="+mn-cs"/>
              </a:rPr>
              <a:t>thấp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hơn</a:t>
            </a:r>
            <a:r>
              <a:rPr lang="en-US" sz="1200" b="0" i="0" kern="1200" dirty="0">
                <a:solidFill>
                  <a:schemeClr val="tx1"/>
                </a:solidFill>
                <a:effectLst/>
                <a:latin typeface="+mn-lt"/>
                <a:ea typeface="+mn-ea"/>
                <a:cs typeface="+mn-cs"/>
              </a:rPr>
              <a:t> 1/2 </a:t>
            </a:r>
            <a:r>
              <a:rPr lang="en-US" sz="1200" b="0" i="0" kern="1200" dirty="0" err="1">
                <a:solidFill>
                  <a:schemeClr val="tx1"/>
                </a:solidFill>
                <a:effectLst/>
                <a:latin typeface="+mn-lt"/>
                <a:ea typeface="+mn-ea"/>
                <a:cs typeface="+mn-cs"/>
              </a:rPr>
              <a:t>xem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xảy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lỗi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gì</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lúc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chương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còn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đúng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nữa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8237737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b="0" i="0" kern="1200" baseline="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63B9007-0201-49BE-A587-7F882848EC05}" type="slidenum">
              <a:rPr lang="en-US" smtClean="0"/>
              <a:t>72</a:t>
            </a:fld>
            <a:endParaRPr lang="en-US"/>
          </a:p>
        </p:txBody>
      </p:sp>
    </p:spTree>
    <p:extLst>
      <p:ext uri="{BB962C8B-B14F-4D97-AF65-F5344CB8AC3E}">
        <p14:creationId xmlns:p14="http://schemas.microsoft.com/office/powerpoint/2010/main" val="14695817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457200" lvl="1" indent="0">
              <a:buFontTx/>
              <a:buNone/>
            </a:pPr>
            <a:endParaRPr lang="en-US" baseline="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VD/ Ban </a:t>
            </a:r>
            <a:r>
              <a:rPr lang="en-US" sz="1200" b="1" i="0" kern="1200" dirty="0" err="1">
                <a:solidFill>
                  <a:schemeClr val="tx1"/>
                </a:solidFill>
                <a:effectLst/>
                <a:latin typeface="+mn-lt"/>
                <a:ea typeface="+mn-ea"/>
                <a:cs typeface="+mn-cs"/>
              </a:rPr>
              <a:t>đầu</a:t>
            </a:r>
            <a:r>
              <a:rPr lang="en-US" sz="1200" b="1" i="0" kern="1200" baseline="0" dirty="0">
                <a:solidFill>
                  <a:schemeClr val="tx1"/>
                </a:solidFill>
                <a:effectLst/>
                <a:latin typeface="+mn-lt"/>
                <a:ea typeface="+mn-ea"/>
                <a:cs typeface="+mn-cs"/>
              </a:rPr>
              <a:t> test </a:t>
            </a:r>
            <a:r>
              <a:rPr lang="en-US" sz="1200" b="1" i="0" kern="1200" baseline="0" dirty="0" err="1">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5 test case, </a:t>
            </a:r>
            <a:r>
              <a:rPr lang="en-US" sz="1200" b="1" i="0" kern="1200" baseline="0" dirty="0" err="1">
                <a:solidFill>
                  <a:schemeClr val="tx1"/>
                </a:solidFill>
                <a:effectLst/>
                <a:latin typeface="+mn-lt"/>
                <a:ea typeface="+mn-ea"/>
                <a:cs typeface="+mn-cs"/>
              </a:rPr>
              <a:t>thì</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2 test case </a:t>
            </a:r>
            <a:r>
              <a:rPr lang="en-US" sz="1200" b="1" i="0" kern="1200" baseline="0" dirty="0" err="1">
                <a:solidFill>
                  <a:schemeClr val="tx1"/>
                </a:solidFill>
                <a:effectLst/>
                <a:latin typeface="+mn-lt"/>
                <a:ea typeface="+mn-ea"/>
                <a:cs typeface="+mn-cs"/>
              </a:rPr>
              <a:t>bị</a:t>
            </a:r>
            <a:r>
              <a:rPr lang="en-US" sz="1200" b="1" i="0" kern="1200" baseline="0" dirty="0">
                <a:solidFill>
                  <a:schemeClr val="tx1"/>
                </a:solidFill>
                <a:effectLst/>
                <a:latin typeface="+mn-lt"/>
                <a:ea typeface="+mn-ea"/>
                <a:cs typeface="+mn-cs"/>
              </a:rPr>
              <a:t> fail. Ct </a:t>
            </a:r>
            <a:r>
              <a:rPr lang="en-US" sz="1200" b="1" i="0" kern="1200" baseline="0" dirty="0" err="1">
                <a:solidFill>
                  <a:schemeClr val="tx1"/>
                </a:solidFill>
                <a:effectLst/>
                <a:latin typeface="+mn-lt"/>
                <a:ea typeface="+mn-ea"/>
                <a:cs typeface="+mn-cs"/>
              </a:rPr>
              <a:t>sẽ</a:t>
            </a:r>
            <a:r>
              <a:rPr lang="en-US" sz="1200" b="1" i="0" kern="1200" baseline="0" dirty="0">
                <a:solidFill>
                  <a:schemeClr val="tx1"/>
                </a:solidFill>
                <a:effectLst/>
                <a:latin typeface="+mn-lt"/>
                <a:ea typeface="+mn-ea"/>
                <a:cs typeface="+mn-cs"/>
              </a:rPr>
              <a:t> </a:t>
            </a:r>
            <a:r>
              <a:rPr lang="vi-VN" sz="1200" b="1" i="0" kern="1200" baseline="0" dirty="0" err="1">
                <a:solidFill>
                  <a:schemeClr val="tx1"/>
                </a:solidFill>
                <a:effectLst/>
                <a:latin typeface="+mn-lt"/>
                <a:ea typeface="+mn-ea"/>
                <a:cs typeface="+mn-cs"/>
              </a:rPr>
              <a:t>đượ</a:t>
            </a:r>
            <a:r>
              <a:rPr lang="en-US" sz="1200" b="1" i="0" kern="1200" baseline="0" dirty="0">
                <a:solidFill>
                  <a:schemeClr val="tx1"/>
                </a:solidFill>
                <a:effectLst/>
                <a:latin typeface="+mn-lt"/>
                <a:ea typeface="+mn-ea"/>
                <a:cs typeface="+mn-cs"/>
              </a:rPr>
              <a:t>c </a:t>
            </a:r>
            <a:r>
              <a:rPr lang="en-US" sz="1200" b="1" i="0" kern="1200" baseline="0" dirty="0" err="1">
                <a:solidFill>
                  <a:schemeClr val="tx1"/>
                </a:solidFill>
                <a:effectLst/>
                <a:latin typeface="+mn-lt"/>
                <a:ea typeface="+mn-ea"/>
                <a:cs typeface="+mn-cs"/>
              </a:rPr>
              <a:t>gởi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về</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cho</a:t>
            </a:r>
            <a:r>
              <a:rPr lang="en-US" sz="1200" b="1" i="0" kern="1200" baseline="0" dirty="0">
                <a:solidFill>
                  <a:schemeClr val="tx1"/>
                </a:solidFill>
                <a:effectLst/>
                <a:latin typeface="+mn-lt"/>
                <a:ea typeface="+mn-ea"/>
                <a:cs typeface="+mn-cs"/>
              </a:rPr>
              <a:t> coder </a:t>
            </a:r>
            <a:r>
              <a:rPr lang="en-US" sz="1200" b="1" i="0" kern="1200" baseline="0" dirty="0" err="1">
                <a:solidFill>
                  <a:schemeClr val="tx1"/>
                </a:solidFill>
                <a:effectLst/>
                <a:latin typeface="+mn-lt"/>
                <a:ea typeface="+mn-ea"/>
                <a:cs typeface="+mn-cs"/>
              </a:rPr>
              <a:t>sửa</a:t>
            </a:r>
            <a:r>
              <a:rPr lang="en-US" sz="1200" b="1" i="0" kern="1200" baseline="0" dirty="0">
                <a:solidFill>
                  <a:schemeClr val="tx1"/>
                </a:solidFill>
                <a:effectLst/>
                <a:latin typeface="+mn-lt"/>
                <a:ea typeface="+mn-ea"/>
                <a:cs typeface="+mn-cs"/>
              </a:rPr>
              <a:t>. Sau </a:t>
            </a:r>
            <a:r>
              <a:rPr lang="en-US" sz="1200" b="1" i="0" kern="1200" baseline="0" dirty="0" err="1">
                <a:solidFill>
                  <a:schemeClr val="tx1"/>
                </a:solidFill>
                <a:effectLst/>
                <a:latin typeface="+mn-lt"/>
                <a:ea typeface="+mn-ea"/>
                <a:cs typeface="+mn-cs"/>
              </a:rPr>
              <a:t>khi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sửa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xong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gởi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về</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cho</a:t>
            </a:r>
            <a:r>
              <a:rPr lang="en-US" sz="1200" b="1" i="0" kern="1200" baseline="0" dirty="0">
                <a:solidFill>
                  <a:schemeClr val="tx1"/>
                </a:solidFill>
                <a:effectLst/>
                <a:latin typeface="+mn-lt"/>
                <a:ea typeface="+mn-ea"/>
                <a:cs typeface="+mn-cs"/>
              </a:rPr>
              <a:t> tester test </a:t>
            </a:r>
            <a:r>
              <a:rPr lang="en-US" sz="1200" b="1" i="0" kern="1200" baseline="0" dirty="0" err="1">
                <a:solidFill>
                  <a:schemeClr val="tx1"/>
                </a:solidFill>
                <a:effectLst/>
                <a:latin typeface="+mn-lt"/>
                <a:ea typeface="+mn-ea"/>
                <a:cs typeface="+mn-cs"/>
              </a:rPr>
              <a:t>lại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thì</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chỉ</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cần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chạy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lại</a:t>
            </a:r>
            <a:r>
              <a:rPr lang="en-US" sz="1200" b="1" i="0" kern="1200" baseline="0" dirty="0">
                <a:solidFill>
                  <a:schemeClr val="tx1"/>
                </a:solidFill>
                <a:effectLst/>
                <a:latin typeface="+mn-lt"/>
                <a:ea typeface="+mn-ea"/>
                <a:cs typeface="+mn-cs"/>
              </a:rPr>
              <a:t> 2 test case </a:t>
            </a:r>
            <a:r>
              <a:rPr lang="en-US" sz="1200" b="1" i="0" kern="1200" baseline="0" dirty="0" err="1">
                <a:solidFill>
                  <a:schemeClr val="tx1"/>
                </a:solidFill>
                <a:effectLst/>
                <a:latin typeface="+mn-lt"/>
                <a:ea typeface="+mn-ea"/>
                <a:cs typeface="+mn-cs"/>
              </a:rPr>
              <a:t>bị</a:t>
            </a:r>
            <a:r>
              <a:rPr lang="en-US" sz="1200" b="1" i="0" kern="1200" baseline="0" dirty="0">
                <a:solidFill>
                  <a:schemeClr val="tx1"/>
                </a:solidFill>
                <a:effectLst/>
                <a:latin typeface="+mn-lt"/>
                <a:ea typeface="+mn-ea"/>
                <a:cs typeface="+mn-cs"/>
              </a:rPr>
              <a:t> fail </a:t>
            </a:r>
            <a:r>
              <a:rPr lang="en-US" sz="1200" b="1" i="0" kern="1200" baseline="0" dirty="0" err="1">
                <a:solidFill>
                  <a:schemeClr val="tx1"/>
                </a:solidFill>
                <a:effectLst/>
                <a:latin typeface="+mn-lt"/>
                <a:ea typeface="+mn-ea"/>
                <a:cs typeface="+mn-cs"/>
              </a:rPr>
              <a:t>thôi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Với</a:t>
            </a:r>
            <a:r>
              <a:rPr lang="en-US" sz="1200" b="1" i="0" kern="1200" baseline="0" dirty="0">
                <a:solidFill>
                  <a:schemeClr val="tx1"/>
                </a:solidFill>
                <a:effectLst/>
                <a:latin typeface="+mn-lt"/>
                <a:ea typeface="+mn-ea"/>
                <a:cs typeface="+mn-cs"/>
              </a:rPr>
              <a:t> test </a:t>
            </a:r>
            <a:r>
              <a:rPr lang="en-US" sz="1200" b="1" i="0" kern="1200" baseline="0" dirty="0" err="1">
                <a:solidFill>
                  <a:schemeClr val="tx1"/>
                </a:solidFill>
                <a:effectLst/>
                <a:latin typeface="+mn-lt"/>
                <a:ea typeface="+mn-ea"/>
                <a:cs typeface="+mn-cs"/>
              </a:rPr>
              <a:t>hồi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quy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thì</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phải</a:t>
            </a:r>
            <a:r>
              <a:rPr lang="en-US" sz="1200" b="1" i="0" kern="1200" baseline="0" dirty="0">
                <a:solidFill>
                  <a:schemeClr val="tx1"/>
                </a:solidFill>
                <a:effectLst/>
                <a:latin typeface="+mn-lt"/>
                <a:ea typeface="+mn-ea"/>
                <a:cs typeface="+mn-cs"/>
              </a:rPr>
              <a:t> test </a:t>
            </a:r>
            <a:r>
              <a:rPr lang="en-US" sz="1200" b="1" i="0" kern="1200" baseline="0" dirty="0" err="1">
                <a:solidFill>
                  <a:schemeClr val="tx1"/>
                </a:solidFill>
                <a:effectLst/>
                <a:latin typeface="+mn-lt"/>
                <a:ea typeface="+mn-ea"/>
                <a:cs typeface="+mn-cs"/>
              </a:rPr>
              <a:t>lại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cả</a:t>
            </a:r>
            <a:r>
              <a:rPr lang="en-US" sz="1200" b="1" i="0" kern="1200" baseline="0" dirty="0">
                <a:solidFill>
                  <a:schemeClr val="tx1"/>
                </a:solidFill>
                <a:effectLst/>
                <a:latin typeface="+mn-lt"/>
                <a:ea typeface="+mn-ea"/>
                <a:cs typeface="+mn-cs"/>
              </a:rPr>
              <a:t> 5 test case </a:t>
            </a:r>
            <a:r>
              <a:rPr lang="en-US" sz="1200" b="1" i="0" kern="1200" baseline="0" dirty="0" err="1">
                <a:solidFill>
                  <a:schemeClr val="tx1"/>
                </a:solidFill>
                <a:effectLst/>
                <a:latin typeface="+mn-lt"/>
                <a:ea typeface="+mn-ea"/>
                <a:cs typeface="+mn-cs"/>
              </a:rPr>
              <a:t>đó</a:t>
            </a:r>
            <a:r>
              <a:rPr lang="en-US" sz="1200" b="1" i="0" kern="1200" baseline="0" dirty="0">
                <a:solidFill>
                  <a:schemeClr val="tx1"/>
                </a:solidFill>
                <a:effectLst/>
                <a:latin typeface="+mn-lt"/>
                <a:ea typeface="+mn-ea"/>
                <a:cs typeface="+mn-cs"/>
              </a:rPr>
              <a:t>, VÀ CÓ THỂ TEST THÊM NHỮNG CHỖ KHÁC NẾU VIỆC SỬA CÓ ẢNH HƯỞNG ĐẾN NHỮNG PHẦN ĐÓ (SINH THÊM TEST CASE)</a:t>
            </a:r>
            <a:endParaRPr lang="en-US" sz="1200" b="1" i="0" kern="1200" dirty="0">
              <a:solidFill>
                <a:schemeClr val="tx1"/>
              </a:solidFill>
              <a:effectLst/>
              <a:latin typeface="+mn-lt"/>
              <a:ea typeface="+mn-ea"/>
              <a:cs typeface="+mn-cs"/>
            </a:endParaRPr>
          </a:p>
          <a:p>
            <a:pPr marL="457200" lvl="1" indent="0">
              <a:buFontTx/>
              <a:buNone/>
            </a:pP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73</a:t>
            </a:fld>
            <a:endParaRPr lang="en-US"/>
          </a:p>
        </p:txBody>
      </p:sp>
    </p:spTree>
    <p:extLst>
      <p:ext uri="{BB962C8B-B14F-4D97-AF65-F5344CB8AC3E}">
        <p14:creationId xmlns:p14="http://schemas.microsoft.com/office/powerpoint/2010/main" val="11161604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7" lvl="0" indent="0">
              <a:buFontTx/>
              <a:buNone/>
            </a:pPr>
            <a:r>
              <a:rPr lang="en-US" sz="1200" b="0" i="0" kern="1200" dirty="0">
                <a:solidFill>
                  <a:schemeClr val="tx1"/>
                </a:solidFill>
                <a:effectLst/>
                <a:latin typeface="+mn-lt"/>
                <a:ea typeface="+mn-ea"/>
                <a:cs typeface="+mn-cs"/>
              </a:rPr>
              <a:t>+ …</a:t>
            </a:r>
          </a:p>
          <a:p>
            <a:pPr marL="47" lvl="0" indent="0">
              <a:buFontTx/>
              <a:buNone/>
            </a:pPr>
            <a:r>
              <a:rPr lang="en-US" sz="1200" b="0" i="0" kern="1200" dirty="0">
                <a:solidFill>
                  <a:schemeClr val="tx1"/>
                </a:solidFill>
                <a:effectLst/>
                <a:latin typeface="+mn-lt"/>
                <a:ea typeface="+mn-ea"/>
                <a:cs typeface="+mn-cs"/>
              </a:rPr>
              <a:t>+ …</a:t>
            </a:r>
          </a:p>
          <a:p>
            <a:pPr marL="47" lv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Nếu </a:t>
            </a:r>
            <a:r>
              <a:rPr lang="en-US" sz="1200" b="0" i="0" kern="1200" dirty="0" err="1">
                <a:solidFill>
                  <a:schemeClr val="tx1"/>
                </a:solidFill>
                <a:effectLst/>
                <a:latin typeface="+mn-lt"/>
                <a:ea typeface="+mn-ea"/>
                <a:cs typeface="+mn-cs"/>
              </a:rPr>
              <a:t>kiểm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thử</a:t>
            </a:r>
            <a:r>
              <a:rPr lang="vi-VN"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pass, </a:t>
            </a:r>
            <a:r>
              <a:rPr lang="en-US" sz="1200" b="0" i="0" kern="1200" dirty="0" err="1">
                <a:solidFill>
                  <a:schemeClr val="tx1"/>
                </a:solidFill>
                <a:effectLst/>
                <a:latin typeface="+mn-lt"/>
                <a:ea typeface="+mn-ea"/>
                <a:cs typeface="+mn-cs"/>
              </a:rPr>
              <a:t>nghĩa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a:t>
            </a:r>
          </a:p>
          <a:p>
            <a:pPr marL="47" lvl="0" indent="0">
              <a:buFontTx/>
              <a:buNone/>
            </a:pPr>
            <a:r>
              <a:rPr lang="en-US" sz="1200" b="0" i="0" kern="1200" baseline="0" dirty="0">
                <a:solidFill>
                  <a:schemeClr val="tx1"/>
                </a:solidFill>
                <a:effectLst/>
                <a:latin typeface="+mn-lt"/>
                <a:ea typeface="+mn-ea"/>
                <a:cs typeface="+mn-cs"/>
              </a:rPr>
              <a:t>   + PM </a:t>
            </a:r>
            <a:r>
              <a:rPr lang="en-US" sz="1200" b="0" i="0" kern="1200" baseline="0" dirty="0" err="1">
                <a:solidFill>
                  <a:schemeClr val="tx1"/>
                </a:solidFill>
                <a:effectLst/>
                <a:latin typeface="+mn-lt"/>
                <a:ea typeface="+mn-ea"/>
                <a:cs typeface="+mn-cs"/>
              </a:rPr>
              <a:t>đã</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chính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a:t>
            </a:r>
            <a:r>
              <a:rPr lang="en-US" dirty="0"/>
              <a:t> </a:t>
            </a:r>
            <a:r>
              <a:rPr lang="en-US" sz="1200" b="0" i="0" kern="1200" baseline="0" dirty="0" err="1">
                <a:solidFill>
                  <a:schemeClr val="tx1"/>
                </a:solidFill>
                <a:effectLst/>
                <a:latin typeface="+mn-lt"/>
                <a:ea typeface="+mn-ea"/>
                <a:cs typeface="+mn-cs"/>
              </a:rPr>
              <a:t>Đúng</a:t>
            </a:r>
            <a:r>
              <a:rPr lang="vi-VN"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ít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ra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phần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sửa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chính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xác</a:t>
            </a:r>
            <a:r>
              <a:rPr lang="en-US" sz="1200" b="0" i="0" kern="1200" baseline="0" dirty="0">
                <a:solidFill>
                  <a:schemeClr val="tx1"/>
                </a:solidFill>
                <a:effectLst/>
                <a:latin typeface="+mn-lt"/>
                <a:ea typeface="+mn-ea"/>
                <a:cs typeface="+mn-cs"/>
              </a:rPr>
              <a:t>. N</a:t>
            </a:r>
            <a:r>
              <a:rPr lang="vi-VN" sz="1200" b="0" i="0" kern="1200" dirty="0">
                <a:solidFill>
                  <a:schemeClr val="tx1"/>
                </a:solidFill>
                <a:effectLst/>
                <a:latin typeface="+mn-lt"/>
                <a:ea typeface="+mn-ea"/>
                <a:cs typeface="+mn-cs"/>
              </a:rPr>
              <a:t>hưng điều này </a:t>
            </a:r>
            <a:r>
              <a:rPr lang="en-US" sz="1200" b="0" i="0" kern="1200" dirty="0" err="1">
                <a:solidFill>
                  <a:schemeClr val="tx1"/>
                </a:solidFill>
                <a:effectLst/>
                <a:latin typeface="+mn-lt"/>
                <a:ea typeface="+mn-ea"/>
                <a:cs typeface="+mn-cs"/>
              </a:rPr>
              <a:t>vẫn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chưa</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đủ. </a:t>
            </a:r>
            <a:endParaRPr lang="en-US" sz="1200" b="0" i="0" kern="1200" baseline="0" dirty="0">
              <a:solidFill>
                <a:schemeClr val="tx1"/>
              </a:solidFill>
              <a:effectLst/>
              <a:latin typeface="+mn-lt"/>
              <a:ea typeface="+mn-ea"/>
              <a:cs typeface="+mn-cs"/>
            </a:endParaRPr>
          </a:p>
          <a:p>
            <a:pPr marL="47" lvl="0" indent="0">
              <a:buFontTx/>
              <a:buNone/>
            </a:pPr>
            <a:r>
              <a:rPr lang="en-US" sz="1200" b="0" i="0" kern="1200" baseline="0" dirty="0">
                <a:solidFill>
                  <a:schemeClr val="tx1"/>
                </a:solidFill>
                <a:effectLst/>
                <a:latin typeface="+mn-lt"/>
                <a:ea typeface="+mn-ea"/>
                <a:cs typeface="+mn-cs"/>
              </a:rPr>
              <a:t>   + </a:t>
            </a:r>
            <a:r>
              <a:rPr lang="en-US" sz="1200" b="0" i="0" kern="1200" baseline="0" dirty="0" err="1">
                <a:solidFill>
                  <a:schemeClr val="tx1"/>
                </a:solidFill>
                <a:effectLst/>
                <a:latin typeface="+mn-lt"/>
                <a:ea typeface="+mn-ea"/>
                <a:cs typeface="+mn-cs"/>
              </a:rPr>
              <a:t>sản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sinh</a:t>
            </a:r>
            <a:r>
              <a:rPr lang="en-US" sz="1200" b="0" i="0" kern="1200" baseline="0" dirty="0">
                <a:solidFill>
                  <a:schemeClr val="tx1"/>
                </a:solidFill>
                <a:effectLst/>
                <a:latin typeface="+mn-lt"/>
                <a:ea typeface="+mn-ea"/>
                <a:cs typeface="+mn-cs"/>
              </a:rPr>
              <a:t> 1 defect ở </a:t>
            </a:r>
            <a:r>
              <a:rPr lang="en-US" sz="1200" b="0" i="0" kern="1200" baseline="0" dirty="0" err="1">
                <a:solidFill>
                  <a:schemeClr val="tx1"/>
                </a:solidFill>
                <a:effectLst/>
                <a:latin typeface="+mn-lt"/>
                <a:ea typeface="+mn-ea"/>
                <a:cs typeface="+mn-cs"/>
              </a:rPr>
              <a:t>chỗ</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trong</a:t>
            </a:r>
            <a:r>
              <a:rPr lang="en-US" sz="1200" b="0" i="0" kern="1200" baseline="0" dirty="0">
                <a:solidFill>
                  <a:schemeClr val="tx1"/>
                </a:solidFill>
                <a:effectLst/>
                <a:latin typeface="+mn-lt"/>
                <a:ea typeface="+mn-ea"/>
                <a:cs typeface="+mn-cs"/>
              </a:rPr>
              <a:t> PM? - </a:t>
            </a:r>
            <a:r>
              <a:rPr lang="vi-VN" sz="1200" b="1" i="0" kern="1200" dirty="0">
                <a:solidFill>
                  <a:schemeClr val="tx1"/>
                </a:solidFill>
                <a:effectLst/>
                <a:latin typeface="+mn-lt"/>
                <a:ea typeface="+mn-ea"/>
                <a:cs typeface="+mn-cs"/>
              </a:rPr>
              <a:t>VIỆC SỬA CHỮA </a:t>
            </a:r>
            <a:r>
              <a:rPr lang="en-US" sz="1200" b="1" i="0" kern="1200" dirty="0">
                <a:solidFill>
                  <a:schemeClr val="tx1"/>
                </a:solidFill>
                <a:effectLst/>
                <a:latin typeface="+mn-lt"/>
                <a:ea typeface="+mn-ea"/>
                <a:cs typeface="+mn-cs"/>
              </a:rPr>
              <a:t>NÀY</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CÓ THỂ </a:t>
            </a:r>
            <a:r>
              <a:rPr lang="en-US" sz="1200" b="1" i="0" kern="1200" baseline="0" dirty="0">
                <a:solidFill>
                  <a:schemeClr val="tx1"/>
                </a:solidFill>
                <a:effectLst/>
                <a:latin typeface="+mn-lt"/>
                <a:ea typeface="+mn-ea"/>
                <a:cs typeface="+mn-cs"/>
              </a:rPr>
              <a:t>LÀ 1 PHẦN BẮT ĐẦU CỦA MỘT LỖI KHÁC TRONG HỆ THỐNG</a:t>
            </a:r>
            <a:r>
              <a:rPr lang="vi-VN" sz="1200" b="1" i="0" kern="1200" dirty="0">
                <a:solidFill>
                  <a:schemeClr val="tx1"/>
                </a:solidFill>
                <a:effectLst/>
                <a:latin typeface="+mn-lt"/>
                <a:ea typeface="+mn-ea"/>
                <a:cs typeface="+mn-cs"/>
              </a:rPr>
              <a:t>. </a:t>
            </a:r>
            <a:endParaRPr lang="en-US" sz="1200" b="1" i="0" kern="1200" dirty="0">
              <a:solidFill>
                <a:schemeClr val="tx1"/>
              </a:solidFill>
              <a:effectLst/>
              <a:latin typeface="+mn-lt"/>
              <a:ea typeface="+mn-ea"/>
              <a:cs typeface="+mn-cs"/>
            </a:endParaRPr>
          </a:p>
          <a:p>
            <a:pPr marL="47" lvl="0" indent="0">
              <a:buFontTx/>
              <a:buNone/>
            </a:pPr>
            <a:r>
              <a:rPr lang="en-US" sz="1200" b="1" i="0" kern="1200" baseline="0" dirty="0">
                <a:solidFill>
                  <a:schemeClr val="tx1"/>
                </a:solidFill>
                <a:effectLst/>
                <a:latin typeface="+mn-lt"/>
                <a:ea typeface="+mn-ea"/>
                <a:cs typeface="+mn-cs"/>
              </a:rPr>
              <a:t>--&gt; C</a:t>
            </a:r>
            <a:r>
              <a:rPr lang="vi-VN" sz="1200" b="1" i="0" kern="1200" dirty="0">
                <a:solidFill>
                  <a:schemeClr val="tx1"/>
                </a:solidFill>
                <a:effectLst/>
                <a:latin typeface="+mn-lt"/>
                <a:ea typeface="+mn-ea"/>
                <a:cs typeface="+mn-cs"/>
              </a:rPr>
              <a:t>ÁCH ĐỂ </a:t>
            </a:r>
            <a:r>
              <a:rPr lang="en-US" sz="1200" b="1" i="0" kern="1200" dirty="0">
                <a:solidFill>
                  <a:schemeClr val="tx1"/>
                </a:solidFill>
                <a:effectLst/>
                <a:latin typeface="+mn-lt"/>
                <a:ea typeface="+mn-ea"/>
                <a:cs typeface="+mn-cs"/>
              </a:rPr>
              <a:t>DÒ</a:t>
            </a:r>
            <a:r>
              <a:rPr lang="en-US" sz="1200" b="1" i="0" kern="1200" baseline="0" dirty="0">
                <a:solidFill>
                  <a:schemeClr val="tx1"/>
                </a:solidFill>
                <a:effectLst/>
                <a:latin typeface="+mn-lt"/>
                <a:ea typeface="+mn-ea"/>
                <a:cs typeface="+mn-cs"/>
              </a:rPr>
              <a:t> TÌM NHỮNG TÁC DỤNG KHÔNG MONG MUỐN</a:t>
            </a:r>
            <a:r>
              <a:rPr lang="vi-VN"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NÀY</a:t>
            </a:r>
            <a:r>
              <a:rPr lang="en-US" sz="1200" b="1" i="0" kern="1200" baseline="0" dirty="0">
                <a:solidFill>
                  <a:schemeClr val="tx1"/>
                </a:solidFill>
                <a:effectLst/>
                <a:latin typeface="+mn-lt"/>
                <a:ea typeface="+mn-ea"/>
                <a:cs typeface="+mn-cs"/>
              </a:rPr>
              <a:t> LÀ LÀM TEST HỒI QUI</a:t>
            </a:r>
          </a:p>
        </p:txBody>
      </p:sp>
      <p:sp>
        <p:nvSpPr>
          <p:cNvPr id="4" name="Slide Number Placeholder 3"/>
          <p:cNvSpPr>
            <a:spLocks noGrp="1"/>
          </p:cNvSpPr>
          <p:nvPr>
            <p:ph type="sldNum" sz="quarter" idx="10"/>
          </p:nvPr>
        </p:nvSpPr>
        <p:spPr/>
        <p:txBody>
          <a:bodyPr/>
          <a:lstStyle/>
          <a:p>
            <a:fld id="{A63B9007-0201-49BE-A587-7F882848EC05}" type="slidenum">
              <a:rPr lang="en-US" smtClean="0"/>
              <a:t>74</a:t>
            </a:fld>
            <a:endParaRPr lang="en-US"/>
          </a:p>
        </p:txBody>
      </p:sp>
    </p:spTree>
    <p:extLst>
      <p:ext uri="{BB962C8B-B14F-4D97-AF65-F5344CB8AC3E}">
        <p14:creationId xmlns:p14="http://schemas.microsoft.com/office/powerpoint/2010/main" val="3610403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Thực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lại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những</a:t>
            </a:r>
            <a:r>
              <a:rPr lang="en-US" sz="1200" kern="1200" baseline="0" dirty="0">
                <a:solidFill>
                  <a:schemeClr val="tx1"/>
                </a:solidFill>
                <a:effectLst/>
                <a:latin typeface="+mn-lt"/>
                <a:ea typeface="+mn-ea"/>
                <a:cs typeface="+mn-cs"/>
              </a:rPr>
              <a:t> test </a:t>
            </a:r>
            <a:r>
              <a:rPr lang="en-US" sz="1200" kern="1200" baseline="0" dirty="0" err="1">
                <a:solidFill>
                  <a:schemeClr val="tx1"/>
                </a:solidFill>
                <a:effectLst/>
                <a:latin typeface="+mn-lt"/>
                <a:ea typeface="+mn-ea"/>
                <a:cs typeface="+mn-cs"/>
              </a:rPr>
              <a:t>đã</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thực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thi</a:t>
            </a:r>
            <a:r>
              <a:rPr lang="en-US" sz="1200"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giống</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như</a:t>
            </a:r>
            <a:r>
              <a:rPr lang="en-US" sz="1200" b="1" kern="1200" baseline="0" dirty="0">
                <a:solidFill>
                  <a:schemeClr val="tx1"/>
                </a:solidFill>
                <a:effectLst/>
                <a:latin typeface="+mn-lt"/>
                <a:ea typeface="+mn-ea"/>
                <a:cs typeface="+mn-cs"/>
              </a:rPr>
              <a:t> re-test,</a:t>
            </a:r>
            <a:r>
              <a:rPr lang="en-US" dirty="0"/>
              <a:t> </a:t>
            </a:r>
            <a:r>
              <a:rPr lang="en-US" sz="1200" kern="1200" dirty="0" err="1">
                <a:solidFill>
                  <a:schemeClr val="tx1"/>
                </a:solidFill>
                <a:effectLst/>
                <a:latin typeface="+mn-lt"/>
                <a:ea typeface="+mn-ea"/>
                <a:cs typeface="+mn-cs"/>
              </a:rPr>
              <a:t>nhưng</a:t>
            </a:r>
            <a:r>
              <a:rPr lang="en-US" sz="1200" kern="1200" baseline="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điểm</a:t>
            </a:r>
            <a:r>
              <a:rPr lang="en-US" sz="1200" kern="1200" baseline="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là</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những</a:t>
            </a:r>
            <a:r>
              <a:rPr lang="en-US" sz="1200" kern="1200" baseline="0" dirty="0">
                <a:solidFill>
                  <a:schemeClr val="tx1"/>
                </a:solidFill>
                <a:effectLst/>
                <a:latin typeface="+mn-lt"/>
                <a:ea typeface="+mn-ea"/>
                <a:cs typeface="+mn-cs"/>
              </a:rPr>
              <a:t> test </a:t>
            </a:r>
            <a:r>
              <a:rPr lang="en-US" sz="1200" kern="1200" baseline="0" dirty="0" err="1">
                <a:solidFill>
                  <a:schemeClr val="tx1"/>
                </a:solidFill>
                <a:effectLst/>
                <a:latin typeface="+mn-lt"/>
                <a:ea typeface="+mn-ea"/>
                <a:cs typeface="+mn-cs"/>
              </a:rPr>
              <a:t>được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thực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lại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có</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thể</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trước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đó</a:t>
            </a:r>
            <a:r>
              <a:rPr lang="en-US" sz="1200" kern="1200" baseline="0" dirty="0">
                <a:solidFill>
                  <a:schemeClr val="tx1"/>
                </a:solidFill>
                <a:effectLst/>
                <a:latin typeface="+mn-lt"/>
                <a:ea typeface="+mn-ea"/>
                <a:cs typeface="+mn-cs"/>
              </a:rPr>
              <a:t> pass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VD/ KT 5 </a:t>
            </a:r>
            <a:r>
              <a:rPr lang="en-US" sz="1200" b="0" i="0" kern="1200" dirty="0" err="1">
                <a:solidFill>
                  <a:schemeClr val="tx1"/>
                </a:solidFill>
                <a:effectLst/>
                <a:latin typeface="+mn-lt"/>
                <a:ea typeface="+mn-ea"/>
                <a:cs typeface="+mn-cs"/>
              </a:rPr>
              <a:t>tc</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trong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2 </a:t>
            </a:r>
            <a:r>
              <a:rPr lang="en-US" sz="1200" b="0" i="0" kern="1200" baseline="0" dirty="0" err="1">
                <a:solidFill>
                  <a:schemeClr val="tx1"/>
                </a:solidFill>
                <a:effectLst/>
                <a:latin typeface="+mn-lt"/>
                <a:ea typeface="+mn-ea"/>
                <a:cs typeface="+mn-cs"/>
              </a:rPr>
              <a:t>tc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bị</a:t>
            </a:r>
            <a:r>
              <a:rPr lang="en-US" sz="1200" b="0" i="0" kern="1200" baseline="0" dirty="0">
                <a:solidFill>
                  <a:schemeClr val="tx1"/>
                </a:solidFill>
                <a:effectLst/>
                <a:latin typeface="+mn-lt"/>
                <a:ea typeface="+mn-ea"/>
                <a:cs typeface="+mn-cs"/>
              </a:rPr>
              <a:t> fail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--&gt; re-test </a:t>
            </a:r>
            <a:r>
              <a:rPr lang="en-US" sz="1200" b="0" i="0" kern="1200" baseline="0" dirty="0" err="1">
                <a:solidFill>
                  <a:schemeClr val="tx1"/>
                </a:solidFill>
                <a:effectLst/>
                <a:latin typeface="+mn-lt"/>
                <a:ea typeface="+mn-ea"/>
                <a:cs typeface="+mn-cs"/>
              </a:rPr>
              <a:t>sẽ</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chỉ</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thử</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lại</a:t>
            </a:r>
            <a:r>
              <a:rPr lang="en-US" sz="1200" b="0" i="0" kern="1200" baseline="0" dirty="0">
                <a:solidFill>
                  <a:schemeClr val="tx1"/>
                </a:solidFill>
                <a:effectLst/>
                <a:latin typeface="+mn-lt"/>
                <a:ea typeface="+mn-ea"/>
                <a:cs typeface="+mn-cs"/>
              </a:rPr>
              <a:t> 2 </a:t>
            </a:r>
            <a:r>
              <a:rPr lang="en-US" sz="1200" b="0" i="0" kern="1200" baseline="0" dirty="0" err="1">
                <a:solidFill>
                  <a:schemeClr val="tx1"/>
                </a:solidFill>
                <a:effectLst/>
                <a:latin typeface="+mn-lt"/>
                <a:ea typeface="+mn-ea"/>
                <a:cs typeface="+mn-cs"/>
              </a:rPr>
              <a:t>tc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bị</a:t>
            </a:r>
            <a:r>
              <a:rPr lang="en-US" sz="1200" b="0" i="0" kern="1200" baseline="0" dirty="0">
                <a:solidFill>
                  <a:schemeClr val="tx1"/>
                </a:solidFill>
                <a:effectLst/>
                <a:latin typeface="+mn-lt"/>
                <a:ea typeface="+mn-ea"/>
                <a:cs typeface="+mn-cs"/>
              </a:rPr>
              <a:t> fail </a:t>
            </a:r>
            <a:r>
              <a:rPr lang="en-US" sz="1200" b="0" i="0" kern="1200" baseline="0" dirty="0" err="1">
                <a:solidFill>
                  <a:schemeClr val="tx1"/>
                </a:solidFill>
                <a:effectLst/>
                <a:latin typeface="+mn-lt"/>
                <a:ea typeface="+mn-ea"/>
                <a:cs typeface="+mn-cs"/>
              </a:rPr>
              <a:t>đó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nếu</a:t>
            </a:r>
            <a:r>
              <a:rPr lang="en-US" sz="1200" b="0" i="0" kern="1200" baseline="0" dirty="0">
                <a:solidFill>
                  <a:schemeClr val="tx1"/>
                </a:solidFill>
                <a:effectLst/>
                <a:latin typeface="+mn-lt"/>
                <a:ea typeface="+mn-ea"/>
                <a:cs typeface="+mn-cs"/>
              </a:rPr>
              <a:t> </a:t>
            </a:r>
            <a:r>
              <a:rPr lang="vi-VN" sz="1200" b="0" i="0" kern="1200" baseline="0" dirty="0" err="1">
                <a:solidFill>
                  <a:schemeClr val="tx1"/>
                </a:solidFill>
                <a:effectLst/>
                <a:latin typeface="+mn-lt"/>
                <a:ea typeface="+mn-ea"/>
                <a:cs typeface="+mn-cs"/>
              </a:rPr>
              <a:t>đượ</a:t>
            </a:r>
            <a:r>
              <a:rPr lang="en-US" sz="1200" b="0" i="0" kern="1200" baseline="0" dirty="0">
                <a:solidFill>
                  <a:schemeClr val="tx1"/>
                </a:solidFill>
                <a:effectLst/>
                <a:latin typeface="+mn-lt"/>
                <a:ea typeface="+mn-ea"/>
                <a:cs typeface="+mn-cs"/>
              </a:rPr>
              <a:t>c </a:t>
            </a:r>
            <a:r>
              <a:rPr lang="en-US" sz="1200" b="0" i="0" kern="1200" baseline="0" dirty="0" err="1">
                <a:solidFill>
                  <a:schemeClr val="tx1"/>
                </a:solidFill>
                <a:effectLst/>
                <a:latin typeface="+mn-lt"/>
                <a:ea typeface="+mn-ea"/>
                <a:cs typeface="+mn-cs"/>
              </a:rPr>
              <a:t>sửa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xong</a:t>
            </a:r>
            <a:endParaRPr lang="en-US"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--&gt; Test </a:t>
            </a:r>
            <a:r>
              <a:rPr lang="en-US" sz="1200" b="0" i="0" kern="1200" dirty="0" err="1">
                <a:solidFill>
                  <a:schemeClr val="tx1"/>
                </a:solidFill>
                <a:effectLst/>
                <a:latin typeface="+mn-lt"/>
                <a:ea typeface="+mn-ea"/>
                <a:cs typeface="+mn-cs"/>
              </a:rPr>
              <a:t>hồi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quy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sẽ</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lại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cả</a:t>
            </a:r>
            <a:r>
              <a:rPr lang="en-US" sz="1200" b="0" i="0" kern="1200" baseline="0" dirty="0">
                <a:solidFill>
                  <a:schemeClr val="tx1"/>
                </a:solidFill>
                <a:effectLst/>
                <a:latin typeface="+mn-lt"/>
                <a:ea typeface="+mn-ea"/>
                <a:cs typeface="+mn-cs"/>
              </a:rPr>
              <a:t> 5 </a:t>
            </a:r>
            <a:r>
              <a:rPr lang="en-US" sz="1200" b="0" i="0" kern="1200" baseline="0" dirty="0" err="1">
                <a:solidFill>
                  <a:schemeClr val="tx1"/>
                </a:solidFill>
                <a:effectLst/>
                <a:latin typeface="+mn-lt"/>
                <a:ea typeface="+mn-ea"/>
                <a:cs typeface="+mn-cs"/>
              </a:rPr>
              <a:t>tc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sau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khi</a:t>
            </a:r>
            <a:r>
              <a:rPr lang="en-US" sz="1200" b="0" i="0" kern="1200" baseline="0" dirty="0">
                <a:solidFill>
                  <a:schemeClr val="tx1"/>
                </a:solidFill>
                <a:effectLst/>
                <a:latin typeface="+mn-lt"/>
                <a:ea typeface="+mn-ea"/>
                <a:cs typeface="+mn-cs"/>
              </a:rPr>
              <a:t> 2 </a:t>
            </a:r>
            <a:r>
              <a:rPr lang="en-US" sz="1200" b="0" i="0" kern="1200" baseline="0" dirty="0" err="1">
                <a:solidFill>
                  <a:schemeClr val="tx1"/>
                </a:solidFill>
                <a:effectLst/>
                <a:latin typeface="+mn-lt"/>
                <a:ea typeface="+mn-ea"/>
                <a:cs typeface="+mn-cs"/>
              </a:rPr>
              <a:t>tc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bị</a:t>
            </a:r>
            <a:r>
              <a:rPr lang="en-US" sz="1200" b="0" i="0" kern="1200" baseline="0" dirty="0">
                <a:solidFill>
                  <a:schemeClr val="tx1"/>
                </a:solidFill>
                <a:effectLst/>
                <a:latin typeface="+mn-lt"/>
                <a:ea typeface="+mn-ea"/>
                <a:cs typeface="+mn-cs"/>
              </a:rPr>
              <a:t> fail </a:t>
            </a:r>
            <a:r>
              <a:rPr lang="vi-VN" sz="1200" b="0" i="0" kern="1200" baseline="0" dirty="0" err="1">
                <a:solidFill>
                  <a:schemeClr val="tx1"/>
                </a:solidFill>
                <a:effectLst/>
                <a:latin typeface="+mn-lt"/>
                <a:ea typeface="+mn-ea"/>
                <a:cs typeface="+mn-cs"/>
              </a:rPr>
              <a:t>đượ</a:t>
            </a:r>
            <a:r>
              <a:rPr lang="en-US" sz="1200" b="0" i="0" kern="1200" baseline="0" dirty="0">
                <a:solidFill>
                  <a:schemeClr val="tx1"/>
                </a:solidFill>
                <a:effectLst/>
                <a:latin typeface="+mn-lt"/>
                <a:ea typeface="+mn-ea"/>
                <a:cs typeface="+mn-cs"/>
              </a:rPr>
              <a:t>c </a:t>
            </a:r>
            <a:r>
              <a:rPr lang="en-US" sz="1200" b="0" i="0" kern="1200" baseline="0" dirty="0" err="1">
                <a:solidFill>
                  <a:schemeClr val="tx1"/>
                </a:solidFill>
                <a:effectLst/>
                <a:latin typeface="+mn-lt"/>
                <a:ea typeface="+mn-ea"/>
                <a:cs typeface="+mn-cs"/>
              </a:rPr>
              <a:t>sửa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xong</a:t>
            </a:r>
            <a:endParaRPr lang="en-US" sz="1200" b="0" i="0" kern="1200" dirty="0">
              <a:solidFill>
                <a:schemeClr val="tx1"/>
              </a:solidFill>
              <a:effectLst/>
              <a:latin typeface="+mn-lt"/>
              <a:ea typeface="+mn-ea"/>
              <a:cs typeface="+mn-cs"/>
            </a:endParaRPr>
          </a:p>
          <a:p>
            <a:pPr marL="0" lvl="0" indent="0">
              <a:buFontTx/>
              <a:buNone/>
            </a:pPr>
            <a:endParaRPr lang="en-US" sz="1200" b="0" kern="1200" dirty="0">
              <a:solidFill>
                <a:schemeClr val="tx1"/>
              </a:solidFill>
              <a:effectLst/>
              <a:latin typeface="+mn-lt"/>
              <a:ea typeface="+mn-ea"/>
              <a:cs typeface="+mn-cs"/>
            </a:endParaRPr>
          </a:p>
          <a:p>
            <a:pPr marL="0" lvl="0" indent="0">
              <a:buFontTx/>
              <a:buNone/>
            </a:pPr>
            <a:endParaRPr lang="en-US" sz="1200" b="0" kern="1200" dirty="0">
              <a:solidFill>
                <a:schemeClr val="tx1"/>
              </a:solidFill>
              <a:effectLst/>
              <a:latin typeface="+mn-lt"/>
              <a:ea typeface="+mn-ea"/>
              <a:cs typeface="+mn-cs"/>
            </a:endParaRPr>
          </a:p>
          <a:p>
            <a:pPr marL="0" lvl="0" indent="0">
              <a:buFontTx/>
              <a:buNone/>
            </a:pPr>
            <a:endParaRPr lang="en-US" sz="1200" b="0" kern="1200" dirty="0">
              <a:solidFill>
                <a:schemeClr val="tx1"/>
              </a:solidFill>
              <a:effectLst/>
              <a:latin typeface="+mn-lt"/>
              <a:ea typeface="+mn-ea"/>
              <a:cs typeface="+mn-cs"/>
            </a:endParaRPr>
          </a:p>
          <a:p>
            <a:pPr marL="0" lvl="0" indent="0">
              <a:buFontTx/>
              <a:buNone/>
            </a:pPr>
            <a:endParaRPr lang="en-US" sz="1200" b="0" kern="1200" dirty="0">
              <a:solidFill>
                <a:schemeClr val="tx1"/>
              </a:solidFill>
              <a:effectLst/>
              <a:latin typeface="+mn-lt"/>
              <a:ea typeface="+mn-ea"/>
              <a:cs typeface="+mn-cs"/>
            </a:endParaRPr>
          </a:p>
          <a:p>
            <a:pPr marL="0" lvl="0" indent="0">
              <a:buFontTx/>
              <a:buNone/>
            </a:pPr>
            <a:endParaRPr lang="en-US" sz="1200" b="0" kern="1200" dirty="0">
              <a:solidFill>
                <a:schemeClr val="tx1"/>
              </a:solidFill>
              <a:effectLst/>
              <a:latin typeface="+mn-lt"/>
              <a:ea typeface="+mn-ea"/>
              <a:cs typeface="+mn-cs"/>
            </a:endParaRPr>
          </a:p>
          <a:p>
            <a:r>
              <a:rPr lang="en-GB" dirty="0"/>
              <a:t>Using </a:t>
            </a:r>
            <a:r>
              <a:rPr lang="en-GB" b="1" dirty="0"/>
              <a:t>regression test suites</a:t>
            </a:r>
          </a:p>
          <a:p>
            <a:pPr lvl="1"/>
            <a:r>
              <a:rPr lang="en-GB" dirty="0"/>
              <a:t>evolve over time </a:t>
            </a:r>
            <a:r>
              <a:rPr lang="en-US" dirty="0"/>
              <a:t>in line with the software</a:t>
            </a:r>
            <a:endParaRPr lang="en-GB" dirty="0"/>
          </a:p>
          <a:p>
            <a:pPr lvl="1"/>
            <a:r>
              <a:rPr lang="en-GB" dirty="0"/>
              <a:t>are run often</a:t>
            </a:r>
          </a:p>
          <a:p>
            <a:pPr lvl="1"/>
            <a:r>
              <a:rPr lang="en-GB" dirty="0"/>
              <a:t>may become rather large</a:t>
            </a:r>
            <a:endParaRPr lang="en-US" sz="1200" b="0" kern="1200" dirty="0">
              <a:solidFill>
                <a:schemeClr val="tx1"/>
              </a:solidFill>
              <a:effectLst/>
              <a:latin typeface="+mn-lt"/>
              <a:ea typeface="+mn-ea"/>
              <a:cs typeface="+mn-cs"/>
            </a:endParaRPr>
          </a:p>
          <a:p>
            <a:pPr marL="0" lvl="0" indent="0">
              <a:buFontTx/>
              <a:buNone/>
            </a:pPr>
            <a:r>
              <a:rPr lang="en-US" sz="1200" b="0" kern="1200" dirty="0">
                <a:solidFill>
                  <a:schemeClr val="tx1"/>
                </a:solidFill>
                <a:effectLst/>
                <a:latin typeface="+mn-lt"/>
                <a:ea typeface="+mn-ea"/>
                <a:cs typeface="+mn-cs"/>
              </a:rPr>
              <a:t>…</a:t>
            </a:r>
          </a:p>
          <a:p>
            <a:pPr marL="0" lvl="0" indent="0">
              <a:buFontTx/>
              <a:buNone/>
            </a:pPr>
            <a:r>
              <a:rPr lang="en-US" sz="1200" b="0" kern="1200" dirty="0">
                <a:solidFill>
                  <a:schemeClr val="tx1"/>
                </a:solidFill>
                <a:effectLst/>
                <a:latin typeface="+mn-lt"/>
                <a:ea typeface="+mn-ea"/>
                <a:cs typeface="+mn-cs"/>
              </a:rPr>
              <a:t>Trong qt </a:t>
            </a:r>
            <a:r>
              <a:rPr lang="en-US" sz="1200" b="0" kern="1200" dirty="0" err="1">
                <a:solidFill>
                  <a:schemeClr val="tx1"/>
                </a:solidFill>
                <a:effectLst/>
                <a:latin typeface="+mn-lt"/>
                <a:ea typeface="+mn-ea"/>
                <a:cs typeface="+mn-cs"/>
              </a:rPr>
              <a:t>phát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triển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phần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mềm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thường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có</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nhiều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phiên</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bản</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phần</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mềm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Mỗi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phiên</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bản</a:t>
            </a:r>
            <a:r>
              <a:rPr lang="en-US" sz="1200" b="0" kern="1200" baseline="0" dirty="0">
                <a:solidFill>
                  <a:schemeClr val="tx1"/>
                </a:solidFill>
                <a:effectLst/>
                <a:latin typeface="+mn-lt"/>
                <a:ea typeface="+mn-ea"/>
                <a:cs typeface="+mn-cs"/>
              </a:rPr>
              <a:t> bao </a:t>
            </a:r>
            <a:r>
              <a:rPr lang="en-US" sz="1200" b="0" kern="1200" baseline="0" dirty="0" err="1">
                <a:solidFill>
                  <a:schemeClr val="tx1"/>
                </a:solidFill>
                <a:effectLst/>
                <a:latin typeface="+mn-lt"/>
                <a:ea typeface="+mn-ea"/>
                <a:cs typeface="+mn-cs"/>
              </a:rPr>
              <a:t>gồm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những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tính</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năng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mới</a:t>
            </a:r>
            <a:r>
              <a:rPr lang="en-US" sz="1200" b="0" kern="1200" baseline="0" dirty="0">
                <a:solidFill>
                  <a:schemeClr val="tx1"/>
                </a:solidFill>
                <a:effectLst/>
                <a:latin typeface="+mn-lt"/>
                <a:ea typeface="+mn-ea"/>
                <a:cs typeface="+mn-cs"/>
              </a:rPr>
              <a:t> hay </a:t>
            </a:r>
            <a:r>
              <a:rPr lang="en-US" sz="1200" b="0" kern="1200" baseline="0" dirty="0" err="1">
                <a:solidFill>
                  <a:schemeClr val="tx1"/>
                </a:solidFill>
                <a:effectLst/>
                <a:latin typeface="+mn-lt"/>
                <a:ea typeface="+mn-ea"/>
                <a:cs typeface="+mn-cs"/>
              </a:rPr>
              <a:t>tính</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năng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cũ</a:t>
            </a:r>
            <a:r>
              <a:rPr lang="en-US" sz="1200" b="0" kern="1200" baseline="0" dirty="0">
                <a:solidFill>
                  <a:schemeClr val="tx1"/>
                </a:solidFill>
                <a:effectLst/>
                <a:latin typeface="+mn-lt"/>
                <a:ea typeface="+mn-ea"/>
                <a:cs typeface="+mn-cs"/>
              </a:rPr>
              <a:t> </a:t>
            </a:r>
            <a:r>
              <a:rPr lang="vi-VN" sz="1200" b="0" kern="1200" baseline="0" dirty="0" err="1">
                <a:solidFill>
                  <a:schemeClr val="tx1"/>
                </a:solidFill>
                <a:effectLst/>
                <a:latin typeface="+mn-lt"/>
                <a:ea typeface="+mn-ea"/>
                <a:cs typeface="+mn-cs"/>
              </a:rPr>
              <a:t>đượ</a:t>
            </a:r>
            <a:r>
              <a:rPr lang="en-US" sz="1200" b="0" kern="1200" baseline="0" dirty="0">
                <a:solidFill>
                  <a:schemeClr val="tx1"/>
                </a:solidFill>
                <a:effectLst/>
                <a:latin typeface="+mn-lt"/>
                <a:ea typeface="+mn-ea"/>
                <a:cs typeface="+mn-cs"/>
              </a:rPr>
              <a:t>c </a:t>
            </a:r>
            <a:r>
              <a:rPr lang="en-US" sz="1200" b="0" kern="1200" baseline="0" dirty="0" err="1">
                <a:solidFill>
                  <a:schemeClr val="tx1"/>
                </a:solidFill>
                <a:effectLst/>
                <a:latin typeface="+mn-lt"/>
                <a:ea typeface="+mn-ea"/>
                <a:cs typeface="+mn-cs"/>
              </a:rPr>
              <a:t>sửa</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đổi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nâng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cấp</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Việc</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bổ</a:t>
            </a:r>
            <a:r>
              <a:rPr lang="en-US" sz="1200" b="0" kern="1200" baseline="0" dirty="0">
                <a:solidFill>
                  <a:schemeClr val="tx1"/>
                </a:solidFill>
                <a:effectLst/>
                <a:latin typeface="+mn-lt"/>
                <a:ea typeface="+mn-ea"/>
                <a:cs typeface="+mn-cs"/>
              </a:rPr>
              <a:t> sung </a:t>
            </a:r>
            <a:r>
              <a:rPr lang="en-US" sz="1200" b="0" kern="1200" baseline="0" dirty="0" err="1">
                <a:solidFill>
                  <a:schemeClr val="tx1"/>
                </a:solidFill>
                <a:effectLst/>
                <a:latin typeface="+mn-lt"/>
                <a:ea typeface="+mn-ea"/>
                <a:cs typeface="+mn-cs"/>
              </a:rPr>
              <a:t>hoặc</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sửa</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đổi</a:t>
            </a:r>
            <a:r>
              <a:rPr lang="en-US" sz="1200" b="0" kern="1200" baseline="0" dirty="0">
                <a:solidFill>
                  <a:schemeClr val="tx1"/>
                </a:solidFill>
                <a:effectLst/>
                <a:latin typeface="+mn-lt"/>
                <a:ea typeface="+mn-ea"/>
                <a:cs typeface="+mn-cs"/>
              </a:rPr>
              <a:t> code </a:t>
            </a:r>
            <a:r>
              <a:rPr lang="en-US" sz="1200" b="0" kern="1200" baseline="0" dirty="0" err="1">
                <a:solidFill>
                  <a:schemeClr val="tx1"/>
                </a:solidFill>
                <a:effectLst/>
                <a:latin typeface="+mn-lt"/>
                <a:ea typeface="+mn-ea"/>
                <a:cs typeface="+mn-cs"/>
              </a:rPr>
              <a:t>có</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thể</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làm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cho</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những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tính</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năng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khác</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đã</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kiểm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thử</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tốt</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lại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chạy</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sai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Để</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khắc</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phục</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điều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này</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đối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với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từng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phiên</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bản</a:t>
            </a:r>
            <a:r>
              <a:rPr lang="en-US" sz="1200" b="0" kern="1200" baseline="0" dirty="0">
                <a:solidFill>
                  <a:schemeClr val="tx1"/>
                </a:solidFill>
                <a:effectLst/>
                <a:latin typeface="+mn-lt"/>
                <a:ea typeface="+mn-ea"/>
                <a:cs typeface="+mn-cs"/>
              </a:rPr>
              <a:t>, tester </a:t>
            </a:r>
            <a:r>
              <a:rPr lang="en-US" sz="1200" b="0" kern="1200" baseline="0" dirty="0" err="1">
                <a:solidFill>
                  <a:schemeClr val="tx1"/>
                </a:solidFill>
                <a:effectLst/>
                <a:latin typeface="+mn-lt"/>
                <a:ea typeface="+mn-ea"/>
                <a:cs typeface="+mn-cs"/>
              </a:rPr>
              <a:t>không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chỉ</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kiểm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thử</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tính</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năng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mới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mà</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phải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kiểm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thử</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tất</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cả</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những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tính</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năng</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đã</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kiểm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thử</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trước</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đó</a:t>
            </a:r>
            <a:r>
              <a:rPr lang="en-US" sz="1200" b="0" kern="1200" baseline="0" dirty="0">
                <a:solidFill>
                  <a:schemeClr val="tx1"/>
                </a:solidFill>
                <a:effectLst/>
                <a:latin typeface="+mn-lt"/>
                <a:ea typeface="+mn-ea"/>
                <a:cs typeface="+mn-cs"/>
              </a:rPr>
              <a:t> </a:t>
            </a:r>
            <a:r>
              <a:rPr lang="en-US" sz="1200" b="0" kern="1200" baseline="0" dirty="0">
                <a:solidFill>
                  <a:schemeClr val="tx1"/>
                </a:solidFill>
                <a:effectLst/>
                <a:latin typeface="+mn-lt"/>
                <a:ea typeface="+mn-ea"/>
                <a:cs typeface="+mn-cs"/>
                <a:sym typeface="Wingdings" pitchFamily="2" charset="2"/>
              </a:rPr>
              <a:t></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Điều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này</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khó</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khả</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thi</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về</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mặt</a:t>
            </a:r>
            <a:r>
              <a:rPr lang="en-US" sz="1200" b="0" kern="1200" baseline="0" dirty="0">
                <a:solidFill>
                  <a:schemeClr val="tx1"/>
                </a:solidFill>
                <a:effectLst/>
                <a:latin typeface="+mn-lt"/>
                <a:ea typeface="+mn-ea"/>
                <a:cs typeface="+mn-cs"/>
              </a:rPr>
              <a:t> time </a:t>
            </a:r>
            <a:r>
              <a:rPr lang="en-US" sz="1200" b="0" kern="1200" baseline="0" dirty="0" err="1">
                <a:solidFill>
                  <a:schemeClr val="tx1"/>
                </a:solidFill>
                <a:effectLst/>
                <a:latin typeface="+mn-lt"/>
                <a:ea typeface="+mn-ea"/>
                <a:cs typeface="+mn-cs"/>
              </a:rPr>
              <a:t>nếu</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kiểm</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tra</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thủ</a:t>
            </a:r>
            <a:r>
              <a:rPr lang="en-US" sz="1200" b="0" kern="1200" baseline="0" dirty="0">
                <a:solidFill>
                  <a:schemeClr val="tx1"/>
                </a:solidFill>
                <a:effectLst/>
                <a:latin typeface="+mn-lt"/>
                <a:ea typeface="+mn-ea"/>
                <a:cs typeface="+mn-cs"/>
              </a:rPr>
              <a:t> </a:t>
            </a:r>
            <a:r>
              <a:rPr lang="en-US" sz="1200" b="0" kern="1200" baseline="0" dirty="0" err="1">
                <a:solidFill>
                  <a:schemeClr val="tx1"/>
                </a:solidFill>
                <a:effectLst/>
                <a:latin typeface="+mn-lt"/>
                <a:ea typeface="+mn-ea"/>
                <a:cs typeface="+mn-cs"/>
              </a:rPr>
              <a:t>công</a:t>
            </a:r>
            <a:r>
              <a:rPr lang="en-US" sz="1200" b="0" kern="1200" baseline="0" dirty="0">
                <a:solidFill>
                  <a:schemeClr val="tx1"/>
                </a:solidFill>
                <a:effectLst/>
                <a:latin typeface="+mn-lt"/>
                <a:ea typeface="+mn-ea"/>
                <a:cs typeface="+mn-cs"/>
              </a:rPr>
              <a:t>.</a:t>
            </a:r>
            <a:endParaRPr lang="en-US" sz="1200" b="0" kern="1200" dirty="0">
              <a:solidFill>
                <a:schemeClr val="tx1"/>
              </a:solidFill>
              <a:effectLst/>
              <a:latin typeface="+mn-lt"/>
              <a:ea typeface="+mn-ea"/>
              <a:cs typeface="+mn-cs"/>
            </a:endParaRPr>
          </a:p>
          <a:p>
            <a:pPr marL="0" lvl="0" indent="0">
              <a:buFontTx/>
              <a:buNone/>
            </a:pPr>
            <a:r>
              <a:rPr lang="en-US" sz="1200" b="0" kern="1200" dirty="0">
                <a:solidFill>
                  <a:schemeClr val="tx1"/>
                </a:solidFill>
                <a:effectLst/>
                <a:latin typeface="+mn-lt"/>
                <a:ea typeface="+mn-ea"/>
                <a:cs typeface="+mn-cs"/>
              </a:rPr>
              <a:t>-</a:t>
            </a:r>
            <a:r>
              <a:rPr lang="en-US" sz="1200" b="0"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Do test </a:t>
            </a:r>
            <a:r>
              <a:rPr lang="en-US" sz="1200" b="1" kern="1200" dirty="0" err="1">
                <a:solidFill>
                  <a:schemeClr val="tx1"/>
                </a:solidFill>
                <a:effectLst/>
                <a:latin typeface="+mn-lt"/>
                <a:ea typeface="+mn-ea"/>
                <a:cs typeface="+mn-cs"/>
              </a:rPr>
              <a:t>lặp</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nên</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c</a:t>
            </a:r>
            <a:r>
              <a:rPr lang="en-US" sz="1200" b="1" kern="1200" dirty="0" err="1">
                <a:solidFill>
                  <a:schemeClr val="tx1"/>
                </a:solidFill>
                <a:effectLst/>
                <a:latin typeface="+mn-lt"/>
                <a:ea typeface="+mn-ea"/>
                <a:cs typeface="+mn-cs"/>
              </a:rPr>
              <a:t>ần</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tập</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các</a:t>
            </a:r>
            <a:r>
              <a:rPr lang="en-US" sz="1200" b="1" kern="1200" baseline="0" dirty="0">
                <a:solidFill>
                  <a:schemeClr val="tx1"/>
                </a:solidFill>
                <a:effectLst/>
                <a:latin typeface="+mn-lt"/>
                <a:ea typeface="+mn-ea"/>
                <a:cs typeface="+mn-cs"/>
              </a:rPr>
              <a:t> test case </a:t>
            </a:r>
            <a:r>
              <a:rPr lang="en-US" sz="1200" b="1" kern="1200" baseline="0" dirty="0" err="1">
                <a:solidFill>
                  <a:schemeClr val="tx1"/>
                </a:solidFill>
                <a:effectLst/>
                <a:latin typeface="+mn-lt"/>
                <a:ea typeface="+mn-ea"/>
                <a:cs typeface="+mn-cs"/>
              </a:rPr>
              <a:t>cho</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kiểm</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tra</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hồi</a:t>
            </a:r>
            <a:r>
              <a:rPr lang="en-US" sz="1200" b="1" kern="1200" baseline="0" dirty="0">
                <a:solidFill>
                  <a:schemeClr val="tx1"/>
                </a:solidFill>
                <a:effectLst/>
                <a:latin typeface="+mn-lt"/>
                <a:ea typeface="+mn-ea"/>
                <a:cs typeface="+mn-cs"/>
              </a:rPr>
              <a:t> qui. </a:t>
            </a:r>
            <a:r>
              <a:rPr lang="en-US" sz="1200" kern="1200" baseline="0" dirty="0">
                <a:solidFill>
                  <a:schemeClr val="tx1"/>
                </a:solidFill>
                <a:effectLst/>
                <a:latin typeface="+mn-lt"/>
                <a:ea typeface="+mn-ea"/>
                <a:cs typeface="+mn-cs"/>
              </a:rPr>
              <a:t>Khi </a:t>
            </a:r>
            <a:r>
              <a:rPr lang="en-US" sz="1200" kern="1200" baseline="0" dirty="0" err="1">
                <a:solidFill>
                  <a:schemeClr val="tx1"/>
                </a:solidFill>
                <a:effectLst/>
                <a:latin typeface="+mn-lt"/>
                <a:ea typeface="+mn-ea"/>
                <a:cs typeface="+mn-cs"/>
              </a:rPr>
              <a:t>sử</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dụng</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cần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chú</a:t>
            </a:r>
            <a:r>
              <a:rPr lang="en-US" sz="1200" kern="1200" baseline="0" dirty="0">
                <a:solidFill>
                  <a:schemeClr val="tx1"/>
                </a:solidFill>
                <a:effectLst/>
                <a:latin typeface="+mn-lt"/>
                <a:ea typeface="+mn-ea"/>
                <a:cs typeface="+mn-cs"/>
              </a:rPr>
              <a:t> ý </a:t>
            </a:r>
            <a:r>
              <a:rPr lang="en-US" sz="1200" kern="1200" baseline="0" dirty="0" err="1">
                <a:solidFill>
                  <a:schemeClr val="tx1"/>
                </a:solidFill>
                <a:effectLst/>
                <a:latin typeface="+mn-lt"/>
                <a:ea typeface="+mn-ea"/>
                <a:cs typeface="+mn-cs"/>
              </a:rPr>
              <a:t>các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đặc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tính</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của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bộ</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kiểm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tra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hồi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quy</a:t>
            </a:r>
            <a:r>
              <a:rPr lang="en-US" sz="1200" kern="1200" baseline="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u="none" kern="1200" dirty="0">
                <a:solidFill>
                  <a:schemeClr val="tx1"/>
                </a:solidFill>
                <a:effectLst/>
                <a:latin typeface="+mn-lt"/>
                <a:ea typeface="+mn-ea"/>
                <a:cs typeface="+mn-cs"/>
              </a:rPr>
              <a:t>phát triển theo thời gian</a:t>
            </a:r>
            <a:r>
              <a:rPr lang="en-US" sz="1200" b="0" i="0" u="none" kern="1200" dirty="0">
                <a:solidFill>
                  <a:schemeClr val="tx1"/>
                </a:solidFill>
                <a:effectLst/>
                <a:latin typeface="+mn-lt"/>
                <a:ea typeface="+mn-ea"/>
                <a:cs typeface="+mn-cs"/>
              </a:rPr>
              <a:t> </a:t>
            </a:r>
            <a:r>
              <a:rPr lang="en-US" sz="1200" b="0" i="0" u="none" kern="1200" dirty="0" err="1">
                <a:solidFill>
                  <a:schemeClr val="tx1"/>
                </a:solidFill>
                <a:effectLst/>
                <a:latin typeface="+mn-lt"/>
                <a:ea typeface="+mn-ea"/>
                <a:cs typeface="+mn-cs"/>
              </a:rPr>
              <a:t>cùng</a:t>
            </a:r>
            <a:r>
              <a:rPr lang="en-US" sz="1200" b="0" i="0" u="none" kern="1200" baseline="0" dirty="0">
                <a:solidFill>
                  <a:schemeClr val="tx1"/>
                </a:solidFill>
                <a:effectLst/>
                <a:latin typeface="+mn-lt"/>
                <a:ea typeface="+mn-ea"/>
                <a:cs typeface="+mn-cs"/>
              </a:rPr>
              <a:t> </a:t>
            </a:r>
            <a:r>
              <a:rPr lang="en-US" sz="1200" b="0" i="0" u="none" kern="1200" baseline="0" dirty="0" err="1">
                <a:solidFill>
                  <a:schemeClr val="tx1"/>
                </a:solidFill>
                <a:effectLst/>
                <a:latin typeface="+mn-lt"/>
                <a:ea typeface="+mn-ea"/>
                <a:cs typeface="+mn-cs"/>
              </a:rPr>
              <a:t>với</a:t>
            </a:r>
            <a:r>
              <a:rPr lang="en-US" sz="1200" b="0" i="0" u="none" kern="1200" baseline="0" dirty="0">
                <a:solidFill>
                  <a:schemeClr val="tx1"/>
                </a:solidFill>
                <a:effectLst/>
                <a:latin typeface="+mn-lt"/>
                <a:ea typeface="+mn-ea"/>
                <a:cs typeface="+mn-cs"/>
              </a:rPr>
              <a:t> PM</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MỖI</a:t>
            </a:r>
            <a:r>
              <a:rPr lang="en-US" sz="1200" b="1" i="0" kern="1200" baseline="0" dirty="0">
                <a:solidFill>
                  <a:schemeClr val="tx1"/>
                </a:solidFill>
                <a:effectLst/>
                <a:latin typeface="+mn-lt"/>
                <a:ea typeface="+mn-ea"/>
                <a:cs typeface="+mn-cs"/>
              </a:rPr>
              <a:t> KHI THÊM, XÓA, SỬA CHỨC NĂNG NÀO ĐÓ TRONG PM THÌ DỮ LIỆU TRONG BỘ TEST NÀY CŨNG ĐƯỢC THÊM, XÓA HOẶC SỬA TƯƠNG ỨNG</a:t>
            </a:r>
            <a:endParaRPr lang="en-US" sz="1200" b="1" i="0" kern="120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en-US" dirty="0" err="1"/>
              <a:t>chạy</a:t>
            </a:r>
            <a:r>
              <a:rPr lang="en-US" baseline="0" dirty="0"/>
              <a:t> </a:t>
            </a:r>
            <a:r>
              <a:rPr lang="en-US" baseline="0" dirty="0" err="1"/>
              <a:t>thường</a:t>
            </a:r>
            <a:r>
              <a:rPr lang="en-US" baseline="0" dirty="0"/>
              <a:t> </a:t>
            </a:r>
            <a:r>
              <a:rPr lang="en-US" baseline="0" dirty="0" err="1"/>
              <a:t>xuyên</a:t>
            </a:r>
            <a:endParaRPr lang="en-US" dirty="0"/>
          </a:p>
          <a:p>
            <a:pPr marL="457153" marR="0" lvl="1" indent="0" algn="l" defTabSz="914306"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sz="1200" b="0" i="0" u="none" kern="1200" dirty="0">
                <a:solidFill>
                  <a:schemeClr val="tx1"/>
                </a:solidFill>
                <a:effectLst/>
                <a:latin typeface="+mn-lt"/>
                <a:ea typeface="+mn-ea"/>
                <a:cs typeface="+mn-cs"/>
              </a:rPr>
              <a:t>có thể trở nên khá lớn</a:t>
            </a:r>
            <a:r>
              <a:rPr lang="en-US" sz="1200" b="0" i="0" u="none" kern="1200" dirty="0">
                <a:solidFill>
                  <a:schemeClr val="tx1"/>
                </a:solidFill>
                <a:effectLst/>
                <a:latin typeface="+mn-lt"/>
                <a:ea typeface="+mn-ea"/>
                <a:cs typeface="+mn-cs"/>
              </a:rPr>
              <a:t>, </a:t>
            </a:r>
            <a:r>
              <a:rPr lang="en-US" sz="1200" b="1" i="0" u="none" kern="1200" dirty="0" err="1">
                <a:solidFill>
                  <a:schemeClr val="tx1"/>
                </a:solidFill>
                <a:effectLst/>
                <a:latin typeface="+mn-lt"/>
                <a:ea typeface="+mn-ea"/>
                <a:cs typeface="+mn-cs"/>
              </a:rPr>
              <a:t>cần</a:t>
            </a:r>
            <a:r>
              <a:rPr lang="en-US" sz="1200" b="1" i="0" u="none" kern="1200" baseline="0" dirty="0">
                <a:solidFill>
                  <a:schemeClr val="tx1"/>
                </a:solidFill>
                <a:effectLst/>
                <a:latin typeface="+mn-lt"/>
                <a:ea typeface="+mn-ea"/>
                <a:cs typeface="+mn-cs"/>
              </a:rPr>
              <a:t> </a:t>
            </a:r>
            <a:r>
              <a:rPr lang="en-US" sz="1200" b="1" i="0" u="none" kern="1200" baseline="0" dirty="0" err="1">
                <a:solidFill>
                  <a:schemeClr val="tx1"/>
                </a:solidFill>
                <a:effectLst/>
                <a:latin typeface="+mn-lt"/>
                <a:ea typeface="+mn-ea"/>
                <a:cs typeface="+mn-cs"/>
              </a:rPr>
              <a:t>phải</a:t>
            </a:r>
            <a:r>
              <a:rPr lang="en-US" sz="1200" b="1" i="0" u="none" kern="1200" baseline="0" dirty="0">
                <a:solidFill>
                  <a:schemeClr val="tx1"/>
                </a:solidFill>
                <a:effectLst/>
                <a:latin typeface="+mn-lt"/>
                <a:ea typeface="+mn-ea"/>
                <a:cs typeface="+mn-cs"/>
              </a:rPr>
              <a:t> </a:t>
            </a:r>
            <a:r>
              <a:rPr lang="en-US" sz="1200" b="1" i="0" u="none" kern="1200" baseline="0" dirty="0" err="1">
                <a:solidFill>
                  <a:schemeClr val="tx1"/>
                </a:solidFill>
                <a:effectLst/>
                <a:latin typeface="+mn-lt"/>
                <a:ea typeface="+mn-ea"/>
                <a:cs typeface="+mn-cs"/>
              </a:rPr>
              <a:t>quản</a:t>
            </a:r>
            <a:r>
              <a:rPr lang="en-US" sz="1200" b="1" i="0" u="none" kern="1200" baseline="0" dirty="0">
                <a:solidFill>
                  <a:schemeClr val="tx1"/>
                </a:solidFill>
                <a:effectLst/>
                <a:latin typeface="+mn-lt"/>
                <a:ea typeface="+mn-ea"/>
                <a:cs typeface="+mn-cs"/>
              </a:rPr>
              <a:t> </a:t>
            </a:r>
            <a:r>
              <a:rPr lang="en-US" sz="1200" b="1" i="0" u="none" kern="1200" baseline="0" dirty="0" err="1">
                <a:solidFill>
                  <a:schemeClr val="tx1"/>
                </a:solidFill>
                <a:effectLst/>
                <a:latin typeface="+mn-lt"/>
                <a:ea typeface="+mn-ea"/>
                <a:cs typeface="+mn-cs"/>
              </a:rPr>
              <a:t>lý</a:t>
            </a:r>
            <a:r>
              <a:rPr lang="en-US" sz="1200" b="1" i="0" u="none" kern="1200" baseline="0" dirty="0">
                <a:solidFill>
                  <a:schemeClr val="tx1"/>
                </a:solidFill>
                <a:effectLst/>
                <a:latin typeface="+mn-lt"/>
                <a:ea typeface="+mn-ea"/>
                <a:cs typeface="+mn-cs"/>
              </a:rPr>
              <a:t> </a:t>
            </a:r>
            <a:r>
              <a:rPr lang="en-US" sz="1200" b="1" i="0" u="none" kern="1200" baseline="0" dirty="0" err="1">
                <a:solidFill>
                  <a:schemeClr val="tx1"/>
                </a:solidFill>
                <a:effectLst/>
                <a:latin typeface="+mn-lt"/>
                <a:ea typeface="+mn-ea"/>
                <a:cs typeface="+mn-cs"/>
              </a:rPr>
              <a:t>nó</a:t>
            </a:r>
            <a:endParaRPr lang="en-US" sz="1200" b="1" i="0" u="none" kern="1200" baseline="0" dirty="0">
              <a:solidFill>
                <a:schemeClr val="tx1"/>
              </a:solidFill>
              <a:effectLst/>
              <a:latin typeface="+mn-lt"/>
              <a:ea typeface="+mn-ea"/>
              <a:cs typeface="+mn-cs"/>
            </a:endParaRPr>
          </a:p>
          <a:p>
            <a:pPr marL="457153" marR="0" lvl="1" indent="0" algn="l" defTabSz="914306"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sym typeface="Wingdings" pitchFamily="2" charset="2"/>
              </a:rPr>
              <a:t>==&gt; </a:t>
            </a:r>
            <a:r>
              <a:rPr lang="en-US" sz="1200" b="1" i="0" kern="1200" dirty="0">
                <a:solidFill>
                  <a:schemeClr val="tx1"/>
                </a:solidFill>
                <a:effectLst/>
                <a:latin typeface="+mn-lt"/>
                <a:ea typeface="+mn-ea"/>
                <a:cs typeface="+mn-cs"/>
              </a:rPr>
              <a:t>ĐIỀU</a:t>
            </a:r>
            <a:r>
              <a:rPr lang="en-US" sz="1200" b="1" i="0" kern="1200" baseline="0" dirty="0">
                <a:solidFill>
                  <a:schemeClr val="tx1"/>
                </a:solidFill>
                <a:effectLst/>
                <a:latin typeface="+mn-lt"/>
                <a:ea typeface="+mn-ea"/>
                <a:cs typeface="+mn-cs"/>
              </a:rPr>
              <a:t> NÀY LÀM SẢN SINH Ý TƯỞNG CHO TEST TỰ ĐỘNG.</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63B9007-0201-49BE-A587-7F882848EC05}" type="slidenum">
              <a:rPr lang="en-US" smtClean="0"/>
              <a:t>75</a:t>
            </a:fld>
            <a:endParaRPr lang="en-US"/>
          </a:p>
        </p:txBody>
      </p:sp>
    </p:spTree>
    <p:extLst>
      <p:ext uri="{BB962C8B-B14F-4D97-AF65-F5344CB8AC3E}">
        <p14:creationId xmlns:p14="http://schemas.microsoft.com/office/powerpoint/2010/main" val="18142153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Test basic: </a:t>
            </a:r>
            <a:r>
              <a:rPr lang="vi-VN" sz="1200" b="0" i="0" kern="1200" dirty="0">
                <a:solidFill>
                  <a:schemeClr val="tx1"/>
                </a:solidFill>
                <a:effectLst/>
                <a:latin typeface="+mn-lt"/>
                <a:ea typeface="+mn-ea"/>
                <a:cs typeface="+mn-cs"/>
              </a:rPr>
              <a:t>Tất cả các tài liệu mà từ đó các yêu cầu của </a:t>
            </a:r>
            <a:r>
              <a:rPr lang="en-US" dirty="0"/>
              <a:t>component</a:t>
            </a:r>
            <a:r>
              <a:rPr lang="vi-VN" sz="1200" b="0" i="0" kern="1200" dirty="0">
                <a:solidFill>
                  <a:schemeClr val="tx1"/>
                </a:solidFill>
                <a:effectLst/>
                <a:latin typeface="+mn-lt"/>
                <a:ea typeface="+mn-ea"/>
                <a:cs typeface="+mn-cs"/>
              </a:rPr>
              <a:t> hoặc </a:t>
            </a:r>
            <a:r>
              <a:rPr lang="en-US" dirty="0"/>
              <a:t>system </a:t>
            </a:r>
            <a:r>
              <a:rPr lang="vi-VN" sz="1200" b="0" i="0" kern="1200" dirty="0">
                <a:solidFill>
                  <a:schemeClr val="tx1"/>
                </a:solidFill>
                <a:effectLst/>
                <a:latin typeface="+mn-lt"/>
                <a:ea typeface="+mn-ea"/>
                <a:cs typeface="+mn-cs"/>
              </a:rPr>
              <a:t>có thể được suy ra. Các tài liệu </a:t>
            </a:r>
            <a:r>
              <a:rPr lang="en-US" sz="1200" b="0" i="0" kern="120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đặt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cơ</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sở</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test case.</a:t>
            </a:r>
          </a:p>
          <a:p>
            <a:pPr marL="0" lvl="0" indent="0">
              <a:buFontTx/>
              <a:buNone/>
            </a:pPr>
            <a:r>
              <a:rPr lang="en-US" sz="1200" b="0" i="0" kern="1200" dirty="0">
                <a:solidFill>
                  <a:schemeClr val="tx1"/>
                </a:solidFill>
                <a:effectLst/>
                <a:latin typeface="+mn-lt"/>
                <a:ea typeface="+mn-ea"/>
                <a:cs typeface="+mn-cs"/>
              </a:rPr>
              <a:t>- Test condition: </a:t>
            </a:r>
            <a:r>
              <a:rPr lang="vi-VN" sz="1200" b="0" i="0" kern="1200" dirty="0">
                <a:solidFill>
                  <a:schemeClr val="tx1"/>
                </a:solidFill>
                <a:effectLst/>
                <a:latin typeface="+mn-lt"/>
                <a:ea typeface="+mn-ea"/>
                <a:cs typeface="+mn-cs"/>
              </a:rPr>
              <a:t>Một mục hoặc sự kiện của </a:t>
            </a:r>
            <a:r>
              <a:rPr lang="en-US" dirty="0"/>
              <a:t>component</a:t>
            </a:r>
            <a:r>
              <a:rPr lang="vi-VN" sz="1200" b="0" i="0" kern="1200" dirty="0">
                <a:solidFill>
                  <a:schemeClr val="tx1"/>
                </a:solidFill>
                <a:effectLst/>
                <a:latin typeface="+mn-lt"/>
                <a:ea typeface="+mn-ea"/>
                <a:cs typeface="+mn-cs"/>
              </a:rPr>
              <a:t> hoặc </a:t>
            </a:r>
            <a:r>
              <a:rPr lang="en-US" dirty="0"/>
              <a:t>system </a:t>
            </a:r>
            <a:r>
              <a:rPr lang="vi-VN" sz="1200" b="0" i="0" kern="1200" dirty="0">
                <a:solidFill>
                  <a:schemeClr val="tx1"/>
                </a:solidFill>
                <a:effectLst/>
                <a:latin typeface="+mn-lt"/>
                <a:ea typeface="+mn-ea"/>
                <a:cs typeface="+mn-cs"/>
              </a:rPr>
              <a:t>có thể được xác nhận</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bởi một hoặc nhiều trường hợp thử nghiệm.</a:t>
            </a:r>
            <a:endParaRPr lang="en-US" sz="1200" b="0" i="0" kern="1200" dirty="0">
              <a:solidFill>
                <a:schemeClr val="tx1"/>
              </a:solidFill>
              <a:effectLst/>
              <a:latin typeface="+mn-lt"/>
              <a:ea typeface="+mn-ea"/>
              <a:cs typeface="+mn-cs"/>
            </a:endParaRPr>
          </a:p>
          <a:p>
            <a:pPr marL="171450" lvl="0" indent="-171450">
              <a:buFontTx/>
              <a:buChar char="-"/>
            </a:pPr>
            <a:endParaRPr lang="en-US" dirty="0"/>
          </a:p>
        </p:txBody>
      </p:sp>
    </p:spTree>
    <p:extLst>
      <p:ext uri="{BB962C8B-B14F-4D97-AF65-F5344CB8AC3E}">
        <p14:creationId xmlns:p14="http://schemas.microsoft.com/office/powerpoint/2010/main" val="18634769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kern="1200" dirty="0">
                <a:solidFill>
                  <a:schemeClr val="tx1"/>
                </a:solidFill>
                <a:effectLst/>
                <a:latin typeface="+mn-lt"/>
                <a:ea typeface="+mn-ea"/>
                <a:cs typeface="+mn-cs"/>
              </a:rPr>
              <a:t>Test case:</a:t>
            </a:r>
          </a:p>
          <a:p>
            <a:pPr marL="171450" indent="-171450">
              <a:buFontTx/>
              <a:buChar char="-"/>
            </a:pPr>
            <a:r>
              <a:rPr lang="en-US" sz="1200" b="0" i="0" kern="1200" baseline="0" dirty="0">
                <a:solidFill>
                  <a:schemeClr val="tx1"/>
                </a:solidFill>
                <a:effectLst/>
                <a:latin typeface="+mn-lt"/>
                <a:ea typeface="+mn-ea"/>
                <a:cs typeface="+mn-cs"/>
              </a:rPr>
              <a:t>Test suite: </a:t>
            </a:r>
            <a:r>
              <a:rPr lang="en-US" sz="1200" b="0" i="0" kern="1200" baseline="0" dirty="0" err="1">
                <a:solidFill>
                  <a:schemeClr val="tx1"/>
                </a:solidFill>
                <a:effectLst/>
                <a:latin typeface="+mn-lt"/>
                <a:ea typeface="+mn-ea"/>
                <a:cs typeface="+mn-cs"/>
              </a:rPr>
              <a:t>Một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tập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vài</a:t>
            </a:r>
            <a:r>
              <a:rPr lang="en-US" sz="1200" b="0" i="0" kern="1200" baseline="0" dirty="0">
                <a:solidFill>
                  <a:schemeClr val="tx1"/>
                </a:solidFill>
                <a:effectLst/>
                <a:latin typeface="+mn-lt"/>
                <a:ea typeface="+mn-ea"/>
                <a:cs typeface="+mn-cs"/>
              </a:rPr>
              <a:t> test case, </a:t>
            </a:r>
            <a:r>
              <a:rPr lang="en-US" sz="1200" b="0" i="0" kern="1200" baseline="0" dirty="0" err="1">
                <a:solidFill>
                  <a:schemeClr val="tx1"/>
                </a:solidFill>
                <a:effectLst/>
                <a:latin typeface="+mn-lt"/>
                <a:ea typeface="+mn-ea"/>
                <a:cs typeface="+mn-cs"/>
              </a:rPr>
              <a:t>mà</a:t>
            </a:r>
            <a:r>
              <a:rPr lang="en-US" sz="1200" b="0" i="0" kern="1200" baseline="0" dirty="0">
                <a:solidFill>
                  <a:schemeClr val="tx1"/>
                </a:solidFill>
                <a:effectLst/>
                <a:latin typeface="+mn-lt"/>
                <a:ea typeface="+mn-ea"/>
                <a:cs typeface="+mn-cs"/>
              </a:rPr>
              <a:t> ở </a:t>
            </a:r>
            <a:r>
              <a:rPr lang="en-US" sz="1200" b="0" i="0" kern="1200" baseline="0" dirty="0" err="1">
                <a:solidFill>
                  <a:schemeClr val="tx1"/>
                </a:solidFill>
                <a:effectLst/>
                <a:latin typeface="+mn-lt"/>
                <a:ea typeface="+mn-ea"/>
                <a:cs typeface="+mn-cs"/>
              </a:rPr>
              <a:t>đó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sau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của</a:t>
            </a:r>
            <a:r>
              <a:rPr lang="en-US" sz="1200" b="0" i="0" kern="1200" baseline="0" dirty="0">
                <a:solidFill>
                  <a:schemeClr val="tx1"/>
                </a:solidFill>
                <a:effectLst/>
                <a:latin typeface="+mn-lt"/>
                <a:ea typeface="+mn-ea"/>
                <a:cs typeface="+mn-cs"/>
              </a:rPr>
              <a:t> test case </a:t>
            </a:r>
            <a:r>
              <a:rPr lang="en-US" sz="1200" b="0" i="0" kern="1200" baseline="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thường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sd</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như</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tiền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test case </a:t>
            </a:r>
            <a:r>
              <a:rPr lang="en-US" sz="1200" b="0" i="0" kern="1200" baseline="0" dirty="0" err="1">
                <a:solidFill>
                  <a:schemeClr val="tx1"/>
                </a:solidFill>
                <a:effectLst/>
                <a:latin typeface="+mn-lt"/>
                <a:ea typeface="+mn-ea"/>
                <a:cs typeface="+mn-cs"/>
              </a:rPr>
              <a:t>kế</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tiếp</a:t>
            </a:r>
            <a:r>
              <a:rPr lang="en-US" sz="1200" b="0" i="0" kern="1200" baseline="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04855703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a:t>
            </a:r>
            <a:r>
              <a:rPr lang="vi-VN" dirty="0" err="1"/>
              <a:t>Verification</a:t>
            </a:r>
            <a:r>
              <a:rPr lang="en-US" baseline="0" dirty="0"/>
              <a:t> (</a:t>
            </a:r>
            <a:r>
              <a:rPr lang="vi-VN" dirty="0"/>
              <a:t>Kiểm</a:t>
            </a:r>
            <a:r>
              <a:rPr lang="en-US" dirty="0"/>
              <a:t> </a:t>
            </a:r>
            <a:r>
              <a:rPr lang="vi-VN" dirty="0"/>
              <a:t>chứng</a:t>
            </a:r>
            <a:r>
              <a:rPr lang="en-US" dirty="0"/>
              <a:t>)</a:t>
            </a:r>
          </a:p>
          <a:p>
            <a:pPr marL="628650" lvl="1" indent="-171450">
              <a:buFontTx/>
              <a:buChar char="-"/>
            </a:pPr>
            <a:r>
              <a:rPr lang="en-US" dirty="0" err="1"/>
              <a:t>kiểm</a:t>
            </a:r>
            <a:r>
              <a:rPr lang="en-US" baseline="0" dirty="0"/>
              <a:t> </a:t>
            </a:r>
            <a:r>
              <a:rPr lang="en-US" baseline="0" dirty="0" err="1"/>
              <a:t>tra</a:t>
            </a:r>
            <a:r>
              <a:rPr lang="en-US" baseline="0" dirty="0"/>
              <a:t> </a:t>
            </a:r>
            <a:r>
              <a:rPr lang="en-US" baseline="0" dirty="0" err="1"/>
              <a:t>sp</a:t>
            </a:r>
            <a:r>
              <a:rPr lang="en-US" baseline="0" dirty="0"/>
              <a:t> </a:t>
            </a:r>
            <a:r>
              <a:rPr lang="en-US" baseline="0" dirty="0" err="1"/>
              <a:t>xem</a:t>
            </a:r>
            <a:r>
              <a:rPr lang="en-US" baseline="0" dirty="0"/>
              <a:t> </a:t>
            </a:r>
            <a:r>
              <a:rPr lang="vi-VN" dirty="0"/>
              <a:t>có đúng đặc</a:t>
            </a:r>
            <a:r>
              <a:rPr lang="en-US" dirty="0"/>
              <a:t> </a:t>
            </a:r>
            <a:r>
              <a:rPr lang="vi-VN" dirty="0"/>
              <a:t>tả không, có đúng thiết</a:t>
            </a:r>
            <a:r>
              <a:rPr lang="en-US" dirty="0"/>
              <a:t> </a:t>
            </a:r>
            <a:r>
              <a:rPr lang="vi-VN" dirty="0"/>
              <a:t>kế không</a:t>
            </a:r>
            <a:r>
              <a:rPr lang="en-US" dirty="0"/>
              <a:t>?</a:t>
            </a:r>
          </a:p>
          <a:p>
            <a:pPr marL="628650" lvl="1" indent="-171450">
              <a:buFontTx/>
              <a:buChar char="-"/>
            </a:pPr>
            <a:r>
              <a:rPr lang="en-US" dirty="0"/>
              <a:t>‘Thành</a:t>
            </a:r>
            <a:r>
              <a:rPr lang="en-US" baseline="0" dirty="0"/>
              <a:t> </a:t>
            </a:r>
            <a:r>
              <a:rPr lang="en-US" baseline="0" dirty="0" err="1"/>
              <a:t>phẩm</a:t>
            </a:r>
            <a:r>
              <a:rPr lang="en-US" baseline="0" dirty="0"/>
              <a:t> </a:t>
            </a:r>
            <a:r>
              <a:rPr lang="en-US" baseline="0" dirty="0" err="1"/>
              <a:t>có</a:t>
            </a:r>
            <a:r>
              <a:rPr lang="en-US" baseline="0" dirty="0"/>
              <a:t> </a:t>
            </a:r>
            <a:r>
              <a:rPr lang="en-US" baseline="0" dirty="0" err="1"/>
              <a:t>đc</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theo</a:t>
            </a:r>
            <a:r>
              <a:rPr lang="en-US" baseline="0" dirty="0"/>
              <a:t> </a:t>
            </a:r>
            <a:r>
              <a:rPr lang="en-US" baseline="0" dirty="0" err="1"/>
              <a:t>đặc</a:t>
            </a:r>
            <a:r>
              <a:rPr lang="en-US" baseline="0" dirty="0"/>
              <a:t> </a:t>
            </a:r>
            <a:r>
              <a:rPr lang="en-US" baseline="0" dirty="0" err="1"/>
              <a:t>tả</a:t>
            </a:r>
            <a:r>
              <a:rPr lang="en-US" baseline="0" dirty="0"/>
              <a:t> ko?’</a:t>
            </a:r>
            <a:endParaRPr lang="en-US" dirty="0"/>
          </a:p>
          <a:p>
            <a:pPr marL="0" lvl="0" indent="0">
              <a:buFontTx/>
              <a:buNone/>
            </a:pPr>
            <a:r>
              <a:rPr lang="en-US" dirty="0"/>
              <a:t>- </a:t>
            </a:r>
            <a:r>
              <a:rPr lang="vi-VN" dirty="0" err="1"/>
              <a:t>Validation</a:t>
            </a:r>
            <a:r>
              <a:rPr lang="en-US" dirty="0"/>
              <a:t> (</a:t>
            </a:r>
            <a:r>
              <a:rPr lang="en-US" dirty="0" err="1"/>
              <a:t>Xác</a:t>
            </a:r>
            <a:r>
              <a:rPr lang="en-US" baseline="0" dirty="0"/>
              <a:t> </a:t>
            </a:r>
            <a:r>
              <a:rPr lang="en-US" baseline="0" dirty="0" err="1"/>
              <a:t>nhận</a:t>
            </a:r>
            <a:r>
              <a:rPr lang="en-US" dirty="0"/>
              <a:t>)</a:t>
            </a:r>
          </a:p>
          <a:p>
            <a:pPr marL="628650" lvl="1" indent="-171450">
              <a:buFontTx/>
              <a:buChar char="-"/>
            </a:pPr>
            <a:r>
              <a:rPr lang="en-US" dirty="0" err="1"/>
              <a:t>kiểm</a:t>
            </a:r>
            <a:r>
              <a:rPr lang="en-US" baseline="0" dirty="0"/>
              <a:t> </a:t>
            </a:r>
            <a:r>
              <a:rPr lang="en-US" baseline="0" dirty="0" err="1"/>
              <a:t>tra</a:t>
            </a:r>
            <a:r>
              <a:rPr lang="en-US" baseline="0" dirty="0"/>
              <a:t> </a:t>
            </a:r>
            <a:r>
              <a:rPr lang="en-US" baseline="0" dirty="0" err="1"/>
              <a:t>sp</a:t>
            </a:r>
            <a:r>
              <a:rPr lang="en-US" baseline="0" dirty="0"/>
              <a:t> </a:t>
            </a:r>
            <a:r>
              <a:rPr lang="en-US" baseline="0" dirty="0" err="1"/>
              <a:t>xem</a:t>
            </a:r>
            <a:r>
              <a:rPr lang="en-US" baseline="0" dirty="0"/>
              <a:t> </a:t>
            </a:r>
            <a:r>
              <a:rPr lang="vi-VN" dirty="0"/>
              <a:t>có đáp ứng nhu cầu</a:t>
            </a:r>
            <a:r>
              <a:rPr lang="en-US" dirty="0"/>
              <a:t> </a:t>
            </a:r>
            <a:r>
              <a:rPr lang="vi-VN" dirty="0"/>
              <a:t>người dùng không</a:t>
            </a:r>
            <a:r>
              <a:rPr lang="en-US" dirty="0"/>
              <a:t>? </a:t>
            </a:r>
          </a:p>
          <a:p>
            <a:pPr marL="628650" lvl="1" indent="-171450">
              <a:buFontTx/>
              <a:buChar char="-"/>
            </a:pPr>
            <a:r>
              <a:rPr lang="en-US" dirty="0"/>
              <a:t>‘Thành</a:t>
            </a:r>
            <a:r>
              <a:rPr lang="en-US" baseline="0" dirty="0"/>
              <a:t> </a:t>
            </a:r>
            <a:r>
              <a:rPr lang="en-US" baseline="0" dirty="0" err="1"/>
              <a:t>phẩm</a:t>
            </a:r>
            <a:r>
              <a:rPr lang="en-US" baseline="0" dirty="0"/>
              <a:t> </a:t>
            </a:r>
            <a:r>
              <a:rPr lang="en-US" baseline="0" dirty="0" err="1"/>
              <a:t>có</a:t>
            </a:r>
            <a:r>
              <a:rPr lang="en-US" baseline="0" dirty="0"/>
              <a:t>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mục</a:t>
            </a:r>
            <a:r>
              <a:rPr lang="en-US" baseline="0" dirty="0"/>
              <a:t> </a:t>
            </a:r>
            <a:r>
              <a:rPr lang="en-US" baseline="0" dirty="0" err="1"/>
              <a:t>đích</a:t>
            </a:r>
            <a:r>
              <a:rPr lang="en-US" baseline="0" dirty="0"/>
              <a:t> ko, </a:t>
            </a:r>
            <a:r>
              <a:rPr lang="en-US" baseline="0" dirty="0" err="1"/>
              <a:t>e.g</a:t>
            </a:r>
            <a:r>
              <a:rPr lang="en-US" baseline="0" dirty="0"/>
              <a:t> </a:t>
            </a:r>
            <a:r>
              <a:rPr lang="en-US" baseline="0" dirty="0" err="1"/>
              <a:t>nó</a:t>
            </a:r>
            <a:r>
              <a:rPr lang="en-US" baseline="0" dirty="0"/>
              <a:t> </a:t>
            </a:r>
            <a:r>
              <a:rPr lang="en-US" baseline="0" dirty="0" err="1"/>
              <a:t>có</a:t>
            </a:r>
            <a:r>
              <a:rPr lang="en-US" baseline="0" dirty="0"/>
              <a:t> </a:t>
            </a:r>
            <a:r>
              <a:rPr lang="en-US" baseline="0" dirty="0" err="1"/>
              <a:t>phải</a:t>
            </a:r>
            <a:r>
              <a:rPr lang="en-US" baseline="0" dirty="0"/>
              <a:t> </a:t>
            </a:r>
            <a:r>
              <a:rPr lang="en-US" baseline="0" dirty="0" err="1"/>
              <a:t>là</a:t>
            </a:r>
            <a:r>
              <a:rPr lang="en-US" baseline="0" dirty="0"/>
              <a:t> </a:t>
            </a:r>
            <a:r>
              <a:rPr lang="en-US" baseline="0" dirty="0" err="1"/>
              <a:t>giải</a:t>
            </a:r>
            <a:r>
              <a:rPr lang="en-US" baseline="0" dirty="0"/>
              <a:t> </a:t>
            </a:r>
            <a:r>
              <a:rPr lang="en-US" baseline="0" dirty="0" err="1"/>
              <a:t>pháp</a:t>
            </a:r>
            <a:r>
              <a:rPr lang="en-US" baseline="0" dirty="0"/>
              <a:t> </a:t>
            </a:r>
            <a:r>
              <a:rPr lang="en-US" baseline="0" dirty="0" err="1"/>
              <a:t>cho</a:t>
            </a:r>
            <a:r>
              <a:rPr lang="en-US" baseline="0" dirty="0"/>
              <a:t> </a:t>
            </a:r>
            <a:r>
              <a:rPr lang="en-US" baseline="0" dirty="0" err="1"/>
              <a:t>vấn</a:t>
            </a:r>
            <a:r>
              <a:rPr lang="en-US" baseline="0" dirty="0"/>
              <a:t> </a:t>
            </a:r>
            <a:r>
              <a:rPr lang="en-US" baseline="0" dirty="0" err="1"/>
              <a:t>đề</a:t>
            </a:r>
            <a:r>
              <a:rPr lang="en-US" baseline="0" dirty="0"/>
              <a:t> hay ko?’</a:t>
            </a:r>
            <a:endParaRPr lang="vi-VN" dirty="0"/>
          </a:p>
          <a:p>
            <a:pPr marL="0" indent="0">
              <a:buFontTx/>
              <a:buNone/>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Thứ</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tự</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thực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hiện</a:t>
            </a:r>
            <a:r>
              <a:rPr lang="en-US" sz="1200" b="0" i="0" kern="1200" baseline="0" dirty="0">
                <a:solidFill>
                  <a:schemeClr val="tx1"/>
                </a:solidFill>
                <a:effectLst/>
                <a:latin typeface="+mn-lt"/>
                <a:ea typeface="+mn-ea"/>
                <a:cs typeface="+mn-cs"/>
              </a:rPr>
              <a:t>: </a:t>
            </a:r>
            <a:r>
              <a:rPr lang="vi-VN" dirty="0" err="1"/>
              <a:t>Verification</a:t>
            </a:r>
            <a:r>
              <a:rPr lang="en-US" baseline="0" dirty="0"/>
              <a:t> </a:t>
            </a:r>
            <a:r>
              <a:rPr lang="en-US" baseline="0" dirty="0">
                <a:sym typeface="Wingdings" pitchFamily="2" charset="2"/>
              </a:rPr>
              <a:t> </a:t>
            </a:r>
            <a:r>
              <a:rPr lang="vi-VN" dirty="0" err="1"/>
              <a:t>Validation</a:t>
            </a:r>
            <a:r>
              <a:rPr lang="en-US" dirty="0"/>
              <a:t> </a:t>
            </a:r>
          </a:p>
          <a:p>
            <a:pPr marL="171450" indent="-171450">
              <a:buFontTx/>
              <a:buChar char="-"/>
            </a:pPr>
            <a:endParaRPr lang="en-US" sz="1200" b="0" i="0" kern="1200" dirty="0">
              <a:solidFill>
                <a:schemeClr val="tx1"/>
              </a:solidFill>
              <a:effectLst/>
              <a:latin typeface="+mn-lt"/>
              <a:ea typeface="+mn-ea"/>
              <a:cs typeface="+mn-cs"/>
            </a:endParaRPr>
          </a:p>
          <a:p>
            <a:pPr marL="171450" indent="-171450">
              <a:buFontTx/>
              <a:buChar char="-"/>
            </a:pPr>
            <a:endParaRPr lang="en-US" sz="1200" b="0" i="0" kern="1200" dirty="0">
              <a:solidFill>
                <a:schemeClr val="tx1"/>
              </a:solidFill>
              <a:effectLst/>
              <a:latin typeface="+mn-lt"/>
              <a:ea typeface="+mn-ea"/>
              <a:cs typeface="+mn-cs"/>
            </a:endParaRPr>
          </a:p>
          <a:p>
            <a:pPr marL="171450" indent="-171450">
              <a:buFontTx/>
              <a:buChar char="-"/>
            </a:pPr>
            <a:endParaRPr lang="en-US" sz="1200" b="0" i="0" kern="1200" dirty="0">
              <a:solidFill>
                <a:schemeClr val="tx1"/>
              </a:solidFill>
              <a:effectLst/>
              <a:latin typeface="+mn-lt"/>
              <a:ea typeface="+mn-ea"/>
              <a:cs typeface="+mn-cs"/>
            </a:endParaRPr>
          </a:p>
          <a:p>
            <a:pPr marL="171450" indent="-171450">
              <a:buFontTx/>
              <a:buChar char="-"/>
            </a:pPr>
            <a:r>
              <a:rPr lang="en-US" sz="1200" b="0" i="0" kern="1200" dirty="0">
                <a:solidFill>
                  <a:schemeClr val="tx1"/>
                </a:solidFill>
                <a:effectLst/>
                <a:latin typeface="+mn-lt"/>
                <a:ea typeface="+mn-ea"/>
                <a:cs typeface="+mn-cs"/>
              </a:rPr>
              <a:t>Verification is concerned with evaluating a work product, component or system to determine whether it meets the requirements set. In fact, verification focuses on the question 'Is the deliverable built according to the specification?'. Validation is concerned with evaluating a work product, component or system to determine whether it meets the user needs and requirements. </a:t>
            </a:r>
          </a:p>
          <a:p>
            <a:pPr marL="171450" indent="-171450">
              <a:buFontTx/>
              <a:buChar char="-"/>
            </a:pPr>
            <a:r>
              <a:rPr lang="en-US" sz="1200" b="0" i="0" kern="1200" dirty="0">
                <a:solidFill>
                  <a:schemeClr val="tx1"/>
                </a:solidFill>
                <a:effectLst/>
                <a:latin typeface="+mn-lt"/>
                <a:ea typeface="+mn-ea"/>
                <a:cs typeface="+mn-cs"/>
              </a:rPr>
              <a:t>Validation focuses on the question  'Is the deliverable fit for purpose, e.g. does it provide a solution to the problem?'.</a:t>
            </a:r>
          </a:p>
        </p:txBody>
      </p:sp>
    </p:spTree>
    <p:extLst>
      <p:ext uri="{BB962C8B-B14F-4D97-AF65-F5344CB8AC3E}">
        <p14:creationId xmlns:p14="http://schemas.microsoft.com/office/powerpoint/2010/main" val="35312590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117</a:t>
            </a:r>
            <a:r>
              <a:rPr lang="en-US" baseline="0" dirty="0"/>
              <a:t> CSTE</a:t>
            </a:r>
          </a:p>
          <a:p>
            <a:pPr marL="0" indent="0">
              <a:buFontTx/>
              <a:buNone/>
            </a:pPr>
            <a:r>
              <a:rPr lang="en-US" sz="1200" b="0" i="0" kern="1200" dirty="0">
                <a:solidFill>
                  <a:schemeClr val="tx1"/>
                </a:solidFill>
                <a:effectLst/>
                <a:latin typeface="+mn-lt"/>
                <a:ea typeface="+mn-ea"/>
                <a:cs typeface="+mn-cs"/>
              </a:rPr>
              <a:t>- T</a:t>
            </a:r>
            <a:r>
              <a:rPr lang="vi-VN" sz="1200" b="0" i="0" kern="1200" dirty="0">
                <a:solidFill>
                  <a:schemeClr val="tx1"/>
                </a:solidFill>
                <a:effectLst/>
                <a:latin typeface="+mn-lt"/>
                <a:ea typeface="+mn-ea"/>
                <a:cs typeface="+mn-cs"/>
              </a:rPr>
              <a:t>hử nghiệm</a:t>
            </a:r>
            <a:r>
              <a:rPr lang="en-US" sz="1200" b="0" i="0" kern="1200" dirty="0">
                <a:solidFill>
                  <a:schemeClr val="tx1"/>
                </a:solidFill>
                <a:effectLst/>
                <a:latin typeface="+mn-lt"/>
                <a:ea typeface="+mn-ea"/>
                <a:cs typeface="+mn-cs"/>
              </a:rPr>
              <a:t> t</a:t>
            </a:r>
            <a:r>
              <a:rPr lang="vi-VN" sz="1200" b="0" i="0" kern="1200" dirty="0">
                <a:solidFill>
                  <a:schemeClr val="tx1"/>
                </a:solidFill>
                <a:effectLst/>
                <a:latin typeface="+mn-lt"/>
                <a:ea typeface="+mn-ea"/>
                <a:cs typeface="+mn-cs"/>
              </a:rPr>
              <a:t>ĩnh</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thử nghiệm mà không cần chạy mã</a:t>
            </a:r>
            <a:endParaRPr lang="en-US" sz="1200" b="0" i="0" kern="1200" dirty="0">
              <a:solidFill>
                <a:schemeClr val="tx1"/>
              </a:solidFill>
              <a:effectLst/>
              <a:latin typeface="+mn-lt"/>
              <a:ea typeface="+mn-ea"/>
              <a:cs typeface="+mn-cs"/>
            </a:endParaRPr>
          </a:p>
          <a:p>
            <a:pPr marL="628650" lvl="1" indent="-171450">
              <a:buFontTx/>
              <a:buChar char="-"/>
            </a:pPr>
            <a:r>
              <a:rPr lang="vi-VN" sz="1200" b="0" i="0" kern="1200" dirty="0">
                <a:solidFill>
                  <a:schemeClr val="tx1"/>
                </a:solidFill>
                <a:effectLst/>
                <a:latin typeface="+mn-lt"/>
                <a:ea typeface="+mn-ea"/>
                <a:cs typeface="+mn-cs"/>
              </a:rPr>
              <a:t>kiểm tra tĩnh được thực hiện bằng cách sử dụng các tài liệu hướng dẫn phần mềm</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(chẳng hạn </a:t>
            </a:r>
            <a:r>
              <a:rPr lang="en-US" sz="1200" b="0" i="0" kern="1200" dirty="0" err="1">
                <a:solidFill>
                  <a:schemeClr val="tx1"/>
                </a:solidFill>
                <a:effectLst/>
                <a:latin typeface="+mn-lt"/>
                <a:ea typeface="+mn-ea"/>
                <a:cs typeface="+mn-cs"/>
              </a:rPr>
              <a:t>đặc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tả</a:t>
            </a:r>
            <a:r>
              <a:rPr lang="vi-VN"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marL="628650" lvl="1" indent="-171450">
              <a:buFontTx/>
              <a:buChar char="-"/>
            </a:pPr>
            <a:r>
              <a:rPr lang="vi-VN" sz="1200" b="0" i="0" kern="1200" dirty="0">
                <a:solidFill>
                  <a:schemeClr val="tx1"/>
                </a:solidFill>
                <a:effectLst/>
                <a:latin typeface="+mn-lt"/>
                <a:ea typeface="+mn-ea"/>
                <a:cs typeface="+mn-cs"/>
              </a:rPr>
              <a:t>hầu hết </a:t>
            </a:r>
            <a:r>
              <a:rPr lang="en-US" dirty="0"/>
              <a:t>verification </a:t>
            </a:r>
            <a:r>
              <a:rPr lang="en-US" dirty="0" err="1"/>
              <a:t>là</a:t>
            </a:r>
            <a:r>
              <a:rPr lang="vi-VN" sz="1200" b="0" i="0" kern="1200" dirty="0">
                <a:solidFill>
                  <a:schemeClr val="tx1"/>
                </a:solidFill>
                <a:effectLst/>
                <a:latin typeface="+mn-lt"/>
                <a:ea typeface="+mn-ea"/>
                <a:cs typeface="+mn-cs"/>
              </a:rPr>
              <a:t> kiểm tra tĩnh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vd</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đánh giá tính khả thi, đánh giá yêu cầu</a:t>
            </a:r>
            <a:r>
              <a:rPr lang="en-US" sz="1200" b="0" i="0" kern="1200" dirty="0">
                <a:solidFill>
                  <a:schemeClr val="tx1"/>
                </a:solidFill>
                <a:effectLst/>
                <a:latin typeface="+mn-lt"/>
                <a:ea typeface="+mn-ea"/>
                <a:cs typeface="+mn-cs"/>
              </a:rPr>
              <a:t>)</a:t>
            </a:r>
          </a:p>
          <a:p>
            <a:pPr marL="171450" lvl="0" indent="-171450">
              <a:buFontTx/>
              <a:buChar char="-"/>
            </a:pPr>
            <a:r>
              <a:rPr lang="en-US" dirty="0"/>
              <a:t>...</a:t>
            </a:r>
          </a:p>
        </p:txBody>
      </p:sp>
    </p:spTree>
    <p:extLst>
      <p:ext uri="{BB962C8B-B14F-4D97-AF65-F5344CB8AC3E}">
        <p14:creationId xmlns:p14="http://schemas.microsoft.com/office/powerpoint/2010/main" val="6831665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kern="1200">
                <a:solidFill>
                  <a:schemeClr val="tx1"/>
                </a:solidFill>
                <a:effectLst/>
                <a:latin typeface="+mn-lt"/>
                <a:ea typeface="+mn-ea"/>
                <a:cs typeface="+mn-cs"/>
              </a:rPr>
              <a:t>Nhiều</a:t>
            </a:r>
            <a:r>
              <a:rPr lang="en-US" sz="1200" b="0" i="0" u="none" kern="1200" baseline="0">
                <a:solidFill>
                  <a:schemeClr val="tx1"/>
                </a:solidFill>
                <a:effectLst/>
                <a:latin typeface="+mn-lt"/>
                <a:ea typeface="+mn-ea"/>
                <a:cs typeface="+mn-cs"/>
              </a:rPr>
              <a:t> project khi hoàn thành thì cuối cùng đ</a:t>
            </a:r>
            <a:r>
              <a:rPr lang="en-US" sz="1200" b="0" i="0" u="none" kern="1200">
                <a:solidFill>
                  <a:schemeClr val="tx1"/>
                </a:solidFill>
                <a:effectLst/>
                <a:latin typeface="+mn-lt"/>
                <a:ea typeface="+mn-ea"/>
                <a:cs typeface="+mn-cs"/>
              </a:rPr>
              <a:t>ược</a:t>
            </a:r>
            <a:r>
              <a:rPr lang="en-US" sz="1200" b="0" i="0" u="none" kern="1200" baseline="0">
                <a:solidFill>
                  <a:schemeClr val="tx1"/>
                </a:solidFill>
                <a:effectLst/>
                <a:latin typeface="+mn-lt"/>
                <a:ea typeface="+mn-ea"/>
                <a:cs typeface="+mn-cs"/>
              </a:rPr>
              <a:t> </a:t>
            </a:r>
            <a:r>
              <a:rPr lang="vi-VN" sz="1200" b="0" i="0" u="none" kern="1200">
                <a:solidFill>
                  <a:schemeClr val="tx1"/>
                </a:solidFill>
                <a:effectLst/>
                <a:latin typeface="+mn-lt"/>
                <a:ea typeface="+mn-ea"/>
                <a:cs typeface="+mn-cs"/>
              </a:rPr>
              <a:t>triển khai, </a:t>
            </a:r>
            <a:r>
              <a:rPr lang="en-US" sz="1200" b="0" i="0" u="none" kern="1200">
                <a:solidFill>
                  <a:schemeClr val="tx1"/>
                </a:solidFill>
                <a:effectLst/>
                <a:latin typeface="+mn-lt"/>
                <a:ea typeface="+mn-ea"/>
                <a:cs typeface="+mn-cs"/>
              </a:rPr>
              <a:t>nó</a:t>
            </a:r>
            <a:r>
              <a:rPr lang="en-US" sz="1200" b="0" i="0" u="none" kern="1200" baseline="0">
                <a:solidFill>
                  <a:schemeClr val="tx1"/>
                </a:solidFill>
                <a:effectLst/>
                <a:latin typeface="+mn-lt"/>
                <a:ea typeface="+mn-ea"/>
                <a:cs typeface="+mn-cs"/>
              </a:rPr>
              <a:t> sẽ có thể </a:t>
            </a:r>
            <a:r>
              <a:rPr lang="vi-VN" sz="1200" b="0" i="0" u="none" kern="1200">
                <a:solidFill>
                  <a:schemeClr val="tx1"/>
                </a:solidFill>
                <a:effectLst/>
                <a:latin typeface="+mn-lt"/>
                <a:ea typeface="+mn-ea"/>
                <a:cs typeface="+mn-cs"/>
              </a:rPr>
              <a:t>phục vụ </a:t>
            </a:r>
            <a:r>
              <a:rPr lang="en-US" sz="1200" b="0" i="0" u="none" kern="1200">
                <a:solidFill>
                  <a:schemeClr val="tx1"/>
                </a:solidFill>
                <a:effectLst/>
                <a:latin typeface="+mn-lt"/>
                <a:ea typeface="+mn-ea"/>
                <a:cs typeface="+mn-cs"/>
              </a:rPr>
              <a:t>nhiều</a:t>
            </a:r>
            <a:r>
              <a:rPr lang="vi-VN" sz="1200" b="0" i="0" u="none" kern="1200">
                <a:solidFill>
                  <a:schemeClr val="tx1"/>
                </a:solidFill>
                <a:effectLst/>
                <a:latin typeface="+mn-lt"/>
                <a:ea typeface="+mn-ea"/>
                <a:cs typeface="+mn-cs"/>
              </a:rPr>
              <a:t> năm hoặc thậm chí nhiều thập kỷ.</a:t>
            </a:r>
            <a:r>
              <a:rPr lang="en-US" sz="1200" b="0" i="0" u="none" kern="1200">
                <a:solidFill>
                  <a:schemeClr val="tx1"/>
                </a:solidFill>
                <a:effectLst/>
                <a:latin typeface="+mn-lt"/>
                <a:ea typeface="+mn-ea"/>
                <a:cs typeface="+mn-cs"/>
              </a:rPr>
              <a:t> </a:t>
            </a:r>
          </a:p>
          <a:p>
            <a:r>
              <a:rPr lang="en-US" sz="1200" b="0" i="0" u="none" kern="1200">
                <a:solidFill>
                  <a:schemeClr val="tx1"/>
                </a:solidFill>
                <a:effectLst/>
                <a:latin typeface="+mn-lt"/>
                <a:ea typeface="+mn-ea"/>
                <a:cs typeface="+mn-cs"/>
              </a:rPr>
              <a:t>?THẾ</a:t>
            </a:r>
            <a:r>
              <a:rPr lang="en-US" sz="1200" b="0" i="0" u="none" kern="1200" baseline="0">
                <a:solidFill>
                  <a:schemeClr val="tx1"/>
                </a:solidFill>
                <a:effectLst/>
                <a:latin typeface="+mn-lt"/>
                <a:ea typeface="+mn-ea"/>
                <a:cs typeface="+mn-cs"/>
              </a:rPr>
              <a:t> THÌ CÁI GÌ LÀM CHO USER CÓ THỂ SỬ DỤNG VÀ HÀI LÒNG VỚI PM LÂU NHƯ VẬY, TRONG KHI HỌ CÓ THỂ TỪ BỎ HT NÀY ĐỂ YC 1 HT MỚI HOÀN TOÀN ĐỂ PHÙ HỢP VỚI CÔNG NGHỆ? </a:t>
            </a:r>
          </a:p>
          <a:p>
            <a:r>
              <a:rPr lang="en-US" sz="1200" b="0" i="0" kern="1200" baseline="0">
                <a:solidFill>
                  <a:schemeClr val="tx1"/>
                </a:solidFill>
                <a:effectLst/>
                <a:latin typeface="+mn-lt"/>
                <a:ea typeface="+mn-ea"/>
                <a:cs typeface="+mn-cs"/>
              </a:rPr>
              <a:t>- Câu trả lời là chất lượng của bảo trì, c</a:t>
            </a:r>
            <a:r>
              <a:rPr lang="vi-VN" b="0"/>
              <a:t>ác yếu tố chính chịu trách nhiệm về dịch vụ lâu dài và thành công là chất lượng của bảo trì.</a:t>
            </a:r>
            <a:endParaRPr lang="en-US" b="0"/>
          </a:p>
        </p:txBody>
      </p:sp>
      <p:sp>
        <p:nvSpPr>
          <p:cNvPr id="4" name="Slide Number Placeholder 3"/>
          <p:cNvSpPr>
            <a:spLocks noGrp="1"/>
          </p:cNvSpPr>
          <p:nvPr>
            <p:ph type="sldNum" sz="quarter" idx="10"/>
          </p:nvPr>
        </p:nvSpPr>
        <p:spPr/>
        <p:txBody>
          <a:bodyPr/>
          <a:lstStyle/>
          <a:p>
            <a:fld id="{A63B9007-0201-49BE-A587-7F882848EC05}" type="slidenum">
              <a:rPr lang="en-US" smtClean="0"/>
              <a:t>80</a:t>
            </a:fld>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vi-VN" sz="1200" b="0" i="0" kern="1200" dirty="0">
                <a:solidFill>
                  <a:schemeClr val="tx1"/>
                </a:solidFill>
                <a:effectLst/>
                <a:latin typeface="+mn-lt"/>
                <a:ea typeface="+mn-ea"/>
                <a:cs typeface="+mn-cs"/>
              </a:rPr>
              <a:t>Theo </a:t>
            </a:r>
            <a:r>
              <a:rPr lang="vi-VN" sz="1200" b="0" i="0" u="none" strike="noStrike" kern="1200" dirty="0">
                <a:solidFill>
                  <a:schemeClr val="tx1"/>
                </a:solidFill>
                <a:effectLst/>
                <a:latin typeface="+mn-lt"/>
                <a:ea typeface="+mn-ea"/>
                <a:cs typeface="+mn-cs"/>
                <a:hlinkClick r:id="rId3" tooltip="IEEE"/>
              </a:rPr>
              <a:t>IEEE</a:t>
            </a:r>
            <a:r>
              <a:rPr lang="vi-VN" sz="1200" b="0" i="0" kern="1200" dirty="0">
                <a:solidFill>
                  <a:schemeClr val="tx1"/>
                </a:solidFill>
                <a:effectLst/>
                <a:latin typeface="+mn-lt"/>
                <a:ea typeface="+mn-ea"/>
                <a:cs typeface="+mn-cs"/>
              </a:rPr>
              <a:t> (1993):</a:t>
            </a:r>
            <a:endParaRPr lang="vi-VN" dirty="0"/>
          </a:p>
          <a:p>
            <a:pPr marL="457200" lvl="1" indent="0">
              <a:buFontTx/>
              <a:buNone/>
            </a:pPr>
            <a:r>
              <a:rPr lang="vi-VN" dirty="0"/>
              <a:t>■</a:t>
            </a:r>
            <a:r>
              <a:rPr lang="en-US" dirty="0"/>
              <a:t> </a:t>
            </a:r>
            <a:r>
              <a:rPr lang="vi-VN" dirty="0"/>
              <a:t>Bảo trì </a:t>
            </a:r>
            <a:r>
              <a:rPr lang="en-US" dirty="0" err="1"/>
              <a:t>dạng</a:t>
            </a:r>
            <a:r>
              <a:rPr lang="en-US" baseline="0" dirty="0"/>
              <a:t> </a:t>
            </a:r>
            <a:r>
              <a:rPr lang="vi-VN" dirty="0"/>
              <a:t>sửa chữa</a:t>
            </a:r>
            <a:r>
              <a:rPr lang="en-US" dirty="0"/>
              <a:t>:</a:t>
            </a:r>
            <a:r>
              <a:rPr lang="en-US" baseline="0" dirty="0"/>
              <a:t> </a:t>
            </a:r>
            <a:r>
              <a:rPr lang="en-US" b="0" dirty="0" err="1"/>
              <a:t>gồm</a:t>
            </a:r>
            <a:r>
              <a:rPr lang="en-US" b="0" dirty="0"/>
              <a:t> </a:t>
            </a:r>
            <a:r>
              <a:rPr lang="en-US" b="0" dirty="0" err="1"/>
              <a:t>các</a:t>
            </a:r>
            <a:r>
              <a:rPr lang="en-US" b="0" baseline="0" dirty="0"/>
              <a:t> </a:t>
            </a:r>
            <a:r>
              <a:rPr lang="vi-VN" b="0" dirty="0"/>
              <a:t>dịch vụ </a:t>
            </a:r>
            <a:r>
              <a:rPr lang="en-US" b="0" dirty="0" err="1"/>
              <a:t>sửa</a:t>
            </a:r>
            <a:r>
              <a:rPr lang="en-US" b="0" baseline="0" dirty="0"/>
              <a:t> </a:t>
            </a:r>
            <a:r>
              <a:rPr lang="en-US" b="0" baseline="0" dirty="0" err="1"/>
              <a:t>lỗi</a:t>
            </a:r>
            <a:r>
              <a:rPr lang="en-US" b="0" baseline="0" dirty="0"/>
              <a:t> PM </a:t>
            </a:r>
            <a:r>
              <a:rPr lang="en-US" b="0" baseline="0" dirty="0" err="1"/>
              <a:t>và</a:t>
            </a:r>
            <a:r>
              <a:rPr lang="en-US" b="0" baseline="0" dirty="0"/>
              <a:t> </a:t>
            </a:r>
            <a:r>
              <a:rPr lang="vi-VN" b="0" dirty="0"/>
              <a:t>hỗ trợ </a:t>
            </a:r>
            <a:r>
              <a:rPr lang="en-US" b="0" dirty="0" err="1"/>
              <a:t>người</a:t>
            </a:r>
            <a:r>
              <a:rPr lang="en-US" b="0" baseline="0" dirty="0"/>
              <a:t> </a:t>
            </a:r>
            <a:r>
              <a:rPr lang="en-US" b="0" baseline="0" dirty="0" err="1"/>
              <a:t>dùng</a:t>
            </a:r>
            <a:r>
              <a:rPr lang="en-US" b="0" baseline="0" dirty="0"/>
              <a:t> </a:t>
            </a:r>
            <a:r>
              <a:rPr lang="en-US" b="1" baseline="0" dirty="0"/>
              <a:t>(LÀ GIẢI QUYẾT NHỮNG KHÓ KHĂN PHÁT SINH CỦA USER KHI SỬ DỤNG PM: TÀI LIỆU HDSD HAY MÀN HÌNH HDSD KHÓ HIỂU; THAO TÁC SAI LÀM CT CHẠY SAI…) </a:t>
            </a:r>
            <a:r>
              <a:rPr lang="en-US" b="1" baseline="0" dirty="0">
                <a:sym typeface="Wingdings" pitchFamily="2" charset="2"/>
              </a:rPr>
              <a:t> </a:t>
            </a:r>
            <a:r>
              <a:rPr lang="en-US" b="1" baseline="0" dirty="0" err="1">
                <a:sym typeface="Wingdings" pitchFamily="2" charset="2"/>
              </a:rPr>
              <a:t>là</a:t>
            </a:r>
            <a:r>
              <a:rPr lang="en-US" b="1" baseline="0" dirty="0">
                <a:sym typeface="Wingdings" pitchFamily="2" charset="2"/>
              </a:rPr>
              <a:t> </a:t>
            </a:r>
            <a:r>
              <a:rPr lang="en-US" b="1" baseline="0" dirty="0" err="1">
                <a:sym typeface="Wingdings" pitchFamily="2" charset="2"/>
              </a:rPr>
              <a:t>hoạt</a:t>
            </a:r>
            <a:r>
              <a:rPr lang="en-US" b="1" baseline="0" dirty="0">
                <a:sym typeface="Wingdings" pitchFamily="2" charset="2"/>
              </a:rPr>
              <a:t> </a:t>
            </a:r>
            <a:r>
              <a:rPr lang="en-US" b="1" baseline="0" dirty="0" err="1">
                <a:sym typeface="Wingdings" pitchFamily="2" charset="2"/>
              </a:rPr>
              <a:t>động</a:t>
            </a:r>
            <a:r>
              <a:rPr lang="en-US" b="1" baseline="0" dirty="0">
                <a:sym typeface="Wingdings" pitchFamily="2" charset="2"/>
              </a:rPr>
              <a:t> </a:t>
            </a:r>
            <a:r>
              <a:rPr lang="en-US" b="1" baseline="0" dirty="0" err="1">
                <a:sym typeface="Wingdings" pitchFamily="2" charset="2"/>
              </a:rPr>
              <a:t>thuộc</a:t>
            </a:r>
            <a:r>
              <a:rPr lang="en-US" b="1" baseline="0" dirty="0">
                <a:sym typeface="Wingdings" pitchFamily="2" charset="2"/>
              </a:rPr>
              <a:t> </a:t>
            </a:r>
            <a:r>
              <a:rPr lang="en-US" b="1" baseline="0" dirty="0" err="1">
                <a:sym typeface="Wingdings" pitchFamily="2" charset="2"/>
              </a:rPr>
              <a:t>về</a:t>
            </a:r>
            <a:r>
              <a:rPr lang="en-US" b="1" baseline="0" dirty="0">
                <a:sym typeface="Wingdings" pitchFamily="2" charset="2"/>
              </a:rPr>
              <a:t> </a:t>
            </a:r>
            <a:r>
              <a:rPr lang="en-US" b="1" baseline="0" dirty="0" err="1">
                <a:sym typeface="Wingdings" pitchFamily="2" charset="2"/>
              </a:rPr>
              <a:t>dịch</a:t>
            </a:r>
            <a:r>
              <a:rPr lang="en-US" b="1" baseline="0" dirty="0">
                <a:sym typeface="Wingdings" pitchFamily="2" charset="2"/>
              </a:rPr>
              <a:t> </a:t>
            </a:r>
            <a:r>
              <a:rPr lang="en-US" b="1" baseline="0" dirty="0" err="1">
                <a:sym typeface="Wingdings" pitchFamily="2" charset="2"/>
              </a:rPr>
              <a:t>vụ</a:t>
            </a:r>
            <a:r>
              <a:rPr lang="en-US" b="1" baseline="0" dirty="0">
                <a:sym typeface="Wingdings" pitchFamily="2" charset="2"/>
              </a:rPr>
              <a:t> (</a:t>
            </a:r>
            <a:r>
              <a:rPr lang="en-US" b="1" baseline="0" dirty="0" err="1">
                <a:sym typeface="Wingdings" pitchFamily="2" charset="2"/>
              </a:rPr>
              <a:t>làm</a:t>
            </a:r>
            <a:r>
              <a:rPr lang="en-US" b="1" baseline="0" dirty="0">
                <a:sym typeface="Wingdings" pitchFamily="2" charset="2"/>
              </a:rPr>
              <a:t> </a:t>
            </a:r>
            <a:r>
              <a:rPr lang="en-US" b="1" baseline="0" dirty="0" err="1">
                <a:sym typeface="Wingdings" pitchFamily="2" charset="2"/>
              </a:rPr>
              <a:t>miễn</a:t>
            </a:r>
            <a:r>
              <a:rPr lang="en-US" b="1" baseline="0" dirty="0">
                <a:sym typeface="Wingdings" pitchFamily="2" charset="2"/>
              </a:rPr>
              <a:t> </a:t>
            </a:r>
            <a:r>
              <a:rPr lang="en-US" b="1" baseline="0" dirty="0" err="1">
                <a:sym typeface="Wingdings" pitchFamily="2" charset="2"/>
              </a:rPr>
              <a:t>phí</a:t>
            </a:r>
            <a:r>
              <a:rPr lang="en-US" b="1" baseline="0" dirty="0">
                <a:sym typeface="Wingdings" pitchFamily="2" charset="2"/>
              </a:rPr>
              <a:t>).</a:t>
            </a:r>
            <a:endParaRPr lang="vi-VN" b="1" dirty="0"/>
          </a:p>
          <a:p>
            <a:pPr marL="457200" lvl="1" indent="0">
              <a:buFontTx/>
              <a:buNone/>
            </a:pPr>
            <a:endParaRPr lang="en-US" dirty="0"/>
          </a:p>
          <a:p>
            <a:pPr marL="457200" lvl="1" indent="0">
              <a:buFontTx/>
              <a:buNone/>
            </a:pPr>
            <a:r>
              <a:rPr lang="vi-VN" dirty="0"/>
              <a:t>■</a:t>
            </a:r>
            <a:r>
              <a:rPr lang="en-US" dirty="0"/>
              <a:t> </a:t>
            </a:r>
            <a:r>
              <a:rPr lang="en-US" sz="1200" b="0" i="0" kern="1200" baseline="0" dirty="0">
                <a:solidFill>
                  <a:schemeClr val="tx1"/>
                </a:solidFill>
                <a:effectLst/>
                <a:latin typeface="+mn-lt"/>
                <a:ea typeface="+mn-ea"/>
                <a:cs typeface="+mn-cs"/>
              </a:rPr>
              <a:t>Bảo </a:t>
            </a:r>
            <a:r>
              <a:rPr lang="en-US" sz="1200" b="0" i="0" kern="1200" baseline="0" dirty="0" err="1">
                <a:solidFill>
                  <a:schemeClr val="tx1"/>
                </a:solidFill>
                <a:effectLst/>
                <a:latin typeface="+mn-lt"/>
                <a:ea typeface="+mn-ea"/>
                <a:cs typeface="+mn-cs"/>
              </a:rPr>
              <a:t>trì</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dạng</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thích ứng</a:t>
            </a:r>
            <a:r>
              <a:rPr lang="en-US" sz="1200" b="0" i="0" kern="120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chỉnh</a:t>
            </a:r>
            <a:r>
              <a:rPr lang="en-US" sz="1200" b="0" i="0" kern="1200" baseline="0" dirty="0">
                <a:solidFill>
                  <a:schemeClr val="tx1"/>
                </a:solidFill>
                <a:effectLst/>
                <a:latin typeface="+mn-lt"/>
                <a:ea typeface="+mn-ea"/>
                <a:cs typeface="+mn-cs"/>
              </a:rPr>
              <a:t> PM </a:t>
            </a:r>
            <a:r>
              <a:rPr lang="en-US" sz="1200" b="0" i="0" kern="1200" baseline="0" dirty="0" err="1">
                <a:solidFill>
                  <a:schemeClr val="tx1"/>
                </a:solidFill>
                <a:effectLst/>
                <a:latin typeface="+mn-lt"/>
                <a:ea typeface="+mn-ea"/>
                <a:cs typeface="+mn-cs"/>
              </a:rPr>
              <a:t>theo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yc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của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người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dùng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mới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hoặc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theo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sự</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thay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đổi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môi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trường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hoạt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động</a:t>
            </a:r>
            <a:r>
              <a:rPr lang="en-US" sz="1200" b="0"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(VD/LÀM PM T</a:t>
            </a:r>
            <a:r>
              <a:rPr lang="vi-VN" sz="1200" b="1" i="0" kern="1200" dirty="0">
                <a:solidFill>
                  <a:schemeClr val="tx1"/>
                </a:solidFill>
                <a:effectLst/>
                <a:latin typeface="+mn-lt"/>
                <a:ea typeface="+mn-ea"/>
                <a:cs typeface="+mn-cs"/>
              </a:rPr>
              <a:t>HÍCH </a:t>
            </a:r>
            <a:r>
              <a:rPr lang="en-US" sz="1200" b="1" i="0" kern="1200" dirty="0">
                <a:solidFill>
                  <a:schemeClr val="tx1"/>
                </a:solidFill>
                <a:effectLst/>
                <a:latin typeface="+mn-lt"/>
                <a:ea typeface="+mn-ea"/>
                <a:cs typeface="+mn-cs"/>
              </a:rPr>
              <a:t>ỨNG</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VỚI </a:t>
            </a:r>
            <a:r>
              <a:rPr lang="en-US" sz="1200" b="1" i="0" kern="1200" dirty="0">
                <a:solidFill>
                  <a:schemeClr val="tx1"/>
                </a:solidFill>
                <a:effectLst/>
                <a:latin typeface="+mn-lt"/>
                <a:ea typeface="+mn-ea"/>
                <a:cs typeface="+mn-cs"/>
              </a:rPr>
              <a:t>SỰ</a:t>
            </a:r>
            <a:r>
              <a:rPr lang="vi-VN" sz="1200" b="1" i="0" kern="1200" dirty="0">
                <a:solidFill>
                  <a:schemeClr val="tx1"/>
                </a:solidFill>
                <a:effectLst/>
                <a:latin typeface="+mn-lt"/>
                <a:ea typeface="+mn-ea"/>
                <a:cs typeface="+mn-cs"/>
              </a:rPr>
              <a:t> THAY</a:t>
            </a:r>
            <a:r>
              <a:rPr lang="en-US" sz="1200" b="1" i="0" kern="1200" baseline="0" dirty="0">
                <a:solidFill>
                  <a:schemeClr val="tx1"/>
                </a:solidFill>
                <a:effectLst/>
                <a:latin typeface="+mn-lt"/>
                <a:ea typeface="+mn-ea"/>
                <a:cs typeface="+mn-cs"/>
              </a:rPr>
              <a:t>_</a:t>
            </a:r>
            <a:r>
              <a:rPr lang="vi-VN" sz="1200" b="1" i="0" kern="1200" dirty="0">
                <a:solidFill>
                  <a:schemeClr val="tx1"/>
                </a:solidFill>
                <a:effectLst/>
                <a:latin typeface="+mn-lt"/>
                <a:ea typeface="+mn-ea"/>
                <a:cs typeface="+mn-cs"/>
              </a:rPr>
              <a:t>ĐỔI MÔI TRƯỜNG NHƯ PHẦN CỨNG</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MỚI, HỆ </a:t>
            </a:r>
            <a:r>
              <a:rPr lang="en-US" sz="1200" b="1" i="0" kern="1200" dirty="0">
                <a:solidFill>
                  <a:schemeClr val="tx1"/>
                </a:solidFill>
                <a:effectLst/>
                <a:latin typeface="+mn-lt"/>
                <a:ea typeface="+mn-ea"/>
                <a:cs typeface="+mn-cs"/>
              </a:rPr>
              <a:t>ĐIỀU</a:t>
            </a:r>
            <a:r>
              <a:rPr lang="en-US" sz="1200" b="1" i="0" kern="1200" baseline="0" dirty="0">
                <a:solidFill>
                  <a:schemeClr val="tx1"/>
                </a:solidFill>
                <a:effectLst/>
                <a:latin typeface="+mn-lt"/>
                <a:ea typeface="+mn-ea"/>
                <a:cs typeface="+mn-cs"/>
              </a:rPr>
              <a:t> HÀNH</a:t>
            </a:r>
            <a:r>
              <a:rPr lang="vi-VN" sz="1200" b="1" i="0" kern="1200" dirty="0">
                <a:solidFill>
                  <a:schemeClr val="tx1"/>
                </a:solidFill>
                <a:effectLst/>
                <a:latin typeface="+mn-lt"/>
                <a:ea typeface="+mn-ea"/>
                <a:cs typeface="+mn-cs"/>
              </a:rPr>
              <a:t> MỚI; </a:t>
            </a:r>
            <a:r>
              <a:rPr lang="vi-VN" sz="1200" b="0" i="0" kern="1200" dirty="0">
                <a:solidFill>
                  <a:schemeClr val="tx1"/>
                </a:solidFill>
                <a:effectLst/>
                <a:latin typeface="+mn-lt"/>
                <a:ea typeface="+mn-ea"/>
                <a:cs typeface="+mn-cs"/>
              </a:rPr>
              <a:t>CÁC YẾU TỐ BÊN NGOÀI SẢN PHẨM NHƯ QUY TẮC KINH DOANH, LUẬT PHÁP, PHƯƠNG THỨC LÀM VIỆC,...</a:t>
            </a:r>
            <a:r>
              <a:rPr 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sym typeface="Wingdings" pitchFamily="2" charset="2"/>
              </a:rPr>
              <a:t> </a:t>
            </a:r>
            <a:r>
              <a:rPr lang="en-US" sz="1200" b="0" i="0" kern="1200" dirty="0" err="1">
                <a:solidFill>
                  <a:schemeClr val="tx1"/>
                </a:solidFill>
                <a:effectLst/>
                <a:latin typeface="+mn-lt"/>
                <a:ea typeface="+mn-ea"/>
                <a:cs typeface="+mn-cs"/>
                <a:sym typeface="Wingdings" pitchFamily="2" charset="2"/>
              </a:rPr>
              <a:t>hoạt</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động</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tính</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phí</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có</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sự</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kiểm</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tra</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giám</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sát</a:t>
            </a:r>
            <a:r>
              <a:rPr lang="en-US" sz="1200" b="0" i="0" kern="1200" baseline="0" dirty="0">
                <a:solidFill>
                  <a:schemeClr val="tx1"/>
                </a:solidFill>
                <a:effectLst/>
                <a:latin typeface="+mn-lt"/>
                <a:ea typeface="+mn-ea"/>
                <a:cs typeface="+mn-cs"/>
                <a:sym typeface="Wingdings" pitchFamily="2" charset="2"/>
              </a:rPr>
              <a:t>.</a:t>
            </a:r>
            <a:endParaRPr lang="vi-VN" sz="1200" b="0" i="0" kern="1200" dirty="0">
              <a:solidFill>
                <a:schemeClr val="tx1"/>
              </a:solidFill>
              <a:effectLst/>
              <a:latin typeface="+mn-lt"/>
              <a:ea typeface="+mn-ea"/>
              <a:cs typeface="+mn-cs"/>
            </a:endParaRPr>
          </a:p>
          <a:p>
            <a:pPr marL="457200" lvl="1" indent="0">
              <a:buFontTx/>
              <a:buNone/>
            </a:pPr>
            <a:endParaRPr lang="en-US" dirty="0"/>
          </a:p>
          <a:p>
            <a:pPr marL="457200" lvl="1" indent="0">
              <a:buFontTx/>
              <a:buNone/>
            </a:pPr>
            <a:r>
              <a:rPr lang="vi-VN" dirty="0"/>
              <a:t>■</a:t>
            </a:r>
            <a:r>
              <a:rPr lang="en-US" dirty="0"/>
              <a:t> </a:t>
            </a:r>
            <a:r>
              <a:rPr lang="vi-VN" dirty="0"/>
              <a:t>Bảo trì cải </a:t>
            </a:r>
            <a:r>
              <a:rPr lang="en-US" dirty="0" err="1"/>
              <a:t>tiến</a:t>
            </a:r>
            <a:r>
              <a:rPr lang="en-US" baseline="0" dirty="0"/>
              <a:t> </a:t>
            </a:r>
            <a:r>
              <a:rPr lang="vi-VN" dirty="0"/>
              <a:t>chức năng</a:t>
            </a:r>
            <a:r>
              <a:rPr lang="en-US" dirty="0"/>
              <a:t>: </a:t>
            </a:r>
            <a:r>
              <a:rPr lang="en-US" b="0" dirty="0" err="1"/>
              <a:t>là</a:t>
            </a:r>
            <a:r>
              <a:rPr lang="en-US" b="0" baseline="0" dirty="0"/>
              <a:t> </a:t>
            </a:r>
            <a:r>
              <a:rPr lang="vi-VN" b="0" dirty="0"/>
              <a:t>kết hợp</a:t>
            </a:r>
            <a:r>
              <a:rPr lang="en-US" b="0" dirty="0"/>
              <a:t> </a:t>
            </a:r>
            <a:r>
              <a:rPr lang="en-US" b="0" dirty="0" err="1"/>
              <a:t>của</a:t>
            </a:r>
            <a:r>
              <a:rPr lang="en-US" b="0" dirty="0"/>
              <a:t>:</a:t>
            </a:r>
            <a:r>
              <a:rPr lang="vi-VN" b="0" dirty="0"/>
              <a:t> làm hoàn thiện</a:t>
            </a:r>
            <a:r>
              <a:rPr lang="vi-VN" b="0" baseline="0" dirty="0"/>
              <a:t> (</a:t>
            </a:r>
            <a:r>
              <a:rPr lang="fr-FR" dirty="0"/>
              <a:t>perfective maintenance</a:t>
            </a:r>
            <a:r>
              <a:rPr lang="vi-VN" dirty="0"/>
              <a:t>)</a:t>
            </a:r>
            <a:r>
              <a:rPr lang="en-US" b="1" baseline="0" dirty="0"/>
              <a:t> </a:t>
            </a:r>
            <a:r>
              <a:rPr lang="vi-VN" b="0" baseline="0" dirty="0"/>
              <a:t>và</a:t>
            </a:r>
            <a:r>
              <a:rPr lang="vi-VN" b="1" baseline="0" dirty="0"/>
              <a:t> </a:t>
            </a:r>
            <a:r>
              <a:rPr lang="vi-VN" sz="1200" b="0" i="0" kern="1200" dirty="0">
                <a:solidFill>
                  <a:schemeClr val="tx1"/>
                </a:solidFill>
                <a:effectLst/>
                <a:latin typeface="+mn-lt"/>
                <a:ea typeface="+mn-ea"/>
                <a:cs typeface="+mn-cs"/>
              </a:rPr>
              <a:t>làm hệ thống dễ dàng bảo trì hơn trong những lần tiếp theo (</a:t>
            </a:r>
            <a:r>
              <a:rPr lang="fr-FR" dirty="0" err="1"/>
              <a:t>preventive</a:t>
            </a:r>
            <a:r>
              <a:rPr lang="fr-FR" dirty="0"/>
              <a:t> maintenance</a:t>
            </a:r>
            <a:r>
              <a:rPr lang="vi-VN" dirty="0"/>
              <a:t>)</a:t>
            </a:r>
            <a:r>
              <a:rPr lang="en-US" baseline="0" dirty="0"/>
              <a:t> </a:t>
            </a:r>
            <a:r>
              <a:rPr lang="en-US" sz="1200" b="0" i="0" kern="1200" dirty="0">
                <a:solidFill>
                  <a:schemeClr val="tx1"/>
                </a:solidFill>
                <a:effectLst/>
                <a:latin typeface="+mn-lt"/>
                <a:ea typeface="+mn-ea"/>
                <a:cs typeface="+mn-cs"/>
                <a:sym typeface="Wingdings" pitchFamily="2" charset="2"/>
              </a:rPr>
              <a:t> </a:t>
            </a:r>
            <a:r>
              <a:rPr lang="en-US" sz="1200" b="0" i="0" kern="1200" dirty="0" err="1">
                <a:solidFill>
                  <a:schemeClr val="tx1"/>
                </a:solidFill>
                <a:effectLst/>
                <a:latin typeface="+mn-lt"/>
                <a:ea typeface="+mn-ea"/>
                <a:cs typeface="+mn-cs"/>
                <a:sym typeface="Wingdings" pitchFamily="2" charset="2"/>
              </a:rPr>
              <a:t>hoạt</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động</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tính</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phí</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có</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sự</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kiểm</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tra</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giám</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sát</a:t>
            </a:r>
            <a:r>
              <a:rPr lang="en-US" sz="1200" b="0" i="0" kern="1200" baseline="0" dirty="0">
                <a:solidFill>
                  <a:schemeClr val="tx1"/>
                </a:solidFill>
                <a:effectLst/>
                <a:latin typeface="+mn-lt"/>
                <a:ea typeface="+mn-ea"/>
                <a:cs typeface="+mn-cs"/>
                <a:sym typeface="Wingdings" pitchFamily="2" charset="2"/>
              </a:rPr>
              <a:t>.</a:t>
            </a:r>
            <a:endParaRPr lang="en-US" baseline="0" dirty="0"/>
          </a:p>
          <a:p>
            <a:pPr marL="457200" lvl="1" indent="0">
              <a:buFontTx/>
              <a:buNone/>
            </a:pPr>
            <a:r>
              <a:rPr lang="en-US" b="1" baseline="0" dirty="0"/>
              <a:t>                - TẠI SAO PHẢI </a:t>
            </a:r>
            <a:r>
              <a:rPr lang="vi-VN" b="1" dirty="0"/>
              <a:t>LÀM HOÀN THIỆN</a:t>
            </a:r>
            <a:r>
              <a:rPr lang="en-US" b="1" dirty="0"/>
              <a:t>? - Đ</a:t>
            </a:r>
            <a:r>
              <a:rPr lang="vi-VN" sz="1200" b="1" i="0" kern="1200" dirty="0">
                <a:solidFill>
                  <a:schemeClr val="tx1"/>
                </a:solidFill>
                <a:effectLst/>
                <a:latin typeface="+mn-lt"/>
                <a:ea typeface="+mn-ea"/>
                <a:cs typeface="+mn-cs"/>
              </a:rPr>
              <a:t>Ể ĐÁP ỨNG CÁC YÊU CẦU MỚI HOẶC THAY ĐỔI CỦA </a:t>
            </a:r>
            <a:r>
              <a:rPr lang="en-US" sz="1200" b="1" i="0" kern="1200" dirty="0">
                <a:solidFill>
                  <a:schemeClr val="tx1"/>
                </a:solidFill>
                <a:effectLst/>
                <a:latin typeface="+mn-lt"/>
                <a:ea typeface="+mn-ea"/>
                <a:cs typeface="+mn-cs"/>
              </a:rPr>
              <a:t>USER.</a:t>
            </a:r>
            <a:r>
              <a:rPr lang="vi-VN"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THƯỜNG</a:t>
            </a:r>
            <a:r>
              <a:rPr lang="en-US" sz="1200" b="1" i="0" kern="1200" baseline="0" dirty="0">
                <a:solidFill>
                  <a:schemeClr val="tx1"/>
                </a:solidFill>
                <a:effectLst/>
                <a:latin typeface="+mn-lt"/>
                <a:ea typeface="+mn-ea"/>
                <a:cs typeface="+mn-cs"/>
              </a:rPr>
              <a:t> LÀ</a:t>
            </a:r>
            <a:r>
              <a:rPr lang="vi-VN" sz="1200" b="1" i="0" kern="1200" dirty="0">
                <a:solidFill>
                  <a:schemeClr val="tx1"/>
                </a:solidFill>
                <a:effectLst/>
                <a:latin typeface="+mn-lt"/>
                <a:ea typeface="+mn-ea"/>
                <a:cs typeface="+mn-cs"/>
              </a:rPr>
              <a:t> CÁC HOẠT ĐỘNG TĂNG CƯỜNG HIỆU NĂNG CỦA HỆ THỐNG, HOẶC ĐƠN GIẢN LÀ CẢI THIỆN GIAO DIỆN.</a:t>
            </a:r>
            <a:endParaRPr lang="en-US" sz="1200" b="1" i="0" kern="1200" dirty="0">
              <a:solidFill>
                <a:schemeClr val="tx1"/>
              </a:solidFill>
              <a:effectLst/>
              <a:latin typeface="+mn-lt"/>
              <a:ea typeface="+mn-ea"/>
              <a:cs typeface="+mn-cs"/>
            </a:endParaRPr>
          </a:p>
          <a:p>
            <a:pPr marL="457200" lvl="1" indent="0">
              <a:buFontTx/>
              <a:buNone/>
            </a:pPr>
            <a:r>
              <a:rPr lang="vi-VN" sz="1200" b="1" i="0" kern="1200" dirty="0">
                <a:solidFill>
                  <a:schemeClr val="tx1"/>
                </a:solidFill>
                <a:effectLst/>
                <a:latin typeface="+mn-lt"/>
                <a:ea typeface="+mn-ea"/>
                <a:cs typeface="+mn-cs"/>
              </a:rPr>
              <a:t>NGUYÊN NHÂN LÀ </a:t>
            </a:r>
            <a:r>
              <a:rPr lang="en-US" sz="1200" b="1" i="0" kern="1200" dirty="0">
                <a:solidFill>
                  <a:schemeClr val="tx1"/>
                </a:solidFill>
                <a:effectLst/>
                <a:latin typeface="+mn-lt"/>
                <a:ea typeface="+mn-ea"/>
                <a:cs typeface="+mn-cs"/>
              </a:rPr>
              <a:t>SAU MỘT</a:t>
            </a:r>
            <a:r>
              <a:rPr lang="en-US" sz="1200" b="1" i="0" kern="1200" baseline="0" dirty="0">
                <a:solidFill>
                  <a:schemeClr val="tx1"/>
                </a:solidFill>
                <a:effectLst/>
                <a:latin typeface="+mn-lt"/>
                <a:ea typeface="+mn-ea"/>
                <a:cs typeface="+mn-cs"/>
              </a:rPr>
              <a:t> THỜI GIAN SỬ DỤNG</a:t>
            </a:r>
            <a:r>
              <a:rPr lang="vi-VN" sz="1200" b="1" i="0" kern="1200" dirty="0">
                <a:solidFill>
                  <a:schemeClr val="tx1"/>
                </a:solidFill>
                <a:effectLst/>
                <a:latin typeface="+mn-lt"/>
                <a:ea typeface="+mn-ea"/>
                <a:cs typeface="+mn-cs"/>
              </a:rPr>
              <a:t>, NGƯỜI SỬ DỤNG SẼ BẮT ĐẦU KHÁM PHÁ NHỮNG YÊU CẦU MỚI, NGOÀI YÊU CẦU MÀ HỌ ĐÃ ĐỀ RA BAN ĐẦU, DO ĐÓ, CẦN CẢI TIẾN CÁC CHỨC NĂNG.</a:t>
            </a:r>
            <a:endParaRPr lang="vi-VN" b="1" u="sng" dirty="0"/>
          </a:p>
          <a:p>
            <a:r>
              <a:rPr lang="vi-VN" sz="1200" b="0" i="0" kern="1200" dirty="0">
                <a:solidFill>
                  <a:schemeClr val="tx1"/>
                </a:solidFill>
                <a:effectLst/>
                <a:latin typeface="+mn-lt"/>
                <a:ea typeface="+mn-ea"/>
                <a:cs typeface="+mn-cs"/>
              </a:rPr>
              <a:t>Bảo trì phần mềm có thể chiếm đến 65%-75% công sức trong chu kỳ sống của một phần mềm</a:t>
            </a:r>
          </a:p>
        </p:txBody>
      </p:sp>
      <p:sp>
        <p:nvSpPr>
          <p:cNvPr id="4" name="Slide Number Placeholder 3"/>
          <p:cNvSpPr>
            <a:spLocks noGrp="1"/>
          </p:cNvSpPr>
          <p:nvPr>
            <p:ph type="sldNum" sz="quarter" idx="10"/>
          </p:nvPr>
        </p:nvSpPr>
        <p:spPr/>
        <p:txBody>
          <a:bodyPr/>
          <a:lstStyle/>
          <a:p>
            <a:fld id="{A63B9007-0201-49BE-A587-7F882848EC05}" type="slidenum">
              <a:rPr lang="en-US" smtClean="0"/>
              <a:t>81</a:t>
            </a:fld>
            <a:endParaRPr lang="en-US"/>
          </a:p>
        </p:txBody>
      </p:sp>
    </p:spTree>
    <p:extLst>
      <p:ext uri="{BB962C8B-B14F-4D97-AF65-F5344CB8AC3E}">
        <p14:creationId xmlns:p14="http://schemas.microsoft.com/office/powerpoint/2010/main" val="80900192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baseline="0" dirty="0"/>
              <a:t>L</a:t>
            </a:r>
            <a:r>
              <a:rPr lang="en-US" b="1" baseline="0" dirty="0" err="1"/>
              <a:t>àm</a:t>
            </a:r>
            <a:r>
              <a:rPr lang="en-US" b="1" baseline="0" dirty="0"/>
              <a:t> </a:t>
            </a:r>
            <a:r>
              <a:rPr lang="en-US" b="1" baseline="0" dirty="0" err="1"/>
              <a:t>thế</a:t>
            </a:r>
            <a:r>
              <a:rPr lang="en-US" b="1" baseline="0" dirty="0"/>
              <a:t> </a:t>
            </a:r>
            <a:r>
              <a:rPr lang="en-US" b="1" baseline="0" dirty="0" err="1"/>
              <a:t>nào</a:t>
            </a:r>
            <a:r>
              <a:rPr lang="en-US" b="1" baseline="0" dirty="0"/>
              <a:t> </a:t>
            </a:r>
            <a:r>
              <a:rPr lang="en-US" b="1" baseline="0" dirty="0" err="1"/>
              <a:t>để</a:t>
            </a:r>
            <a:r>
              <a:rPr lang="en-US" b="1" baseline="0" dirty="0"/>
              <a:t> </a:t>
            </a:r>
            <a:r>
              <a:rPr lang="en-US" b="1" baseline="0" dirty="0" err="1"/>
              <a:t>bảo</a:t>
            </a:r>
            <a:r>
              <a:rPr lang="en-US" b="1" baseline="0" dirty="0"/>
              <a:t> </a:t>
            </a:r>
            <a:r>
              <a:rPr lang="en-US" b="1" baseline="0" dirty="0" err="1"/>
              <a:t>trì</a:t>
            </a:r>
            <a:r>
              <a:rPr lang="en-US" b="1" baseline="0" dirty="0"/>
              <a:t> </a:t>
            </a:r>
            <a:r>
              <a:rPr lang="en-US" b="1" baseline="0" dirty="0" err="1"/>
              <a:t>có</a:t>
            </a:r>
            <a:r>
              <a:rPr lang="en-US" b="1" baseline="0" dirty="0"/>
              <a:t> </a:t>
            </a:r>
            <a:r>
              <a:rPr lang="en-US" b="1" baseline="0" dirty="0" err="1"/>
              <a:t>chất</a:t>
            </a:r>
            <a:r>
              <a:rPr lang="en-US" b="1" baseline="0" dirty="0"/>
              <a:t> </a:t>
            </a:r>
            <a:r>
              <a:rPr lang="en-US" b="1" baseline="0" dirty="0" err="1"/>
              <a:t>lượng</a:t>
            </a:r>
            <a:r>
              <a:rPr lang="vi-VN" b="1" baseline="0" dirty="0"/>
              <a:t>?</a:t>
            </a:r>
            <a:r>
              <a:rPr lang="en-US" b="1" baseline="0" dirty="0"/>
              <a:t> </a:t>
            </a:r>
            <a:r>
              <a:rPr lang="en-US" b="1" baseline="0" dirty="0" err="1"/>
              <a:t>Có</a:t>
            </a:r>
            <a:r>
              <a:rPr lang="en-US" b="1" baseline="0" dirty="0"/>
              <a:t> 2 </a:t>
            </a:r>
            <a:r>
              <a:rPr lang="en-US" b="1" baseline="0" dirty="0" err="1"/>
              <a:t>cơ</a:t>
            </a:r>
            <a:r>
              <a:rPr lang="en-US" b="1" baseline="0" dirty="0"/>
              <a:t> </a:t>
            </a:r>
            <a:r>
              <a:rPr lang="en-US" b="1" baseline="0" dirty="0" err="1"/>
              <a:t>sở</a:t>
            </a:r>
            <a:r>
              <a:rPr lang="en-US" b="1" baseline="0" dirty="0"/>
              <a:t>:</a:t>
            </a:r>
          </a:p>
          <a:p>
            <a:pPr marL="0" indent="0">
              <a:buFontTx/>
              <a:buNone/>
            </a:pPr>
            <a:r>
              <a:rPr lang="en-US" b="0" baseline="0" dirty="0"/>
              <a:t>CS </a:t>
            </a:r>
            <a:r>
              <a:rPr lang="en-US" b="0" baseline="0" dirty="0" err="1"/>
              <a:t>thứ</a:t>
            </a:r>
            <a:r>
              <a:rPr lang="en-US" b="0" baseline="0" dirty="0"/>
              <a:t> </a:t>
            </a:r>
            <a:r>
              <a:rPr lang="en-US" b="0" baseline="0" dirty="0" err="1"/>
              <a:t>nhất</a:t>
            </a:r>
            <a:r>
              <a:rPr lang="en-US" b="0" baseline="0" dirty="0"/>
              <a:t>: </a:t>
            </a:r>
            <a:r>
              <a:rPr lang="en-US" b="0" baseline="0" dirty="0" err="1"/>
              <a:t>Chất</a:t>
            </a:r>
            <a:r>
              <a:rPr lang="en-US" b="0" baseline="0" dirty="0"/>
              <a:t> </a:t>
            </a:r>
            <a:r>
              <a:rPr lang="en-US" b="0" baseline="0" dirty="0" err="1"/>
              <a:t>lượng</a:t>
            </a:r>
            <a:r>
              <a:rPr lang="en-US" b="0" baseline="0" dirty="0"/>
              <a:t> </a:t>
            </a:r>
            <a:r>
              <a:rPr lang="en-US" b="0" baseline="0" dirty="0" err="1"/>
              <a:t>của</a:t>
            </a:r>
            <a:r>
              <a:rPr lang="en-US" b="0" baseline="0" dirty="0"/>
              <a:t> </a:t>
            </a:r>
            <a:r>
              <a:rPr lang="en-US" b="0" baseline="0" dirty="0" err="1"/>
              <a:t>gói</a:t>
            </a:r>
            <a:r>
              <a:rPr lang="en-US" b="0" baseline="0" dirty="0"/>
              <a:t> PM (</a:t>
            </a:r>
            <a:r>
              <a:rPr lang="en-US" b="0" baseline="0" dirty="0" err="1"/>
              <a:t>quan</a:t>
            </a:r>
            <a:r>
              <a:rPr lang="en-US" b="0" baseline="0" dirty="0"/>
              <a:t> </a:t>
            </a:r>
            <a:r>
              <a:rPr lang="en-US" b="0" baseline="0" dirty="0" err="1"/>
              <a:t>trọng</a:t>
            </a:r>
            <a:r>
              <a:rPr lang="en-US" b="0" baseline="0" dirty="0"/>
              <a:t> </a:t>
            </a:r>
            <a:r>
              <a:rPr lang="en-US" b="0" baseline="0" dirty="0" err="1"/>
              <a:t>nhất</a:t>
            </a:r>
            <a:r>
              <a:rPr lang="en-US" b="0" baseline="0" dirty="0"/>
              <a:t>)</a:t>
            </a:r>
          </a:p>
          <a:p>
            <a:pPr marL="0" indent="0">
              <a:buFontTx/>
              <a:buNone/>
            </a:pPr>
            <a:r>
              <a:rPr lang="en-US" b="0" baseline="0" dirty="0"/>
              <a:t>CS </a:t>
            </a:r>
            <a:r>
              <a:rPr lang="en-US" b="0" baseline="0" dirty="0" err="1"/>
              <a:t>thứ</a:t>
            </a:r>
            <a:r>
              <a:rPr lang="en-US" b="0" baseline="0" dirty="0"/>
              <a:t> </a:t>
            </a:r>
            <a:r>
              <a:rPr lang="en-US" b="0" baseline="0" dirty="0" err="1"/>
              <a:t>hai</a:t>
            </a:r>
            <a:r>
              <a:rPr lang="en-US" b="0" baseline="0" dirty="0"/>
              <a:t>: </a:t>
            </a:r>
            <a:r>
              <a:rPr lang="en-US" b="0" baseline="0" dirty="0" err="1"/>
              <a:t>Chính</a:t>
            </a:r>
            <a:r>
              <a:rPr lang="en-US" b="0" baseline="0" dirty="0"/>
              <a:t> </a:t>
            </a:r>
            <a:r>
              <a:rPr lang="en-US" b="0" baseline="0" dirty="0" err="1"/>
              <a:t>sách</a:t>
            </a:r>
            <a:r>
              <a:rPr lang="en-US" b="0" baseline="0" dirty="0"/>
              <a:t> </a:t>
            </a:r>
            <a:r>
              <a:rPr lang="en-US" b="0" baseline="0" dirty="0" err="1"/>
              <a:t>bảo</a:t>
            </a:r>
            <a:r>
              <a:rPr lang="en-US" b="0" baseline="0" dirty="0"/>
              <a:t> </a:t>
            </a:r>
            <a:r>
              <a:rPr lang="en-US" b="0" baseline="0" dirty="0" err="1"/>
              <a:t>trì</a:t>
            </a:r>
            <a:r>
              <a:rPr lang="en-US" b="0" baseline="0" dirty="0"/>
              <a:t> (</a:t>
            </a:r>
            <a:r>
              <a:rPr lang="en-US" b="0" baseline="0" dirty="0" err="1"/>
              <a:t>phụ</a:t>
            </a:r>
            <a:r>
              <a:rPr lang="en-US" b="0" baseline="0"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vi-VN" dirty="0"/>
          </a:p>
          <a:p>
            <a:r>
              <a:rPr lang="en-US" dirty="0"/>
              <a:t>Quy </a:t>
            </a:r>
            <a:r>
              <a:rPr lang="en-US" dirty="0" err="1"/>
              <a:t>trình</a:t>
            </a:r>
            <a:r>
              <a:rPr lang="en-US" baseline="0" dirty="0"/>
              <a:t> </a:t>
            </a:r>
            <a:r>
              <a:rPr lang="en-US" baseline="0" dirty="0" err="1"/>
              <a:t>chung</a:t>
            </a:r>
            <a:r>
              <a:rPr lang="en-US" baseline="0" dirty="0"/>
              <a:t> </a:t>
            </a:r>
            <a:r>
              <a:rPr lang="en-US" baseline="0" dirty="0" err="1"/>
              <a:t>của</a:t>
            </a:r>
            <a:r>
              <a:rPr lang="en-US" baseline="0" dirty="0"/>
              <a:t> </a:t>
            </a:r>
            <a:r>
              <a:rPr lang="en-US" baseline="0" dirty="0" err="1"/>
              <a:t>việc</a:t>
            </a:r>
            <a:r>
              <a:rPr lang="en-US" baseline="0" dirty="0"/>
              <a:t> </a:t>
            </a:r>
            <a:r>
              <a:rPr lang="en-US" baseline="0" dirty="0" err="1"/>
              <a:t>bảo</a:t>
            </a:r>
            <a:r>
              <a:rPr lang="en-US" baseline="0" dirty="0"/>
              <a:t> </a:t>
            </a:r>
            <a:r>
              <a:rPr lang="en-US" baseline="0" dirty="0" err="1"/>
              <a:t>trì</a:t>
            </a:r>
            <a:r>
              <a:rPr lang="en-US" baseline="0" dirty="0"/>
              <a:t> </a:t>
            </a:r>
            <a:r>
              <a:rPr lang="en-US" baseline="0" dirty="0" err="1"/>
              <a:t>phần</a:t>
            </a:r>
            <a:r>
              <a:rPr lang="en-US" baseline="0" dirty="0"/>
              <a:t> </a:t>
            </a:r>
            <a:r>
              <a:rPr lang="en-US" baseline="0" dirty="0" err="1"/>
              <a:t>mềm</a:t>
            </a:r>
            <a:r>
              <a:rPr lang="en-US" baseline="0" dirty="0"/>
              <a:t> :</a:t>
            </a:r>
          </a:p>
          <a:p>
            <a:pPr marL="0" indent="0">
              <a:buFontTx/>
              <a:buNone/>
            </a:pPr>
            <a:r>
              <a:rPr lang="en-US" baseline="0" dirty="0"/>
              <a:t>- </a:t>
            </a:r>
            <a:r>
              <a:rPr lang="en-US" baseline="0" dirty="0" err="1"/>
              <a:t>Khách</a:t>
            </a:r>
            <a:r>
              <a:rPr lang="en-US" baseline="0" dirty="0"/>
              <a:t> </a:t>
            </a:r>
            <a:r>
              <a:rPr lang="en-US" baseline="0" dirty="0" err="1"/>
              <a:t>hàng</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yêu</a:t>
            </a:r>
            <a:r>
              <a:rPr lang="en-US" baseline="0" dirty="0"/>
              <a:t> </a:t>
            </a:r>
            <a:r>
              <a:rPr lang="en-US" baseline="0" dirty="0" err="1"/>
              <a:t>cầu</a:t>
            </a:r>
            <a:r>
              <a:rPr lang="en-US" baseline="0" dirty="0"/>
              <a:t> </a:t>
            </a:r>
            <a:r>
              <a:rPr lang="en-US" baseline="0" dirty="0" err="1"/>
              <a:t>phần</a:t>
            </a:r>
            <a:r>
              <a:rPr lang="en-US" baseline="0" dirty="0"/>
              <a:t> </a:t>
            </a:r>
            <a:r>
              <a:rPr lang="en-US" baseline="0" dirty="0" err="1"/>
              <a:t>mềm</a:t>
            </a:r>
            <a:endParaRPr lang="en-US" baseline="0" dirty="0"/>
          </a:p>
          <a:p>
            <a:pPr marL="0" indent="0">
              <a:buFontTx/>
              <a:buNone/>
            </a:pPr>
            <a:r>
              <a:rPr lang="en-US" baseline="0" dirty="0"/>
              <a:t>- </a:t>
            </a:r>
            <a:r>
              <a:rPr lang="en-US" baseline="0" dirty="0" err="1"/>
              <a:t>Bên</a:t>
            </a:r>
            <a:r>
              <a:rPr lang="en-US" baseline="0" dirty="0"/>
              <a:t> </a:t>
            </a:r>
            <a:r>
              <a:rPr lang="en-US" baseline="0" dirty="0" err="1"/>
              <a:t>chịu</a:t>
            </a:r>
            <a:r>
              <a:rPr lang="en-US" baseline="0" dirty="0"/>
              <a:t> </a:t>
            </a:r>
            <a:r>
              <a:rPr lang="en-US" baseline="0" dirty="0" err="1"/>
              <a:t>trách</a:t>
            </a:r>
            <a:r>
              <a:rPr lang="en-US" baseline="0" dirty="0"/>
              <a:t> </a:t>
            </a:r>
            <a:r>
              <a:rPr lang="en-US" baseline="0" dirty="0" err="1"/>
              <a:t>nhiệm</a:t>
            </a:r>
            <a:r>
              <a:rPr lang="en-US" baseline="0" dirty="0"/>
              <a:t> </a:t>
            </a:r>
            <a:r>
              <a:rPr lang="en-US" baseline="0" dirty="0" err="1"/>
              <a:t>bảo</a:t>
            </a:r>
            <a:r>
              <a:rPr lang="en-US" baseline="0" dirty="0"/>
              <a:t> </a:t>
            </a:r>
            <a:r>
              <a:rPr lang="en-US" baseline="0" dirty="0" err="1"/>
              <a:t>trì</a:t>
            </a:r>
            <a:r>
              <a:rPr lang="en-US" baseline="0" dirty="0"/>
              <a:t> </a:t>
            </a:r>
            <a:r>
              <a:rPr lang="en-US" baseline="0" dirty="0" err="1"/>
              <a:t>chuyển</a:t>
            </a:r>
            <a:r>
              <a:rPr lang="en-US" baseline="0" dirty="0"/>
              <a:t> </a:t>
            </a:r>
            <a:r>
              <a:rPr lang="en-US" baseline="0" dirty="0" err="1"/>
              <a:t>thành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bảo</a:t>
            </a:r>
            <a:r>
              <a:rPr lang="en-US" baseline="0" dirty="0"/>
              <a:t> </a:t>
            </a:r>
            <a:r>
              <a:rPr lang="en-US" baseline="0" dirty="0" err="1"/>
              <a:t>trì</a:t>
            </a:r>
            <a:r>
              <a:rPr lang="en-US" baseline="0" dirty="0"/>
              <a:t> (Maintenance Request) </a:t>
            </a:r>
            <a:r>
              <a:rPr lang="en-US" baseline="0" dirty="0" err="1"/>
              <a:t>rồi</a:t>
            </a:r>
            <a:r>
              <a:rPr lang="en-US" baseline="0" dirty="0"/>
              <a:t> </a:t>
            </a:r>
            <a:r>
              <a:rPr lang="en-US" baseline="0" dirty="0" err="1"/>
              <a:t>chuyển</a:t>
            </a:r>
            <a:r>
              <a:rPr lang="en-US" baseline="0" dirty="0"/>
              <a:t> </a:t>
            </a:r>
            <a:r>
              <a:rPr lang="en-US" baseline="0" dirty="0" err="1"/>
              <a:t>cho</a:t>
            </a:r>
            <a:r>
              <a:rPr lang="en-US" baseline="0" dirty="0"/>
              <a:t> </a:t>
            </a:r>
            <a:r>
              <a:rPr lang="en-US" baseline="0" dirty="0" err="1"/>
              <a:t>người</a:t>
            </a:r>
            <a:r>
              <a:rPr lang="en-US" baseline="0" dirty="0"/>
              <a:t> </a:t>
            </a:r>
            <a:r>
              <a:rPr lang="en-US" baseline="0" dirty="0" err="1"/>
              <a:t>quản</a:t>
            </a:r>
            <a:r>
              <a:rPr lang="en-US" baseline="0" dirty="0"/>
              <a:t> </a:t>
            </a:r>
            <a:r>
              <a:rPr lang="en-US" baseline="0" dirty="0" err="1"/>
              <a:t>lí</a:t>
            </a:r>
            <a:r>
              <a:rPr lang="en-US" baseline="0" dirty="0"/>
              <a:t> </a:t>
            </a:r>
            <a:r>
              <a:rPr lang="vi-VN" baseline="0" dirty="0"/>
              <a:t>tiến </a:t>
            </a:r>
            <a:r>
              <a:rPr lang="en-US" baseline="0" dirty="0" err="1"/>
              <a:t>trình</a:t>
            </a:r>
            <a:r>
              <a:rPr lang="en-US" baseline="0" dirty="0"/>
              <a:t> </a:t>
            </a:r>
            <a:r>
              <a:rPr lang="en-US" baseline="0" dirty="0" err="1"/>
              <a:t>bảo</a:t>
            </a:r>
            <a:r>
              <a:rPr lang="en-US" baseline="0" dirty="0"/>
              <a:t> </a:t>
            </a:r>
            <a:r>
              <a:rPr lang="en-US" baseline="0" dirty="0" err="1"/>
              <a:t>trì</a:t>
            </a:r>
            <a:r>
              <a:rPr lang="en-US" baseline="0" dirty="0"/>
              <a:t> (Maintenance manager)</a:t>
            </a:r>
          </a:p>
          <a:p>
            <a:pPr marL="0" indent="0">
              <a:buFontTx/>
              <a:buNone/>
            </a:pPr>
            <a:r>
              <a:rPr lang="en-US" baseline="0" dirty="0"/>
              <a:t>- Maintenance manager </a:t>
            </a:r>
            <a:r>
              <a:rPr lang="en-US" baseline="0" dirty="0" err="1"/>
              <a:t>nếu</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việc</a:t>
            </a:r>
            <a:r>
              <a:rPr lang="en-US" baseline="0" dirty="0"/>
              <a:t> </a:t>
            </a:r>
            <a:r>
              <a:rPr lang="en-US" baseline="0" dirty="0" err="1"/>
              <a:t>bảo</a:t>
            </a:r>
            <a:r>
              <a:rPr lang="en-US" baseline="0" dirty="0"/>
              <a:t> </a:t>
            </a:r>
            <a:r>
              <a:rPr lang="en-US" baseline="0" dirty="0" err="1"/>
              <a:t>trì</a:t>
            </a:r>
            <a:r>
              <a:rPr lang="en-US" baseline="0" dirty="0"/>
              <a:t> </a:t>
            </a:r>
            <a:r>
              <a:rPr lang="en-US" baseline="0" dirty="0" err="1"/>
              <a:t>thì</a:t>
            </a:r>
            <a:r>
              <a:rPr lang="en-US" baseline="0" dirty="0"/>
              <a:t> </a:t>
            </a:r>
            <a:r>
              <a:rPr lang="en-US" baseline="0" dirty="0" err="1"/>
              <a:t>sẽ</a:t>
            </a:r>
            <a:r>
              <a:rPr lang="en-US" baseline="0" dirty="0"/>
              <a:t> </a:t>
            </a:r>
            <a:r>
              <a:rPr lang="en-US" baseline="0" dirty="0" err="1"/>
              <a:t>chuyển</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và</a:t>
            </a:r>
            <a:r>
              <a:rPr lang="en-US" baseline="0" dirty="0"/>
              <a:t> source code </a:t>
            </a:r>
            <a:r>
              <a:rPr lang="en-US" baseline="0" dirty="0" err="1"/>
              <a:t>cho</a:t>
            </a:r>
            <a:r>
              <a:rPr lang="en-US" baseline="0" dirty="0"/>
              <a:t> </a:t>
            </a:r>
            <a:r>
              <a:rPr lang="en-US" baseline="0" dirty="0" err="1"/>
              <a:t>các</a:t>
            </a:r>
            <a:r>
              <a:rPr lang="en-US" baseline="0" dirty="0"/>
              <a:t> </a:t>
            </a:r>
            <a:r>
              <a:rPr lang="en-US" baseline="0" dirty="0" err="1"/>
              <a:t>lập</a:t>
            </a:r>
            <a:r>
              <a:rPr lang="en-US" baseline="0" dirty="0"/>
              <a:t> </a:t>
            </a:r>
            <a:r>
              <a:rPr lang="en-US" baseline="0" dirty="0" err="1"/>
              <a:t>trình</a:t>
            </a:r>
            <a:r>
              <a:rPr lang="en-US" baseline="0" dirty="0"/>
              <a:t> </a:t>
            </a:r>
            <a:r>
              <a:rPr lang="en-US" baseline="0" dirty="0" err="1"/>
              <a:t>viên</a:t>
            </a:r>
            <a:endParaRPr lang="en-US" baseline="0" dirty="0"/>
          </a:p>
          <a:p>
            <a:pPr marL="0" indent="0">
              <a:buFontTx/>
              <a:buNone/>
            </a:pPr>
            <a:r>
              <a:rPr lang="en-US" baseline="0" dirty="0"/>
              <a:t>- </a:t>
            </a:r>
            <a:r>
              <a:rPr lang="en-US" baseline="0" dirty="0" err="1"/>
              <a:t>Lập</a:t>
            </a:r>
            <a:r>
              <a:rPr lang="en-US" baseline="0" dirty="0"/>
              <a:t> </a:t>
            </a:r>
            <a:r>
              <a:rPr lang="en-US" baseline="0" dirty="0" err="1"/>
              <a:t>trình</a:t>
            </a:r>
            <a:r>
              <a:rPr lang="en-US" baseline="0" dirty="0"/>
              <a:t> </a:t>
            </a:r>
            <a:r>
              <a:rPr lang="en-US" baseline="0" dirty="0" err="1"/>
              <a:t>viên</a:t>
            </a:r>
            <a:r>
              <a:rPr lang="en-US" baseline="0" dirty="0"/>
              <a:t> </a:t>
            </a:r>
            <a:r>
              <a:rPr lang="en-US" baseline="0" dirty="0" err="1"/>
              <a:t>chỉnh</a:t>
            </a:r>
            <a:r>
              <a:rPr lang="en-US" baseline="0" dirty="0"/>
              <a:t> </a:t>
            </a:r>
            <a:r>
              <a:rPr lang="en-US" baseline="0" dirty="0" err="1"/>
              <a:t>sửa</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và</a:t>
            </a:r>
            <a:r>
              <a:rPr lang="en-US" baseline="0" dirty="0"/>
              <a:t> source code </a:t>
            </a:r>
            <a:r>
              <a:rPr lang="en-US" baseline="0" dirty="0" err="1"/>
              <a:t>cho</a:t>
            </a:r>
            <a:r>
              <a:rPr lang="en-US" baseline="0" dirty="0"/>
              <a:t>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yêu</a:t>
            </a:r>
            <a:r>
              <a:rPr lang="en-US" baseline="0" dirty="0"/>
              <a:t> </a:t>
            </a:r>
            <a:r>
              <a:rPr lang="en-US" baseline="0" dirty="0" err="1"/>
              <a:t>cầu</a:t>
            </a:r>
            <a:r>
              <a:rPr lang="en-US" baseline="0" dirty="0"/>
              <a:t> </a:t>
            </a:r>
            <a:r>
              <a:rPr lang="en-US" baseline="0" dirty="0" err="1"/>
              <a:t>mới</a:t>
            </a:r>
            <a:r>
              <a:rPr lang="en-US" baseline="0" dirty="0"/>
              <a:t>, </a:t>
            </a:r>
            <a:r>
              <a:rPr lang="en-US" baseline="0" dirty="0" err="1"/>
              <a:t>sau</a:t>
            </a:r>
            <a:r>
              <a:rPr lang="en-US" baseline="0" dirty="0"/>
              <a:t> </a:t>
            </a:r>
            <a:r>
              <a:rPr lang="en-US" baseline="0" dirty="0" err="1"/>
              <a:t>đó</a:t>
            </a:r>
            <a:r>
              <a:rPr lang="en-US" baseline="0" dirty="0"/>
              <a:t> </a:t>
            </a:r>
            <a:r>
              <a:rPr lang="en-US" baseline="0" dirty="0" err="1"/>
              <a:t>chuyển</a:t>
            </a:r>
            <a:r>
              <a:rPr lang="en-US" baseline="0" dirty="0"/>
              <a:t> </a:t>
            </a:r>
            <a:r>
              <a:rPr lang="en-US" baseline="0" dirty="0" err="1"/>
              <a:t>ngược</a:t>
            </a:r>
            <a:r>
              <a:rPr lang="en-US" baseline="0" dirty="0"/>
              <a:t> </a:t>
            </a:r>
            <a:r>
              <a:rPr lang="en-US" baseline="0" dirty="0" err="1"/>
              <a:t>lại</a:t>
            </a:r>
            <a:r>
              <a:rPr lang="en-US" baseline="0" dirty="0"/>
              <a:t> </a:t>
            </a:r>
            <a:r>
              <a:rPr lang="en-US" baseline="0" dirty="0" err="1"/>
              <a:t>cho</a:t>
            </a:r>
            <a:r>
              <a:rPr lang="en-US" baseline="0" dirty="0"/>
              <a:t> Maintenance manager </a:t>
            </a:r>
            <a:r>
              <a:rPr lang="en-US" baseline="0" dirty="0" err="1"/>
              <a:t>và</a:t>
            </a:r>
            <a:r>
              <a:rPr lang="en-US" baseline="0" dirty="0"/>
              <a:t> </a:t>
            </a:r>
            <a:r>
              <a:rPr lang="en-US" baseline="0" dirty="0" err="1"/>
              <a:t>giao</a:t>
            </a:r>
            <a:r>
              <a:rPr lang="en-US" baseline="0" dirty="0"/>
              <a:t> </a:t>
            </a:r>
            <a:r>
              <a:rPr lang="en-US" baseline="0" dirty="0" err="1"/>
              <a:t>cho</a:t>
            </a:r>
            <a:r>
              <a:rPr lang="en-US" baseline="0" dirty="0"/>
              <a:t> </a:t>
            </a:r>
            <a:r>
              <a:rPr lang="en-US" baseline="0" dirty="0" err="1"/>
              <a:t>khách</a:t>
            </a:r>
            <a:r>
              <a:rPr lang="en-US" baseline="0" dirty="0"/>
              <a:t> </a:t>
            </a:r>
            <a:r>
              <a:rPr lang="en-US" baseline="0" dirty="0" err="1"/>
              <a:t>hàng</a:t>
            </a:r>
            <a:endParaRPr lang="en-US" baseline="0" dirty="0"/>
          </a:p>
        </p:txBody>
      </p:sp>
      <p:sp>
        <p:nvSpPr>
          <p:cNvPr id="4" name="Slide Number Placeholder 3"/>
          <p:cNvSpPr>
            <a:spLocks noGrp="1"/>
          </p:cNvSpPr>
          <p:nvPr>
            <p:ph type="sldNum" sz="quarter" idx="10"/>
          </p:nvPr>
        </p:nvSpPr>
        <p:spPr/>
        <p:txBody>
          <a:bodyPr/>
          <a:lstStyle/>
          <a:p>
            <a:fld id="{A63B9007-0201-49BE-A587-7F882848EC05}" type="slidenum">
              <a:rPr lang="en-US" smtClean="0"/>
              <a:t>82</a:t>
            </a:fld>
            <a:endParaRPr lang="en-US"/>
          </a:p>
        </p:txBody>
      </p:sp>
    </p:spTree>
    <p:extLst>
      <p:ext uri="{BB962C8B-B14F-4D97-AF65-F5344CB8AC3E}">
        <p14:creationId xmlns:p14="http://schemas.microsoft.com/office/powerpoint/2010/main" val="352769198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baseline="0" dirty="0">
                <a:solidFill>
                  <a:schemeClr val="tx1"/>
                </a:solidFill>
                <a:effectLst/>
                <a:latin typeface="+mn-lt"/>
                <a:ea typeface="+mn-ea"/>
                <a:cs typeface="+mn-cs"/>
              </a:rPr>
              <a:t>NGTA RÚT RA ĐC KINH NGHIỆM: </a:t>
            </a:r>
            <a:r>
              <a:rPr lang="en-US" sz="1200" b="1" i="0" kern="1200" baseline="0" dirty="0" err="1">
                <a:solidFill>
                  <a:schemeClr val="tx1"/>
                </a:solidFill>
                <a:effectLst/>
                <a:latin typeface="+mn-lt"/>
                <a:ea typeface="+mn-ea"/>
                <a:cs typeface="+mn-cs"/>
              </a:rPr>
              <a:t>Viết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chạy</a:t>
            </a:r>
            <a:r>
              <a:rPr lang="en-US" sz="1200" b="1" i="0" kern="1200" baseline="0" dirty="0">
                <a:solidFill>
                  <a:schemeClr val="tx1"/>
                </a:solidFill>
                <a:effectLst/>
                <a:latin typeface="+mn-lt"/>
                <a:ea typeface="+mn-ea"/>
                <a:cs typeface="+mn-cs"/>
              </a:rPr>
              <a:t> </a:t>
            </a:r>
            <a:r>
              <a:rPr lang="vi-VN" sz="1200" b="1" i="0" kern="1200" baseline="0" dirty="0" err="1">
                <a:solidFill>
                  <a:schemeClr val="tx1"/>
                </a:solidFill>
                <a:effectLst/>
                <a:latin typeface="+mn-lt"/>
                <a:ea typeface="+mn-ea"/>
                <a:cs typeface="+mn-cs"/>
              </a:rPr>
              <a:t>đượ</a:t>
            </a:r>
            <a:r>
              <a:rPr lang="en-US" sz="1200" b="1" i="0" kern="1200" baseline="0" dirty="0">
                <a:solidFill>
                  <a:schemeClr val="tx1"/>
                </a:solidFill>
                <a:effectLst/>
                <a:latin typeface="+mn-lt"/>
                <a:ea typeface="+mn-ea"/>
                <a:cs typeface="+mn-cs"/>
              </a:rPr>
              <a:t>c </a:t>
            </a:r>
            <a:r>
              <a:rPr lang="en-US" sz="1200" b="1" i="0" kern="1200" baseline="0" dirty="0" err="1">
                <a:solidFill>
                  <a:schemeClr val="tx1"/>
                </a:solidFill>
                <a:effectLst/>
                <a:latin typeface="+mn-lt"/>
                <a:ea typeface="+mn-ea"/>
                <a:cs typeface="+mn-cs"/>
              </a:rPr>
              <a:t>đúng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là</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quan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trọng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nhưng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khi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không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quan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trọng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bằng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viết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sao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cho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dễ</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hiểu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dễ</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sửa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Vì</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thực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tế</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ngta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thấy</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là</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những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đoạn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rất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phức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tạp</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khó</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hiểu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và</a:t>
            </a:r>
            <a:r>
              <a:rPr lang="en-US" sz="1200" b="1" i="0" kern="1200" baseline="0" dirty="0">
                <a:solidFill>
                  <a:schemeClr val="tx1"/>
                </a:solidFill>
                <a:effectLst/>
                <a:latin typeface="+mn-lt"/>
                <a:ea typeface="+mn-ea"/>
                <a:cs typeface="+mn-cs"/>
              </a:rPr>
              <a:t> </a:t>
            </a:r>
            <a:r>
              <a:rPr lang="en-US" sz="1200" b="1" i="0" u="none" kern="1200" baseline="0" dirty="0" err="1">
                <a:solidFill>
                  <a:schemeClr val="tx1"/>
                </a:solidFill>
                <a:effectLst/>
                <a:latin typeface="+mn-lt"/>
                <a:ea typeface="+mn-ea"/>
                <a:cs typeface="+mn-cs"/>
              </a:rPr>
              <a:t>điều</a:t>
            </a:r>
            <a:r>
              <a:rPr lang="en-US" sz="1200" b="1" i="0" u="none" kern="1200" baseline="0" dirty="0">
                <a:solidFill>
                  <a:schemeClr val="tx1"/>
                </a:solidFill>
                <a:effectLst/>
                <a:latin typeface="+mn-lt"/>
                <a:ea typeface="+mn-ea"/>
                <a:cs typeface="+mn-cs"/>
              </a:rPr>
              <a:t> </a:t>
            </a:r>
            <a:r>
              <a:rPr lang="en-US" sz="1200" b="1" i="0" u="none" kern="1200" baseline="0" dirty="0" err="1">
                <a:solidFill>
                  <a:schemeClr val="tx1"/>
                </a:solidFill>
                <a:effectLst/>
                <a:latin typeface="+mn-lt"/>
                <a:ea typeface="+mn-ea"/>
                <a:cs typeface="+mn-cs"/>
              </a:rPr>
              <a:t>tệ</a:t>
            </a:r>
            <a:r>
              <a:rPr lang="en-US" sz="1200" b="1" i="0" u="none" kern="1200" baseline="0" dirty="0">
                <a:solidFill>
                  <a:schemeClr val="tx1"/>
                </a:solidFill>
                <a:effectLst/>
                <a:latin typeface="+mn-lt"/>
                <a:ea typeface="+mn-ea"/>
                <a:cs typeface="+mn-cs"/>
              </a:rPr>
              <a:t> </a:t>
            </a:r>
            <a:r>
              <a:rPr lang="en-US" sz="1200" b="1" i="0" u="none" kern="1200" baseline="0" dirty="0" err="1">
                <a:solidFill>
                  <a:schemeClr val="tx1"/>
                </a:solidFill>
                <a:effectLst/>
                <a:latin typeface="+mn-lt"/>
                <a:ea typeface="+mn-ea"/>
                <a:cs typeface="+mn-cs"/>
              </a:rPr>
              <a:t>nhất</a:t>
            </a:r>
            <a:r>
              <a:rPr lang="en-US" sz="1200" b="1" i="0" u="none"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là</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sẽ</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phải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bỏ</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rất</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nhiều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thời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gian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và</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công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sức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để</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bảo</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trì</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đoạn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mã</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cũ</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rồi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sau</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đó</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mới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nhận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rằng</a:t>
            </a:r>
            <a:r>
              <a:rPr lang="en-US" sz="1200" b="1" i="0" kern="1200" baseline="0" dirty="0">
                <a:solidFill>
                  <a:schemeClr val="tx1"/>
                </a:solidFill>
                <a:effectLst/>
                <a:latin typeface="+mn-lt"/>
                <a:ea typeface="+mn-ea"/>
                <a:cs typeface="+mn-cs"/>
              </a:rPr>
              <a:t> VIẾT LẠI ĐOẠN MÃ MỚI THÌ RẺ HƠN.</a:t>
            </a:r>
            <a:endParaRPr lang="en-US" sz="1200" b="1" i="0" u="none"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BỞI</a:t>
            </a:r>
            <a:r>
              <a:rPr lang="en-US" sz="1200" b="0" i="0" kern="1200" baseline="0" dirty="0">
                <a:solidFill>
                  <a:schemeClr val="tx1"/>
                </a:solidFill>
                <a:effectLst/>
                <a:latin typeface="+mn-lt"/>
                <a:ea typeface="+mn-ea"/>
                <a:cs typeface="+mn-cs"/>
              </a:rPr>
              <a:t> VÌ: NẾU NÓ KHÔNG LÀM VIỆC THÌ CÓ THỂ SỬA, NHƯNG NẾU NÓ KHÔNG THỂ BẢO TRÌ THÌ CHỈ CÓ VỨT MÀ THÔI.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scrap</a:t>
            </a:r>
            <a:r>
              <a:rPr lang="vi-VN" sz="1200" b="0" i="0" kern="120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phế</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liệu</a:t>
            </a:r>
            <a:endParaRPr lang="en-US"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indent="0">
              <a:buFontTx/>
              <a:buNone/>
            </a:pPr>
            <a:r>
              <a:rPr lang="en-US" b="0" baseline="0" dirty="0"/>
              <a:t>- </a:t>
            </a:r>
            <a:r>
              <a:rPr lang="en-US" b="0" baseline="0" dirty="0" err="1"/>
              <a:t>Nhớ</a:t>
            </a:r>
            <a:r>
              <a:rPr lang="en-US" b="0" baseline="0" dirty="0"/>
              <a:t> </a:t>
            </a:r>
            <a:r>
              <a:rPr lang="en-US" b="0" baseline="0" dirty="0" err="1"/>
              <a:t>lại</a:t>
            </a:r>
            <a:r>
              <a:rPr lang="en-US" b="0" baseline="0" dirty="0"/>
              <a:t> </a:t>
            </a:r>
            <a:r>
              <a:rPr lang="en-US" b="0" baseline="0" dirty="0" err="1"/>
              <a:t>chương</a:t>
            </a:r>
            <a:r>
              <a:rPr lang="en-US" b="0" baseline="0" dirty="0"/>
              <a:t> </a:t>
            </a:r>
            <a:r>
              <a:rPr lang="en-US" b="0" baseline="0" dirty="0" err="1"/>
              <a:t>trước</a:t>
            </a:r>
            <a:r>
              <a:rPr lang="en-US" b="0" baseline="0" dirty="0"/>
              <a:t>, </a:t>
            </a:r>
            <a:r>
              <a:rPr lang="en-US" b="0" baseline="0" dirty="0" err="1"/>
              <a:t>có</a:t>
            </a:r>
            <a:r>
              <a:rPr lang="en-US" b="0" baseline="0" dirty="0"/>
              <a:t> 11 </a:t>
            </a:r>
            <a:r>
              <a:rPr lang="en-US" b="0" baseline="0" dirty="0" err="1"/>
              <a:t>yếu</a:t>
            </a:r>
            <a:r>
              <a:rPr lang="en-US" b="0" baseline="0" dirty="0"/>
              <a:t> </a:t>
            </a:r>
            <a:r>
              <a:rPr lang="en-US" b="0" baseline="0" dirty="0" err="1"/>
              <a:t>tố</a:t>
            </a:r>
            <a:r>
              <a:rPr lang="en-US" b="0" baseline="0" dirty="0"/>
              <a:t> </a:t>
            </a:r>
            <a:r>
              <a:rPr lang="en-US" b="0" baseline="0" dirty="0" err="1"/>
              <a:t>chất</a:t>
            </a:r>
            <a:r>
              <a:rPr lang="en-US" b="0" baseline="0" dirty="0"/>
              <a:t> </a:t>
            </a:r>
            <a:r>
              <a:rPr lang="en-US" b="0" baseline="0" dirty="0" err="1"/>
              <a:t>lượng</a:t>
            </a:r>
            <a:r>
              <a:rPr lang="en-US" b="0" baseline="0" dirty="0"/>
              <a:t> </a:t>
            </a:r>
            <a:r>
              <a:rPr lang="en-US" b="0" baseline="0" dirty="0" err="1"/>
              <a:t>theo</a:t>
            </a:r>
            <a:r>
              <a:rPr lang="en-US" b="0" baseline="0" dirty="0"/>
              <a:t> </a:t>
            </a:r>
            <a:r>
              <a:rPr lang="en-US" b="0" baseline="0" dirty="0" err="1"/>
              <a:t>mccall</a:t>
            </a:r>
            <a:r>
              <a:rPr lang="en-US" b="0" baseline="0" dirty="0"/>
              <a:t>, </a:t>
            </a:r>
            <a:r>
              <a:rPr lang="en-US" b="0" baseline="0" dirty="0" err="1"/>
              <a:t>trong</a:t>
            </a:r>
            <a:r>
              <a:rPr lang="en-US" b="0" baseline="0" dirty="0"/>
              <a:t> </a:t>
            </a:r>
            <a:r>
              <a:rPr lang="en-US" b="0" baseline="0" dirty="0" err="1"/>
              <a:t>đó</a:t>
            </a:r>
            <a:r>
              <a:rPr lang="en-US" b="0" baseline="0" dirty="0"/>
              <a:t> </a:t>
            </a:r>
            <a:r>
              <a:rPr lang="en-US" b="0" baseline="0" dirty="0" err="1"/>
              <a:t>có</a:t>
            </a:r>
            <a:r>
              <a:rPr lang="en-US" b="0" baseline="0" dirty="0"/>
              <a:t> 7/11 </a:t>
            </a:r>
            <a:r>
              <a:rPr lang="en-US" b="0" baseline="0" dirty="0" err="1"/>
              <a:t>yếu</a:t>
            </a:r>
            <a:r>
              <a:rPr lang="en-US" b="0" baseline="0" dirty="0"/>
              <a:t> </a:t>
            </a:r>
            <a:r>
              <a:rPr lang="en-US" b="0" baseline="0" dirty="0" err="1"/>
              <a:t>tố</a:t>
            </a:r>
            <a:r>
              <a:rPr lang="en-US" b="0" baseline="0" dirty="0"/>
              <a:t> </a:t>
            </a:r>
            <a:r>
              <a:rPr lang="en-US" b="0" baseline="0" dirty="0" err="1"/>
              <a:t>này</a:t>
            </a:r>
            <a:r>
              <a:rPr lang="en-US" b="0" baseline="0" dirty="0"/>
              <a:t> </a:t>
            </a:r>
            <a:r>
              <a:rPr lang="en-US" b="0" baseline="0" dirty="0" err="1"/>
              <a:t>có</a:t>
            </a:r>
            <a:r>
              <a:rPr lang="en-US" b="0" baseline="0" dirty="0"/>
              <a:t> </a:t>
            </a:r>
            <a:r>
              <a:rPr lang="en-US" b="0" baseline="0" dirty="0" err="1"/>
              <a:t>ảnh</a:t>
            </a:r>
            <a:r>
              <a:rPr lang="en-US" b="0" baseline="0" dirty="0"/>
              <a:t> </a:t>
            </a:r>
            <a:r>
              <a:rPr lang="en-US" b="0" baseline="0" dirty="0" err="1"/>
              <a:t>hưởng</a:t>
            </a:r>
            <a:r>
              <a:rPr lang="en-US" b="0" baseline="0" dirty="0"/>
              <a:t> </a:t>
            </a:r>
            <a:r>
              <a:rPr lang="en-US" b="0" baseline="0" dirty="0" err="1"/>
              <a:t>trực</a:t>
            </a:r>
            <a:r>
              <a:rPr lang="en-US" b="0" baseline="0" dirty="0"/>
              <a:t> </a:t>
            </a:r>
            <a:r>
              <a:rPr lang="en-US" b="0" baseline="0" dirty="0" err="1"/>
              <a:t>tiếp</a:t>
            </a:r>
            <a:r>
              <a:rPr lang="en-US" b="0" baseline="0" dirty="0"/>
              <a:t> </a:t>
            </a:r>
            <a:r>
              <a:rPr lang="en-US" b="0" baseline="0" dirty="0" err="1"/>
              <a:t>đến</a:t>
            </a:r>
            <a:r>
              <a:rPr lang="en-US" b="0" baseline="0" dirty="0"/>
              <a:t> </a:t>
            </a:r>
            <a:r>
              <a:rPr lang="en-US" b="0" baseline="0" dirty="0" err="1"/>
              <a:t>bảo</a:t>
            </a:r>
            <a:r>
              <a:rPr lang="en-US" b="0" baseline="0" dirty="0"/>
              <a:t> </a:t>
            </a:r>
            <a:r>
              <a:rPr lang="en-US" b="0" baseline="0" dirty="0" err="1"/>
              <a:t>trì</a:t>
            </a:r>
            <a:r>
              <a:rPr lang="en-US" b="0" baseline="0" dirty="0"/>
              <a:t> pm, </a:t>
            </a:r>
            <a:r>
              <a:rPr lang="en-US" b="1" baseline="0" dirty="0" err="1"/>
              <a:t>có</a:t>
            </a:r>
            <a:r>
              <a:rPr lang="en-US" b="1" baseline="0" dirty="0"/>
              <a:t> </a:t>
            </a:r>
            <a:r>
              <a:rPr lang="en-US" b="1" baseline="0" dirty="0" err="1"/>
              <a:t>nghĩa</a:t>
            </a:r>
            <a:r>
              <a:rPr lang="en-US" b="1" baseline="0" dirty="0"/>
              <a:t> PM </a:t>
            </a:r>
            <a:r>
              <a:rPr lang="en-US" b="1" baseline="0" dirty="0" err="1"/>
              <a:t>có</a:t>
            </a:r>
            <a:r>
              <a:rPr lang="en-US" b="1" baseline="0" dirty="0"/>
              <a:t> </a:t>
            </a:r>
            <a:r>
              <a:rPr lang="en-US" b="1" baseline="0" dirty="0" err="1"/>
              <a:t>các</a:t>
            </a:r>
            <a:r>
              <a:rPr lang="en-US" b="1" baseline="0" dirty="0"/>
              <a:t> </a:t>
            </a:r>
            <a:r>
              <a:rPr lang="en-US" b="1" baseline="0" dirty="0" err="1"/>
              <a:t>yếu</a:t>
            </a:r>
            <a:r>
              <a:rPr lang="en-US" b="1" baseline="0" dirty="0"/>
              <a:t> </a:t>
            </a:r>
            <a:r>
              <a:rPr lang="en-US" b="1" baseline="0" dirty="0" err="1"/>
              <a:t>tố</a:t>
            </a:r>
            <a:r>
              <a:rPr lang="en-US" b="1" baseline="0" dirty="0"/>
              <a:t> </a:t>
            </a:r>
            <a:r>
              <a:rPr lang="en-US" b="1" baseline="0" dirty="0" err="1"/>
              <a:t>này</a:t>
            </a:r>
            <a:r>
              <a:rPr lang="en-US" b="1" baseline="0" dirty="0"/>
              <a:t> </a:t>
            </a:r>
            <a:r>
              <a:rPr lang="en-US" b="1" baseline="0" dirty="0" err="1"/>
              <a:t>thì</a:t>
            </a:r>
            <a:r>
              <a:rPr lang="en-US" b="1" baseline="0" dirty="0"/>
              <a:t> </a:t>
            </a:r>
            <a:r>
              <a:rPr lang="en-US" b="1" baseline="0" dirty="0" err="1"/>
              <a:t>khả</a:t>
            </a:r>
            <a:r>
              <a:rPr lang="en-US" b="1" baseline="0" dirty="0"/>
              <a:t> </a:t>
            </a:r>
            <a:r>
              <a:rPr lang="en-US" b="1" baseline="0" dirty="0" err="1"/>
              <a:t>năng</a:t>
            </a:r>
            <a:r>
              <a:rPr lang="en-US" b="1" baseline="0" dirty="0"/>
              <a:t> </a:t>
            </a:r>
            <a:r>
              <a:rPr lang="en-US" b="1" baseline="0" dirty="0" err="1"/>
              <a:t>bảo</a:t>
            </a:r>
            <a:r>
              <a:rPr lang="en-US" b="1" baseline="0" dirty="0"/>
              <a:t> </a:t>
            </a:r>
            <a:r>
              <a:rPr lang="en-US" b="1" baseline="0" dirty="0" err="1"/>
              <a:t>trì</a:t>
            </a:r>
            <a:r>
              <a:rPr lang="en-US" b="1" baseline="0" dirty="0"/>
              <a:t> </a:t>
            </a:r>
            <a:r>
              <a:rPr lang="en-US" b="1" baseline="0" dirty="0" err="1"/>
              <a:t>cao</a:t>
            </a:r>
            <a:r>
              <a:rPr lang="en-US" b="1" baseline="0" dirty="0"/>
              <a:t>:</a:t>
            </a:r>
          </a:p>
          <a:p>
            <a:pPr marL="457200" lvl="1" indent="0">
              <a:buFontTx/>
              <a:buNone/>
            </a:pPr>
            <a:r>
              <a:rPr lang="vi-VN" i="0" dirty="0"/>
              <a:t>■</a:t>
            </a:r>
            <a:r>
              <a:rPr lang="en-US" i="0" dirty="0"/>
              <a:t> </a:t>
            </a:r>
            <a:r>
              <a:rPr lang="en-US" b="0" i="0" baseline="0" dirty="0"/>
              <a:t>Product operation factors: CORRECTNESS (Output correctness; Documentation correctness – </a:t>
            </a:r>
            <a:r>
              <a:rPr lang="en-US" b="0" i="0" baseline="0" dirty="0" err="1"/>
              <a:t>tài</a:t>
            </a:r>
            <a:r>
              <a:rPr lang="en-US" b="0" i="0" baseline="0" dirty="0"/>
              <a:t> </a:t>
            </a:r>
            <a:r>
              <a:rPr lang="en-US" b="0" i="0" baseline="0" dirty="0" err="1"/>
              <a:t>liệu</a:t>
            </a:r>
            <a:r>
              <a:rPr lang="en-US" b="0" i="0" baseline="0" dirty="0"/>
              <a:t> </a:t>
            </a:r>
            <a:r>
              <a:rPr lang="en-US" b="0" i="0" baseline="0" dirty="0" err="1"/>
              <a:t>cho</a:t>
            </a:r>
            <a:r>
              <a:rPr lang="en-US" b="0" i="0" baseline="0" dirty="0"/>
              <a:t> user, </a:t>
            </a:r>
            <a:r>
              <a:rPr lang="en-US" b="0" i="0" baseline="0" dirty="0" err="1"/>
              <a:t>cho</a:t>
            </a:r>
            <a:r>
              <a:rPr lang="en-US" b="0" i="0" baseline="0" dirty="0"/>
              <a:t> </a:t>
            </a:r>
            <a:r>
              <a:rPr lang="en-US" b="0" i="0" baseline="0" dirty="0" err="1"/>
              <a:t>người</a:t>
            </a:r>
            <a:r>
              <a:rPr lang="en-US" b="0" i="0" baseline="0" dirty="0"/>
              <a:t> </a:t>
            </a:r>
            <a:r>
              <a:rPr lang="en-US" b="0" i="0" baseline="0" dirty="0" err="1"/>
              <a:t>lập</a:t>
            </a:r>
            <a:r>
              <a:rPr lang="en-US" b="0" i="0" baseline="0" dirty="0"/>
              <a:t> </a:t>
            </a:r>
            <a:r>
              <a:rPr lang="en-US" b="0" i="0" baseline="0" dirty="0" err="1"/>
              <a:t>trình</a:t>
            </a:r>
            <a:r>
              <a:rPr lang="en-US" b="0" i="0" baseline="0" dirty="0"/>
              <a:t> </a:t>
            </a:r>
            <a:r>
              <a:rPr lang="en-US" b="0" i="0" baseline="0" dirty="0" err="1"/>
              <a:t>đầy</a:t>
            </a:r>
            <a:r>
              <a:rPr lang="en-US" b="0" i="0" baseline="0" dirty="0"/>
              <a:t> </a:t>
            </a:r>
            <a:r>
              <a:rPr lang="en-US" b="0" i="0" baseline="0" dirty="0" err="1"/>
              <a:t>đủ</a:t>
            </a:r>
            <a:r>
              <a:rPr lang="en-US" b="0" i="0" baseline="0" dirty="0"/>
              <a:t>, </a:t>
            </a:r>
            <a:r>
              <a:rPr lang="en-US" b="0" i="0" baseline="0" dirty="0" err="1"/>
              <a:t>chính</a:t>
            </a:r>
            <a:r>
              <a:rPr lang="en-US" b="0" i="0" baseline="0" dirty="0"/>
              <a:t> </a:t>
            </a:r>
            <a:r>
              <a:rPr lang="en-US" b="0" i="0" baseline="0" dirty="0" err="1"/>
              <a:t>xác</a:t>
            </a:r>
            <a:r>
              <a:rPr lang="en-US" b="0" i="0" baseline="0" dirty="0"/>
              <a:t>; Coding qualification – </a:t>
            </a:r>
            <a:r>
              <a:rPr lang="en-US" b="0" i="0" baseline="0" dirty="0" err="1"/>
              <a:t>theo</a:t>
            </a:r>
            <a:r>
              <a:rPr lang="en-US" b="0" i="0" baseline="0" dirty="0"/>
              <a:t> coding standard); RELIABILITY (</a:t>
            </a:r>
            <a:r>
              <a:rPr lang="en-US" b="0" i="0" baseline="0" dirty="0" err="1"/>
              <a:t>Tần</a:t>
            </a:r>
            <a:r>
              <a:rPr lang="en-US" b="0" i="0" baseline="0" dirty="0"/>
              <a:t> </a:t>
            </a:r>
            <a:r>
              <a:rPr lang="en-US" b="0" i="0" baseline="0" dirty="0" err="1"/>
              <a:t>suất</a:t>
            </a:r>
            <a:r>
              <a:rPr lang="en-US" b="0" i="0" baseline="0" dirty="0"/>
              <a:t> </a:t>
            </a:r>
            <a:r>
              <a:rPr lang="en-US" b="0" i="0" baseline="0" dirty="0" err="1"/>
              <a:t>lỗi</a:t>
            </a:r>
            <a:r>
              <a:rPr lang="en-US" b="0" i="0" baseline="0" dirty="0"/>
              <a:t> </a:t>
            </a:r>
            <a:r>
              <a:rPr lang="en-US" b="0" i="0" baseline="0" dirty="0" err="1"/>
              <a:t>ht</a:t>
            </a:r>
            <a:r>
              <a:rPr lang="en-US" b="0" i="0" baseline="0" dirty="0"/>
              <a:t> </a:t>
            </a:r>
            <a:r>
              <a:rPr lang="en-US" b="0" i="0" baseline="0" dirty="0" err="1"/>
              <a:t>cũng</a:t>
            </a:r>
            <a:r>
              <a:rPr lang="en-US" b="0" i="0" baseline="0" dirty="0"/>
              <a:t> </a:t>
            </a:r>
            <a:r>
              <a:rPr lang="en-US" b="0" i="0" baseline="0" dirty="0" err="1"/>
              <a:t>như</a:t>
            </a:r>
            <a:r>
              <a:rPr lang="en-US" b="0" i="0" baseline="0" dirty="0"/>
              <a:t> </a:t>
            </a:r>
            <a:r>
              <a:rPr lang="en-US" b="0" i="0" baseline="0" dirty="0" err="1"/>
              <a:t>khả</a:t>
            </a:r>
            <a:r>
              <a:rPr lang="en-US" b="0" i="0" baseline="0" dirty="0"/>
              <a:t> </a:t>
            </a:r>
            <a:r>
              <a:rPr lang="en-US" b="0" i="0" baseline="0" dirty="0" err="1"/>
              <a:t>năng</a:t>
            </a:r>
            <a:r>
              <a:rPr lang="en-US" b="0" i="0" baseline="0" dirty="0"/>
              <a:t> </a:t>
            </a:r>
            <a:r>
              <a:rPr lang="en-US" b="0" i="0" baseline="0" dirty="0" err="1"/>
              <a:t>phục</a:t>
            </a:r>
            <a:r>
              <a:rPr lang="en-US" b="0" i="0" baseline="0" dirty="0"/>
              <a:t> </a:t>
            </a:r>
            <a:r>
              <a:rPr lang="en-US" b="0" i="0" baseline="0" dirty="0" err="1"/>
              <a:t>hồi</a:t>
            </a:r>
            <a:r>
              <a:rPr lang="en-US" b="0" i="0" baseline="0" dirty="0"/>
              <a:t>). </a:t>
            </a:r>
            <a:r>
              <a:rPr lang="en-US" b="0" i="0" strike="sngStrike" baseline="0" dirty="0" err="1"/>
              <a:t>Còn</a:t>
            </a:r>
            <a:r>
              <a:rPr lang="en-US" b="0" i="0" strike="sngStrike" baseline="0" dirty="0"/>
              <a:t> </a:t>
            </a:r>
            <a:r>
              <a:rPr lang="en-US" b="0" i="0" strike="sngStrike" baseline="0" dirty="0" err="1"/>
              <a:t>lại</a:t>
            </a:r>
            <a:r>
              <a:rPr lang="en-US" b="0" i="0" strike="sngStrike" baseline="0" dirty="0"/>
              <a:t>: </a:t>
            </a:r>
            <a:r>
              <a:rPr lang="en-US" sz="1200" strike="sngStrike" dirty="0"/>
              <a:t>Efficiency,</a:t>
            </a:r>
            <a:r>
              <a:rPr lang="en-US" sz="1200" strike="sngStrike" baseline="0" dirty="0"/>
              <a:t> </a:t>
            </a:r>
            <a:r>
              <a:rPr lang="en-US" sz="1200" strike="sngStrike" dirty="0"/>
              <a:t>Integrity,</a:t>
            </a:r>
            <a:r>
              <a:rPr lang="en-US" sz="1200" strike="sngStrike" baseline="0" dirty="0"/>
              <a:t> </a:t>
            </a:r>
            <a:r>
              <a:rPr lang="en-US" sz="1200" strike="sngStrike" dirty="0"/>
              <a:t>Usability</a:t>
            </a:r>
            <a:endParaRPr lang="en-US" b="0" i="0" strike="sngStrike" baseline="0" dirty="0"/>
          </a:p>
          <a:p>
            <a:pPr marL="457200" lvl="1" indent="0">
              <a:buFontTx/>
              <a:buNone/>
            </a:pPr>
            <a:r>
              <a:rPr lang="vi-VN" i="0" dirty="0"/>
              <a:t>■</a:t>
            </a:r>
            <a:r>
              <a:rPr lang="en-US" i="0" dirty="0"/>
              <a:t> </a:t>
            </a:r>
            <a:r>
              <a:rPr lang="en-US" b="0" i="0" baseline="0" dirty="0"/>
              <a:t>Product revision (</a:t>
            </a:r>
            <a:r>
              <a:rPr lang="en-US" b="0" i="0" baseline="0" dirty="0" err="1"/>
              <a:t>sửa</a:t>
            </a:r>
            <a:r>
              <a:rPr lang="en-US" b="0" i="0" baseline="0" dirty="0"/>
              <a:t> </a:t>
            </a:r>
            <a:r>
              <a:rPr lang="vi-VN" b="0" i="0" baseline="0" dirty="0"/>
              <a:t>đổ</a:t>
            </a:r>
            <a:r>
              <a:rPr lang="en-US" b="0" i="0" baseline="0" dirty="0" err="1"/>
              <a:t>i</a:t>
            </a:r>
            <a:r>
              <a:rPr lang="en-US" b="0" i="0" baseline="0" dirty="0"/>
              <a:t>) factors: MAINTAINABILITY (</a:t>
            </a:r>
            <a:r>
              <a:rPr lang="en-US" b="0" i="0" baseline="0" dirty="0" err="1"/>
              <a:t>làm</a:t>
            </a:r>
            <a:r>
              <a:rPr lang="en-US" b="0" i="0" baseline="0" dirty="0"/>
              <a:t> </a:t>
            </a:r>
            <a:r>
              <a:rPr lang="en-US" b="0" i="0" baseline="0" dirty="0" err="1"/>
              <a:t>theo</a:t>
            </a:r>
            <a:r>
              <a:rPr lang="en-US" b="0" i="0" baseline="0" dirty="0"/>
              <a:t> </a:t>
            </a:r>
            <a:r>
              <a:rPr lang="en-US" b="0" i="0" baseline="0" dirty="0" err="1"/>
              <a:t>yêu</a:t>
            </a:r>
            <a:r>
              <a:rPr lang="en-US" b="0" i="0" baseline="0" dirty="0"/>
              <a:t> </a:t>
            </a:r>
            <a:r>
              <a:rPr lang="en-US" b="0" i="0" baseline="0" dirty="0" err="1"/>
              <a:t>cầu</a:t>
            </a:r>
            <a:r>
              <a:rPr lang="en-US" b="0" i="0" baseline="0" dirty="0"/>
              <a:t>, </a:t>
            </a:r>
            <a:r>
              <a:rPr lang="en-US" b="0" i="0" baseline="0" dirty="0" err="1"/>
              <a:t>kiểu</a:t>
            </a:r>
            <a:r>
              <a:rPr lang="en-US" b="0" i="0" baseline="0" dirty="0"/>
              <a:t> </a:t>
            </a:r>
            <a:r>
              <a:rPr lang="en-US" b="0" i="0" baseline="0" dirty="0" err="1"/>
              <a:t>mẫu</a:t>
            </a:r>
            <a:r>
              <a:rPr lang="en-US" b="0" i="0" baseline="0" dirty="0"/>
              <a:t> </a:t>
            </a:r>
            <a:r>
              <a:rPr lang="en-US" b="0" i="0" baseline="0" dirty="0" err="1"/>
              <a:t>định</a:t>
            </a:r>
            <a:r>
              <a:rPr lang="en-US" b="0" i="0" baseline="0" dirty="0"/>
              <a:t> </a:t>
            </a:r>
            <a:r>
              <a:rPr lang="en-US" b="0" i="0" baseline="0" dirty="0" err="1"/>
              <a:t>sẵn</a:t>
            </a:r>
            <a:r>
              <a:rPr lang="en-US" b="0" i="0" baseline="0" dirty="0"/>
              <a:t>,</a:t>
            </a:r>
            <a:r>
              <a:rPr lang="vi-VN" b="0" i="0" baseline="0" dirty="0"/>
              <a:t> thực hiện </a:t>
            </a:r>
            <a:r>
              <a:rPr lang="en-US" b="0" i="0" baseline="0" dirty="0" err="1"/>
              <a:t>theo</a:t>
            </a:r>
            <a:r>
              <a:rPr lang="en-US" b="0" i="0" baseline="0" dirty="0"/>
              <a:t> </a:t>
            </a:r>
            <a:r>
              <a:rPr lang="vi-VN" b="0" i="0" baseline="0" dirty="0"/>
              <a:t>yêu cầu tài liệu hướng dẫn lập trình</a:t>
            </a:r>
            <a:r>
              <a:rPr lang="en-US" b="0" i="0" baseline="0" dirty="0"/>
              <a:t>), FLEXIBILITY (</a:t>
            </a:r>
            <a:r>
              <a:rPr lang="en-US" b="0" i="0" baseline="0" dirty="0" err="1"/>
              <a:t>cung</a:t>
            </a:r>
            <a:r>
              <a:rPr lang="en-US" b="0" i="0" baseline="0" dirty="0"/>
              <a:t> </a:t>
            </a:r>
            <a:r>
              <a:rPr lang="en-US" b="0" i="0" baseline="0" dirty="0" err="1"/>
              <a:t>cấp</a:t>
            </a:r>
            <a:r>
              <a:rPr lang="en-US" b="0" i="0" baseline="0" dirty="0"/>
              <a:t> </a:t>
            </a:r>
            <a:r>
              <a:rPr lang="en-US" b="0" i="0" baseline="0" dirty="0" err="1"/>
              <a:t>tính</a:t>
            </a:r>
            <a:r>
              <a:rPr lang="en-US" b="0" i="0" baseline="0" dirty="0"/>
              <a:t> </a:t>
            </a:r>
            <a:r>
              <a:rPr lang="en-US" b="0" i="0" baseline="0" dirty="0" err="1"/>
              <a:t>năng</a:t>
            </a:r>
            <a:r>
              <a:rPr lang="en-US" b="0" i="0" baseline="0" dirty="0"/>
              <a:t> </a:t>
            </a:r>
            <a:r>
              <a:rPr lang="en-US" b="0" i="0" baseline="0" dirty="0" err="1"/>
              <a:t>có</a:t>
            </a:r>
            <a:r>
              <a:rPr lang="en-US" b="0" i="0" baseline="0" dirty="0"/>
              <a:t> </a:t>
            </a:r>
            <a:r>
              <a:rPr lang="en-US" b="0" i="0" baseline="0" dirty="0" err="1"/>
              <a:t>tính</a:t>
            </a:r>
            <a:r>
              <a:rPr lang="en-US" b="0" i="0" baseline="0" dirty="0"/>
              <a:t> </a:t>
            </a:r>
            <a:r>
              <a:rPr lang="en-US" b="0" i="0" baseline="0" dirty="0" err="1"/>
              <a:t>mở</a:t>
            </a:r>
            <a:r>
              <a:rPr lang="en-US" b="0" i="0" baseline="0" dirty="0"/>
              <a:t> </a:t>
            </a:r>
            <a:r>
              <a:rPr lang="en-US" b="0" i="0" baseline="0" dirty="0" err="1"/>
              <a:t>rộng</a:t>
            </a:r>
            <a:r>
              <a:rPr lang="en-US" b="0" i="0" baseline="0" dirty="0"/>
              <a:t> </a:t>
            </a:r>
            <a:r>
              <a:rPr lang="en-US" b="0" i="0" baseline="0" dirty="0" err="1"/>
              <a:t>trong</a:t>
            </a:r>
            <a:r>
              <a:rPr lang="en-US" b="0" i="0" baseline="0" dirty="0"/>
              <a:t> </a:t>
            </a:r>
            <a:r>
              <a:rPr lang="en-US" b="0" i="0" baseline="0" dirty="0" err="1"/>
              <a:t>tương</a:t>
            </a:r>
            <a:r>
              <a:rPr lang="en-US" b="0" i="0" baseline="0" dirty="0"/>
              <a:t> lai), TESTABILITY (</a:t>
            </a:r>
            <a:r>
              <a:rPr lang="en-US" b="0" i="0" baseline="0" dirty="0" err="1"/>
              <a:t>khả</a:t>
            </a:r>
            <a:r>
              <a:rPr lang="en-US" b="0" i="0" baseline="0" dirty="0"/>
              <a:t> </a:t>
            </a:r>
            <a:r>
              <a:rPr lang="en-US" b="0" i="0" baseline="0" dirty="0" err="1"/>
              <a:t>năng</a:t>
            </a:r>
            <a:r>
              <a:rPr lang="en-US" b="0" i="0" baseline="0" dirty="0"/>
              <a:t> </a:t>
            </a:r>
            <a:r>
              <a:rPr lang="en-US" b="0" i="0" baseline="0" dirty="0" err="1"/>
              <a:t>tìm</a:t>
            </a:r>
            <a:r>
              <a:rPr lang="en-US" b="0" i="0" baseline="0" dirty="0"/>
              <a:t> </a:t>
            </a:r>
            <a:r>
              <a:rPr lang="en-US" b="0" i="0" baseline="0" dirty="0" err="1"/>
              <a:t>đc</a:t>
            </a:r>
            <a:r>
              <a:rPr lang="en-US" b="0" i="0" baseline="0" dirty="0"/>
              <a:t> </a:t>
            </a:r>
            <a:r>
              <a:rPr lang="en-US" b="0" i="0" baseline="0" dirty="0" err="1"/>
              <a:t>lỗi</a:t>
            </a:r>
            <a:r>
              <a:rPr lang="en-US" b="0" i="0" baseline="0" dirty="0"/>
              <a:t>)</a:t>
            </a:r>
          </a:p>
          <a:p>
            <a:pPr marL="457200" lvl="1" indent="0">
              <a:buFontTx/>
              <a:buNone/>
            </a:pPr>
            <a:r>
              <a:rPr lang="vi-VN" i="0" dirty="0"/>
              <a:t>■</a:t>
            </a:r>
            <a:r>
              <a:rPr lang="en-US" i="0" dirty="0"/>
              <a:t> </a:t>
            </a:r>
            <a:r>
              <a:rPr lang="en-US" b="0" i="0" baseline="0" dirty="0"/>
              <a:t>Product transition factors: PORTABILITY (</a:t>
            </a:r>
            <a:r>
              <a:rPr lang="en-US" b="0" i="0" baseline="0" dirty="0" err="1"/>
              <a:t>tương</a:t>
            </a:r>
            <a:r>
              <a:rPr lang="en-US" b="0" i="0" baseline="0" dirty="0"/>
              <a:t> </a:t>
            </a:r>
            <a:r>
              <a:rPr lang="en-US" b="0" i="0" baseline="0" dirty="0" err="1"/>
              <a:t>thích</a:t>
            </a:r>
            <a:r>
              <a:rPr lang="en-US" b="0" i="0" baseline="0" dirty="0"/>
              <a:t> </a:t>
            </a:r>
            <a:r>
              <a:rPr lang="en-US" b="0" i="0" baseline="0" dirty="0" err="1"/>
              <a:t>với</a:t>
            </a:r>
            <a:r>
              <a:rPr lang="en-US" b="0" i="0" baseline="0" dirty="0"/>
              <a:t> </a:t>
            </a:r>
            <a:r>
              <a:rPr lang="en-US" b="0" i="0" baseline="0" dirty="0" err="1"/>
              <a:t>nhiều</a:t>
            </a:r>
            <a:r>
              <a:rPr lang="en-US" b="0" i="0" baseline="0" dirty="0"/>
              <a:t> </a:t>
            </a:r>
            <a:r>
              <a:rPr lang="en-US" b="0" i="0" baseline="0" dirty="0" err="1"/>
              <a:t>môi</a:t>
            </a:r>
            <a:r>
              <a:rPr lang="en-US" b="0" i="0" baseline="0" dirty="0"/>
              <a:t> </a:t>
            </a:r>
            <a:r>
              <a:rPr lang="en-US" b="0" i="0" baseline="0" dirty="0" err="1"/>
              <a:t>trường</a:t>
            </a:r>
            <a:r>
              <a:rPr lang="en-US" b="0" i="0" baseline="0" dirty="0"/>
              <a:t>); INTEROPERABILITY (</a:t>
            </a:r>
            <a:r>
              <a:rPr lang="en-US" b="0" i="0" baseline="0" dirty="0" err="1"/>
              <a:t>khả</a:t>
            </a:r>
            <a:r>
              <a:rPr lang="en-US" b="0" i="0" baseline="0" dirty="0"/>
              <a:t> </a:t>
            </a:r>
            <a:r>
              <a:rPr lang="en-US" b="0" i="0" baseline="0" dirty="0" err="1"/>
              <a:t>năng</a:t>
            </a:r>
            <a:r>
              <a:rPr lang="en-US" b="0" i="0" baseline="0" dirty="0"/>
              <a:t> </a:t>
            </a:r>
            <a:r>
              <a:rPr lang="en-US" b="0" i="0" baseline="0" dirty="0" err="1"/>
              <a:t>tương</a:t>
            </a:r>
            <a:r>
              <a:rPr lang="en-US" b="0" i="0" baseline="0" dirty="0"/>
              <a:t> </a:t>
            </a:r>
            <a:r>
              <a:rPr lang="en-US" b="0" i="0" baseline="0" dirty="0" err="1"/>
              <a:t>tác</a:t>
            </a:r>
            <a:r>
              <a:rPr lang="en-US" b="0" i="0" baseline="0" dirty="0"/>
              <a:t>: </a:t>
            </a:r>
            <a:r>
              <a:rPr lang="en-US" b="0" i="0" baseline="0" dirty="0" err="1"/>
              <a:t>có</a:t>
            </a:r>
            <a:r>
              <a:rPr lang="en-US" b="0" i="0" baseline="0" dirty="0"/>
              <a:t> </a:t>
            </a:r>
            <a:r>
              <a:rPr lang="en-US" b="0" i="0" baseline="0" dirty="0" err="1"/>
              <a:t>khả</a:t>
            </a:r>
            <a:r>
              <a:rPr lang="en-US" b="0" i="0" baseline="0" dirty="0"/>
              <a:t> </a:t>
            </a:r>
            <a:r>
              <a:rPr lang="en-US" b="0" i="0" baseline="0" dirty="0" err="1"/>
              <a:t>năng</a:t>
            </a:r>
            <a:r>
              <a:rPr lang="en-US" b="0" i="0" baseline="0" dirty="0"/>
              <a:t> </a:t>
            </a:r>
            <a:r>
              <a:rPr lang="en-US" b="0" i="0" baseline="0" dirty="0" err="1"/>
              <a:t>vận</a:t>
            </a:r>
            <a:r>
              <a:rPr lang="en-US" b="0" i="0" baseline="0" dirty="0"/>
              <a:t> </a:t>
            </a:r>
            <a:r>
              <a:rPr lang="en-US" b="0" i="0" baseline="0" dirty="0" err="1"/>
              <a:t>hành</a:t>
            </a:r>
            <a:r>
              <a:rPr lang="en-US" b="0" i="0" baseline="0" dirty="0"/>
              <a:t> </a:t>
            </a:r>
            <a:r>
              <a:rPr lang="en-US" b="0" i="0" baseline="0" dirty="0" err="1"/>
              <a:t>cùng</a:t>
            </a:r>
            <a:r>
              <a:rPr lang="en-US" b="0" i="0" baseline="0" dirty="0"/>
              <a:t> </a:t>
            </a:r>
            <a:r>
              <a:rPr lang="en-US" b="0" i="0" baseline="0" dirty="0" err="1"/>
              <a:t>với</a:t>
            </a:r>
            <a:r>
              <a:rPr lang="en-US" b="0" i="0" baseline="0" dirty="0"/>
              <a:t> </a:t>
            </a:r>
            <a:r>
              <a:rPr lang="en-US" b="0" i="0" baseline="0" dirty="0" err="1"/>
              <a:t>các</a:t>
            </a:r>
            <a:r>
              <a:rPr lang="en-US" b="0" i="0" baseline="0" dirty="0"/>
              <a:t> </a:t>
            </a:r>
            <a:r>
              <a:rPr lang="en-US" b="0" i="0" baseline="0" dirty="0" err="1"/>
              <a:t>thiết</a:t>
            </a:r>
            <a:r>
              <a:rPr lang="en-US" b="0" i="0" baseline="0" dirty="0"/>
              <a:t> </a:t>
            </a:r>
            <a:r>
              <a:rPr lang="en-US" b="0" i="0" baseline="0" dirty="0" err="1"/>
              <a:t>bị</a:t>
            </a:r>
            <a:r>
              <a:rPr lang="en-US" b="0" i="0" baseline="0" dirty="0"/>
              <a:t> </a:t>
            </a:r>
            <a:r>
              <a:rPr lang="en-US" b="0" i="0" baseline="0" dirty="0" err="1"/>
              <a:t>khác</a:t>
            </a:r>
            <a:r>
              <a:rPr lang="en-US" b="0" i="0" baseline="0" dirty="0"/>
              <a:t>). </a:t>
            </a:r>
            <a:r>
              <a:rPr lang="en-US" b="0" i="0" strike="sngStrike" baseline="0" dirty="0" err="1"/>
              <a:t>Còn</a:t>
            </a:r>
            <a:r>
              <a:rPr lang="en-US" b="0" i="0" strike="sngStrike" baseline="0" dirty="0"/>
              <a:t> </a:t>
            </a:r>
            <a:r>
              <a:rPr lang="en-US" b="0" i="0" strike="sngStrike" baseline="0" dirty="0" err="1"/>
              <a:t>lại</a:t>
            </a:r>
            <a:r>
              <a:rPr lang="en-US" b="0" i="0" strike="sngStrike" baseline="0" dirty="0"/>
              <a:t>: </a:t>
            </a:r>
            <a:r>
              <a:rPr lang="en-US" sz="1200" strike="sngStrike" dirty="0"/>
              <a:t>Reusability</a:t>
            </a:r>
            <a:endParaRPr lang="en-US" b="0" i="0" strike="sngStrike" baseline="0" dirty="0"/>
          </a:p>
        </p:txBody>
      </p:sp>
      <p:sp>
        <p:nvSpPr>
          <p:cNvPr id="4" name="Slide Number Placeholder 3"/>
          <p:cNvSpPr>
            <a:spLocks noGrp="1"/>
          </p:cNvSpPr>
          <p:nvPr>
            <p:ph type="sldNum" sz="quarter" idx="10"/>
          </p:nvPr>
        </p:nvSpPr>
        <p:spPr/>
        <p:txBody>
          <a:bodyPr/>
          <a:lstStyle/>
          <a:p>
            <a:fld id="{A63B9007-0201-49BE-A587-7F882848EC05}" type="slidenum">
              <a:rPr lang="en-US" smtClean="0"/>
              <a:t>83</a:t>
            </a:fld>
            <a:endParaRPr lang="en-US"/>
          </a:p>
        </p:txBody>
      </p:sp>
    </p:spTree>
    <p:extLst>
      <p:ext uri="{BB962C8B-B14F-4D97-AF65-F5344CB8AC3E}">
        <p14:creationId xmlns:p14="http://schemas.microsoft.com/office/powerpoint/2010/main" val="192377119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Nhắc</a:t>
            </a:r>
            <a:r>
              <a:rPr lang="en-US" baseline="0" dirty="0"/>
              <a:t> </a:t>
            </a:r>
            <a:r>
              <a:rPr lang="en-US" baseline="0" dirty="0" err="1"/>
              <a:t>tính</a:t>
            </a:r>
            <a:r>
              <a:rPr lang="en-US" baseline="0" dirty="0"/>
              <a:t> </a:t>
            </a:r>
            <a:r>
              <a:rPr lang="en-US" baseline="0" dirty="0" err="1"/>
              <a:t>chất</a:t>
            </a:r>
            <a:r>
              <a:rPr lang="en-US" baseline="0" dirty="0"/>
              <a:t> </a:t>
            </a:r>
            <a:r>
              <a:rPr lang="en-US" baseline="0" dirty="0" err="1"/>
              <a:t>liên</a:t>
            </a:r>
            <a:r>
              <a:rPr lang="en-US" baseline="0" dirty="0"/>
              <a:t> </a:t>
            </a:r>
            <a:r>
              <a:rPr lang="en-US" baseline="0" dirty="0" err="1"/>
              <a:t>quan</a:t>
            </a:r>
            <a:r>
              <a:rPr lang="en-US" baseline="0" dirty="0"/>
              <a:t> </a:t>
            </a:r>
            <a:r>
              <a:rPr lang="en-US" baseline="0" dirty="0" err="1"/>
              <a:t>đến</a:t>
            </a:r>
            <a:r>
              <a:rPr lang="en-US" baseline="0" dirty="0"/>
              <a:t> </a:t>
            </a:r>
            <a:r>
              <a:rPr lang="en-US" baseline="0" dirty="0" err="1"/>
              <a:t>bảo</a:t>
            </a:r>
            <a:r>
              <a:rPr lang="en-US" baseline="0" dirty="0"/>
              <a:t> </a:t>
            </a:r>
            <a:r>
              <a:rPr lang="en-US" baseline="0" dirty="0" err="1"/>
              <a:t>trì</a:t>
            </a:r>
            <a:r>
              <a:rPr lang="en-US" baseline="0" dirty="0"/>
              <a:t>: </a:t>
            </a:r>
            <a:r>
              <a:rPr lang="en-US" dirty="0"/>
              <a:t>documentation correctness, coding qualification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u="sng" dirty="0"/>
              <a:t>Product Operation: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Correctness    Reliability    Efficiency     Integrity    Usability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dirty="0"/>
          </a:p>
        </p:txBody>
      </p:sp>
      <p:sp>
        <p:nvSpPr>
          <p:cNvPr id="4" name="Slide Number Placeholder 3"/>
          <p:cNvSpPr>
            <a:spLocks noGrp="1"/>
          </p:cNvSpPr>
          <p:nvPr>
            <p:ph type="sldNum" sz="quarter" idx="10"/>
          </p:nvPr>
        </p:nvSpPr>
        <p:spPr/>
        <p:txBody>
          <a:bodyPr/>
          <a:lstStyle/>
          <a:p>
            <a:fld id="{A63B9007-0201-49BE-A587-7F882848EC05}" type="slidenum">
              <a:rPr lang="en-US" smtClean="0"/>
              <a:t>84</a:t>
            </a:fld>
            <a:endParaRPr lang="en-US"/>
          </a:p>
        </p:txBody>
      </p:sp>
    </p:spTree>
    <p:extLst>
      <p:ext uri="{BB962C8B-B14F-4D97-AF65-F5344CB8AC3E}">
        <p14:creationId xmlns:p14="http://schemas.microsoft.com/office/powerpoint/2010/main" val="265397054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t>Testability: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1" baseline="0" dirty="0"/>
              <a:t>KHẢ NĂNG TÌM ĐC LỖI: CUNG CẤP TÍNH NĂNG CHO NGƯỜI DÙNG BÁO CÁO LỖI (SEND/DON’T SEND), TÍNH NĂNG CHO NGƯỜI BẢO TRÌ DÒ TÌM LỖI</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u="sng" dirty="0"/>
              <a:t>Product Revision:</a:t>
            </a:r>
          </a:p>
          <a:p>
            <a:r>
              <a:rPr lang="en-US" sz="1200" dirty="0"/>
              <a:t>Maintainability 	Flexibility	Testability</a:t>
            </a:r>
          </a:p>
        </p:txBody>
      </p:sp>
      <p:sp>
        <p:nvSpPr>
          <p:cNvPr id="4" name="Slide Number Placeholder 3"/>
          <p:cNvSpPr>
            <a:spLocks noGrp="1"/>
          </p:cNvSpPr>
          <p:nvPr>
            <p:ph type="sldNum" sz="quarter" idx="10"/>
          </p:nvPr>
        </p:nvSpPr>
        <p:spPr/>
        <p:txBody>
          <a:bodyPr/>
          <a:lstStyle/>
          <a:p>
            <a:fld id="{A63B9007-0201-49BE-A587-7F882848EC05}" type="slidenum">
              <a:rPr lang="en-US" smtClean="0"/>
              <a:t>85</a:t>
            </a:fld>
            <a:endParaRPr lang="en-US"/>
          </a:p>
        </p:txBody>
      </p:sp>
    </p:spTree>
    <p:extLst>
      <p:ext uri="{BB962C8B-B14F-4D97-AF65-F5344CB8AC3E}">
        <p14:creationId xmlns:p14="http://schemas.microsoft.com/office/powerpoint/2010/main" val="21875682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u="sng" dirty="0"/>
              <a:t>Product Transition:</a:t>
            </a:r>
          </a:p>
          <a:p>
            <a:r>
              <a:rPr lang="en-US" sz="1200" dirty="0"/>
              <a:t>Portability	Reusability	Interoperability</a:t>
            </a:r>
            <a:endParaRPr lang="en-US" dirty="0"/>
          </a:p>
          <a:p>
            <a:pPr marL="0" lvl="0" indent="0">
              <a:buFontTx/>
              <a:buNone/>
            </a:pPr>
            <a:endParaRPr lang="en-US" b="0" baseline="0" dirty="0"/>
          </a:p>
        </p:txBody>
      </p:sp>
      <p:sp>
        <p:nvSpPr>
          <p:cNvPr id="4" name="Slide Number Placeholder 3"/>
          <p:cNvSpPr>
            <a:spLocks noGrp="1"/>
          </p:cNvSpPr>
          <p:nvPr>
            <p:ph type="sldNum" sz="quarter" idx="10"/>
          </p:nvPr>
        </p:nvSpPr>
        <p:spPr/>
        <p:txBody>
          <a:bodyPr/>
          <a:lstStyle/>
          <a:p>
            <a:fld id="{A63B9007-0201-49BE-A587-7F882848EC05}" type="slidenum">
              <a:rPr lang="en-US" smtClean="0"/>
              <a:t>86</a:t>
            </a:fld>
            <a:endParaRPr lang="en-US"/>
          </a:p>
        </p:txBody>
      </p:sp>
    </p:spTree>
    <p:extLst>
      <p:ext uri="{BB962C8B-B14F-4D97-AF65-F5344CB8AC3E}">
        <p14:creationId xmlns:p14="http://schemas.microsoft.com/office/powerpoint/2010/main" val="241962796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ẢNH HƯỞNG ĐẶC BIỆT CỦA 7 YẾU TỐ TRÊN CÁC THÀNH PHẦN </a:t>
            </a:r>
            <a:r>
              <a:rPr lang="vi-VN" b="1" dirty="0" err="1"/>
              <a:t>PHẦN</a:t>
            </a:r>
            <a:r>
              <a:rPr lang="vi-VN" b="1" dirty="0"/>
              <a:t> MỀM BẢO TRÌ KHÁC NHAU</a:t>
            </a:r>
            <a:r>
              <a:rPr lang="en-US" b="1" dirty="0"/>
              <a:t> NHƯ</a:t>
            </a:r>
            <a:r>
              <a:rPr lang="en-US" b="1" baseline="0" dirty="0"/>
              <a:t> HÌNH.</a:t>
            </a:r>
          </a:p>
          <a:p>
            <a:r>
              <a:rPr lang="en-US" b="1" baseline="0" dirty="0"/>
              <a:t>TÓM LẠI, VC ĐẢM BẢO CL BẢO TRÌ NÊN BẮT ĐẦU SỚM TỪ CÁC GIAI ĐOẠN PT PM.</a:t>
            </a:r>
          </a:p>
        </p:txBody>
      </p:sp>
      <p:sp>
        <p:nvSpPr>
          <p:cNvPr id="4" name="Slide Number Placeholder 3"/>
          <p:cNvSpPr>
            <a:spLocks noGrp="1"/>
          </p:cNvSpPr>
          <p:nvPr>
            <p:ph type="sldNum" sz="quarter" idx="10"/>
          </p:nvPr>
        </p:nvSpPr>
        <p:spPr/>
        <p:txBody>
          <a:bodyPr/>
          <a:lstStyle/>
          <a:p>
            <a:fld id="{A63B9007-0201-49BE-A587-7F882848EC05}" type="slidenum">
              <a:rPr lang="en-US" smtClean="0"/>
              <a:t>87</a:t>
            </a:fld>
            <a:endParaRPr lang="en-US"/>
          </a:p>
        </p:txBody>
      </p:sp>
    </p:spTree>
    <p:extLst>
      <p:ext uri="{BB962C8B-B14F-4D97-AF65-F5344CB8AC3E}">
        <p14:creationId xmlns:p14="http://schemas.microsoft.com/office/powerpoint/2010/main" val="36731500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1 </a:t>
            </a:r>
            <a:r>
              <a:rPr lang="en-US" dirty="0" err="1"/>
              <a:t>số</a:t>
            </a:r>
            <a:r>
              <a:rPr lang="en-US" baseline="0" dirty="0"/>
              <a:t> </a:t>
            </a:r>
            <a:r>
              <a:rPr lang="en-US" baseline="0" dirty="0" err="1"/>
              <a:t>tình</a:t>
            </a:r>
            <a:r>
              <a:rPr lang="en-US" baseline="0" dirty="0"/>
              <a:t> </a:t>
            </a:r>
            <a:r>
              <a:rPr lang="en-US" baseline="0" dirty="0" err="1"/>
              <a:t>huống</a:t>
            </a:r>
            <a:r>
              <a:rPr lang="en-US" baseline="0" dirty="0"/>
              <a:t> </a:t>
            </a:r>
            <a:r>
              <a:rPr lang="en-US" baseline="0" dirty="0" err="1"/>
              <a:t>sau</a:t>
            </a:r>
            <a:r>
              <a:rPr lang="en-US" baseline="0" dirty="0"/>
              <a:t> </a:t>
            </a:r>
            <a:r>
              <a:rPr lang="en-US" baseline="0" dirty="0" err="1"/>
              <a:t>về</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mà</a:t>
            </a:r>
            <a:r>
              <a:rPr lang="en-US" baseline="0" dirty="0"/>
              <a:t> </a:t>
            </a:r>
            <a:r>
              <a:rPr lang="en-US" baseline="0" dirty="0" err="1"/>
              <a:t>nhóm</a:t>
            </a:r>
            <a:r>
              <a:rPr lang="en-US" baseline="0" dirty="0"/>
              <a:t> </a:t>
            </a:r>
            <a:r>
              <a:rPr lang="en-US" baseline="0" dirty="0" err="1"/>
              <a:t>bảo</a:t>
            </a:r>
            <a:r>
              <a:rPr lang="en-US" baseline="0" dirty="0"/>
              <a:t> </a:t>
            </a:r>
            <a:r>
              <a:rPr lang="en-US" baseline="0" dirty="0" err="1"/>
              <a:t>trì</a:t>
            </a:r>
            <a:r>
              <a:rPr lang="en-US" baseline="0" dirty="0"/>
              <a:t> </a:t>
            </a:r>
            <a:r>
              <a:rPr lang="en-US" baseline="0" dirty="0" err="1"/>
              <a:t>gặp</a:t>
            </a:r>
            <a:r>
              <a:rPr lang="en-US" baseline="0" dirty="0"/>
              <a:t> </a:t>
            </a:r>
            <a:r>
              <a:rPr lang="en-US" baseline="0" dirty="0" err="1"/>
              <a:t>phải</a:t>
            </a:r>
            <a:r>
              <a:rPr lang="en-US" baseline="0" dirty="0"/>
              <a:t> </a:t>
            </a:r>
            <a:r>
              <a:rPr lang="en-US" baseline="0" dirty="0" err="1"/>
              <a:t>với</a:t>
            </a:r>
            <a:r>
              <a:rPr lang="en-US" baseline="0" dirty="0"/>
              <a:t> </a:t>
            </a:r>
            <a:r>
              <a:rPr lang="en-US" baseline="0" dirty="0" err="1"/>
              <a:t>khách</a:t>
            </a:r>
            <a:r>
              <a:rPr lang="en-US" baseline="0" dirty="0"/>
              <a:t> </a:t>
            </a:r>
            <a:r>
              <a:rPr lang="en-US" baseline="0" dirty="0" err="1"/>
              <a:t>hàng</a:t>
            </a:r>
            <a:r>
              <a:rPr lang="en-US" baseline="0" dirty="0"/>
              <a:t> </a:t>
            </a:r>
            <a:r>
              <a:rPr lang="en-US" baseline="0" dirty="0" err="1"/>
              <a:t>gồm</a:t>
            </a:r>
            <a:r>
              <a:rPr lang="en-US" baseline="0" dirty="0"/>
              <a:t>: </a:t>
            </a:r>
            <a:r>
              <a:rPr lang="en-US" baseline="0" dirty="0" err="1"/>
              <a:t>các</a:t>
            </a:r>
            <a:r>
              <a:rPr lang="en-US" baseline="0" dirty="0"/>
              <a:t> </a:t>
            </a:r>
            <a:r>
              <a:rPr lang="en-US" baseline="0" dirty="0" err="1"/>
              <a:t>khiếu</a:t>
            </a:r>
            <a:r>
              <a:rPr lang="en-US" baseline="0" dirty="0"/>
              <a:t> </a:t>
            </a:r>
            <a:r>
              <a:rPr lang="en-US" baseline="0" dirty="0" err="1"/>
              <a:t>nại</a:t>
            </a:r>
            <a:r>
              <a:rPr lang="en-US" baseline="0" dirty="0"/>
              <a:t>, </a:t>
            </a:r>
            <a:r>
              <a:rPr lang="en-US" baseline="0" dirty="0" err="1"/>
              <a:t>phàn</a:t>
            </a:r>
            <a:r>
              <a:rPr lang="en-US" baseline="0" dirty="0"/>
              <a:t> </a:t>
            </a:r>
            <a:r>
              <a:rPr lang="en-US" baseline="0" dirty="0" err="1"/>
              <a:t>nàn</a:t>
            </a:r>
            <a:r>
              <a:rPr lang="en-US" baseline="0" dirty="0"/>
              <a:t> </a:t>
            </a:r>
            <a:r>
              <a:rPr lang="en-US" baseline="0" dirty="0" err="1"/>
              <a:t>trong</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sử</a:t>
            </a:r>
            <a:r>
              <a:rPr lang="en-US" baseline="0" dirty="0"/>
              <a:t> </a:t>
            </a:r>
            <a:r>
              <a:rPr lang="en-US" baseline="0" dirty="0" err="1"/>
              <a:t>dụng</a:t>
            </a:r>
            <a:r>
              <a:rPr lang="en-US" baseline="0" dirty="0"/>
              <a:t> pm. SV </a:t>
            </a:r>
            <a:r>
              <a:rPr lang="en-US" baseline="0" dirty="0" err="1"/>
              <a:t>đưa</a:t>
            </a:r>
            <a:r>
              <a:rPr lang="en-US" baseline="0" dirty="0"/>
              <a:t> </a:t>
            </a:r>
            <a:r>
              <a:rPr lang="en-US" baseline="0" dirty="0" err="1"/>
              <a:t>ra</a:t>
            </a:r>
            <a:r>
              <a:rPr lang="en-US" baseline="0" dirty="0"/>
              <a:t> </a:t>
            </a:r>
            <a:r>
              <a:rPr lang="en-US" dirty="0" err="1"/>
              <a:t>lý</a:t>
            </a:r>
            <a:r>
              <a:rPr lang="en-US" dirty="0"/>
              <a:t> do </a:t>
            </a:r>
            <a:r>
              <a:rPr lang="en-US" dirty="0" err="1"/>
              <a:t>để</a:t>
            </a:r>
            <a:r>
              <a:rPr lang="en-US" baseline="0" dirty="0"/>
              <a:t> </a:t>
            </a:r>
            <a:r>
              <a:rPr lang="en-US" baseline="0" dirty="0" err="1"/>
              <a:t>giải</a:t>
            </a:r>
            <a:r>
              <a:rPr lang="en-US" baseline="0" dirty="0"/>
              <a:t> </a:t>
            </a:r>
            <a:r>
              <a:rPr lang="en-US" baseline="0" dirty="0" err="1"/>
              <a:t>thích</a:t>
            </a:r>
            <a:r>
              <a:rPr lang="en-US" baseline="0" dirty="0"/>
              <a:t> </a:t>
            </a:r>
            <a:r>
              <a:rPr lang="en-US" baseline="0" dirty="0" err="1"/>
              <a:t>cho</a:t>
            </a:r>
            <a:r>
              <a:rPr lang="en-US" baseline="0" dirty="0"/>
              <a:t> </a:t>
            </a:r>
            <a:r>
              <a:rPr lang="en-US" baseline="0" dirty="0" err="1"/>
              <a:t>tình</a:t>
            </a:r>
            <a:r>
              <a:rPr lang="en-US" baseline="0" dirty="0"/>
              <a:t> </a:t>
            </a:r>
            <a:r>
              <a:rPr lang="en-US" baseline="0" dirty="0" err="1"/>
              <a:t>trạng</a:t>
            </a:r>
            <a:r>
              <a:rPr lang="en-US" baseline="0" dirty="0"/>
              <a:t> </a:t>
            </a:r>
            <a:r>
              <a:rPr lang="en-US" baseline="0" dirty="0" err="1"/>
              <a:t>trên</a:t>
            </a:r>
            <a:r>
              <a:rPr lang="en-US" baseline="0" dirty="0"/>
              <a:t> (</a:t>
            </a:r>
            <a:r>
              <a:rPr lang="en-US" baseline="0" dirty="0" err="1"/>
              <a:t>có</a:t>
            </a:r>
            <a:r>
              <a:rPr lang="en-US" baseline="0" dirty="0"/>
              <a:t> </a:t>
            </a:r>
            <a:r>
              <a:rPr lang="en-US" baseline="0" dirty="0" err="1"/>
              <a:t>nghĩa</a:t>
            </a:r>
            <a:r>
              <a:rPr lang="en-US" baseline="0" dirty="0"/>
              <a:t>: XÁC ĐỊNH YẾU TỐ CHẤT LƯỢNG BẢO TRÌ NÀO BỊ VI PHẠM VÀ GIẢI THÍCH)</a:t>
            </a:r>
            <a:endParaRPr lang="en-US" dirty="0"/>
          </a:p>
          <a:p>
            <a:endParaRPr lang="en-US" dirty="0"/>
          </a:p>
          <a:p>
            <a:r>
              <a:rPr lang="en-US" dirty="0"/>
              <a:t>*</a:t>
            </a:r>
            <a:r>
              <a:rPr lang="vi-VN" dirty="0"/>
              <a:t> </a:t>
            </a:r>
            <a:r>
              <a:rPr lang="en-US" dirty="0" err="1"/>
              <a:t>Nhiều</a:t>
            </a:r>
            <a:r>
              <a:rPr lang="en-US" baseline="0" dirty="0"/>
              <a:t> </a:t>
            </a:r>
            <a:r>
              <a:rPr lang="vi-VN" dirty="0"/>
              <a:t>khách hàng</a:t>
            </a:r>
            <a:r>
              <a:rPr lang="en-US" dirty="0"/>
              <a:t> </a:t>
            </a:r>
            <a:r>
              <a:rPr lang="en-US" baseline="0" dirty="0" err="1"/>
              <a:t>cứ</a:t>
            </a:r>
            <a:r>
              <a:rPr lang="en-US" baseline="0" dirty="0"/>
              <a:t> </a:t>
            </a:r>
            <a:r>
              <a:rPr lang="vi-VN" dirty="0"/>
              <a:t>KHIẾU NẠI </a:t>
            </a:r>
            <a:r>
              <a:rPr lang="en-US" dirty="0" err="1"/>
              <a:t>rằng</a:t>
            </a:r>
            <a:r>
              <a:rPr lang="vi-VN" dirty="0"/>
              <a:t>: kỹ thuật viên bảo trì phần mềm</a:t>
            </a:r>
            <a:r>
              <a:rPr lang="en-US" dirty="0"/>
              <a:t> </a:t>
            </a:r>
            <a:r>
              <a:rPr lang="vi-VN" dirty="0"/>
              <a:t>không thể giải quyết vấn đề</a:t>
            </a:r>
            <a:r>
              <a:rPr lang="en-US" dirty="0"/>
              <a:t> </a:t>
            </a:r>
            <a:r>
              <a:rPr lang="en-US" dirty="0" err="1"/>
              <a:t>ngay</a:t>
            </a:r>
            <a:r>
              <a:rPr lang="vi-VN" dirty="0"/>
              <a:t> tại chỗ</a:t>
            </a:r>
            <a:r>
              <a:rPr lang="en-US" dirty="0"/>
              <a:t> </a:t>
            </a:r>
            <a:r>
              <a:rPr lang="en-US" dirty="0" err="1"/>
              <a:t>khi</a:t>
            </a:r>
            <a:r>
              <a:rPr lang="en-US" dirty="0"/>
              <a:t> KH </a:t>
            </a:r>
            <a:r>
              <a:rPr lang="en-US" dirty="0" err="1"/>
              <a:t>yêu</a:t>
            </a:r>
            <a:r>
              <a:rPr lang="en-US" baseline="0" dirty="0"/>
              <a:t> </a:t>
            </a:r>
            <a:r>
              <a:rPr lang="en-US" baseline="0" dirty="0" err="1"/>
              <a:t>cầu</a:t>
            </a:r>
            <a:r>
              <a:rPr lang="vi-VN" dirty="0"/>
              <a:t>, </a:t>
            </a:r>
            <a:r>
              <a:rPr lang="en-US" dirty="0"/>
              <a:t>KTV</a:t>
            </a:r>
            <a:r>
              <a:rPr lang="en-US" baseline="0" dirty="0"/>
              <a:t> </a:t>
            </a:r>
            <a:r>
              <a:rPr lang="en-US" baseline="0" dirty="0" err="1"/>
              <a:t>đó</a:t>
            </a:r>
            <a:r>
              <a:rPr lang="en-US" baseline="0" dirty="0"/>
              <a:t> </a:t>
            </a:r>
            <a:r>
              <a:rPr lang="en-US" baseline="0" dirty="0" err="1"/>
              <a:t>nói</a:t>
            </a:r>
            <a:r>
              <a:rPr lang="en-US" baseline="0" dirty="0"/>
              <a:t> </a:t>
            </a:r>
            <a:r>
              <a:rPr lang="vi-VN" dirty="0"/>
              <a:t>rằng</a:t>
            </a:r>
            <a:r>
              <a:rPr lang="en-US" dirty="0"/>
              <a:t> </a:t>
            </a:r>
            <a:r>
              <a:rPr lang="en-US" dirty="0" err="1"/>
              <a:t>không</a:t>
            </a:r>
            <a:r>
              <a:rPr lang="en-US" dirty="0"/>
              <a:t> </a:t>
            </a:r>
            <a:r>
              <a:rPr lang="en-US" dirty="0" err="1"/>
              <a:t>phải</a:t>
            </a:r>
            <a:r>
              <a:rPr lang="en-US" baseline="0" dirty="0"/>
              <a:t> </a:t>
            </a:r>
            <a:r>
              <a:rPr lang="en-US" baseline="0" dirty="0" err="1"/>
              <a:t>lúc</a:t>
            </a:r>
            <a:r>
              <a:rPr lang="en-US" baseline="0" dirty="0"/>
              <a:t> </a:t>
            </a:r>
            <a:r>
              <a:rPr lang="en-US" baseline="0" dirty="0" err="1"/>
              <a:t>nào</a:t>
            </a:r>
            <a:r>
              <a:rPr lang="en-US" baseline="0" dirty="0"/>
              <a:t> </a:t>
            </a:r>
            <a:r>
              <a:rPr lang="en-US" baseline="0" dirty="0" err="1"/>
              <a:t>ông</a:t>
            </a:r>
            <a:r>
              <a:rPr lang="en-US" baseline="0" dirty="0"/>
              <a:t> </a:t>
            </a:r>
            <a:r>
              <a:rPr lang="en-US" baseline="0" dirty="0" err="1"/>
              <a:t>cũng</a:t>
            </a:r>
            <a:r>
              <a:rPr lang="en-US" baseline="0" dirty="0"/>
              <a:t> </a:t>
            </a:r>
            <a:r>
              <a:rPr lang="en-US" baseline="0" dirty="0" err="1"/>
              <a:t>mang</a:t>
            </a:r>
            <a:r>
              <a:rPr lang="en-US" baseline="0" dirty="0"/>
              <a:t> </a:t>
            </a:r>
            <a:r>
              <a:rPr lang="en-US" baseline="0" dirty="0" err="1"/>
              <a:t>kè</a:t>
            </a:r>
            <a:r>
              <a:rPr lang="en-US" baseline="0" dirty="0"/>
              <a:t> </a:t>
            </a:r>
            <a:r>
              <a:rPr lang="en-US" baseline="0" dirty="0" err="1"/>
              <a:t>kè</a:t>
            </a:r>
            <a:r>
              <a:rPr lang="en-US" baseline="0" dirty="0"/>
              <a:t> </a:t>
            </a:r>
            <a:r>
              <a:rPr lang="en-US" dirty="0"/>
              <a:t>‘software programmers’ manual’ </a:t>
            </a:r>
            <a:r>
              <a:rPr lang="vi-VN" dirty="0"/>
              <a:t>mọi lúc; do đó, không thể giải quyết vấn đề </a:t>
            </a:r>
            <a:r>
              <a:rPr lang="en-US" dirty="0" err="1"/>
              <a:t>kịp</a:t>
            </a:r>
            <a:r>
              <a:rPr lang="en-US" baseline="0" dirty="0"/>
              <a:t> </a:t>
            </a:r>
            <a:r>
              <a:rPr lang="en-US" baseline="0" dirty="0" err="1"/>
              <a:t>lúc</a:t>
            </a:r>
            <a:r>
              <a:rPr lang="en-US" baseline="0" dirty="0"/>
              <a:t>.</a:t>
            </a:r>
          </a:p>
          <a:p>
            <a:r>
              <a:rPr lang="en-US" baseline="0" dirty="0"/>
              <a:t>-&gt; </a:t>
            </a:r>
            <a:r>
              <a:rPr lang="en-US" dirty="0"/>
              <a:t>Product OPERATION factors: </a:t>
            </a:r>
            <a:r>
              <a:rPr lang="en-US" sz="1200" dirty="0"/>
              <a:t>CORRECTNESS, </a:t>
            </a:r>
            <a:r>
              <a:rPr lang="en-US" dirty="0"/>
              <a:t>RELIABILITY, </a:t>
            </a:r>
            <a:r>
              <a:rPr lang="en-US" dirty="0" err="1"/>
              <a:t>có</a:t>
            </a:r>
            <a:r>
              <a:rPr lang="en-US" baseline="0" dirty="0"/>
              <a:t> </a:t>
            </a:r>
            <a:r>
              <a:rPr lang="en-US" baseline="0" dirty="0" err="1"/>
              <a:t>thể</a:t>
            </a:r>
            <a:r>
              <a:rPr lang="en-US" baseline="0" dirty="0"/>
              <a:t> </a:t>
            </a:r>
            <a:r>
              <a:rPr lang="en-US" baseline="0" dirty="0" err="1"/>
              <a:t>thêm</a:t>
            </a:r>
            <a:r>
              <a:rPr lang="en-US" baseline="0" dirty="0"/>
              <a:t> USABILITY</a:t>
            </a:r>
            <a:endParaRPr lang="vi-VN" dirty="0"/>
          </a:p>
          <a:p>
            <a:endParaRPr lang="en-US" dirty="0"/>
          </a:p>
          <a:p>
            <a:r>
              <a:rPr lang="en-US" dirty="0"/>
              <a:t>*</a:t>
            </a:r>
            <a:r>
              <a:rPr lang="vi-VN" dirty="0"/>
              <a:t> </a:t>
            </a:r>
            <a:r>
              <a:rPr lang="en-US" dirty="0" err="1"/>
              <a:t>Một</a:t>
            </a:r>
            <a:r>
              <a:rPr lang="en-US" baseline="0" dirty="0"/>
              <a:t> đ</a:t>
            </a:r>
            <a:r>
              <a:rPr lang="vi-VN" dirty="0"/>
              <a:t>ơn KHIẾU NẠI của </a:t>
            </a:r>
            <a:r>
              <a:rPr lang="en-US" dirty="0" err="1"/>
              <a:t>người</a:t>
            </a:r>
            <a:r>
              <a:rPr lang="en-US" baseline="0" dirty="0"/>
              <a:t> </a:t>
            </a:r>
            <a:r>
              <a:rPr lang="en-US" baseline="0" dirty="0" err="1"/>
              <a:t>quản</a:t>
            </a:r>
            <a:r>
              <a:rPr lang="en-US" baseline="0" dirty="0"/>
              <a:t> </a:t>
            </a:r>
            <a:r>
              <a:rPr lang="en-US" baseline="0" dirty="0" err="1"/>
              <a:t>lý</a:t>
            </a:r>
            <a:r>
              <a:rPr lang="vi-VN" dirty="0"/>
              <a:t> chuỗi siêu thị: Nhóm bảo trì phần mềm đã cố gắng sửa phần mềm ba lần</a:t>
            </a:r>
            <a:r>
              <a:rPr lang="en-US" dirty="0"/>
              <a:t> </a:t>
            </a:r>
            <a:r>
              <a:rPr lang="en-US" dirty="0" err="1"/>
              <a:t>nhưng</a:t>
            </a:r>
            <a:r>
              <a:rPr lang="vi-VN" dirty="0"/>
              <a:t> không thành công;</a:t>
            </a:r>
            <a:r>
              <a:rPr lang="en-US" dirty="0"/>
              <a:t> qua</a:t>
            </a:r>
            <a:r>
              <a:rPr lang="en-US" baseline="0" dirty="0"/>
              <a:t> 4 </a:t>
            </a:r>
            <a:r>
              <a:rPr lang="en-US" baseline="0" dirty="0" err="1"/>
              <a:t>ngày</a:t>
            </a:r>
            <a:r>
              <a:rPr lang="en-US" baseline="0" dirty="0"/>
              <a:t> </a:t>
            </a:r>
            <a:r>
              <a:rPr lang="en-US" baseline="0" dirty="0" err="1"/>
              <a:t>mà</a:t>
            </a:r>
            <a:r>
              <a:rPr lang="en-US" baseline="0" dirty="0"/>
              <a:t> </a:t>
            </a:r>
            <a:r>
              <a:rPr lang="vi-VN" dirty="0"/>
              <a:t>một số chức năng quan trọng không thể </a:t>
            </a:r>
            <a:r>
              <a:rPr lang="en-US" dirty="0" err="1"/>
              <a:t>xài</a:t>
            </a:r>
            <a:r>
              <a:rPr lang="en-US" baseline="0" dirty="0"/>
              <a:t> </a:t>
            </a:r>
            <a:r>
              <a:rPr lang="vi-VN" baseline="0" dirty="0" err="1"/>
              <a:t>đượ</a:t>
            </a:r>
            <a:r>
              <a:rPr lang="en-US" baseline="0" dirty="0"/>
              <a:t>c</a:t>
            </a:r>
            <a:r>
              <a:rPr lang="vi-VN" dirty="0"/>
              <a:t>.</a:t>
            </a:r>
            <a:endParaRPr lang="en-US" dirty="0"/>
          </a:p>
          <a:p>
            <a:r>
              <a:rPr lang="en-US" dirty="0"/>
              <a:t>-&gt; Product REVISION factors: </a:t>
            </a:r>
            <a:r>
              <a:rPr lang="en-US" sz="1200" dirty="0"/>
              <a:t>MAINTAINABILITY, </a:t>
            </a:r>
            <a:r>
              <a:rPr lang="en-US" dirty="0"/>
              <a:t>TESTABILITY (</a:t>
            </a:r>
            <a:r>
              <a:rPr lang="en-US" sz="1200" dirty="0"/>
              <a:t>Flexibility?)</a:t>
            </a:r>
            <a:endParaRPr lang="vi-VN" dirty="0"/>
          </a:p>
          <a:p>
            <a:endParaRPr lang="en-US" dirty="0"/>
          </a:p>
          <a:p>
            <a:r>
              <a:rPr lang="en-US" dirty="0"/>
              <a:t>*</a:t>
            </a:r>
            <a:r>
              <a:rPr lang="vi-VN" dirty="0"/>
              <a:t> </a:t>
            </a:r>
            <a:r>
              <a:rPr lang="en-US" dirty="0" err="1"/>
              <a:t>Một</a:t>
            </a:r>
            <a:r>
              <a:rPr lang="en-US" baseline="0" dirty="0"/>
              <a:t> </a:t>
            </a:r>
            <a:r>
              <a:rPr lang="en-US" baseline="0" dirty="0" err="1"/>
              <a:t>k</a:t>
            </a:r>
            <a:r>
              <a:rPr lang="en-US" dirty="0" err="1"/>
              <a:t>hách</a:t>
            </a:r>
            <a:r>
              <a:rPr lang="en-US" baseline="0" dirty="0"/>
              <a:t> </a:t>
            </a:r>
            <a:r>
              <a:rPr lang="en-US" baseline="0" dirty="0" err="1"/>
              <a:t>hàng</a:t>
            </a:r>
            <a:r>
              <a:rPr lang="en-US" baseline="0" dirty="0"/>
              <a:t> </a:t>
            </a:r>
            <a:r>
              <a:rPr lang="en-US" baseline="0" dirty="0" err="1"/>
              <a:t>có</a:t>
            </a:r>
            <a:r>
              <a:rPr lang="en-US" baseline="0" dirty="0"/>
              <a:t> </a:t>
            </a:r>
            <a:r>
              <a:rPr lang="en-US" baseline="0" dirty="0" err="1"/>
              <a:t>vẻ</a:t>
            </a:r>
            <a:r>
              <a:rPr lang="en-US" baseline="0" dirty="0"/>
              <a:t> </a:t>
            </a:r>
            <a:r>
              <a:rPr lang="en-US" baseline="0" dirty="0" err="1"/>
              <a:t>rất</a:t>
            </a:r>
            <a:r>
              <a:rPr lang="en-US" baseline="0" dirty="0"/>
              <a:t> </a:t>
            </a:r>
            <a:r>
              <a:rPr lang="en-US" baseline="0" dirty="0" err="1"/>
              <a:t>tức</a:t>
            </a:r>
            <a:r>
              <a:rPr lang="en-US" baseline="0" dirty="0"/>
              <a:t> </a:t>
            </a:r>
            <a:r>
              <a:rPr lang="en-US" baseline="0" dirty="0" err="1"/>
              <a:t>giận</a:t>
            </a:r>
            <a:r>
              <a:rPr lang="en-US" baseline="0" dirty="0"/>
              <a:t> </a:t>
            </a:r>
            <a:r>
              <a:rPr lang="en-US" baseline="0" dirty="0" err="1"/>
              <a:t>gởi</a:t>
            </a:r>
            <a:r>
              <a:rPr lang="en-US" baseline="0" dirty="0"/>
              <a:t> m</a:t>
            </a:r>
            <a:r>
              <a:rPr lang="vi-VN" dirty="0" err="1"/>
              <a:t>ột</a:t>
            </a:r>
            <a:r>
              <a:rPr lang="vi-VN" dirty="0"/>
              <a:t> lá thư PHÀN NÀN về ước tính chi phí không </a:t>
            </a:r>
            <a:r>
              <a:rPr lang="en-US" dirty="0" err="1"/>
              <a:t>hợp</a:t>
            </a:r>
            <a:r>
              <a:rPr lang="en-US" baseline="0" dirty="0"/>
              <a:t> </a:t>
            </a:r>
            <a:r>
              <a:rPr lang="en-US" baseline="0" dirty="0" err="1"/>
              <a:t>lý</a:t>
            </a:r>
            <a:r>
              <a:rPr lang="en-US" baseline="0" dirty="0"/>
              <a:t> </a:t>
            </a:r>
            <a:r>
              <a:rPr lang="vi-VN" dirty="0"/>
              <a:t>cho một </a:t>
            </a:r>
            <a:r>
              <a:rPr lang="en-US" dirty="0" err="1"/>
              <a:t>yêu</a:t>
            </a:r>
            <a:r>
              <a:rPr lang="en-US" baseline="0" dirty="0"/>
              <a:t> </a:t>
            </a:r>
            <a:r>
              <a:rPr lang="en-US" baseline="0" dirty="0" err="1"/>
              <a:t>cầu</a:t>
            </a:r>
            <a:r>
              <a:rPr lang="en-US" baseline="0" dirty="0"/>
              <a:t> </a:t>
            </a:r>
            <a:r>
              <a:rPr lang="vi-VN" dirty="0"/>
              <a:t>cải tiến </a:t>
            </a:r>
            <a:r>
              <a:rPr lang="en-US" dirty="0" err="1"/>
              <a:t>nhỏ</a:t>
            </a:r>
            <a:r>
              <a:rPr lang="en-US" baseline="0" dirty="0"/>
              <a:t> </a:t>
            </a:r>
            <a:r>
              <a:rPr lang="vi-VN" dirty="0"/>
              <a:t>là 60 ngày công. Ông </a:t>
            </a:r>
            <a:r>
              <a:rPr lang="en-US" dirty="0" err="1"/>
              <a:t>còn</a:t>
            </a:r>
            <a:r>
              <a:rPr lang="en-US" baseline="0" dirty="0"/>
              <a:t> </a:t>
            </a:r>
            <a:r>
              <a:rPr lang="en-US" dirty="0" err="1"/>
              <a:t>cho</a:t>
            </a:r>
            <a:r>
              <a:rPr lang="en-US" dirty="0"/>
              <a:t> </a:t>
            </a:r>
            <a:r>
              <a:rPr lang="en-US" dirty="0" err="1"/>
              <a:t>biết</a:t>
            </a:r>
            <a:r>
              <a:rPr lang="en-US" baseline="0" dirty="0"/>
              <a:t> </a:t>
            </a:r>
            <a:r>
              <a:rPr lang="en-US" baseline="0" dirty="0" err="1"/>
              <a:t>thêm</a:t>
            </a:r>
            <a:r>
              <a:rPr lang="en-US" baseline="0" dirty="0"/>
              <a:t> </a:t>
            </a:r>
            <a:r>
              <a:rPr lang="en-US" dirty="0"/>
              <a:t>leader </a:t>
            </a:r>
            <a:r>
              <a:rPr lang="vi-VN" dirty="0"/>
              <a:t>của </a:t>
            </a:r>
            <a:r>
              <a:rPr lang="en-US" dirty="0"/>
              <a:t>“Software Functional Improvement Team” </a:t>
            </a:r>
            <a:r>
              <a:rPr lang="vi-VN" dirty="0"/>
              <a:t>nói rằng ước tính cao là </a:t>
            </a:r>
            <a:r>
              <a:rPr lang="en-US" dirty="0"/>
              <a:t>do </a:t>
            </a:r>
            <a:r>
              <a:rPr lang="vi-VN" dirty="0"/>
              <a:t>thiếu tài liệu và </a:t>
            </a:r>
            <a:r>
              <a:rPr lang="en-US" dirty="0"/>
              <a:t>non-standard coding </a:t>
            </a:r>
            <a:r>
              <a:rPr lang="vi-VN" dirty="0"/>
              <a:t>của gói ban đầu.</a:t>
            </a:r>
            <a:endParaRPr lang="en-US" dirty="0"/>
          </a:p>
          <a:p>
            <a:r>
              <a:rPr lang="en-US" dirty="0"/>
              <a:t>-&gt; CORRECTNESS, </a:t>
            </a:r>
            <a:r>
              <a:rPr lang="en-US" sz="1200" dirty="0"/>
              <a:t>MAINTAINABILITY, FLEXIBILITY</a:t>
            </a: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88</a:t>
            </a:fld>
            <a:endParaRPr lang="en-US"/>
          </a:p>
        </p:txBody>
      </p:sp>
    </p:spTree>
    <p:extLst>
      <p:ext uri="{BB962C8B-B14F-4D97-AF65-F5344CB8AC3E}">
        <p14:creationId xmlns:p14="http://schemas.microsoft.com/office/powerpoint/2010/main" val="33761468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b="1" baseline="0" dirty="0"/>
              <a:t>GỒM: </a:t>
            </a:r>
            <a:r>
              <a:rPr lang="en-US" b="1" baseline="0" dirty="0" err="1"/>
              <a:t>Chính</a:t>
            </a:r>
            <a:r>
              <a:rPr lang="en-US" b="1" baseline="0" dirty="0"/>
              <a:t> </a:t>
            </a:r>
            <a:r>
              <a:rPr lang="en-US" b="1" baseline="0" dirty="0" err="1"/>
              <a:t>sách</a:t>
            </a:r>
            <a:r>
              <a:rPr lang="en-US" b="1" baseline="0" dirty="0"/>
              <a:t> </a:t>
            </a:r>
            <a:r>
              <a:rPr lang="en-US" b="1" baseline="0" dirty="0" err="1"/>
              <a:t>phát</a:t>
            </a:r>
            <a:r>
              <a:rPr lang="en-US" b="1" baseline="0" dirty="0"/>
              <a:t> </a:t>
            </a:r>
            <a:r>
              <a:rPr lang="en-US" b="1" baseline="0" dirty="0" err="1"/>
              <a:t>triển</a:t>
            </a:r>
            <a:r>
              <a:rPr lang="en-US" b="1" baseline="0" dirty="0"/>
              <a:t> </a:t>
            </a:r>
            <a:r>
              <a:rPr lang="en-US" b="1" baseline="0" dirty="0" err="1"/>
              <a:t>phiên</a:t>
            </a:r>
            <a:r>
              <a:rPr lang="en-US" b="1" baseline="0" dirty="0"/>
              <a:t> </a:t>
            </a:r>
            <a:r>
              <a:rPr lang="en-US" b="1" baseline="0" dirty="0" err="1"/>
              <a:t>bản</a:t>
            </a:r>
            <a:r>
              <a:rPr lang="en-US" b="1" baseline="0" dirty="0"/>
              <a:t> </a:t>
            </a:r>
            <a:r>
              <a:rPr lang="en-US" b="0" baseline="0" dirty="0" err="1"/>
              <a:t>và</a:t>
            </a:r>
            <a:r>
              <a:rPr lang="en-US" b="1" baseline="0" dirty="0"/>
              <a:t> </a:t>
            </a:r>
            <a:r>
              <a:rPr lang="en-US" b="1" baseline="0" dirty="0" err="1"/>
              <a:t>Chính</a:t>
            </a:r>
            <a:r>
              <a:rPr lang="en-US" b="1" baseline="0" dirty="0"/>
              <a:t> </a:t>
            </a:r>
            <a:r>
              <a:rPr lang="en-US" b="1" baseline="0" dirty="0" err="1"/>
              <a:t>sách</a:t>
            </a:r>
            <a:r>
              <a:rPr lang="en-US" b="1" baseline="0" dirty="0"/>
              <a:t> </a:t>
            </a:r>
            <a:r>
              <a:rPr lang="en-US" b="1" baseline="0" dirty="0" err="1"/>
              <a:t>thay</a:t>
            </a:r>
            <a:r>
              <a:rPr lang="en-US" b="1" baseline="0" dirty="0"/>
              <a:t> </a:t>
            </a:r>
            <a:r>
              <a:rPr lang="en-US" b="1" baseline="0" dirty="0" err="1"/>
              <a:t>đổi</a:t>
            </a:r>
            <a:r>
              <a:rPr lang="en-US" b="1" baseline="0" dirty="0"/>
              <a:t> </a:t>
            </a:r>
            <a:r>
              <a:rPr lang="en-US" b="1" u="sng" baseline="0" dirty="0" err="1"/>
              <a:t>đc</a:t>
            </a:r>
            <a:r>
              <a:rPr lang="en-US" b="1" u="sng" baseline="0" dirty="0"/>
              <a:t> </a:t>
            </a:r>
            <a:r>
              <a:rPr lang="en-US" b="1" u="sng" baseline="0" dirty="0" err="1"/>
              <a:t>áp</a:t>
            </a:r>
            <a:r>
              <a:rPr lang="en-US" b="1" u="sng" baseline="0" dirty="0"/>
              <a:t> </a:t>
            </a:r>
            <a:r>
              <a:rPr lang="en-US" b="1" u="sng" baseline="0" dirty="0" err="1"/>
              <a:t>dụng</a:t>
            </a:r>
            <a:r>
              <a:rPr lang="en-US" b="1" u="sng" baseline="0" dirty="0"/>
              <a:t> </a:t>
            </a:r>
            <a:r>
              <a:rPr lang="en-US" b="1" u="sng" baseline="0" dirty="0" err="1"/>
              <a:t>trong</a:t>
            </a:r>
            <a:r>
              <a:rPr lang="en-US" b="1" u="sng" baseline="0" dirty="0"/>
              <a:t> </a:t>
            </a:r>
            <a:r>
              <a:rPr lang="en-US" b="1" u="sng" baseline="0" dirty="0" err="1"/>
              <a:t>suốt</a:t>
            </a:r>
            <a:r>
              <a:rPr lang="en-US" b="1" u="sng" baseline="0" dirty="0"/>
              <a:t> </a:t>
            </a:r>
            <a:r>
              <a:rPr lang="en-US" b="1" u="sng" baseline="0" dirty="0" err="1"/>
              <a:t>vòng</a:t>
            </a:r>
            <a:r>
              <a:rPr lang="en-US" b="1" u="sng" baseline="0" dirty="0"/>
              <a:t> </a:t>
            </a:r>
            <a:r>
              <a:rPr lang="en-US" b="1" u="sng" baseline="0" dirty="0" err="1"/>
              <a:t>đời</a:t>
            </a:r>
            <a:r>
              <a:rPr lang="en-US" b="1" u="sng" baseline="0" dirty="0"/>
              <a:t> PM</a:t>
            </a:r>
            <a:r>
              <a:rPr lang="en-US" b="1" baseline="0" dirty="0"/>
              <a:t>.</a:t>
            </a:r>
            <a:endParaRPr lang="en-US" b="1" dirty="0"/>
          </a:p>
          <a:p>
            <a:pPr marL="0" indent="0">
              <a:buFontTx/>
              <a:buNone/>
            </a:pPr>
            <a:r>
              <a:rPr lang="en-US" b="0" baseline="0" dirty="0"/>
              <a:t>- </a:t>
            </a:r>
            <a:r>
              <a:rPr lang="en-US" b="0" baseline="0" dirty="0" err="1"/>
              <a:t>Chính</a:t>
            </a:r>
            <a:r>
              <a:rPr lang="en-US" b="0" baseline="0" dirty="0"/>
              <a:t> </a:t>
            </a:r>
            <a:r>
              <a:rPr lang="en-US" b="0" baseline="0" dirty="0" err="1"/>
              <a:t>sách</a:t>
            </a:r>
            <a:r>
              <a:rPr lang="en-US" b="0" baseline="0" dirty="0"/>
              <a:t> </a:t>
            </a:r>
            <a:r>
              <a:rPr lang="en-US" b="0" baseline="0" dirty="0" err="1"/>
              <a:t>phát</a:t>
            </a:r>
            <a:r>
              <a:rPr lang="en-US" b="0" baseline="0" dirty="0"/>
              <a:t> </a:t>
            </a:r>
            <a:r>
              <a:rPr lang="en-US" b="0" baseline="0" dirty="0" err="1"/>
              <a:t>triển</a:t>
            </a:r>
            <a:r>
              <a:rPr lang="en-US" b="0" baseline="0" dirty="0"/>
              <a:t> </a:t>
            </a:r>
            <a:r>
              <a:rPr lang="en-US" b="0" baseline="0" dirty="0" err="1"/>
              <a:t>phiên</a:t>
            </a:r>
            <a:r>
              <a:rPr lang="en-US" b="0" baseline="0" dirty="0"/>
              <a:t> </a:t>
            </a:r>
            <a:r>
              <a:rPr lang="en-US" b="0" baseline="0" dirty="0" err="1"/>
              <a:t>bản</a:t>
            </a:r>
            <a:r>
              <a:rPr lang="en-US" b="0" baseline="0" dirty="0"/>
              <a:t>: </a:t>
            </a:r>
            <a:r>
              <a:rPr lang="en-US" b="1" baseline="0" dirty="0"/>
              <a:t>CÓ LIÊN QUAN ĐẾN SỐ LƯỢNG PHIÊN BẢN ĐC PHÁT HÀNH, ĐIỀU NÀY CÓ Ý NGHĨA VỚI NHỮNG PM COTS - </a:t>
            </a:r>
            <a:r>
              <a:rPr lang="en-US" sz="1200" b="0" i="0" kern="1200" dirty="0">
                <a:solidFill>
                  <a:schemeClr val="tx1"/>
                </a:solidFill>
                <a:effectLst/>
                <a:latin typeface="+mn-lt"/>
                <a:ea typeface="+mn-ea"/>
                <a:cs typeface="+mn-cs"/>
              </a:rPr>
              <a:t>Commercial off-the-shelf</a:t>
            </a:r>
            <a:r>
              <a:rPr lang="vi-VN" sz="1200" b="0" i="0" kern="1200" dirty="0">
                <a:solidFill>
                  <a:schemeClr val="tx1"/>
                </a:solidFill>
                <a:effectLst/>
                <a:latin typeface="+mn-lt"/>
                <a:ea typeface="+mn-ea"/>
                <a:cs typeface="+mn-cs"/>
              </a:rPr>
              <a:t>.</a:t>
            </a:r>
            <a:endParaRPr lang="en-US" b="0" baseline="0" dirty="0"/>
          </a:p>
          <a:p>
            <a:pPr marL="0" indent="0">
              <a:buFontTx/>
              <a:buNone/>
            </a:pPr>
            <a:r>
              <a:rPr lang="en-US" dirty="0"/>
              <a:t>        </a:t>
            </a:r>
            <a:r>
              <a:rPr lang="en-US" baseline="0" dirty="0"/>
              <a:t> </a:t>
            </a:r>
            <a:r>
              <a:rPr lang="vi-VN" dirty="0"/>
              <a:t>■</a:t>
            </a:r>
            <a:r>
              <a:rPr lang="en-US" dirty="0"/>
              <a:t> </a:t>
            </a:r>
            <a:r>
              <a:rPr lang="en-US" b="0" baseline="0" dirty="0" err="1"/>
              <a:t>Kiểu</a:t>
            </a:r>
            <a:r>
              <a:rPr lang="en-US" b="0" baseline="0" dirty="0"/>
              <a:t> </a:t>
            </a:r>
            <a:r>
              <a:rPr lang="en-US" b="0" baseline="0" dirty="0" err="1"/>
              <a:t>tuần</a:t>
            </a:r>
            <a:r>
              <a:rPr lang="en-US" b="0" baseline="0" dirty="0"/>
              <a:t> </a:t>
            </a:r>
            <a:r>
              <a:rPr lang="en-US" b="0" baseline="0" dirty="0" err="1"/>
              <a:t>tự</a:t>
            </a:r>
            <a:r>
              <a:rPr lang="en-US" b="0" baseline="0" dirty="0"/>
              <a:t>:</a:t>
            </a:r>
          </a:p>
          <a:p>
            <a:pPr marL="914400" lvl="2" indent="0">
              <a:buFontTx/>
              <a:buNone/>
            </a:pPr>
            <a:r>
              <a:rPr lang="en-US" b="0" dirty="0"/>
              <a:t>- </a:t>
            </a:r>
            <a:r>
              <a:rPr lang="vi-VN" b="0" dirty="0"/>
              <a:t>chỉ có một phiên bản được làm sẵn cho toàn bộ </a:t>
            </a:r>
            <a:r>
              <a:rPr lang="en-US" b="0" dirty="0"/>
              <a:t>KH,</a:t>
            </a:r>
            <a:r>
              <a:rPr lang="en-US" b="0" baseline="0" dirty="0"/>
              <a:t> </a:t>
            </a:r>
            <a:r>
              <a:rPr lang="en-US" b="0" dirty="0" err="1"/>
              <a:t>phục</a:t>
            </a:r>
            <a:r>
              <a:rPr lang="en-US" b="0" baseline="0" dirty="0"/>
              <a:t> </a:t>
            </a:r>
            <a:r>
              <a:rPr lang="en-US" b="0" baseline="0" dirty="0" err="1"/>
              <a:t>vụ</a:t>
            </a:r>
            <a:r>
              <a:rPr lang="en-US" b="0" baseline="0" dirty="0"/>
              <a:t> </a:t>
            </a:r>
            <a:r>
              <a:rPr lang="en-US" b="0" baseline="0" dirty="0" err="1"/>
              <a:t>cho</a:t>
            </a:r>
            <a:r>
              <a:rPr lang="en-US" b="0" baseline="0" dirty="0"/>
              <a:t> </a:t>
            </a:r>
            <a:r>
              <a:rPr lang="en-US" b="0" baseline="0" dirty="0" err="1"/>
              <a:t>toàn</a:t>
            </a:r>
            <a:r>
              <a:rPr lang="en-US" b="0" baseline="0" dirty="0"/>
              <a:t> </a:t>
            </a:r>
            <a:r>
              <a:rPr lang="en-US" b="0" baseline="0" dirty="0" err="1"/>
              <a:t>bộ</a:t>
            </a:r>
            <a:r>
              <a:rPr lang="en-US" b="0" baseline="0" dirty="0"/>
              <a:t> KH </a:t>
            </a:r>
            <a:r>
              <a:rPr lang="en-US" b="1" baseline="0" dirty="0"/>
              <a:t>(CHO NÊN THƯỜNG CÓ TÍNH DƯ THỪA CHỨC NĂNG CAO, VD/ CÓ THỂ KO SD HẾT CHỨC NĂNG CỦA WINDOW, OFFICE, Visual…);</a:t>
            </a:r>
          </a:p>
          <a:p>
            <a:pPr marL="914400" lvl="2" indent="0">
              <a:buFontTx/>
              <a:buNone/>
            </a:pPr>
            <a:r>
              <a:rPr lang="en-US" b="1" dirty="0"/>
              <a:t>-</a:t>
            </a:r>
            <a:r>
              <a:rPr lang="en-US" b="1" baseline="0" dirty="0"/>
              <a:t> </a:t>
            </a:r>
            <a:r>
              <a:rPr lang="en-US" b="1" dirty="0"/>
              <a:t>PM </a:t>
            </a:r>
            <a:r>
              <a:rPr lang="vi-VN" b="1" dirty="0"/>
              <a:t>PHẢI ĐƯỢC ĐIỀU CHỈNH ĐỊNH KỲ NHƯNG MỘT KHI PHIÊN BẢN MỚI ĐƯỢC HOÀN THÀNH,</a:t>
            </a:r>
            <a:r>
              <a:rPr lang="vi-VN" b="0" dirty="0"/>
              <a:t> nó sẽ thay thế phiên bản hiện đang được sử dụng</a:t>
            </a:r>
            <a:r>
              <a:rPr lang="en-US" b="0" dirty="0"/>
              <a:t>.</a:t>
            </a:r>
          </a:p>
          <a:p>
            <a:pPr marL="0" lvl="0" indent="0">
              <a:buFontTx/>
              <a:buNone/>
            </a:pPr>
            <a:r>
              <a:rPr lang="en-US" b="0" dirty="0"/>
              <a:t>         </a:t>
            </a:r>
            <a:r>
              <a:rPr lang="vi-VN" dirty="0"/>
              <a:t>■</a:t>
            </a:r>
            <a:r>
              <a:rPr lang="en-US" dirty="0"/>
              <a:t> </a:t>
            </a:r>
            <a:r>
              <a:rPr lang="en-US" b="0" dirty="0" err="1"/>
              <a:t>Kiểu</a:t>
            </a:r>
            <a:r>
              <a:rPr lang="en-US" b="0" dirty="0"/>
              <a:t> </a:t>
            </a:r>
            <a:r>
              <a:rPr lang="en-US" b="0" dirty="0" err="1"/>
              <a:t>cây</a:t>
            </a:r>
            <a:r>
              <a:rPr lang="en-US" b="0" dirty="0"/>
              <a:t>:</a:t>
            </a:r>
            <a:r>
              <a:rPr lang="en-US" b="0" baseline="0" dirty="0"/>
              <a:t> </a:t>
            </a:r>
            <a:r>
              <a:rPr lang="vi-VN" b="0" baseline="0" dirty="0"/>
              <a:t> </a:t>
            </a:r>
            <a:endParaRPr lang="en-US" b="0" baseline="0" dirty="0"/>
          </a:p>
          <a:p>
            <a:pPr marL="1085850" lvl="2" indent="-171450">
              <a:buFontTx/>
              <a:buChar char="-"/>
            </a:pPr>
            <a:r>
              <a:rPr lang="en-US" b="0" baseline="0" dirty="0" err="1"/>
              <a:t>phát</a:t>
            </a:r>
            <a:r>
              <a:rPr lang="en-US" b="0" baseline="0" dirty="0"/>
              <a:t> </a:t>
            </a:r>
            <a:r>
              <a:rPr lang="en-US" b="0" baseline="0" dirty="0" err="1"/>
              <a:t>triển</a:t>
            </a:r>
            <a:r>
              <a:rPr lang="en-US" b="0" baseline="0" dirty="0"/>
              <a:t> </a:t>
            </a:r>
            <a:r>
              <a:rPr lang="en-US" b="0" baseline="0" dirty="0" err="1"/>
              <a:t>một</a:t>
            </a:r>
            <a:r>
              <a:rPr lang="en-US" b="0" baseline="0" dirty="0"/>
              <a:t> </a:t>
            </a:r>
            <a:r>
              <a:rPr lang="en-US" b="0" baseline="0" dirty="0" err="1"/>
              <a:t>phiên</a:t>
            </a:r>
            <a:r>
              <a:rPr lang="en-US" b="0" baseline="0" dirty="0"/>
              <a:t> </a:t>
            </a:r>
            <a:r>
              <a:rPr lang="en-US" b="0" baseline="0" dirty="0" err="1"/>
              <a:t>bản</a:t>
            </a:r>
            <a:r>
              <a:rPr lang="en-US" b="0" baseline="0" dirty="0"/>
              <a:t> </a:t>
            </a:r>
            <a:r>
              <a:rPr lang="en-US" b="0" baseline="0" dirty="0" err="1"/>
              <a:t>chuyên</a:t>
            </a:r>
            <a:r>
              <a:rPr lang="en-US" b="0" baseline="0" dirty="0"/>
              <a:t> </a:t>
            </a:r>
            <a:r>
              <a:rPr lang="en-US" b="0" baseline="0" dirty="0" err="1"/>
              <a:t>biệt</a:t>
            </a:r>
            <a:r>
              <a:rPr lang="en-US" b="0" baseline="0" dirty="0"/>
              <a:t> </a:t>
            </a:r>
            <a:r>
              <a:rPr lang="en-US" b="0" baseline="0" dirty="0" err="1"/>
              <a:t>và</a:t>
            </a:r>
            <a:r>
              <a:rPr lang="en-US" b="0" baseline="0" dirty="0"/>
              <a:t> </a:t>
            </a:r>
            <a:r>
              <a:rPr lang="en-US" b="0" baseline="0" dirty="0" err="1"/>
              <a:t>nhắm</a:t>
            </a:r>
            <a:r>
              <a:rPr lang="en-US" b="0" baseline="0" dirty="0"/>
              <a:t> </a:t>
            </a:r>
            <a:r>
              <a:rPr lang="en-US" b="0" baseline="0" dirty="0" err="1"/>
              <a:t>đến</a:t>
            </a:r>
            <a:r>
              <a:rPr lang="en-US" b="0" baseline="0" dirty="0"/>
              <a:t> </a:t>
            </a:r>
            <a:r>
              <a:rPr lang="en-US" b="0" baseline="0" dirty="0" err="1"/>
              <a:t>mục</a:t>
            </a:r>
            <a:r>
              <a:rPr lang="en-US" b="0" baseline="0" dirty="0"/>
              <a:t> </a:t>
            </a:r>
            <a:r>
              <a:rPr lang="en-US" b="0" baseline="0" dirty="0" err="1"/>
              <a:t>tiêu</a:t>
            </a:r>
            <a:r>
              <a:rPr lang="en-US" b="0" baseline="0" dirty="0"/>
              <a:t> </a:t>
            </a:r>
            <a:r>
              <a:rPr lang="en-US" b="0" baseline="0" dirty="0" err="1"/>
              <a:t>cho</a:t>
            </a:r>
            <a:r>
              <a:rPr lang="en-US" b="0" baseline="0" dirty="0"/>
              <a:t> </a:t>
            </a:r>
            <a:r>
              <a:rPr lang="en-US" b="0" baseline="0" dirty="0" err="1"/>
              <a:t>các</a:t>
            </a:r>
            <a:r>
              <a:rPr lang="en-US" b="0" baseline="0" dirty="0"/>
              <a:t> </a:t>
            </a:r>
            <a:r>
              <a:rPr lang="en-US" b="0" baseline="0" dirty="0" err="1"/>
              <a:t>nhóm</a:t>
            </a:r>
            <a:r>
              <a:rPr lang="en-US" b="0" baseline="0" dirty="0"/>
              <a:t> </a:t>
            </a:r>
            <a:r>
              <a:rPr lang="en-US" b="0" baseline="0" dirty="0" err="1"/>
              <a:t>khách</a:t>
            </a:r>
            <a:r>
              <a:rPr lang="en-US" b="0" baseline="0" dirty="0"/>
              <a:t> </a:t>
            </a:r>
            <a:r>
              <a:rPr lang="en-US" b="0" baseline="0" dirty="0" err="1"/>
              <a:t>hàng</a:t>
            </a:r>
            <a:r>
              <a:rPr lang="en-US" b="0" baseline="0" dirty="0"/>
              <a:t> </a:t>
            </a:r>
            <a:r>
              <a:rPr lang="en-US" b="0" baseline="0" dirty="0" err="1"/>
              <a:t>hoặc</a:t>
            </a:r>
            <a:r>
              <a:rPr lang="en-US" b="0" baseline="0" dirty="0"/>
              <a:t> </a:t>
            </a:r>
            <a:r>
              <a:rPr lang="en-US" b="0" baseline="0" dirty="0" err="1"/>
              <a:t>một</a:t>
            </a:r>
            <a:r>
              <a:rPr lang="en-US" b="0" baseline="0" dirty="0"/>
              <a:t> </a:t>
            </a:r>
            <a:r>
              <a:rPr lang="en-US" b="0" baseline="0" dirty="0" err="1"/>
              <a:t>khách</a:t>
            </a:r>
            <a:r>
              <a:rPr lang="en-US" b="0" baseline="0" dirty="0"/>
              <a:t> </a:t>
            </a:r>
            <a:r>
              <a:rPr lang="en-US" b="0" baseline="0" dirty="0" err="1"/>
              <a:t>hàng</a:t>
            </a:r>
            <a:r>
              <a:rPr lang="en-US" b="0" baseline="0" dirty="0"/>
              <a:t> </a:t>
            </a:r>
            <a:r>
              <a:rPr lang="en-US" b="0" baseline="0" dirty="0" err="1"/>
              <a:t>lớn</a:t>
            </a:r>
            <a:r>
              <a:rPr lang="en-US" b="0" baseline="0" dirty="0"/>
              <a:t>, </a:t>
            </a:r>
            <a:r>
              <a:rPr lang="en-US" b="0" baseline="0" dirty="0" err="1"/>
              <a:t>nghĩa</a:t>
            </a:r>
            <a:r>
              <a:rPr lang="en-US" b="0" baseline="0" dirty="0"/>
              <a:t> </a:t>
            </a:r>
            <a:r>
              <a:rPr lang="en-US" b="0" baseline="0" dirty="0" err="1"/>
              <a:t>là</a:t>
            </a:r>
            <a:r>
              <a:rPr lang="en-US" b="0" baseline="0" dirty="0"/>
              <a:t> </a:t>
            </a:r>
            <a:r>
              <a:rPr lang="vi-VN" b="1" baseline="0" dirty="0"/>
              <a:t>MỘT PHIÊN BẢN MỚI ĐƯỢC </a:t>
            </a:r>
            <a:r>
              <a:rPr lang="en-US" b="1" baseline="0" dirty="0"/>
              <a:t>PHÁT HÀNH </a:t>
            </a:r>
            <a:r>
              <a:rPr lang="vi-VN" b="1" baseline="0" dirty="0"/>
              <a:t>BẰNG CÁCH THÊM CÁC ỨNG DỤNG ĐẶC BIỆT HOẶC BỎ </a:t>
            </a:r>
            <a:r>
              <a:rPr lang="en-US" b="1" baseline="0" dirty="0"/>
              <a:t>BỚT </a:t>
            </a:r>
            <a:r>
              <a:rPr lang="vi-VN" b="1" baseline="0" dirty="0"/>
              <a:t>CÁC ỨNG DỤNG, TÙY THUỘC VÀO NHU CẦU CỦA KHÁCH HÀNG</a:t>
            </a:r>
            <a:r>
              <a:rPr lang="en-US" b="1" baseline="0" dirty="0"/>
              <a:t>. </a:t>
            </a:r>
          </a:p>
          <a:p>
            <a:pPr marL="1085850" lvl="2" indent="-171450">
              <a:buFontTx/>
              <a:buChar char="-"/>
            </a:pPr>
            <a:r>
              <a:rPr lang="en-US" b="1" baseline="0" dirty="0"/>
              <a:t>THEO CHÍNH SÁCH NÀY PM</a:t>
            </a:r>
            <a:r>
              <a:rPr lang="vi-VN" b="1" baseline="0" dirty="0"/>
              <a:t> CÓ THỂ PHÁT TRIỂN THÀNH MỘT GÓI </a:t>
            </a:r>
            <a:r>
              <a:rPr lang="en-US" b="1" baseline="0" dirty="0"/>
              <a:t>PM </a:t>
            </a:r>
            <a:r>
              <a:rPr lang="vi-VN" b="1" baseline="0" dirty="0"/>
              <a:t>ĐA PHIÊN BẢN </a:t>
            </a:r>
            <a:r>
              <a:rPr lang="en-US" b="1" baseline="0" dirty="0"/>
              <a:t>QUA </a:t>
            </a:r>
            <a:r>
              <a:rPr lang="vi-VN" b="1" baseline="0" dirty="0"/>
              <a:t>NHIỀU NĂM, CÓ NGHĨA LÀ NÓ SẼ GIỐNG NHƯ MỘT CÁI CÂY, VỚI MỘT VÀI NHÁNH CHÍNH VÀ NHIỀU CÀNH, </a:t>
            </a:r>
            <a:r>
              <a:rPr lang="vi-VN" b="1" u="sng" baseline="0" dirty="0"/>
              <a:t>MỖI NHÁNH ĐẠI DIỆN CHO MỘT PHIÊN BẢN </a:t>
            </a:r>
            <a:r>
              <a:rPr lang="en-US" b="1" baseline="0" dirty="0"/>
              <a:t>ĐC CHUYÊN BIỆT HÓA CHO MỘT ĐỐI TƯỢNG CỤ THỂ.</a:t>
            </a:r>
          </a:p>
          <a:p>
            <a:pPr marL="1085850" lvl="2" indent="-171450">
              <a:buFontTx/>
              <a:buChar char="-"/>
            </a:pPr>
            <a:endParaRPr lang="en-US" b="1" baseline="0" dirty="0"/>
          </a:p>
          <a:p>
            <a:pPr marL="1085850" lvl="2" indent="-171450">
              <a:buFontTx/>
              <a:buChar char="-"/>
            </a:pPr>
            <a:r>
              <a:rPr lang="en-US" b="1" baseline="0" dirty="0" err="1"/>
              <a:t>Ví</a:t>
            </a:r>
            <a:r>
              <a:rPr lang="en-US" b="1" baseline="0" dirty="0"/>
              <a:t> </a:t>
            </a:r>
            <a:r>
              <a:rPr lang="en-US" b="1" baseline="0" dirty="0" err="1"/>
              <a:t>dụ</a:t>
            </a:r>
            <a:r>
              <a:rPr lang="en-US" b="1" baseline="0" dirty="0"/>
              <a:t>: Sau </a:t>
            </a:r>
            <a:r>
              <a:rPr lang="en-US" b="1" baseline="0" dirty="0" err="1"/>
              <a:t>nhiều</a:t>
            </a:r>
            <a:r>
              <a:rPr lang="en-US" b="1" baseline="0" dirty="0"/>
              <a:t> n</a:t>
            </a:r>
            <a:r>
              <a:rPr lang="vi-VN" b="1" baseline="0" dirty="0"/>
              <a:t>ă</a:t>
            </a:r>
            <a:r>
              <a:rPr lang="en-US" b="1" baseline="0" dirty="0"/>
              <a:t>m </a:t>
            </a:r>
            <a:r>
              <a:rPr lang="en-US" b="1" baseline="0" dirty="0" err="1"/>
              <a:t>phát</a:t>
            </a:r>
            <a:r>
              <a:rPr lang="en-US" b="1" baseline="0" dirty="0"/>
              <a:t> </a:t>
            </a:r>
            <a:r>
              <a:rPr lang="en-US" b="1" baseline="0" dirty="0" err="1"/>
              <a:t>triển</a:t>
            </a:r>
            <a:r>
              <a:rPr lang="en-US" b="1" baseline="0" dirty="0"/>
              <a:t>, </a:t>
            </a:r>
            <a:r>
              <a:rPr lang="en-US" b="1" baseline="0" dirty="0" err="1"/>
              <a:t>gói</a:t>
            </a:r>
            <a:r>
              <a:rPr lang="en-US" b="1" baseline="0" dirty="0"/>
              <a:t> </a:t>
            </a:r>
            <a:r>
              <a:rPr lang="en-US" b="1" baseline="0" dirty="0" err="1"/>
              <a:t>phần</a:t>
            </a:r>
            <a:r>
              <a:rPr lang="en-US" b="1" baseline="0" dirty="0"/>
              <a:t> </a:t>
            </a:r>
            <a:r>
              <a:rPr lang="en-US" b="1" baseline="0" dirty="0" err="1"/>
              <a:t>mềm</a:t>
            </a:r>
            <a:r>
              <a:rPr lang="en-US" b="1" baseline="0" dirty="0"/>
              <a:t> QL TỒN KHO </a:t>
            </a:r>
            <a:r>
              <a:rPr lang="vi-VN" b="1" baseline="0" dirty="0" err="1"/>
              <a:t>đượ</a:t>
            </a:r>
            <a:r>
              <a:rPr lang="en-US" b="1" baseline="0" dirty="0"/>
              <a:t>c </a:t>
            </a:r>
            <a:r>
              <a:rPr lang="en-US" b="1" baseline="0" dirty="0" err="1"/>
              <a:t>phát</a:t>
            </a:r>
            <a:r>
              <a:rPr lang="en-US" b="1" baseline="0" dirty="0"/>
              <a:t> </a:t>
            </a:r>
            <a:r>
              <a:rPr lang="en-US" b="1" baseline="0" dirty="0" err="1"/>
              <a:t>triển</a:t>
            </a:r>
            <a:r>
              <a:rPr lang="en-US" b="1" baseline="0" dirty="0"/>
              <a:t> </a:t>
            </a:r>
            <a:r>
              <a:rPr lang="en-US" b="1" baseline="0" dirty="0" err="1"/>
              <a:t>theo</a:t>
            </a:r>
            <a:r>
              <a:rPr lang="en-US" b="1" baseline="0" dirty="0"/>
              <a:t> </a:t>
            </a:r>
            <a:r>
              <a:rPr lang="en-US" b="1" baseline="0" dirty="0" err="1"/>
              <a:t>dạng</a:t>
            </a:r>
            <a:r>
              <a:rPr lang="en-US" b="1" baseline="0" dirty="0"/>
              <a:t> </a:t>
            </a:r>
            <a:r>
              <a:rPr lang="en-US" b="1" baseline="0" dirty="0" err="1"/>
              <a:t>cây</a:t>
            </a:r>
            <a:r>
              <a:rPr lang="en-US" b="1" baseline="0" dirty="0"/>
              <a:t>: </a:t>
            </a:r>
            <a:r>
              <a:rPr lang="en-US" b="1" baseline="0" dirty="0" err="1"/>
              <a:t>có</a:t>
            </a:r>
            <a:r>
              <a:rPr lang="en-US" b="1" baseline="0" dirty="0"/>
              <a:t> 7 </a:t>
            </a:r>
            <a:r>
              <a:rPr lang="en-US" b="1" baseline="0" dirty="0" err="1"/>
              <a:t>phiên</a:t>
            </a:r>
            <a:r>
              <a:rPr lang="en-US" b="1" baseline="0" dirty="0"/>
              <a:t> </a:t>
            </a:r>
            <a:r>
              <a:rPr lang="en-US" b="1" baseline="0" dirty="0" err="1"/>
              <a:t>bản</a:t>
            </a:r>
            <a:r>
              <a:rPr lang="en-US" b="1" baseline="0" dirty="0"/>
              <a:t> </a:t>
            </a:r>
            <a:r>
              <a:rPr lang="en-US" b="1" baseline="0" dirty="0" err="1"/>
              <a:t>gồm</a:t>
            </a:r>
            <a:r>
              <a:rPr lang="en-US" b="1" baseline="0" dirty="0"/>
              <a:t> D</a:t>
            </a:r>
            <a:r>
              <a:rPr lang="vi-VN" b="1" baseline="0" dirty="0"/>
              <a:t>ƯỢ</a:t>
            </a:r>
            <a:r>
              <a:rPr lang="en-US" b="1" baseline="0" dirty="0"/>
              <a:t>C, ĐIỆN TỬ, BỆNH VIỆN, NHÀ SÁCH, SIÊU THỊ, SỬA CHỮA XE, NHÀ MÁY HOÁ HỌC. </a:t>
            </a:r>
            <a:r>
              <a:rPr lang="en-US" b="1" baseline="0" dirty="0" err="1"/>
              <a:t>Mỗi</a:t>
            </a:r>
            <a:r>
              <a:rPr lang="en-US" b="1" baseline="0" dirty="0"/>
              <a:t> </a:t>
            </a:r>
            <a:r>
              <a:rPr lang="en-US" b="1" baseline="0" dirty="0" err="1"/>
              <a:t>nhánh</a:t>
            </a:r>
            <a:r>
              <a:rPr lang="en-US" b="1" baseline="0" dirty="0"/>
              <a:t> </a:t>
            </a:r>
            <a:r>
              <a:rPr lang="en-US" b="1" baseline="0" dirty="0" err="1"/>
              <a:t>gồm</a:t>
            </a:r>
            <a:r>
              <a:rPr lang="en-US" b="1" baseline="0" dirty="0"/>
              <a:t> 4-5 </a:t>
            </a:r>
            <a:r>
              <a:rPr lang="en-US" b="1" baseline="0" dirty="0" err="1"/>
              <a:t>nhánh</a:t>
            </a:r>
            <a:r>
              <a:rPr lang="en-US" b="1" baseline="0" dirty="0"/>
              <a:t> </a:t>
            </a:r>
            <a:r>
              <a:rPr lang="en-US" b="1" baseline="0" dirty="0" err="1"/>
              <a:t>phụ</a:t>
            </a:r>
            <a:r>
              <a:rPr lang="en-US" b="1" baseline="0" dirty="0"/>
              <a:t> </a:t>
            </a:r>
            <a:r>
              <a:rPr lang="en-US" b="1" baseline="0" dirty="0" err="1"/>
              <a:t>thay</a:t>
            </a:r>
            <a:r>
              <a:rPr lang="en-US" b="1" baseline="0" dirty="0"/>
              <a:t> </a:t>
            </a:r>
            <a:r>
              <a:rPr lang="vi-VN" b="1" baseline="0" dirty="0"/>
              <a:t>đổ</a:t>
            </a:r>
            <a:r>
              <a:rPr lang="en-US" b="1" baseline="0" dirty="0" err="1"/>
              <a:t>i</a:t>
            </a:r>
            <a:r>
              <a:rPr lang="en-US" b="1" baseline="0" dirty="0"/>
              <a:t> </a:t>
            </a:r>
            <a:r>
              <a:rPr lang="en-US" b="1" baseline="0" dirty="0" err="1"/>
              <a:t>theo</a:t>
            </a:r>
            <a:r>
              <a:rPr lang="en-US" b="1" baseline="0" dirty="0"/>
              <a:t> module, </a:t>
            </a:r>
            <a:r>
              <a:rPr lang="en-US" b="1" baseline="0" dirty="0" err="1"/>
              <a:t>mức</a:t>
            </a:r>
            <a:r>
              <a:rPr lang="en-US" b="1" baseline="0" dirty="0"/>
              <a:t> </a:t>
            </a:r>
            <a:r>
              <a:rPr lang="vi-VN" b="1" baseline="0" dirty="0"/>
              <a:t>độ</a:t>
            </a:r>
            <a:r>
              <a:rPr lang="en-US" b="1" baseline="0" dirty="0"/>
              <a:t> </a:t>
            </a:r>
            <a:r>
              <a:rPr lang="en-US" b="1" baseline="0" dirty="0" err="1"/>
              <a:t>hiện</a:t>
            </a:r>
            <a:r>
              <a:rPr lang="en-US" b="1" baseline="0" dirty="0"/>
              <a:t> </a:t>
            </a:r>
            <a:r>
              <a:rPr lang="en-US" b="1" baseline="0" dirty="0" err="1"/>
              <a:t>thực</a:t>
            </a:r>
            <a:r>
              <a:rPr lang="en-US" b="1" baseline="0" dirty="0"/>
              <a:t> </a:t>
            </a:r>
            <a:r>
              <a:rPr lang="en-US" b="1" baseline="0" dirty="0" err="1"/>
              <a:t>hoặc</a:t>
            </a:r>
            <a:r>
              <a:rPr lang="en-US" b="1" baseline="0" dirty="0"/>
              <a:t> </a:t>
            </a:r>
            <a:r>
              <a:rPr lang="en-US" b="1" baseline="0" dirty="0" err="1"/>
              <a:t>yêu</a:t>
            </a:r>
            <a:r>
              <a:rPr lang="en-US" b="1" baseline="0" dirty="0"/>
              <a:t> </a:t>
            </a:r>
            <a:r>
              <a:rPr lang="en-US" b="1" baseline="0" dirty="0" err="1"/>
              <a:t>cầu</a:t>
            </a:r>
            <a:r>
              <a:rPr lang="en-US" b="1" baseline="0" dirty="0"/>
              <a:t> </a:t>
            </a:r>
            <a:r>
              <a:rPr lang="en-US" b="1" baseline="0" dirty="0" err="1"/>
              <a:t>cụ</a:t>
            </a:r>
            <a:r>
              <a:rPr lang="en-US" b="1" baseline="0" dirty="0"/>
              <a:t> </a:t>
            </a:r>
            <a:r>
              <a:rPr lang="en-US" b="1" baseline="0" dirty="0" err="1"/>
              <a:t>thể</a:t>
            </a:r>
            <a:r>
              <a:rPr lang="en-US" b="1" baseline="0" dirty="0"/>
              <a:t> </a:t>
            </a:r>
            <a:r>
              <a:rPr lang="en-US" b="1" baseline="0" dirty="0" err="1"/>
              <a:t>của</a:t>
            </a:r>
            <a:r>
              <a:rPr lang="en-US" b="1" baseline="0" dirty="0"/>
              <a:t> KHÁCH HÀNG. </a:t>
            </a:r>
            <a:r>
              <a:rPr lang="en-US" b="1" baseline="0" dirty="0" err="1"/>
              <a:t>Ví</a:t>
            </a:r>
            <a:r>
              <a:rPr lang="en-US" b="1" baseline="0" dirty="0"/>
              <a:t> </a:t>
            </a:r>
            <a:r>
              <a:rPr lang="en-US" b="1" baseline="0" dirty="0" err="1"/>
              <a:t>dụ</a:t>
            </a:r>
            <a:r>
              <a:rPr lang="en-US" b="1" baseline="0" dirty="0"/>
              <a:t>, QL TỒN KHO NHÀ SÁCH </a:t>
            </a:r>
            <a:r>
              <a:rPr lang="en-US" b="1" baseline="0" dirty="0" err="1"/>
              <a:t>có</a:t>
            </a:r>
            <a:r>
              <a:rPr lang="en-US" b="1" baseline="0" dirty="0"/>
              <a:t> 5 </a:t>
            </a:r>
            <a:r>
              <a:rPr lang="en-US" b="1" baseline="0" dirty="0" err="1"/>
              <a:t>nhánh</a:t>
            </a:r>
            <a:r>
              <a:rPr lang="en-US" b="1" baseline="0" dirty="0"/>
              <a:t> </a:t>
            </a:r>
            <a:r>
              <a:rPr lang="en-US" b="1" baseline="0" dirty="0" err="1"/>
              <a:t>phụ</a:t>
            </a:r>
            <a:r>
              <a:rPr lang="en-US" b="1" baseline="0" dirty="0"/>
              <a:t> (</a:t>
            </a:r>
            <a:r>
              <a:rPr lang="en-US" b="1" baseline="0" dirty="0" err="1"/>
              <a:t>phiên</a:t>
            </a:r>
            <a:r>
              <a:rPr lang="en-US" b="1" baseline="0" dirty="0"/>
              <a:t> </a:t>
            </a:r>
            <a:r>
              <a:rPr lang="en-US" b="1" baseline="0" dirty="0" err="1"/>
              <a:t>bản</a:t>
            </a:r>
            <a:r>
              <a:rPr lang="en-US" b="1" baseline="0" dirty="0"/>
              <a:t>) </a:t>
            </a:r>
            <a:r>
              <a:rPr lang="en-US" b="1" baseline="0" dirty="0" err="1"/>
              <a:t>gồm</a:t>
            </a:r>
            <a:r>
              <a:rPr lang="en-US" b="1" baseline="0" dirty="0"/>
              <a:t>: </a:t>
            </a:r>
            <a:r>
              <a:rPr lang="en-US" b="1" baseline="0" dirty="0" err="1"/>
              <a:t>nhà</a:t>
            </a:r>
            <a:r>
              <a:rPr lang="en-US" b="1" baseline="0" dirty="0"/>
              <a:t> </a:t>
            </a:r>
            <a:r>
              <a:rPr lang="en-US" b="1" baseline="0" dirty="0" err="1"/>
              <a:t>sách</a:t>
            </a:r>
            <a:r>
              <a:rPr lang="en-US" b="1" baseline="0" dirty="0"/>
              <a:t> </a:t>
            </a:r>
            <a:r>
              <a:rPr lang="en-US" b="1" baseline="0" dirty="0" err="1"/>
              <a:t>đơn</a:t>
            </a:r>
            <a:r>
              <a:rPr lang="en-US" b="1" baseline="0" dirty="0"/>
              <a:t>, </a:t>
            </a:r>
            <a:r>
              <a:rPr lang="en-US" b="1" baseline="0" dirty="0" err="1"/>
              <a:t>chuỗi</a:t>
            </a:r>
            <a:r>
              <a:rPr lang="en-US" b="1" baseline="0" dirty="0"/>
              <a:t> </a:t>
            </a:r>
            <a:r>
              <a:rPr lang="en-US" b="1" baseline="0" dirty="0" err="1"/>
              <a:t>nhà</a:t>
            </a:r>
            <a:r>
              <a:rPr lang="en-US" b="1" baseline="0" dirty="0"/>
              <a:t> </a:t>
            </a:r>
            <a:r>
              <a:rPr lang="en-US" b="1" baseline="0" dirty="0" err="1"/>
              <a:t>sách</a:t>
            </a:r>
            <a:r>
              <a:rPr lang="en-US" b="1" baseline="0" dirty="0"/>
              <a:t>,</a:t>
            </a:r>
            <a:r>
              <a:rPr lang="en-US" sz="1200" dirty="0"/>
              <a:t> </a:t>
            </a:r>
            <a:r>
              <a:rPr lang="en-US" sz="1200" b="1" dirty="0" err="1"/>
              <a:t>thư</a:t>
            </a:r>
            <a:r>
              <a:rPr lang="en-US" sz="1200" b="1" baseline="0" dirty="0"/>
              <a:t> </a:t>
            </a:r>
            <a:r>
              <a:rPr lang="en-US" sz="1200" b="1" baseline="0" dirty="0" err="1"/>
              <a:t>viện</a:t>
            </a:r>
            <a:r>
              <a:rPr lang="en-US" sz="1200" b="1" baseline="0" dirty="0"/>
              <a:t>,…)</a:t>
            </a:r>
            <a:r>
              <a:rPr lang="en-US" sz="1200" b="1" dirty="0"/>
              <a:t>.</a:t>
            </a:r>
            <a:endParaRPr lang="en-US" b="1" baseline="0" dirty="0"/>
          </a:p>
          <a:p>
            <a:pPr marL="1085850" lvl="2" indent="-171450">
              <a:buFontTx/>
              <a:buChar char="-"/>
            </a:pPr>
            <a:r>
              <a:rPr lang="en-US" b="1" baseline="0" dirty="0"/>
              <a:t>TRÁI VỚI PHIÊN BẢN THEO DẠNG TUẦN TỰ, </a:t>
            </a:r>
            <a:r>
              <a:rPr lang="en-US" b="1" u="none" baseline="0" dirty="0"/>
              <a:t>VC BẢO TRÌ VÀ QUẢN LÝ CÁC PHIÊN BẢN DẠNG CÂY KHÓ KHĂN VÀ TỐN THỜI GIAN HƠN. CHO NÊN </a:t>
            </a:r>
            <a:r>
              <a:rPr lang="vi-VN" b="1" u="none" baseline="0" dirty="0"/>
              <a:t>TỔ CHỨC PHÁT TRIỂN PHẦN MỀM CỐ GẮNG ÁP DỤNG MỘT CHÍNH SÁCH CÂY PHIÊN BẢN </a:t>
            </a:r>
            <a:r>
              <a:rPr lang="en-US" b="1" u="none" baseline="0" dirty="0"/>
              <a:t>CÓ </a:t>
            </a:r>
            <a:r>
              <a:rPr lang="vi-VN" b="1" u="none" baseline="0" dirty="0"/>
              <a:t>GIỚI HẠN, CHO PHÉP CHỈ MỘT SỐ ÍT CÁC PHIÊN BẢN PHẦN MỀM ĐƯỢC PHÁT TRIỂN.</a:t>
            </a:r>
            <a:endParaRPr lang="en-US" b="1" u="none" baseline="0" dirty="0"/>
          </a:p>
          <a:p>
            <a:endParaRPr lang="en-US" b="1" baseline="0" dirty="0"/>
          </a:p>
          <a:p>
            <a:pPr marL="0" lvl="0" indent="0">
              <a:buFontTx/>
              <a:buNone/>
            </a:pPr>
            <a:r>
              <a:rPr lang="en-US" b="0" baseline="0" dirty="0"/>
              <a:t>- </a:t>
            </a:r>
            <a:r>
              <a:rPr lang="en-US" b="0" baseline="0" dirty="0" err="1"/>
              <a:t>Chính</a:t>
            </a:r>
            <a:r>
              <a:rPr lang="en-US" b="0" baseline="0" dirty="0"/>
              <a:t> </a:t>
            </a:r>
            <a:r>
              <a:rPr lang="en-US" b="0" baseline="0" dirty="0" err="1"/>
              <a:t>sách</a:t>
            </a:r>
            <a:r>
              <a:rPr lang="en-US" b="0" baseline="0" dirty="0"/>
              <a:t> </a:t>
            </a:r>
            <a:r>
              <a:rPr lang="en-US" b="0" baseline="0" dirty="0" err="1"/>
              <a:t>thay</a:t>
            </a:r>
            <a:r>
              <a:rPr lang="en-US" b="0" baseline="0" dirty="0"/>
              <a:t> </a:t>
            </a:r>
            <a:r>
              <a:rPr lang="en-US" b="0" baseline="0" dirty="0" err="1"/>
              <a:t>đổi</a:t>
            </a:r>
            <a:r>
              <a:rPr lang="en-US" b="0" baseline="0" dirty="0"/>
              <a:t> (</a:t>
            </a:r>
            <a:r>
              <a:rPr lang="en-US" b="1" baseline="0" dirty="0"/>
              <a:t>XEM THÊM CHƯƠNG VỀ QUẢN LÝ CẤU HÌNH)</a:t>
            </a:r>
            <a:endParaRPr lang="en-US" b="0" baseline="0" dirty="0"/>
          </a:p>
          <a:p>
            <a:pPr marL="0" lvl="0" indent="0">
              <a:buFontTx/>
              <a:buNone/>
            </a:pPr>
            <a:r>
              <a:rPr lang="en-US" b="0" baseline="0" dirty="0"/>
              <a:t>          - Ý </a:t>
            </a:r>
            <a:r>
              <a:rPr lang="en-US" b="0" baseline="0" dirty="0" err="1"/>
              <a:t>nói</a:t>
            </a:r>
            <a:r>
              <a:rPr lang="en-US" b="0" baseline="0" dirty="0"/>
              <a:t> </a:t>
            </a:r>
            <a:r>
              <a:rPr lang="en-US" b="0" baseline="0" dirty="0" err="1"/>
              <a:t>đến</a:t>
            </a:r>
            <a:r>
              <a:rPr lang="en-US" b="0" baseline="0" dirty="0"/>
              <a:t> </a:t>
            </a:r>
            <a:r>
              <a:rPr lang="en-US" b="0" baseline="0" dirty="0" err="1"/>
              <a:t>ph</a:t>
            </a:r>
            <a:r>
              <a:rPr lang="vi-VN" b="0" baseline="0" dirty="0"/>
              <a:t>ươn</a:t>
            </a:r>
            <a:r>
              <a:rPr lang="en-US" b="0" baseline="0" dirty="0"/>
              <a:t>g </a:t>
            </a:r>
            <a:r>
              <a:rPr lang="en-US" b="0" baseline="0" dirty="0" err="1"/>
              <a:t>thức</a:t>
            </a:r>
            <a:r>
              <a:rPr lang="en-US" b="0" baseline="0" dirty="0"/>
              <a:t> </a:t>
            </a:r>
            <a:r>
              <a:rPr lang="en-US" b="0" baseline="0" dirty="0" err="1"/>
              <a:t>kiểm</a:t>
            </a:r>
            <a:r>
              <a:rPr lang="en-US" b="0" baseline="0" dirty="0"/>
              <a:t> </a:t>
            </a:r>
            <a:r>
              <a:rPr lang="en-US" b="0" baseline="0" dirty="0" err="1"/>
              <a:t>tra</a:t>
            </a:r>
            <a:r>
              <a:rPr lang="en-US" b="0" baseline="0" dirty="0"/>
              <a:t> </a:t>
            </a:r>
            <a:r>
              <a:rPr lang="vi-VN" b="0" baseline="0" dirty="0"/>
              <a:t>từng yêu cầu thay đổi và các tiêu chuẩn </a:t>
            </a:r>
            <a:r>
              <a:rPr lang="en-US" b="0" baseline="0" dirty="0" err="1"/>
              <a:t>chấp</a:t>
            </a:r>
            <a:r>
              <a:rPr lang="en-US" b="0" baseline="0" dirty="0"/>
              <a:t> </a:t>
            </a:r>
            <a:r>
              <a:rPr lang="en-US" b="0" baseline="0" dirty="0" err="1"/>
              <a:t>nhận</a:t>
            </a:r>
            <a:r>
              <a:rPr lang="en-US" b="0" baseline="0" dirty="0"/>
              <a:t> </a:t>
            </a:r>
            <a:r>
              <a:rPr lang="en-US" b="0" baseline="0" dirty="0" err="1"/>
              <a:t>thay</a:t>
            </a:r>
            <a:r>
              <a:rPr lang="en-US" b="0" baseline="0" dirty="0"/>
              <a:t> </a:t>
            </a:r>
            <a:r>
              <a:rPr lang="en-US" b="0" baseline="0" dirty="0" err="1"/>
              <a:t>đổi</a:t>
            </a:r>
            <a:r>
              <a:rPr lang="en-US" b="0" baseline="0" dirty="0"/>
              <a:t> </a:t>
            </a:r>
          </a:p>
          <a:p>
            <a:pPr marL="0" lvl="0" indent="0">
              <a:buFontTx/>
              <a:buNone/>
            </a:pPr>
            <a:r>
              <a:rPr lang="vi-VN" u="sng" baseline="0" dirty="0" err="1"/>
              <a:t>Bướ</a:t>
            </a:r>
            <a:r>
              <a:rPr lang="en-US" u="sng" baseline="0" dirty="0"/>
              <a:t>c 1. </a:t>
            </a:r>
            <a:r>
              <a:rPr lang="en-US" baseline="0" dirty="0"/>
              <a:t>Khi </a:t>
            </a:r>
            <a:r>
              <a:rPr lang="en-US" baseline="0" dirty="0" err="1"/>
              <a:t>có</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cần</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sẽ</a:t>
            </a:r>
            <a:r>
              <a:rPr lang="en-US" baseline="0" dirty="0"/>
              <a:t> </a:t>
            </a:r>
            <a:r>
              <a:rPr lang="en-US" baseline="0" dirty="0" err="1"/>
              <a:t>tiến</a:t>
            </a:r>
            <a:r>
              <a:rPr lang="en-US" baseline="0" dirty="0"/>
              <a:t> </a:t>
            </a:r>
            <a:r>
              <a:rPr lang="en-US" baseline="0" dirty="0" err="1"/>
              <a:t>hành</a:t>
            </a:r>
            <a:r>
              <a:rPr lang="en-US" baseline="0" dirty="0"/>
              <a:t> PHÂN TÍCH MỨC ĐỘ ẢNH HƯỞNG CỦA SỰ THAY ĐỔI </a:t>
            </a:r>
            <a:r>
              <a:rPr lang="en-US" baseline="0" dirty="0" err="1"/>
              <a:t>đến</a:t>
            </a:r>
            <a:r>
              <a:rPr lang="en-US" baseline="0" dirty="0"/>
              <a:t> </a:t>
            </a:r>
            <a:r>
              <a:rPr lang="en-US" baseline="0" dirty="0" err="1"/>
              <a:t>các</a:t>
            </a:r>
            <a:r>
              <a:rPr lang="en-US" baseline="0" dirty="0"/>
              <a:t> </a:t>
            </a:r>
            <a:r>
              <a:rPr lang="en-US" baseline="0" dirty="0" err="1"/>
              <a:t>thành</a:t>
            </a:r>
            <a:r>
              <a:rPr lang="en-US" baseline="0" dirty="0"/>
              <a:t> </a:t>
            </a:r>
            <a:r>
              <a:rPr lang="en-US" baseline="0" dirty="0" err="1"/>
              <a:t>phần</a:t>
            </a:r>
            <a:r>
              <a:rPr lang="en-US" baseline="0" dirty="0"/>
              <a:t> </a:t>
            </a:r>
            <a:r>
              <a:rPr lang="en-US" baseline="0" dirty="0" err="1"/>
              <a:t>hiện</a:t>
            </a:r>
            <a:r>
              <a:rPr lang="en-US" baseline="0" dirty="0"/>
              <a:t> </a:t>
            </a:r>
            <a:r>
              <a:rPr lang="en-US" baseline="0" dirty="0" err="1"/>
              <a:t>có</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p>
          <a:p>
            <a:pPr marL="0" lvl="0" indent="0">
              <a:buFontTx/>
              <a:buNone/>
            </a:pPr>
            <a:r>
              <a:rPr lang="en-US" u="sng" baseline="0" dirty="0" err="1"/>
              <a:t>Bước</a:t>
            </a:r>
            <a:r>
              <a:rPr lang="en-US" u="sng" baseline="0" dirty="0"/>
              <a:t> 2.</a:t>
            </a:r>
            <a:r>
              <a:rPr lang="en-US" baseline="0" dirty="0"/>
              <a:t> </a:t>
            </a:r>
            <a:r>
              <a:rPr lang="en-US" baseline="0" dirty="0" err="1"/>
              <a:t>Dựa</a:t>
            </a:r>
            <a:r>
              <a:rPr lang="en-US" baseline="0" dirty="0"/>
              <a:t> </a:t>
            </a:r>
            <a:r>
              <a:rPr lang="en-US" baseline="0" dirty="0" err="1"/>
              <a:t>vào</a:t>
            </a:r>
            <a:r>
              <a:rPr lang="en-US" baseline="0" dirty="0"/>
              <a:t> </a:t>
            </a:r>
            <a:r>
              <a:rPr lang="en-US" baseline="0" dirty="0" err="1"/>
              <a:t>đó</a:t>
            </a:r>
            <a:r>
              <a:rPr lang="en-US" baseline="0" dirty="0"/>
              <a:t> </a:t>
            </a:r>
            <a:r>
              <a:rPr lang="en-US" baseline="0" dirty="0" err="1"/>
              <a:t>để</a:t>
            </a:r>
            <a:r>
              <a:rPr lang="en-US" baseline="0" dirty="0"/>
              <a:t> QUYẾT ĐỊNH PHẠM VI BẢO TRÌ ở </a:t>
            </a:r>
            <a:r>
              <a:rPr lang="en-US" baseline="0" dirty="0" err="1"/>
              <a:t>mức</a:t>
            </a:r>
            <a:r>
              <a:rPr lang="en-US" baseline="0" dirty="0"/>
              <a:t> </a:t>
            </a:r>
            <a:r>
              <a:rPr lang="en-US" baseline="0" dirty="0" err="1"/>
              <a:t>độ</a:t>
            </a:r>
            <a:r>
              <a:rPr lang="en-US" baseline="0" dirty="0"/>
              <a:t> </a:t>
            </a:r>
            <a:r>
              <a:rPr lang="en-US" baseline="0" dirty="0" err="1"/>
              <a:t>nào</a:t>
            </a:r>
            <a:r>
              <a:rPr lang="en-US" baseline="0" dirty="0"/>
              <a:t>: </a:t>
            </a:r>
            <a:r>
              <a:rPr lang="en-US" baseline="0" dirty="0" err="1"/>
              <a:t>làm</a:t>
            </a:r>
            <a:r>
              <a:rPr lang="en-US" baseline="0" dirty="0"/>
              <a:t> </a:t>
            </a:r>
            <a:r>
              <a:rPr lang="en-US" baseline="0" dirty="0" err="1"/>
              <a:t>tất</a:t>
            </a:r>
            <a:r>
              <a:rPr lang="en-US" baseline="0" dirty="0"/>
              <a:t> </a:t>
            </a:r>
            <a:r>
              <a:rPr lang="en-US" baseline="0" dirty="0" err="1"/>
              <a:t>các</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chỉ</a:t>
            </a:r>
            <a:r>
              <a:rPr lang="en-US" baseline="0" dirty="0"/>
              <a:t> </a:t>
            </a:r>
            <a:r>
              <a:rPr lang="en-US" baseline="0" dirty="0" err="1"/>
              <a:t>làm</a:t>
            </a:r>
            <a:r>
              <a:rPr lang="en-US" baseline="0" dirty="0"/>
              <a:t> </a:t>
            </a:r>
            <a:r>
              <a:rPr lang="en-US" baseline="0" dirty="0" err="1"/>
              <a:t>việc</a:t>
            </a:r>
            <a:r>
              <a:rPr lang="en-US" baseline="0" dirty="0"/>
              <a:t> </a:t>
            </a:r>
            <a:r>
              <a:rPr lang="en-US" baseline="0" dirty="0" err="1"/>
              <a:t>sửa</a:t>
            </a:r>
            <a:r>
              <a:rPr lang="en-US" baseline="0" dirty="0"/>
              <a:t> </a:t>
            </a:r>
            <a:r>
              <a:rPr lang="en-US" baseline="0" dirty="0" err="1"/>
              <a:t>lại</a:t>
            </a:r>
            <a:r>
              <a:rPr lang="en-US" baseline="0" dirty="0"/>
              <a:t> </a:t>
            </a:r>
            <a:r>
              <a:rPr lang="en-US" baseline="0" dirty="0" err="1"/>
              <a:t>lỗi</a:t>
            </a:r>
            <a:r>
              <a:rPr lang="en-US" baseline="0" dirty="0"/>
              <a:t> hay </a:t>
            </a:r>
            <a:r>
              <a:rPr lang="en-US" baseline="0" dirty="0" err="1"/>
              <a:t>là</a:t>
            </a:r>
            <a:r>
              <a:rPr lang="en-US" baseline="0" dirty="0"/>
              <a:t> </a:t>
            </a:r>
            <a:r>
              <a:rPr lang="en-US" baseline="0" dirty="0" err="1"/>
              <a:t>không</a:t>
            </a:r>
            <a:r>
              <a:rPr lang="en-US" baseline="0" dirty="0"/>
              <a:t> </a:t>
            </a:r>
            <a:r>
              <a:rPr lang="en-US" baseline="0" dirty="0" err="1"/>
              <a:t>làm</a:t>
            </a:r>
            <a:r>
              <a:rPr lang="en-US" baseline="0" dirty="0"/>
              <a:t> </a:t>
            </a:r>
            <a:r>
              <a:rPr lang="en-US" baseline="0" dirty="0" err="1"/>
              <a:t>gì</a:t>
            </a:r>
            <a:r>
              <a:rPr lang="en-US" baseline="0" dirty="0"/>
              <a:t> </a:t>
            </a:r>
            <a:r>
              <a:rPr lang="en-US" baseline="0" dirty="0" err="1"/>
              <a:t>cả</a:t>
            </a:r>
            <a:r>
              <a:rPr lang="en-US" baseline="0" dirty="0"/>
              <a:t> …</a:t>
            </a:r>
          </a:p>
          <a:p>
            <a:pPr marL="0" lvl="0" indent="0">
              <a:buFontTx/>
              <a:buNone/>
            </a:pPr>
            <a:r>
              <a:rPr lang="en-US" u="sng" baseline="0" dirty="0" err="1"/>
              <a:t>Bước</a:t>
            </a:r>
            <a:r>
              <a:rPr lang="en-US" u="sng" baseline="0" dirty="0"/>
              <a:t> 3.</a:t>
            </a:r>
            <a:r>
              <a:rPr lang="en-US" baseline="0" dirty="0"/>
              <a:t> </a:t>
            </a:r>
            <a:r>
              <a:rPr lang="en-US" baseline="0" dirty="0" err="1"/>
              <a:t>Nếu</a:t>
            </a:r>
            <a:r>
              <a:rPr lang="en-US" baseline="0" dirty="0"/>
              <a:t> </a:t>
            </a:r>
            <a:r>
              <a:rPr lang="en-US" baseline="0" dirty="0" err="1"/>
              <a:t>những</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được</a:t>
            </a:r>
            <a:r>
              <a:rPr lang="en-US" baseline="0" dirty="0"/>
              <a:t> </a:t>
            </a:r>
            <a:r>
              <a:rPr lang="en-US" baseline="0" dirty="0" err="1"/>
              <a:t>phê</a:t>
            </a:r>
            <a:r>
              <a:rPr lang="en-US" baseline="0" dirty="0"/>
              <a:t> </a:t>
            </a:r>
            <a:r>
              <a:rPr lang="en-US" baseline="0" dirty="0" err="1"/>
              <a:t>duyệt</a:t>
            </a:r>
            <a:r>
              <a:rPr lang="en-US" baseline="0" dirty="0"/>
              <a:t>, </a:t>
            </a:r>
            <a:r>
              <a:rPr lang="en-US" baseline="0" dirty="0" err="1"/>
              <a:t>bắt</a:t>
            </a:r>
            <a:r>
              <a:rPr lang="en-US" baseline="0" dirty="0"/>
              <a:t> </a:t>
            </a:r>
            <a:r>
              <a:rPr lang="en-US" baseline="0" dirty="0" err="1"/>
              <a:t>đầu</a:t>
            </a:r>
            <a:r>
              <a:rPr lang="en-US" baseline="0" dirty="0"/>
              <a:t> LÊN KẾ HOẠCH CHO PHIÊN BẢN SỬA ĐỔI (</a:t>
            </a:r>
            <a:r>
              <a:rPr lang="en-US" baseline="0" dirty="0" err="1"/>
              <a:t>về</a:t>
            </a:r>
            <a:r>
              <a:rPr lang="en-US" baseline="0" dirty="0"/>
              <a:t> </a:t>
            </a:r>
            <a:r>
              <a:rPr lang="en-US" baseline="0" dirty="0" err="1"/>
              <a:t>nhân</a:t>
            </a:r>
            <a:r>
              <a:rPr lang="en-US" baseline="0" dirty="0"/>
              <a:t> </a:t>
            </a:r>
            <a:r>
              <a:rPr lang="en-US" baseline="0" dirty="0" err="1"/>
              <a:t>sự</a:t>
            </a:r>
            <a:r>
              <a:rPr lang="en-US" baseline="0" dirty="0"/>
              <a:t>, </a:t>
            </a:r>
            <a:r>
              <a:rPr lang="en-US" baseline="0" dirty="0" err="1"/>
              <a:t>hướng</a:t>
            </a:r>
            <a:r>
              <a:rPr lang="en-US" baseline="0" dirty="0"/>
              <a:t> </a:t>
            </a:r>
            <a:r>
              <a:rPr lang="en-US" baseline="0" dirty="0" err="1"/>
              <a:t>tiếp</a:t>
            </a:r>
            <a:r>
              <a:rPr lang="en-US" baseline="0" dirty="0"/>
              <a:t> </a:t>
            </a:r>
            <a:r>
              <a:rPr lang="en-US" baseline="0" dirty="0" err="1"/>
              <a:t>cận</a:t>
            </a:r>
            <a:r>
              <a:rPr lang="en-US" baseline="0" dirty="0"/>
              <a:t> </a:t>
            </a:r>
            <a:r>
              <a:rPr lang="en-US" baseline="0" dirty="0" err="1"/>
              <a:t>bảo</a:t>
            </a:r>
            <a:r>
              <a:rPr lang="en-US" baseline="0" dirty="0"/>
              <a:t> </a:t>
            </a:r>
            <a:r>
              <a:rPr lang="en-US" baseline="0" dirty="0" err="1"/>
              <a:t>trì</a:t>
            </a:r>
            <a:r>
              <a:rPr lang="en-US" baseline="0" dirty="0"/>
              <a:t>, …), </a:t>
            </a:r>
            <a:r>
              <a:rPr lang="en-US" baseline="0" dirty="0" err="1"/>
              <a:t>thực</a:t>
            </a:r>
            <a:r>
              <a:rPr lang="en-US" baseline="0" dirty="0"/>
              <a:t> </a:t>
            </a:r>
            <a:r>
              <a:rPr lang="en-US" baseline="0" dirty="0" err="1"/>
              <a:t>thi</a:t>
            </a:r>
            <a:r>
              <a:rPr lang="en-US" baseline="0" dirty="0"/>
              <a:t> </a:t>
            </a:r>
            <a:r>
              <a:rPr lang="en-US" baseline="0" dirty="0" err="1"/>
              <a:t>những</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và</a:t>
            </a:r>
            <a:r>
              <a:rPr lang="en-US" baseline="0" dirty="0"/>
              <a:t> release </a:t>
            </a:r>
            <a:r>
              <a:rPr lang="en-US" baseline="0" dirty="0" err="1"/>
              <a:t>hệ</a:t>
            </a:r>
            <a:r>
              <a:rPr lang="en-US" baseline="0" dirty="0"/>
              <a:t> </a:t>
            </a:r>
            <a:r>
              <a:rPr lang="en-US" baseline="0" dirty="0" err="1"/>
              <a:t>thống</a:t>
            </a:r>
            <a:r>
              <a:rPr lang="en-US" baseline="0" dirty="0"/>
              <a:t>.</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r>
              <a:rPr lang="en-US" sz="1200" dirty="0"/>
              <a:t>Example: After a few years of application,  Inventory Perfect, an inventory management (QL </a:t>
            </a:r>
            <a:r>
              <a:rPr lang="en-US" sz="1200" dirty="0" err="1"/>
              <a:t>tồn</a:t>
            </a:r>
            <a:r>
              <a:rPr lang="en-US" sz="1200" dirty="0"/>
              <a:t> </a:t>
            </a:r>
            <a:r>
              <a:rPr lang="en-US" sz="1200" dirty="0" err="1"/>
              <a:t>kho</a:t>
            </a:r>
            <a:r>
              <a:rPr lang="en-US" sz="1200" dirty="0"/>
              <a:t>) package developed according to the </a:t>
            </a:r>
            <a:r>
              <a:rPr lang="en-US" sz="1200" b="1" dirty="0"/>
              <a:t>Tree Policy</a:t>
            </a:r>
            <a:r>
              <a:rPr lang="en-US" sz="1200" dirty="0"/>
              <a:t>, has evolved into a SEVEN-VERSION software package with these main branches: PHARMACIES, ELECTRONICS, HOSPITALS, BOOKSTORES, SUPERMARKETS, GARAGES–AUTO REPAIRS, AND CHEMICAL PLANTS. Each of the branches includes four or five secondary branches that vary by number of software modules, level of implementation or specific customer-oriented applications. For example, the Bookstores version has the following five secondary branches (versions): BOOKSTORE CHAINS, SINGLE BOOKSTORES, ADVANCED MANAGEMENT BOOKSTORES, AND SPECIAL VERSIONS FOR THE LP BOOKSTORE CHAIN AND FOR CUCB (CITY UNIVERSITY CAMPUS BOOKSTORES).</a:t>
            </a:r>
          </a:p>
          <a:p>
            <a:r>
              <a:rPr lang="en-US" sz="1200" dirty="0"/>
              <a:t>The software maintenance team tends to a total of 30 different versions of the software package simultaneously, with each version revised periodically</a:t>
            </a:r>
          </a:p>
          <a:p>
            <a:r>
              <a:rPr lang="en-US" sz="1200" dirty="0"/>
              <a:t>according to customer requests and the team’s technical innovations. </a:t>
            </a:r>
          </a:p>
          <a:p>
            <a:pPr marL="0" lvl="0" indent="0">
              <a:buFontTx/>
              <a:buNone/>
            </a:pPr>
            <a:endParaRPr lang="en-US" baseline="0" dirty="0"/>
          </a:p>
        </p:txBody>
      </p:sp>
      <p:sp>
        <p:nvSpPr>
          <p:cNvPr id="4" name="Slide Number Placeholder 3"/>
          <p:cNvSpPr>
            <a:spLocks noGrp="1"/>
          </p:cNvSpPr>
          <p:nvPr>
            <p:ph type="sldNum" sz="quarter" idx="10"/>
          </p:nvPr>
        </p:nvSpPr>
        <p:spPr/>
        <p:txBody>
          <a:bodyPr/>
          <a:lstStyle/>
          <a:p>
            <a:fld id="{A63B9007-0201-49BE-A587-7F882848EC05}" type="slidenum">
              <a:rPr lang="en-US" smtClean="0"/>
              <a:t>89</a:t>
            </a:fld>
            <a:endParaRPr lang="en-US"/>
          </a:p>
        </p:txBody>
      </p:sp>
    </p:spTree>
    <p:extLst>
      <p:ext uri="{BB962C8B-B14F-4D97-AF65-F5344CB8AC3E}">
        <p14:creationId xmlns:p14="http://schemas.microsoft.com/office/powerpoint/2010/main" val="36171606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SV TỰ</a:t>
            </a:r>
            <a:r>
              <a:rPr lang="en-US" b="1" baseline="0" dirty="0"/>
              <a:t> ĐỌC</a:t>
            </a:r>
            <a:endParaRPr lang="en-US" b="1" dirty="0"/>
          </a:p>
          <a:p>
            <a:r>
              <a:rPr lang="en-US" b="0" dirty="0"/>
              <a:t>GIỐNG</a:t>
            </a:r>
            <a:r>
              <a:rPr lang="en-US" b="0" baseline="0" dirty="0"/>
              <a:t> NHƯ CÁC THÀNH PHẦN SQA CHO TIỀN PROJECT, CÁC HOẠT ĐỘNG </a:t>
            </a:r>
            <a:r>
              <a:rPr lang="en-US" b="0" u="sng" baseline="0" dirty="0"/>
              <a:t>SQA TIỀN BẢO TRÌ </a:t>
            </a:r>
            <a:r>
              <a:rPr lang="en-US" b="0" baseline="0" dirty="0"/>
              <a:t>CŨNG CẦN PHẢI CÓ TRƯỚC KHI THỰC HIỆN CÁC CV BẢO TRÌ. BAO GỒM:</a:t>
            </a:r>
          </a:p>
          <a:p>
            <a:pPr marL="0" indent="0">
              <a:buFontTx/>
              <a:buNone/>
            </a:pPr>
            <a:r>
              <a:rPr lang="en-US" b="0" baseline="0" dirty="0"/>
              <a:t>- </a:t>
            </a:r>
            <a:r>
              <a:rPr lang="vi-VN" b="0" baseline="0" dirty="0"/>
              <a:t>Rà soát </a:t>
            </a:r>
            <a:r>
              <a:rPr lang="en-US" b="0" baseline="0" dirty="0" err="1"/>
              <a:t>hợp</a:t>
            </a:r>
            <a:r>
              <a:rPr lang="en-US" b="0" baseline="0" dirty="0"/>
              <a:t> </a:t>
            </a:r>
            <a:r>
              <a:rPr lang="en-US" b="0" baseline="0" dirty="0" err="1"/>
              <a:t>đồng</a:t>
            </a:r>
            <a:r>
              <a:rPr lang="en-US" b="0" baseline="0" dirty="0"/>
              <a:t> </a:t>
            </a:r>
            <a:r>
              <a:rPr lang="en-US" b="0" baseline="0" dirty="0" err="1"/>
              <a:t>bảo</a:t>
            </a:r>
            <a:r>
              <a:rPr lang="en-US" b="0" baseline="0" dirty="0"/>
              <a:t> </a:t>
            </a:r>
            <a:r>
              <a:rPr lang="en-US" b="0" baseline="0" dirty="0" err="1"/>
              <a:t>trì</a:t>
            </a:r>
            <a:r>
              <a:rPr lang="vi-VN" b="0" baseline="0" dirty="0"/>
              <a:t>: </a:t>
            </a:r>
            <a:r>
              <a:rPr lang="vi-VN" b="0" u="sng" baseline="0" dirty="0"/>
              <a:t>TRƯỚC KHI BẮT ĐẦU CUNG CẤP DỊCH VỤ BẢO TRÌ PHẦN MỀM CHO BẤT KỲ KHÁCH HÀNG</a:t>
            </a:r>
            <a:r>
              <a:rPr lang="en-US" b="0" u="sng" baseline="0" dirty="0"/>
              <a:t> NÀO</a:t>
            </a:r>
            <a:r>
              <a:rPr lang="vi-VN" b="0" u="sng" baseline="0" dirty="0"/>
              <a:t>, </a:t>
            </a:r>
            <a:r>
              <a:rPr lang="en-US" b="0" u="sng" baseline="0" dirty="0"/>
              <a:t>CẦN PHẢI LÀM XONG </a:t>
            </a:r>
            <a:r>
              <a:rPr lang="vi-VN" b="0" u="sng" baseline="0" dirty="0"/>
              <a:t>HỢP ĐỒNG BẢO TRÌ ĐẦY ĐỦ</a:t>
            </a:r>
            <a:r>
              <a:rPr lang="en-US" b="0" u="sng" baseline="0" dirty="0"/>
              <a:t>, TRONG ĐÓ XÁC ĐỊNH RÕ RÀNG NHỮNG GÌ CẦN ĐƯỢC BẢO TRÌ, DỰA VÀO QUYẾT ĐỊNH CỦA CẢ 2 BÊN </a:t>
            </a:r>
            <a:r>
              <a:rPr lang="en-US" b="0" baseline="0" dirty="0"/>
              <a:t>(KH VÀ ĐỘI BẢO TRÌ):</a:t>
            </a:r>
          </a:p>
          <a:p>
            <a:pPr marL="457200" lvl="1" indent="0">
              <a:buFontTx/>
              <a:buNone/>
            </a:pPr>
            <a:r>
              <a:rPr lang="vi-VN" dirty="0"/>
              <a:t>■</a:t>
            </a:r>
            <a:r>
              <a:rPr lang="en-US" dirty="0"/>
              <a:t> </a:t>
            </a:r>
            <a:r>
              <a:rPr lang="en-US" b="0" baseline="0" dirty="0" err="1"/>
              <a:t>Hợp</a:t>
            </a:r>
            <a:r>
              <a:rPr lang="en-US" b="0" baseline="0" dirty="0"/>
              <a:t> </a:t>
            </a:r>
            <a:r>
              <a:rPr lang="en-US" b="0" baseline="0" dirty="0" err="1"/>
              <a:t>đồng</a:t>
            </a:r>
            <a:r>
              <a:rPr lang="en-US" b="0" baseline="0" dirty="0"/>
              <a:t> </a:t>
            </a:r>
            <a:r>
              <a:rPr lang="en-US" b="0" baseline="0" dirty="0" err="1"/>
              <a:t>này</a:t>
            </a:r>
            <a:r>
              <a:rPr lang="en-US" b="0" baseline="0" dirty="0"/>
              <a:t> </a:t>
            </a:r>
            <a:r>
              <a:rPr lang="en-US" b="0" baseline="0" dirty="0" err="1"/>
              <a:t>cần</a:t>
            </a:r>
            <a:r>
              <a:rPr lang="en-US" b="0" baseline="0" dirty="0"/>
              <a:t> </a:t>
            </a:r>
            <a:r>
              <a:rPr lang="en-US" b="0" baseline="0" dirty="0" err="1"/>
              <a:t>đc</a:t>
            </a:r>
            <a:r>
              <a:rPr lang="en-US" b="0" baseline="0" dirty="0"/>
              <a:t> “</a:t>
            </a:r>
            <a:r>
              <a:rPr lang="vi-VN" b="0" baseline="0" dirty="0"/>
              <a:t>rà soát</a:t>
            </a:r>
            <a:r>
              <a:rPr lang="en-US" b="0" baseline="0" dirty="0"/>
              <a:t>”</a:t>
            </a:r>
            <a:r>
              <a:rPr lang="vi-VN" b="0" baseline="0" dirty="0"/>
              <a:t>, </a:t>
            </a:r>
            <a:r>
              <a:rPr lang="en-US" b="0" u="sng" baseline="0" dirty="0" err="1"/>
              <a:t>cần</a:t>
            </a:r>
            <a:r>
              <a:rPr lang="en-US" b="0" u="sng" baseline="0" dirty="0"/>
              <a:t> </a:t>
            </a:r>
            <a:r>
              <a:rPr lang="en-US" b="0" u="sng" baseline="0" dirty="0" err="1"/>
              <a:t>đc</a:t>
            </a:r>
            <a:r>
              <a:rPr lang="en-US" b="0" u="sng" baseline="0" dirty="0"/>
              <a:t> </a:t>
            </a:r>
            <a:r>
              <a:rPr lang="en-US" b="0" u="sng" baseline="0" dirty="0" err="1"/>
              <a:t>thực</a:t>
            </a:r>
            <a:r>
              <a:rPr lang="en-US" b="0" u="sng" baseline="0" dirty="0"/>
              <a:t> </a:t>
            </a:r>
            <a:r>
              <a:rPr lang="en-US" b="0" u="sng" baseline="0" dirty="0" err="1"/>
              <a:t>hiện</a:t>
            </a:r>
            <a:r>
              <a:rPr lang="en-US" b="0" u="sng" baseline="0" dirty="0"/>
              <a:t> ở </a:t>
            </a:r>
            <a:r>
              <a:rPr lang="en-US" b="0" u="sng" baseline="0" dirty="0" err="1"/>
              <a:t>cả</a:t>
            </a:r>
            <a:r>
              <a:rPr lang="en-US" b="0" u="sng" baseline="0" dirty="0"/>
              <a:t> 2 </a:t>
            </a:r>
            <a:r>
              <a:rPr lang="en-US" b="0" u="sng" baseline="0" dirty="0" err="1"/>
              <a:t>giai</a:t>
            </a:r>
            <a:r>
              <a:rPr lang="en-US" b="0" u="sng" baseline="0" dirty="0"/>
              <a:t> </a:t>
            </a:r>
            <a:r>
              <a:rPr lang="en-US" b="0" u="sng" baseline="0" dirty="0" err="1"/>
              <a:t>đoạn</a:t>
            </a:r>
            <a:r>
              <a:rPr lang="en-US" b="0" u="sng" baseline="0" dirty="0"/>
              <a:t> </a:t>
            </a:r>
            <a:r>
              <a:rPr lang="en-US" b="0" baseline="0" dirty="0"/>
              <a:t>(</a:t>
            </a:r>
            <a:r>
              <a:rPr lang="en-US" b="0" baseline="0" dirty="0" err="1"/>
              <a:t>giống</a:t>
            </a:r>
            <a:r>
              <a:rPr lang="en-US" b="0" baseline="0" dirty="0"/>
              <a:t> </a:t>
            </a:r>
            <a:r>
              <a:rPr lang="en-US" b="0" baseline="0" dirty="0" err="1"/>
              <a:t>như</a:t>
            </a:r>
            <a:r>
              <a:rPr lang="en-US" b="0" baseline="0" dirty="0"/>
              <a:t> </a:t>
            </a:r>
            <a:r>
              <a:rPr lang="en-US" b="0" baseline="0" dirty="0" err="1"/>
              <a:t>đánh</a:t>
            </a:r>
            <a:r>
              <a:rPr lang="en-US" b="0" baseline="0" dirty="0"/>
              <a:t> </a:t>
            </a:r>
            <a:r>
              <a:rPr lang="en-US" b="0" baseline="0" dirty="0" err="1"/>
              <a:t>giá</a:t>
            </a:r>
            <a:r>
              <a:rPr lang="en-US" b="0" baseline="0" dirty="0"/>
              <a:t> </a:t>
            </a:r>
            <a:r>
              <a:rPr lang="en-US" b="0" baseline="0" dirty="0" err="1"/>
              <a:t>tiền</a:t>
            </a:r>
            <a:r>
              <a:rPr lang="en-US" b="0" baseline="0" dirty="0"/>
              <a:t> project):</a:t>
            </a:r>
            <a:r>
              <a:rPr lang="vi-VN" b="0" baseline="0" dirty="0"/>
              <a:t> đánh giá </a:t>
            </a:r>
            <a:r>
              <a:rPr lang="en-US" b="0" baseline="0" dirty="0" err="1"/>
              <a:t>bản</a:t>
            </a:r>
            <a:r>
              <a:rPr lang="en-US" b="0" baseline="0" dirty="0"/>
              <a:t> </a:t>
            </a:r>
            <a:r>
              <a:rPr lang="en-US" b="0" baseline="0" dirty="0" err="1"/>
              <a:t>phác</a:t>
            </a:r>
            <a:r>
              <a:rPr lang="en-US" b="0" baseline="0" dirty="0"/>
              <a:t> </a:t>
            </a:r>
            <a:r>
              <a:rPr lang="en-US" b="0" baseline="0" dirty="0" err="1"/>
              <a:t>thảo</a:t>
            </a:r>
            <a:r>
              <a:rPr lang="vi-VN" b="0" baseline="0" dirty="0"/>
              <a:t> </a:t>
            </a:r>
            <a:r>
              <a:rPr lang="en-US" b="0" baseline="0" dirty="0" err="1"/>
              <a:t>đề</a:t>
            </a:r>
            <a:r>
              <a:rPr lang="en-US" b="0" baseline="0" dirty="0"/>
              <a:t> </a:t>
            </a:r>
            <a:r>
              <a:rPr lang="en-US" b="0" baseline="0" dirty="0" err="1"/>
              <a:t>xuất</a:t>
            </a:r>
            <a:r>
              <a:rPr lang="en-US" b="0" baseline="0" dirty="0"/>
              <a:t> (“proposal draft review”) </a:t>
            </a:r>
            <a:r>
              <a:rPr lang="en-US" b="0" baseline="0" dirty="0" err="1"/>
              <a:t>và</a:t>
            </a:r>
            <a:r>
              <a:rPr lang="en-US" b="0" baseline="0" dirty="0"/>
              <a:t> </a:t>
            </a:r>
            <a:r>
              <a:rPr lang="vi-VN" b="0" baseline="0" dirty="0"/>
              <a:t>đánh giá </a:t>
            </a:r>
            <a:r>
              <a:rPr lang="en-US" b="0" baseline="0" dirty="0" err="1"/>
              <a:t>bản</a:t>
            </a:r>
            <a:r>
              <a:rPr lang="en-US" b="0" baseline="0" dirty="0"/>
              <a:t> </a:t>
            </a:r>
            <a:r>
              <a:rPr lang="en-US" b="0" baseline="0" dirty="0" err="1"/>
              <a:t>phác</a:t>
            </a:r>
            <a:r>
              <a:rPr lang="en-US" b="0" baseline="0" dirty="0"/>
              <a:t> </a:t>
            </a:r>
            <a:r>
              <a:rPr lang="en-US" b="0" baseline="0" dirty="0" err="1"/>
              <a:t>thảo</a:t>
            </a:r>
            <a:r>
              <a:rPr lang="vi-VN" b="0" baseline="0" dirty="0"/>
              <a:t> hợp đồng</a:t>
            </a:r>
            <a:r>
              <a:rPr lang="en-US" b="0" baseline="0" dirty="0"/>
              <a:t> (“contract draft review”). </a:t>
            </a:r>
            <a:endParaRPr lang="vi-VN" b="0" baseline="0" dirty="0"/>
          </a:p>
          <a:p>
            <a:pPr marL="457200" lvl="1" indent="0">
              <a:buFontTx/>
              <a:buNone/>
            </a:pPr>
            <a:r>
              <a:rPr lang="vi-VN" dirty="0"/>
              <a:t>■</a:t>
            </a:r>
            <a:r>
              <a:rPr lang="en-US" dirty="0"/>
              <a:t> </a:t>
            </a:r>
            <a:r>
              <a:rPr lang="en-US" b="0" baseline="0" dirty="0" err="1"/>
              <a:t>Việc</a:t>
            </a:r>
            <a:r>
              <a:rPr lang="en-US" b="0" baseline="0" dirty="0"/>
              <a:t> </a:t>
            </a:r>
            <a:r>
              <a:rPr lang="vi-VN" b="0" baseline="0" dirty="0"/>
              <a:t>rà soát </a:t>
            </a:r>
            <a:r>
              <a:rPr lang="en-US" b="0" baseline="0" dirty="0" err="1"/>
              <a:t>này</a:t>
            </a:r>
            <a:r>
              <a:rPr lang="en-US" b="0" baseline="0" dirty="0"/>
              <a:t> </a:t>
            </a:r>
            <a:r>
              <a:rPr lang="en-US" b="0" baseline="0" dirty="0" err="1"/>
              <a:t>với</a:t>
            </a:r>
            <a:r>
              <a:rPr lang="en-US" b="0" baseline="0" dirty="0"/>
              <a:t> </a:t>
            </a:r>
            <a:r>
              <a:rPr lang="en-US" b="0" u="sng" baseline="0" dirty="0" err="1"/>
              <a:t>mục</a:t>
            </a:r>
            <a:r>
              <a:rPr lang="en-US" b="0" u="sng" baseline="0" dirty="0"/>
              <a:t> </a:t>
            </a:r>
            <a:r>
              <a:rPr lang="en-US" b="0" u="sng" baseline="0" dirty="0" err="1"/>
              <a:t>tiêu</a:t>
            </a:r>
            <a:r>
              <a:rPr lang="en-US" b="0" u="sng" baseline="0" dirty="0"/>
              <a:t> </a:t>
            </a:r>
            <a:r>
              <a:rPr lang="en-US" b="0" baseline="0" dirty="0" err="1"/>
              <a:t>là</a:t>
            </a:r>
            <a:r>
              <a:rPr lang="en-US" b="0" baseline="0" dirty="0"/>
              <a:t>:</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vi-VN" baseline="0" dirty="0"/>
              <a:t>làm rõ</a:t>
            </a:r>
            <a:r>
              <a:rPr lang="en-US" baseline="0" dirty="0"/>
              <a:t> </a:t>
            </a:r>
            <a:r>
              <a:rPr lang="vi-VN" baseline="0" dirty="0"/>
              <a:t>yêu cầu khách hàng </a:t>
            </a:r>
            <a:endParaRPr lang="en-US" baseline="0"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vi-VN" baseline="0" dirty="0"/>
              <a:t>xem xét các phương pháp tiếp cận thay thế </a:t>
            </a:r>
            <a:r>
              <a:rPr lang="en-US" baseline="0" dirty="0" err="1"/>
              <a:t>cho</a:t>
            </a:r>
            <a:r>
              <a:rPr lang="en-US" baseline="0" dirty="0"/>
              <a:t> </a:t>
            </a:r>
            <a:r>
              <a:rPr lang="en-US" baseline="0" dirty="0" err="1"/>
              <a:t>vc</a:t>
            </a:r>
            <a:r>
              <a:rPr lang="en-US" baseline="0" dirty="0"/>
              <a:t> </a:t>
            </a:r>
            <a:r>
              <a:rPr lang="vi-VN" baseline="0" dirty="0"/>
              <a:t>bảo trì</a:t>
            </a:r>
          </a:p>
          <a:p>
            <a:pPr marL="1085850" lvl="2" indent="-171450">
              <a:buFontTx/>
              <a:buChar char="-"/>
            </a:pPr>
            <a:r>
              <a:rPr lang="vi-VN" baseline="0" dirty="0"/>
              <a:t>xem xét dự toán các nguồn tài nguyên bảo dưỡng</a:t>
            </a:r>
            <a:r>
              <a:rPr lang="en-US" baseline="0" dirty="0"/>
              <a:t> </a:t>
            </a:r>
            <a:r>
              <a:rPr lang="vi-VN" baseline="0" dirty="0"/>
              <a:t>yêu cầu</a:t>
            </a:r>
            <a:endParaRPr lang="en-US" baseline="0" dirty="0"/>
          </a:p>
          <a:p>
            <a:pPr marL="1543050" lvl="3" indent="-171450">
              <a:buFontTx/>
              <a:buChar char="-"/>
            </a:pPr>
            <a:r>
              <a:rPr lang="en-US" i="1" baseline="0" dirty="0"/>
              <a:t>First, these estimates should be examined on the basis of the required maintenance services, clarified by the proposal team. Then, the company’s capacity to meet its commitments with respect to professional competence as well as availability of maintenance teams should be analyzed. </a:t>
            </a:r>
            <a:endParaRPr lang="vi-VN" i="1" baseline="0" dirty="0"/>
          </a:p>
          <a:p>
            <a:pPr marL="1085850" lvl="2" indent="-171450">
              <a:buFontTx/>
              <a:buChar char="-"/>
            </a:pPr>
            <a:r>
              <a:rPr lang="vi-VN" baseline="0" dirty="0"/>
              <a:t>xem xét các dịch vụ bảo trì được cung cấp bởi các nhà thầu phụ và / hoặc khách hàng</a:t>
            </a:r>
          </a:p>
          <a:p>
            <a:pPr marL="1085850" lvl="2" indent="-171450">
              <a:buFontTx/>
              <a:buChar char="-"/>
            </a:pPr>
            <a:r>
              <a:rPr lang="vi-VN" baseline="0" dirty="0"/>
              <a:t>xem xét các ước tính</a:t>
            </a:r>
            <a:r>
              <a:rPr lang="en-US" baseline="0" dirty="0"/>
              <a:t> </a:t>
            </a:r>
            <a:r>
              <a:rPr lang="vi-VN" baseline="0" dirty="0"/>
              <a:t>chi phí bảo trì</a:t>
            </a:r>
            <a:endParaRPr lang="en-US" baseline="0" dirty="0"/>
          </a:p>
        </p:txBody>
      </p:sp>
      <p:sp>
        <p:nvSpPr>
          <p:cNvPr id="4" name="Slide Number Placeholder 3"/>
          <p:cNvSpPr>
            <a:spLocks noGrp="1"/>
          </p:cNvSpPr>
          <p:nvPr>
            <p:ph type="sldNum" sz="quarter" idx="10"/>
          </p:nvPr>
        </p:nvSpPr>
        <p:spPr/>
        <p:txBody>
          <a:bodyPr/>
          <a:lstStyle/>
          <a:p>
            <a:fld id="{A63B9007-0201-49BE-A587-7F882848EC05}" type="slidenum">
              <a:rPr lang="en-US" smtClean="0"/>
              <a:t>90</a:t>
            </a:fld>
            <a:endParaRPr lang="en-US"/>
          </a:p>
        </p:txBody>
      </p:sp>
    </p:spTree>
    <p:extLst>
      <p:ext uri="{BB962C8B-B14F-4D97-AF65-F5344CB8AC3E}">
        <p14:creationId xmlns:p14="http://schemas.microsoft.com/office/powerpoint/2010/main" val="352934322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a:t>SV TỰ ĐỌC</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err="1"/>
              <a:t>Xây</a:t>
            </a:r>
            <a:r>
              <a:rPr lang="en-US" baseline="0" dirty="0"/>
              <a:t> </a:t>
            </a:r>
            <a:r>
              <a:rPr lang="en-US" baseline="0" dirty="0" err="1"/>
              <a:t>dựng</a:t>
            </a:r>
            <a:r>
              <a:rPr lang="en-US" baseline="0" dirty="0"/>
              <a:t> KH </a:t>
            </a:r>
            <a:r>
              <a:rPr lang="en-US" baseline="0" dirty="0" err="1"/>
              <a:t>bảo</a:t>
            </a:r>
            <a:r>
              <a:rPr lang="en-US" baseline="0" dirty="0"/>
              <a:t> </a:t>
            </a:r>
            <a:r>
              <a:rPr lang="en-US" baseline="0" dirty="0" err="1"/>
              <a:t>trì</a:t>
            </a:r>
            <a:r>
              <a:rPr lang="en-US"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          </a:t>
            </a:r>
            <a:r>
              <a:rPr lang="vi-VN" dirty="0"/>
              <a:t>■</a:t>
            </a:r>
            <a:r>
              <a:rPr lang="en-US" dirty="0"/>
              <a:t> </a:t>
            </a:r>
            <a:r>
              <a:rPr lang="vi-VN" b="0" baseline="0" dirty="0"/>
              <a:t>Phải được chuẩn bị sẵn sàng cho tất cả các khách hàng, bên trong và bên ngoài</a:t>
            </a:r>
            <a:endParaRPr lang="en-US" b="0" baseline="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vi-VN" dirty="0"/>
              <a:t>■</a:t>
            </a:r>
            <a:r>
              <a:rPr lang="en-US" dirty="0"/>
              <a:t> </a:t>
            </a:r>
            <a:r>
              <a:rPr lang="en-US" baseline="0" dirty="0" err="1"/>
              <a:t>Gồm</a:t>
            </a:r>
            <a:r>
              <a:rPr lang="en-US" baseline="0" dirty="0"/>
              <a:t> </a:t>
            </a:r>
            <a:r>
              <a:rPr lang="en-US" baseline="0" dirty="0" err="1"/>
              <a:t>những</a:t>
            </a:r>
            <a:r>
              <a:rPr lang="en-US" baseline="0" dirty="0"/>
              <a:t> </a:t>
            </a:r>
            <a:r>
              <a:rPr lang="en-US" baseline="0" dirty="0" err="1"/>
              <a:t>việc</a:t>
            </a:r>
            <a:r>
              <a:rPr lang="en-US" baseline="0" dirty="0"/>
              <a:t> </a:t>
            </a:r>
            <a:r>
              <a:rPr lang="en-US" baseline="0" dirty="0" err="1"/>
              <a:t>sau</a:t>
            </a:r>
            <a:r>
              <a:rPr lang="en-US" baseline="0" dirty="0"/>
              <a:t> </a:t>
            </a:r>
            <a:r>
              <a:rPr lang="en-US" baseline="0" dirty="0" err="1"/>
              <a:t>đây</a:t>
            </a:r>
            <a:r>
              <a:rPr lang="en-US" baseline="0" dirty="0"/>
              <a:t> </a:t>
            </a:r>
            <a:r>
              <a:rPr lang="en-US" u="sng" baseline="0" dirty="0"/>
              <a:t>(</a:t>
            </a:r>
            <a:r>
              <a:rPr lang="en-US" b="1" u="sng" baseline="0" dirty="0"/>
              <a:t>ĐỌC THÊM PHẦN 11.3.2</a:t>
            </a:r>
            <a:r>
              <a:rPr lang="en-US" u="sng" baseline="0" dirty="0"/>
              <a:t>)</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aseline="0" dirty="0"/>
              <a:t>- </a:t>
            </a:r>
            <a:r>
              <a:rPr lang="vi-VN" baseline="0" dirty="0"/>
              <a:t>Một danh sách các dịch vụ bảo trì theo hợp đồng</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aseline="0" dirty="0"/>
              <a:t>- </a:t>
            </a:r>
            <a:r>
              <a:rPr lang="vi-VN" baseline="0" dirty="0"/>
              <a:t>Mô tả </a:t>
            </a:r>
            <a:r>
              <a:rPr lang="en-US" baseline="0" dirty="0" err="1"/>
              <a:t>sự</a:t>
            </a:r>
            <a:r>
              <a:rPr lang="en-US" baseline="0" dirty="0"/>
              <a:t> </a:t>
            </a:r>
            <a:r>
              <a:rPr lang="vi-VN" baseline="0" dirty="0"/>
              <a:t>tổ chức </a:t>
            </a:r>
            <a:r>
              <a:rPr lang="en-US" baseline="0" dirty="0" err="1"/>
              <a:t>của</a:t>
            </a:r>
            <a:r>
              <a:rPr lang="en-US" baseline="0" dirty="0"/>
              <a:t> </a:t>
            </a:r>
            <a:r>
              <a:rPr lang="vi-VN" baseline="0" dirty="0"/>
              <a:t>nhóm bảo trì</a:t>
            </a:r>
            <a:r>
              <a:rPr lang="en-US" baseline="0" dirty="0"/>
              <a:t>:  </a:t>
            </a:r>
            <a:r>
              <a:rPr lang="en-US" b="1" baseline="0" dirty="0"/>
              <a:t>SỐ LƯỢNG THÀNH VIÊN TRONG NHÓM, YÊU CẦU VỀ TRÌNH ĐỘ, CƠ CẤU TỔ CHỨC, XÁC ĐỊNH NHIỆM VỤ CHO MỖI ĐỘI, NHU CẦU ĐÀO TẠO.</a:t>
            </a:r>
            <a:endParaRPr lang="vi-VN" b="1" baseline="0"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aseline="0" dirty="0"/>
              <a:t>- </a:t>
            </a:r>
            <a:r>
              <a:rPr lang="vi-VN" baseline="0" dirty="0"/>
              <a:t>Một danh sách các cơ sở bảo dưỡng</a:t>
            </a:r>
            <a:r>
              <a:rPr lang="en-US" baseline="0" dirty="0"/>
              <a:t>: </a:t>
            </a:r>
            <a:r>
              <a:rPr lang="en-US" b="1" baseline="0" dirty="0"/>
              <a:t>LÀ CSHT CUNG CẤP CÁC DỊCH VỤ, GỒM: TRUNG TÂM HỖ TRỢ - BẢO TRÌ, TRUNG TÂM TÀI LIỆU (CHỨA ALL NHỮNG TÀI LIỆU LIÊN QUAN ĐẾN HT VÀ BẢO TRÌ)</a:t>
            </a:r>
            <a:endParaRPr lang="vi-VN" b="1" baseline="0"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aseline="0" dirty="0"/>
              <a:t>- </a:t>
            </a:r>
            <a:r>
              <a:rPr lang="vi-VN" baseline="0" dirty="0"/>
              <a:t>Một danh sách các rủi ro bảo trì</a:t>
            </a:r>
            <a:r>
              <a:rPr lang="en-US" baseline="0" dirty="0"/>
              <a:t>:  </a:t>
            </a:r>
            <a:r>
              <a:rPr lang="en-US" b="1" baseline="0" dirty="0"/>
              <a:t>LIÊN QUAN ĐẾN VIỆC BẢO TRÌ THẤT BẠI: THIẾU NV, CHUYÊN MÔN KO ĐỦ</a:t>
            </a:r>
            <a:endParaRPr lang="vi-VN" b="1" baseline="0"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aseline="0" dirty="0"/>
              <a:t>- </a:t>
            </a:r>
            <a:r>
              <a:rPr lang="vi-VN" baseline="0" dirty="0"/>
              <a:t>Một danh sách các thủ tục và kiểm soát</a:t>
            </a:r>
            <a:r>
              <a:rPr lang="en-US" baseline="0" dirty="0"/>
              <a:t> </a:t>
            </a:r>
            <a:r>
              <a:rPr lang="vi-VN" baseline="0" dirty="0"/>
              <a:t>bảo dưỡng phần mềm</a:t>
            </a:r>
            <a:r>
              <a:rPr lang="en-US" baseline="0" dirty="0"/>
              <a:t>, e.g. </a:t>
            </a:r>
            <a:r>
              <a:rPr lang="en-US" b="1" baseline="0" dirty="0"/>
              <a:t>B</a:t>
            </a:r>
            <a:r>
              <a:rPr lang="vi-VN" b="1" baseline="0" dirty="0"/>
              <a:t>ÁO CÁO ĐỊNH KỲ VÀ THEO DÕI CÁC DỊCH VỤ HỖ TRỢ NGƯỜI DÙNG</a:t>
            </a:r>
            <a:r>
              <a:rPr lang="en-US" b="1" baseline="0" dirty="0"/>
              <a:t>;  </a:t>
            </a:r>
            <a:r>
              <a:rPr lang="vi-VN" b="1" baseline="0" dirty="0"/>
              <a:t>BÁO CÁO ĐỊNH KỲ VÀ THEO DÕI CÁC DỊCH VỤ BẢO TRÌ SỬA CHỮA</a:t>
            </a:r>
            <a:endParaRPr lang="en-US" b="1" baseline="0"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aseline="0" dirty="0"/>
              <a:t>- </a:t>
            </a:r>
            <a:r>
              <a:rPr lang="vi-VN" baseline="0" dirty="0"/>
              <a:t>Ngân sách</a:t>
            </a:r>
            <a:r>
              <a:rPr lang="en-US" baseline="0" dirty="0"/>
              <a:t> </a:t>
            </a:r>
            <a:r>
              <a:rPr lang="vi-VN" baseline="0" dirty="0"/>
              <a:t>bảo trì phần mềm</a:t>
            </a: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XEM THÊM GIÁO TRÌNH CÁC CÔNG CỤ ĐỂ ĐẢM BẢO CHẤT LƯỢNG BẢO TRÌ (11.4)</a:t>
            </a:r>
          </a:p>
        </p:txBody>
      </p:sp>
      <p:sp>
        <p:nvSpPr>
          <p:cNvPr id="4" name="Slide Number Placeholder 3"/>
          <p:cNvSpPr>
            <a:spLocks noGrp="1"/>
          </p:cNvSpPr>
          <p:nvPr>
            <p:ph type="sldNum" sz="quarter" idx="10"/>
          </p:nvPr>
        </p:nvSpPr>
        <p:spPr/>
        <p:txBody>
          <a:bodyPr/>
          <a:lstStyle/>
          <a:p>
            <a:fld id="{A63B9007-0201-49BE-A587-7F882848EC05}" type="slidenum">
              <a:rPr lang="en-US" smtClean="0"/>
              <a:t>91</a:t>
            </a:fld>
            <a:endParaRPr lang="en-US"/>
          </a:p>
        </p:txBody>
      </p:sp>
    </p:spTree>
    <p:extLst>
      <p:ext uri="{BB962C8B-B14F-4D97-AF65-F5344CB8AC3E}">
        <p14:creationId xmlns:p14="http://schemas.microsoft.com/office/powerpoint/2010/main" val="295011067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a:t>Đảm bảo chất lượng các khoản đóng góp của </a:t>
            </a:r>
            <a:r>
              <a:rPr lang="en-US" b="0"/>
              <a:t>những</a:t>
            </a:r>
            <a:r>
              <a:rPr lang="en-US" b="0" baseline="0"/>
              <a:t> </a:t>
            </a:r>
            <a:r>
              <a:rPr lang="vi-VN" b="0"/>
              <a:t>người tham gia bên ngoài</a:t>
            </a:r>
            <a:endParaRPr lang="en-US" b="0"/>
          </a:p>
          <a:p>
            <a:pPr marL="0" indent="0">
              <a:buFontTx/>
              <a:buNone/>
            </a:pPr>
            <a:endParaRPr lang="en-US" b="1" u="none" baseline="0"/>
          </a:p>
          <a:p>
            <a:pPr marL="0" indent="0">
              <a:buFontTx/>
              <a:buNone/>
            </a:pPr>
            <a:r>
              <a:rPr lang="en-US" b="0" baseline="0"/>
              <a:t>Phần này sẽ:</a:t>
            </a:r>
            <a:endParaRPr lang="en-US" b="0"/>
          </a:p>
          <a:p>
            <a:pPr marL="0" indent="0">
              <a:buFontTx/>
              <a:buNone/>
            </a:pPr>
            <a:r>
              <a:rPr lang="en-US" b="0"/>
              <a:t>- </a:t>
            </a:r>
            <a:r>
              <a:rPr lang="vi-VN" b="0"/>
              <a:t>Giải thích sự khác biệt giữa các nhà thầu và người tham gia bên ngoài.</a:t>
            </a:r>
            <a:endParaRPr lang="en-US" b="0"/>
          </a:p>
          <a:p>
            <a:pPr marL="0" indent="0">
              <a:buFontTx/>
              <a:buNone/>
            </a:pPr>
            <a:r>
              <a:rPr lang="en-US" b="0"/>
              <a:t>- </a:t>
            </a:r>
            <a:r>
              <a:rPr lang="vi-VN" b="0"/>
              <a:t>Liệt kê các loại những người tham gia bên ngoài, và giải thích các lợi ích mà họ cung cấp cho nhà thầu.</a:t>
            </a:r>
            <a:endParaRPr lang="en-US" b="0"/>
          </a:p>
          <a:p>
            <a:pPr marL="0" indent="0">
              <a:buFontTx/>
              <a:buNone/>
            </a:pPr>
            <a:r>
              <a:rPr lang="en-US" b="0"/>
              <a:t>- </a:t>
            </a:r>
            <a:r>
              <a:rPr lang="vi-VN" b="0"/>
              <a:t>Mô tả những rủi ro cho các nhà thầu liên quan đến việc chuyển cho những người tham gia bên ngoài.</a:t>
            </a:r>
          </a:p>
        </p:txBody>
      </p:sp>
      <p:sp>
        <p:nvSpPr>
          <p:cNvPr id="4" name="Slide Number Placeholder 3"/>
          <p:cNvSpPr>
            <a:spLocks noGrp="1"/>
          </p:cNvSpPr>
          <p:nvPr>
            <p:ph type="sldNum" sz="quarter" idx="10"/>
          </p:nvPr>
        </p:nvSpPr>
        <p:spPr/>
        <p:txBody>
          <a:bodyPr/>
          <a:lstStyle/>
          <a:p>
            <a:fld id="{A63B9007-0201-49BE-A587-7F882848EC05}" type="slidenum">
              <a:rPr lang="en-US" smtClean="0"/>
              <a:t>92</a:t>
            </a:fld>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dirty="0"/>
              <a:t>- </a:t>
            </a:r>
            <a:r>
              <a:rPr lang="en-US" dirty="0" err="1"/>
              <a:t>Nhà</a:t>
            </a:r>
            <a:r>
              <a:rPr lang="en-US" dirty="0"/>
              <a:t> </a:t>
            </a:r>
            <a:r>
              <a:rPr lang="en-US" dirty="0" err="1"/>
              <a:t>thầu</a:t>
            </a:r>
            <a:r>
              <a:rPr lang="en-US" dirty="0"/>
              <a:t> </a:t>
            </a:r>
            <a:r>
              <a:rPr lang="en-US" dirty="0" err="1"/>
              <a:t>phụ</a:t>
            </a:r>
            <a:r>
              <a:rPr lang="en-US" dirty="0"/>
              <a:t>:</a:t>
            </a:r>
          </a:p>
          <a:p>
            <a:pPr marL="457200" lvl="1" indent="0">
              <a:buFontTx/>
              <a:buNone/>
            </a:pPr>
            <a:r>
              <a:rPr lang="vi-VN" dirty="0"/>
              <a:t>■</a:t>
            </a:r>
            <a:r>
              <a:rPr lang="en-US" dirty="0"/>
              <a:t> </a:t>
            </a:r>
            <a:r>
              <a:rPr lang="en-US" dirty="0" err="1"/>
              <a:t>Còn</a:t>
            </a:r>
            <a:r>
              <a:rPr lang="en-US" baseline="0" dirty="0"/>
              <a:t> </a:t>
            </a:r>
            <a:r>
              <a:rPr lang="en-US" baseline="0" dirty="0" err="1"/>
              <a:t>đc</a:t>
            </a:r>
            <a:r>
              <a:rPr lang="en-US" baseline="0" dirty="0"/>
              <a:t> </a:t>
            </a:r>
            <a:r>
              <a:rPr lang="en-US" baseline="0" dirty="0" err="1"/>
              <a:t>gọi</a:t>
            </a:r>
            <a:r>
              <a:rPr lang="en-US" baseline="0" dirty="0"/>
              <a:t> </a:t>
            </a:r>
            <a:r>
              <a:rPr lang="en-US" baseline="0" dirty="0" err="1"/>
              <a:t>là</a:t>
            </a:r>
            <a:r>
              <a:rPr lang="en-US" baseline="0" dirty="0"/>
              <a:t> “outsourcing” (</a:t>
            </a:r>
            <a:r>
              <a:rPr lang="en-US" sz="1200" b="0" i="0" kern="1200" dirty="0" err="1">
                <a:solidFill>
                  <a:schemeClr val="tx1"/>
                </a:solidFill>
                <a:effectLst/>
                <a:latin typeface="+mn-lt"/>
                <a:ea typeface="+mn-ea"/>
                <a:cs typeface="+mn-cs"/>
              </a:rPr>
              <a:t>dịch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vụ</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gia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công</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LÀ HÌNH THỨC CHUYỂN MỘT PHẦN </a:t>
            </a:r>
            <a:r>
              <a:rPr lang="en-US" sz="1200" b="0" i="0" kern="1200" dirty="0">
                <a:solidFill>
                  <a:schemeClr val="tx1"/>
                </a:solidFill>
                <a:effectLst/>
                <a:latin typeface="+mn-lt"/>
                <a:ea typeface="+mn-ea"/>
                <a:cs typeface="+mn-cs"/>
              </a:rPr>
              <a:t>CÔNG</a:t>
            </a:r>
            <a:r>
              <a:rPr lang="en-US" sz="1200" b="0" i="0" kern="1200" baseline="0" dirty="0">
                <a:solidFill>
                  <a:schemeClr val="tx1"/>
                </a:solidFill>
                <a:effectLst/>
                <a:latin typeface="+mn-lt"/>
                <a:ea typeface="+mn-ea"/>
                <a:cs typeface="+mn-cs"/>
              </a:rPr>
              <a:t> VIỆC </a:t>
            </a:r>
            <a:r>
              <a:rPr lang="vi-VN" sz="1200" b="0" i="0" kern="1200" dirty="0">
                <a:solidFill>
                  <a:schemeClr val="tx1"/>
                </a:solidFill>
                <a:effectLst/>
                <a:latin typeface="+mn-lt"/>
                <a:ea typeface="+mn-ea"/>
                <a:cs typeface="+mn-cs"/>
              </a:rPr>
              <a:t>RA GIA CÔNG BÊN NGOÀI</a:t>
            </a:r>
            <a:r>
              <a:rPr lang="en-US" sz="1200" b="0" i="1" kern="1200" dirty="0">
                <a:solidFill>
                  <a:schemeClr val="tx1"/>
                </a:solidFill>
                <a:effectLst/>
                <a:latin typeface="+mn-lt"/>
                <a:ea typeface="+mn-ea"/>
                <a:cs typeface="+mn-cs"/>
              </a:rPr>
              <a:t>) </a:t>
            </a:r>
            <a:endParaRPr lang="vi-VN" sz="1200" b="0" i="1" kern="1200" dirty="0">
              <a:solidFill>
                <a:schemeClr val="tx1"/>
              </a:solidFill>
              <a:effectLst/>
              <a:latin typeface="+mn-lt"/>
              <a:ea typeface="+mn-ea"/>
              <a:cs typeface="+mn-cs"/>
            </a:endParaRPr>
          </a:p>
          <a:p>
            <a:pPr marL="457200" lvl="1" indent="0">
              <a:buFontTx/>
              <a:buNone/>
            </a:pPr>
            <a:r>
              <a:rPr lang="vi-VN" dirty="0"/>
              <a:t>■</a:t>
            </a:r>
            <a:r>
              <a:rPr lang="en-US" dirty="0"/>
              <a:t> </a:t>
            </a:r>
            <a:r>
              <a:rPr lang="en-US" sz="1200" b="0" i="0" kern="1200" baseline="0" dirty="0">
                <a:solidFill>
                  <a:schemeClr val="tx1"/>
                </a:solidFill>
                <a:effectLst/>
                <a:latin typeface="+mn-lt"/>
                <a:ea typeface="+mn-ea"/>
                <a:cs typeface="+mn-cs"/>
              </a:rPr>
              <a:t>Lợi </a:t>
            </a:r>
            <a:r>
              <a:rPr lang="en-US" sz="1200" b="0" i="0" kern="1200" baseline="0" dirty="0" err="1">
                <a:solidFill>
                  <a:schemeClr val="tx1"/>
                </a:solidFill>
                <a:effectLst/>
                <a:latin typeface="+mn-lt"/>
                <a:ea typeface="+mn-ea"/>
                <a:cs typeface="+mn-cs"/>
              </a:rPr>
              <a:t>ích</a:t>
            </a:r>
            <a:r>
              <a:rPr lang="en-US" sz="1200" b="0" i="0" kern="1200" baseline="0" dirty="0">
                <a:solidFill>
                  <a:schemeClr val="tx1"/>
                </a:solidFill>
                <a:effectLst/>
                <a:latin typeface="+mn-lt"/>
                <a:ea typeface="+mn-ea"/>
                <a:cs typeface="+mn-cs"/>
              </a:rPr>
              <a:t>: </a:t>
            </a:r>
            <a:r>
              <a:rPr lang="vi-VN" sz="1200" b="0" i="0" kern="1200" baseline="0" dirty="0">
                <a:solidFill>
                  <a:schemeClr val="tx1"/>
                </a:solidFill>
                <a:effectLst/>
                <a:latin typeface="+mn-lt"/>
                <a:ea typeface="+mn-ea"/>
                <a:cs typeface="+mn-cs"/>
              </a:rPr>
              <a:t>nhân viên sẵn có, chuyên môn đặc biệt hoặc giá thấp</a:t>
            </a:r>
            <a:r>
              <a:rPr lang="en-US" sz="1200" b="0" i="0" kern="1200" baseline="0" dirty="0">
                <a:solidFill>
                  <a:schemeClr val="tx1"/>
                </a:solidFill>
                <a:effectLst/>
                <a:latin typeface="+mn-lt"/>
                <a:ea typeface="+mn-ea"/>
                <a:cs typeface="+mn-cs"/>
              </a:rPr>
              <a:t>: </a:t>
            </a:r>
          </a:p>
          <a:p>
            <a:pPr marL="457200" lvl="1" indent="0">
              <a:buFontTx/>
              <a:buNone/>
            </a:pPr>
            <a:r>
              <a:rPr lang="en-US" sz="1200" b="1" i="0" kern="1200" dirty="0">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HỆ THỐNG </a:t>
            </a:r>
            <a:r>
              <a:rPr lang="vi-VN" sz="1200" b="1" i="0" u="sng" kern="1200" dirty="0">
                <a:solidFill>
                  <a:schemeClr val="tx1"/>
                </a:solidFill>
                <a:effectLst/>
                <a:latin typeface="+mn-lt"/>
                <a:ea typeface="+mn-ea"/>
                <a:cs typeface="+mn-cs"/>
              </a:rPr>
              <a:t>ĐÀO TẠO BÀI BẢN </a:t>
            </a:r>
            <a:r>
              <a:rPr lang="vi-VN" sz="1200" b="1" i="0" kern="1200" dirty="0">
                <a:solidFill>
                  <a:schemeClr val="tx1"/>
                </a:solidFill>
                <a:effectLst/>
                <a:latin typeface="+mn-lt"/>
                <a:ea typeface="+mn-ea"/>
                <a:cs typeface="+mn-cs"/>
              </a:rPr>
              <a:t>CHO NHÂN VIÊN</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a:t>
            </a:r>
            <a:endParaRPr lang="en-US" sz="1200" b="1" i="0" kern="1200" dirty="0">
              <a:solidFill>
                <a:schemeClr val="tx1"/>
              </a:solidFill>
              <a:effectLst/>
              <a:latin typeface="+mn-lt"/>
              <a:ea typeface="+mn-ea"/>
              <a:cs typeface="+mn-cs"/>
            </a:endParaRPr>
          </a:p>
          <a:p>
            <a:pPr marL="457200" lvl="1" indent="0">
              <a:buFontTx/>
              <a:buNone/>
            </a:pPr>
            <a:r>
              <a:rPr lang="en-US" sz="1200" b="1" i="0" kern="1200" dirty="0">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a:t>
            </a:r>
            <a:r>
              <a:rPr lang="vi-VN" sz="1200" b="1" i="0" u="sng" kern="1200" dirty="0">
                <a:solidFill>
                  <a:schemeClr val="tx1"/>
                </a:solidFill>
                <a:effectLst/>
                <a:latin typeface="+mn-lt"/>
                <a:ea typeface="+mn-ea"/>
                <a:cs typeface="+mn-cs"/>
              </a:rPr>
              <a:t>PHÒNG LAB </a:t>
            </a:r>
            <a:r>
              <a:rPr lang="vi-VN" sz="1200" b="1" i="0" kern="1200" dirty="0">
                <a:solidFill>
                  <a:schemeClr val="tx1"/>
                </a:solidFill>
                <a:effectLst/>
                <a:latin typeface="+mn-lt"/>
                <a:ea typeface="+mn-ea"/>
                <a:cs typeface="+mn-cs"/>
              </a:rPr>
              <a:t>ĐỂ THỬ NGHIỆM GIẢI PHÁP TRƯỚC KHI ĐƯA RA CHO KHÁCH HÀNG</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a:t>
            </a:r>
            <a:endParaRPr lang="en-US" sz="1200" b="1" i="0" kern="1200" dirty="0">
              <a:solidFill>
                <a:schemeClr val="tx1"/>
              </a:solidFill>
              <a:effectLst/>
              <a:latin typeface="+mn-lt"/>
              <a:ea typeface="+mn-ea"/>
              <a:cs typeface="+mn-cs"/>
            </a:endParaRPr>
          </a:p>
          <a:p>
            <a:pPr marL="457200" lvl="1" indent="0">
              <a:buFontTx/>
              <a:buNone/>
            </a:pPr>
            <a:r>
              <a:rPr lang="en-US" sz="1200" b="1" i="0" kern="1200" baseline="0" dirty="0">
                <a:solidFill>
                  <a:schemeClr val="tx1"/>
                </a:solidFill>
                <a:effectLst/>
                <a:latin typeface="+mn-lt"/>
                <a:ea typeface="+mn-ea"/>
                <a:cs typeface="+mn-cs"/>
              </a:rPr>
              <a:t>CÓ </a:t>
            </a:r>
            <a:r>
              <a:rPr lang="vi-VN" sz="1200" b="1" i="0" kern="1200" dirty="0">
                <a:solidFill>
                  <a:schemeClr val="tx1"/>
                </a:solidFill>
                <a:effectLst/>
                <a:latin typeface="+mn-lt"/>
                <a:ea typeface="+mn-ea"/>
                <a:cs typeface="+mn-cs"/>
              </a:rPr>
              <a:t>HỆ THỐNG </a:t>
            </a:r>
            <a:r>
              <a:rPr lang="vi-VN" sz="1200" b="1" i="0" u="sng" kern="1200" dirty="0">
                <a:solidFill>
                  <a:schemeClr val="tx1"/>
                </a:solidFill>
                <a:effectLst/>
                <a:latin typeface="+mn-lt"/>
                <a:ea typeface="+mn-ea"/>
                <a:cs typeface="+mn-cs"/>
              </a:rPr>
              <a:t>GIÁM SÁT CHẤT LƯỢNG CÔNG VIỆC</a:t>
            </a:r>
            <a:r>
              <a:rPr lang="vi-VN" sz="1200" b="1" i="0" kern="1200" dirty="0">
                <a:solidFill>
                  <a:schemeClr val="tx1"/>
                </a:solidFill>
                <a:effectLst/>
                <a:latin typeface="+mn-lt"/>
                <a:ea typeface="+mn-ea"/>
                <a:cs typeface="+mn-cs"/>
              </a:rPr>
              <a:t> CỦA NHÂN VIÊN VÀ ĐẢM BẢO QUY TRÌNH DỊCH VỤ.</a:t>
            </a:r>
            <a:endParaRPr lang="en-US" b="1" dirty="0"/>
          </a:p>
          <a:p>
            <a:pPr marL="0" lvl="0" indent="0">
              <a:buFontTx/>
              <a:buNone/>
            </a:pPr>
            <a:endParaRPr lang="en-US" dirty="0"/>
          </a:p>
          <a:p>
            <a:pPr marL="0" lvl="0" indent="0">
              <a:buFontTx/>
              <a:buNone/>
            </a:pPr>
            <a:r>
              <a:rPr lang="en-US" dirty="0"/>
              <a:t>-</a:t>
            </a:r>
            <a:r>
              <a:rPr lang="en-US" baseline="0" dirty="0"/>
              <a:t> </a:t>
            </a:r>
            <a:r>
              <a:rPr lang="en-US" dirty="0" err="1"/>
              <a:t>Nhà</a:t>
            </a:r>
            <a:r>
              <a:rPr lang="en-US" baseline="0" dirty="0"/>
              <a:t> </a:t>
            </a:r>
            <a:r>
              <a:rPr lang="en-US" baseline="0" dirty="0" err="1"/>
              <a:t>cung</a:t>
            </a:r>
            <a:r>
              <a:rPr lang="en-US" baseline="0" dirty="0"/>
              <a:t> </a:t>
            </a:r>
            <a:r>
              <a:rPr lang="en-US" baseline="0" dirty="0" err="1"/>
              <a:t>cấp</a:t>
            </a:r>
            <a:r>
              <a:rPr lang="en-US" baseline="0" dirty="0"/>
              <a:t> </a:t>
            </a:r>
            <a:r>
              <a:rPr lang="en-US" baseline="0" dirty="0" err="1"/>
              <a:t>các</a:t>
            </a:r>
            <a:r>
              <a:rPr lang="en-US" baseline="0" dirty="0"/>
              <a:t> module PM </a:t>
            </a:r>
            <a:r>
              <a:rPr lang="en-US" baseline="0" dirty="0" err="1"/>
              <a:t>tái</a:t>
            </a:r>
            <a:r>
              <a:rPr lang="en-US" baseline="0" dirty="0"/>
              <a:t> </a:t>
            </a:r>
            <a:r>
              <a:rPr lang="en-US" baseline="0" dirty="0" err="1"/>
              <a:t>sd</a:t>
            </a:r>
            <a:r>
              <a:rPr lang="en-US" baseline="0" dirty="0"/>
              <a:t>: </a:t>
            </a:r>
            <a:r>
              <a:rPr lang="en-US" i="1" baseline="0" dirty="0"/>
              <a:t>i.e. </a:t>
            </a:r>
            <a:r>
              <a:rPr lang="en-US" i="1" baseline="0" dirty="0" err="1"/>
              <a:t>mua</a:t>
            </a:r>
            <a:r>
              <a:rPr lang="en-US" i="1" baseline="0" dirty="0"/>
              <a:t> </a:t>
            </a:r>
            <a:r>
              <a:rPr lang="en-US" i="1" baseline="0" dirty="0" err="1"/>
              <a:t>lại</a:t>
            </a:r>
            <a:r>
              <a:rPr lang="en-US" i="1" baseline="0" dirty="0"/>
              <a:t> </a:t>
            </a:r>
            <a:r>
              <a:rPr lang="en-US" i="1" baseline="0" dirty="0" err="1"/>
              <a:t>các</a:t>
            </a:r>
            <a:r>
              <a:rPr lang="en-US" i="1" baseline="0" dirty="0"/>
              <a:t> module </a:t>
            </a:r>
            <a:r>
              <a:rPr lang="en-US" i="1" baseline="0" dirty="0" err="1"/>
              <a:t>đã</a:t>
            </a:r>
            <a:r>
              <a:rPr lang="en-US" i="1" baseline="0" dirty="0"/>
              <a:t> qua </a:t>
            </a:r>
            <a:r>
              <a:rPr lang="en-US" i="1" baseline="0" dirty="0" err="1"/>
              <a:t>sử</a:t>
            </a:r>
            <a:r>
              <a:rPr lang="en-US" i="1" baseline="0" dirty="0"/>
              <a:t> </a:t>
            </a:r>
            <a:r>
              <a:rPr lang="en-US" i="1" baseline="0" dirty="0" err="1"/>
              <a:t>dụng</a:t>
            </a:r>
            <a:endParaRPr lang="en-US" i="1" baseline="0" dirty="0"/>
          </a:p>
          <a:p>
            <a:pPr marL="457200" lvl="1" indent="0">
              <a:buFontTx/>
              <a:buNone/>
            </a:pPr>
            <a:r>
              <a:rPr lang="vi-VN" dirty="0"/>
              <a:t>■</a:t>
            </a:r>
            <a:r>
              <a:rPr lang="en-US" b="0" baseline="0" dirty="0"/>
              <a:t> Lợi </a:t>
            </a:r>
            <a:r>
              <a:rPr lang="en-US" b="0" baseline="0" dirty="0" err="1"/>
              <a:t>ích</a:t>
            </a:r>
            <a:r>
              <a:rPr lang="en-US" b="0" baseline="0" dirty="0"/>
              <a:t>: </a:t>
            </a:r>
            <a:r>
              <a:rPr lang="vi-VN" b="0" baseline="0" dirty="0"/>
              <a:t>tiết kiệm nguồn lực,</a:t>
            </a:r>
            <a:r>
              <a:rPr lang="en-US" b="0" baseline="0" dirty="0"/>
              <a:t> </a:t>
            </a:r>
            <a:r>
              <a:rPr lang="en-US" b="0" baseline="0" dirty="0" err="1"/>
              <a:t>tiết</a:t>
            </a:r>
            <a:r>
              <a:rPr lang="en-US" b="0" baseline="0" dirty="0"/>
              <a:t> </a:t>
            </a:r>
            <a:r>
              <a:rPr lang="en-US" b="0" baseline="0" dirty="0" err="1"/>
              <a:t>kiệm</a:t>
            </a:r>
            <a:r>
              <a:rPr lang="vi-VN" b="0" baseline="0" dirty="0"/>
              <a:t> thời gian và phần mềm chất lượng cao hơn</a:t>
            </a:r>
            <a:r>
              <a:rPr lang="en-US" b="0" baseline="0" dirty="0"/>
              <a:t> </a:t>
            </a:r>
            <a:r>
              <a:rPr lang="en-US" b="1" baseline="0" dirty="0"/>
              <a:t>(VÌ </a:t>
            </a:r>
            <a:r>
              <a:rPr lang="vi-VN" b="1" baseline="0" dirty="0"/>
              <a:t>ĐÃ ĐƯỢC </a:t>
            </a:r>
            <a:r>
              <a:rPr lang="en-US" b="1" baseline="0" dirty="0"/>
              <a:t>TEST </a:t>
            </a:r>
            <a:r>
              <a:rPr lang="vi-VN" b="1" baseline="0" dirty="0"/>
              <a:t>VÀ SỬA CHỮA </a:t>
            </a:r>
            <a:r>
              <a:rPr lang="en-US" b="1" baseline="0" dirty="0"/>
              <a:t>NHIỀU LẦN </a:t>
            </a:r>
            <a:r>
              <a:rPr lang="vi-VN" b="1" baseline="0" dirty="0"/>
              <a:t>BỞI </a:t>
            </a:r>
            <a:r>
              <a:rPr lang="en-US" b="1" baseline="0" dirty="0"/>
              <a:t>DEVELOPER, CŨNG </a:t>
            </a:r>
            <a:r>
              <a:rPr lang="vi-VN" b="1" baseline="0" dirty="0"/>
              <a:t>NHƯ SỬA CHỮA </a:t>
            </a:r>
            <a:r>
              <a:rPr lang="en-US" b="1" baseline="0" dirty="0"/>
              <a:t>CÁC LỖI ĐƯỢC PHÁT HIỆN </a:t>
            </a:r>
            <a:r>
              <a:rPr lang="vi-VN" b="1" baseline="0" dirty="0"/>
              <a:t>BỞI KHÁCH HÀNG TRƯỚC Đ</a:t>
            </a:r>
            <a:r>
              <a:rPr lang="en-US" b="1" baseline="0" dirty="0"/>
              <a:t>Ó - CÁC MODULE ĐÃ Đ</a:t>
            </a:r>
            <a:r>
              <a:rPr lang="vi-VN" b="1" baseline="0" dirty="0"/>
              <a:t>ƯỢC</a:t>
            </a:r>
            <a:r>
              <a:rPr lang="en-US" b="1" baseline="0" dirty="0"/>
              <a:t>TEST QUA NHIỀU SP SỬ DỤNG)</a:t>
            </a:r>
          </a:p>
          <a:p>
            <a:pPr marL="0" lvl="0" indent="0">
              <a:buFontTx/>
              <a:buNone/>
            </a:pPr>
            <a:endParaRPr lang="en-US" baseline="0" dirty="0"/>
          </a:p>
          <a:p>
            <a:pPr marL="0" lvl="0" indent="0">
              <a:buFontTx/>
              <a:buNone/>
            </a:pPr>
            <a:r>
              <a:rPr lang="en-US" baseline="0" dirty="0"/>
              <a:t>- </a:t>
            </a:r>
            <a:r>
              <a:rPr lang="en-US" baseline="0" dirty="0" err="1"/>
              <a:t>Bản</a:t>
            </a:r>
            <a:r>
              <a:rPr lang="en-US" baseline="0" dirty="0"/>
              <a:t> </a:t>
            </a:r>
            <a:r>
              <a:rPr lang="en-US" baseline="0" dirty="0" err="1"/>
              <a:t>thân</a:t>
            </a:r>
            <a:r>
              <a:rPr lang="en-US" baseline="0" dirty="0"/>
              <a:t> KH </a:t>
            </a:r>
            <a:r>
              <a:rPr lang="en-US" baseline="0" dirty="0" err="1"/>
              <a:t>là</a:t>
            </a:r>
            <a:r>
              <a:rPr lang="en-US" baseline="0" dirty="0"/>
              <a:t> </a:t>
            </a:r>
            <a:r>
              <a:rPr lang="en-US" baseline="0" dirty="0" err="1"/>
              <a:t>người</a:t>
            </a:r>
            <a:r>
              <a:rPr lang="en-US" baseline="0" dirty="0"/>
              <a:t> </a:t>
            </a:r>
            <a:r>
              <a:rPr lang="en-US" baseline="0" dirty="0" err="1"/>
              <a:t>tham</a:t>
            </a:r>
            <a:r>
              <a:rPr lang="en-US" baseline="0" dirty="0"/>
              <a:t> </a:t>
            </a:r>
            <a:r>
              <a:rPr lang="en-US" baseline="0" dirty="0" err="1"/>
              <a:t>gia</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dự</a:t>
            </a:r>
            <a:r>
              <a:rPr lang="en-US" baseline="0" dirty="0"/>
              <a:t> </a:t>
            </a:r>
            <a:r>
              <a:rPr lang="en-US" baseline="0" dirty="0" err="1"/>
              <a:t>án</a:t>
            </a:r>
            <a:r>
              <a:rPr lang="en-US" baseline="0" dirty="0"/>
              <a:t> </a:t>
            </a:r>
            <a:r>
              <a:rPr lang="vi-VN" baseline="0" dirty="0"/>
              <a:t>(</a:t>
            </a:r>
            <a:r>
              <a:rPr lang="en-US" baseline="0" dirty="0" err="1"/>
              <a:t>Khá</a:t>
            </a:r>
            <a:r>
              <a:rPr lang="en-US" baseline="0" dirty="0"/>
              <a:t> </a:t>
            </a:r>
            <a:r>
              <a:rPr lang="en-US" baseline="0" dirty="0" err="1"/>
              <a:t>thông</a:t>
            </a:r>
            <a:r>
              <a:rPr lang="en-US" baseline="0" dirty="0"/>
              <a:t> </a:t>
            </a:r>
            <a:r>
              <a:rPr lang="en-US" baseline="0" dirty="0" err="1"/>
              <a:t>dụng</a:t>
            </a:r>
            <a:r>
              <a:rPr lang="vi-VN" baseline="0" dirty="0"/>
              <a:t>)</a:t>
            </a:r>
            <a:r>
              <a:rPr lang="en-US" baseline="0" dirty="0"/>
              <a:t>:</a:t>
            </a:r>
          </a:p>
          <a:p>
            <a:pPr marL="457200" lvl="1" indent="0">
              <a:buFontTx/>
              <a:buNone/>
            </a:pPr>
            <a:r>
              <a:rPr lang="vi-VN" dirty="0"/>
              <a:t>■</a:t>
            </a:r>
            <a:r>
              <a:rPr lang="en-US" dirty="0"/>
              <a:t> </a:t>
            </a:r>
            <a:r>
              <a:rPr lang="vi-VN" dirty="0"/>
              <a:t>áp dụng chuyên môn đặc biệt của khách hàng</a:t>
            </a:r>
            <a:r>
              <a:rPr lang="en-US" baseline="0" dirty="0"/>
              <a:t> </a:t>
            </a:r>
            <a:r>
              <a:rPr lang="en-US" b="1" baseline="0" dirty="0"/>
              <a:t>(</a:t>
            </a:r>
            <a:r>
              <a:rPr lang="en-US" b="1" baseline="0" dirty="0" err="1"/>
              <a:t>nghiệp</a:t>
            </a:r>
            <a:r>
              <a:rPr lang="en-US" b="1" baseline="0" dirty="0"/>
              <a:t> </a:t>
            </a:r>
            <a:r>
              <a:rPr lang="en-US" b="1" baseline="0" dirty="0" err="1"/>
              <a:t>vụ</a:t>
            </a:r>
            <a:r>
              <a:rPr lang="en-US" b="1" baseline="0" dirty="0"/>
              <a:t>), </a:t>
            </a:r>
            <a:r>
              <a:rPr lang="en-US" b="1" baseline="0" dirty="0" err="1"/>
              <a:t>hoặc</a:t>
            </a:r>
            <a:r>
              <a:rPr lang="en-US" b="1" baseline="0" dirty="0"/>
              <a:t> </a:t>
            </a:r>
            <a:r>
              <a:rPr lang="en-US" b="1" baseline="0" dirty="0" err="1"/>
              <a:t>vì</a:t>
            </a:r>
            <a:r>
              <a:rPr lang="en-US" b="1" baseline="0" dirty="0"/>
              <a:t> </a:t>
            </a:r>
            <a:r>
              <a:rPr lang="en-US" b="1" baseline="0" dirty="0" err="1"/>
              <a:t>lý</a:t>
            </a:r>
            <a:r>
              <a:rPr lang="en-US" b="1" baseline="0" dirty="0"/>
              <a:t> do </a:t>
            </a:r>
            <a:r>
              <a:rPr lang="en-US" b="1" baseline="0" dirty="0" err="1"/>
              <a:t>thương</a:t>
            </a:r>
            <a:r>
              <a:rPr lang="en-US" b="1" baseline="0" dirty="0"/>
              <a:t> </a:t>
            </a:r>
            <a:r>
              <a:rPr lang="en-US" b="1" baseline="0" dirty="0" err="1"/>
              <a:t>mại</a:t>
            </a:r>
            <a:r>
              <a:rPr lang="en-US" b="1" baseline="0" dirty="0"/>
              <a:t> – </a:t>
            </a:r>
            <a:r>
              <a:rPr lang="en-US" b="1" baseline="0" dirty="0" err="1"/>
              <a:t>bảo</a:t>
            </a:r>
            <a:r>
              <a:rPr lang="en-US" b="1" baseline="0" dirty="0"/>
              <a:t> </a:t>
            </a:r>
            <a:r>
              <a:rPr lang="en-US" b="1" baseline="0" dirty="0" err="1"/>
              <a:t>mật</a:t>
            </a:r>
            <a:r>
              <a:rPr lang="en-US" b="1" baseline="0" dirty="0"/>
              <a:t> </a:t>
            </a:r>
            <a:r>
              <a:rPr lang="en-US" b="1" baseline="0" dirty="0" err="1"/>
              <a:t>ht</a:t>
            </a:r>
            <a:r>
              <a:rPr lang="en-US" b="1" baseline="0" dirty="0"/>
              <a:t>,… (p.310). </a:t>
            </a:r>
            <a:r>
              <a:rPr lang="en-US" b="1" baseline="0" dirty="0" err="1"/>
              <a:t>Ví</a:t>
            </a:r>
            <a:r>
              <a:rPr lang="en-US" b="1" baseline="0" dirty="0"/>
              <a:t> </a:t>
            </a:r>
            <a:r>
              <a:rPr lang="en-US" b="1" baseline="0" dirty="0" err="1"/>
              <a:t>dụ</a:t>
            </a:r>
            <a:r>
              <a:rPr lang="en-US" b="1" baseline="0" dirty="0"/>
              <a:t>, </a:t>
            </a:r>
            <a:r>
              <a:rPr lang="en-US" b="1" baseline="0" dirty="0" err="1"/>
              <a:t>trong</a:t>
            </a:r>
            <a:r>
              <a:rPr lang="en-US" b="1" baseline="0" dirty="0"/>
              <a:t> </a:t>
            </a:r>
            <a:r>
              <a:rPr lang="en-US" b="1" baseline="0" dirty="0" err="1"/>
              <a:t>nội</a:t>
            </a:r>
            <a:r>
              <a:rPr lang="en-US" b="1" baseline="0" dirty="0"/>
              <a:t> </a:t>
            </a:r>
            <a:r>
              <a:rPr lang="en-US" b="1" baseline="0" dirty="0" err="1"/>
              <a:t>bộ</a:t>
            </a:r>
            <a:r>
              <a:rPr lang="en-US" b="1" baseline="0" dirty="0"/>
              <a:t> KHÁCH HÀNG </a:t>
            </a:r>
            <a:r>
              <a:rPr lang="en-US" b="1" baseline="0" dirty="0" err="1"/>
              <a:t>có</a:t>
            </a:r>
            <a:r>
              <a:rPr lang="en-US" b="1" baseline="0" dirty="0"/>
              <a:t> </a:t>
            </a:r>
            <a:r>
              <a:rPr lang="en-US" b="1" baseline="0" dirty="0" err="1"/>
              <a:t>bộ</a:t>
            </a:r>
            <a:r>
              <a:rPr lang="en-US" b="1" baseline="0" dirty="0"/>
              <a:t> </a:t>
            </a:r>
            <a:r>
              <a:rPr lang="en-US" b="1" baseline="0" dirty="0" err="1"/>
              <a:t>phận</a:t>
            </a:r>
            <a:r>
              <a:rPr lang="en-US" b="1" baseline="0" dirty="0"/>
              <a:t> IT </a:t>
            </a:r>
            <a:r>
              <a:rPr lang="en-US" b="1" baseline="0" dirty="0" err="1"/>
              <a:t>có</a:t>
            </a:r>
            <a:r>
              <a:rPr lang="en-US" b="1" baseline="0" dirty="0"/>
              <a:t> </a:t>
            </a:r>
            <a:r>
              <a:rPr lang="en-US" b="1" baseline="0" dirty="0" err="1"/>
              <a:t>thể</a:t>
            </a:r>
            <a:r>
              <a:rPr lang="en-US" b="1" baseline="0" dirty="0"/>
              <a:t> </a:t>
            </a:r>
            <a:r>
              <a:rPr lang="en-US" b="1" baseline="0" dirty="0" err="1"/>
              <a:t>hỗ</a:t>
            </a:r>
            <a:r>
              <a:rPr lang="en-US" b="1" baseline="0" dirty="0"/>
              <a:t> </a:t>
            </a:r>
            <a:r>
              <a:rPr lang="en-US" b="1" baseline="0" dirty="0" err="1"/>
              <a:t>trợ</a:t>
            </a:r>
            <a:r>
              <a:rPr lang="en-US" b="1" baseline="0" dirty="0"/>
              <a:t> </a:t>
            </a:r>
            <a:r>
              <a:rPr lang="en-US" b="1" baseline="0" dirty="0" err="1"/>
              <a:t>phát</a:t>
            </a:r>
            <a:r>
              <a:rPr lang="en-US" b="1" baseline="0" dirty="0"/>
              <a:t> </a:t>
            </a:r>
            <a:r>
              <a:rPr lang="en-US" b="1" baseline="0" dirty="0" err="1"/>
              <a:t>triển</a:t>
            </a:r>
            <a:r>
              <a:rPr lang="en-US" b="1" baseline="0" dirty="0"/>
              <a:t> </a:t>
            </a:r>
            <a:r>
              <a:rPr lang="en-US" b="1" baseline="0" dirty="0" err="1"/>
              <a:t>phần</a:t>
            </a:r>
            <a:r>
              <a:rPr lang="en-US" b="1" baseline="0" dirty="0"/>
              <a:t> </a:t>
            </a:r>
            <a:r>
              <a:rPr lang="en-US" b="1" baseline="0" dirty="0" err="1"/>
              <a:t>mềm</a:t>
            </a:r>
            <a:r>
              <a:rPr lang="en-US" b="1" baseline="0" dirty="0"/>
              <a:t> </a:t>
            </a:r>
            <a:endParaRPr lang="en-US" b="1" dirty="0"/>
          </a:p>
        </p:txBody>
      </p:sp>
      <p:sp>
        <p:nvSpPr>
          <p:cNvPr id="4" name="Slide Number Placeholder 3"/>
          <p:cNvSpPr>
            <a:spLocks noGrp="1"/>
          </p:cNvSpPr>
          <p:nvPr>
            <p:ph type="sldNum" sz="quarter" idx="10"/>
          </p:nvPr>
        </p:nvSpPr>
        <p:spPr/>
        <p:txBody>
          <a:bodyPr/>
          <a:lstStyle/>
          <a:p>
            <a:fld id="{A63B9007-0201-49BE-A587-7F882848EC05}" type="slidenum">
              <a:rPr lang="en-US" smtClean="0"/>
              <a:t>93</a:t>
            </a:fld>
            <a:endParaRPr lang="en-US"/>
          </a:p>
        </p:txBody>
      </p:sp>
    </p:spTree>
    <p:extLst>
      <p:ext uri="{BB962C8B-B14F-4D97-AF65-F5344CB8AC3E}">
        <p14:creationId xmlns:p14="http://schemas.microsoft.com/office/powerpoint/2010/main" val="185404228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dirty="0" err="1"/>
              <a:t>Lúc</a:t>
            </a:r>
            <a:r>
              <a:rPr lang="en-US" b="1" baseline="0" dirty="0"/>
              <a:t> </a:t>
            </a:r>
            <a:r>
              <a:rPr lang="en-US" b="1" baseline="0" dirty="0" err="1"/>
              <a:t>trước</a:t>
            </a:r>
            <a:r>
              <a:rPr lang="en-US" b="1" baseline="0" dirty="0"/>
              <a:t>, </a:t>
            </a:r>
            <a:r>
              <a:rPr lang="en-US" b="1" baseline="0" dirty="0" err="1"/>
              <a:t>trong</a:t>
            </a:r>
            <a:r>
              <a:rPr lang="en-US" b="1" baseline="0" dirty="0"/>
              <a:t> 1 </a:t>
            </a:r>
            <a:r>
              <a:rPr lang="en-US" b="1" baseline="0" dirty="0" err="1"/>
              <a:t>dự</a:t>
            </a:r>
            <a:r>
              <a:rPr lang="en-US" b="1" baseline="0" dirty="0"/>
              <a:t> </a:t>
            </a:r>
            <a:r>
              <a:rPr lang="en-US" b="1" baseline="0" dirty="0" err="1"/>
              <a:t>án</a:t>
            </a:r>
            <a:r>
              <a:rPr lang="en-US" b="1" baseline="0" dirty="0"/>
              <a:t> </a:t>
            </a:r>
            <a:r>
              <a:rPr lang="en-US" b="1" baseline="0" dirty="0" err="1"/>
              <a:t>thường</a:t>
            </a:r>
            <a:r>
              <a:rPr lang="en-US" b="1" baseline="0" dirty="0"/>
              <a:t> </a:t>
            </a:r>
            <a:r>
              <a:rPr lang="en-US" b="1" baseline="0" dirty="0" err="1"/>
              <a:t>chỉ</a:t>
            </a:r>
            <a:r>
              <a:rPr lang="en-US" b="1" baseline="0" dirty="0"/>
              <a:t> </a:t>
            </a:r>
            <a:r>
              <a:rPr lang="en-US" b="1" baseline="0" dirty="0" err="1"/>
              <a:t>gồm</a:t>
            </a:r>
            <a:r>
              <a:rPr lang="en-US" b="1" baseline="0" dirty="0"/>
              <a:t> 2 </a:t>
            </a:r>
            <a:r>
              <a:rPr lang="en-US" b="1" baseline="0" dirty="0" err="1"/>
              <a:t>bên</a:t>
            </a:r>
            <a:r>
              <a:rPr lang="en-US" b="1" baseline="0" dirty="0"/>
              <a:t> </a:t>
            </a:r>
            <a:r>
              <a:rPr lang="en-US" b="1" baseline="0" dirty="0" err="1"/>
              <a:t>tham</a:t>
            </a:r>
            <a:r>
              <a:rPr lang="en-US" b="1" baseline="0" dirty="0"/>
              <a:t> </a:t>
            </a:r>
            <a:r>
              <a:rPr lang="en-US" b="1" baseline="0" dirty="0" err="1"/>
              <a:t>gia</a:t>
            </a:r>
            <a:r>
              <a:rPr lang="en-US" b="1" baseline="0" dirty="0"/>
              <a:t>: </a:t>
            </a:r>
            <a:r>
              <a:rPr lang="vi-VN" b="1" baseline="0" dirty="0"/>
              <a:t>thứ nhất,</a:t>
            </a:r>
            <a:r>
              <a:rPr lang="en-US" b="1" baseline="0" dirty="0"/>
              <a:t> </a:t>
            </a:r>
            <a:r>
              <a:rPr lang="en-US" b="1" baseline="0" dirty="0" err="1"/>
              <a:t>là</a:t>
            </a:r>
            <a:r>
              <a:rPr lang="vi-VN" b="1" baseline="0" dirty="0"/>
              <a:t> </a:t>
            </a:r>
            <a:r>
              <a:rPr lang="en-US" b="1" u="none" baseline="0" dirty="0"/>
              <a:t>CUSTOMER</a:t>
            </a:r>
            <a:r>
              <a:rPr lang="en-US" b="1" u="sng" baseline="0" dirty="0"/>
              <a:t> </a:t>
            </a:r>
            <a:r>
              <a:rPr lang="en-US" b="1" u="none" baseline="0" dirty="0"/>
              <a:t>- </a:t>
            </a:r>
            <a:r>
              <a:rPr lang="vi-VN" b="1" baseline="0" dirty="0"/>
              <a:t>là </a:t>
            </a:r>
            <a:r>
              <a:rPr lang="en-US" b="1" baseline="0" dirty="0" err="1"/>
              <a:t>tổ</a:t>
            </a:r>
            <a:r>
              <a:rPr lang="en-US" b="1" baseline="0" dirty="0"/>
              <a:t> </a:t>
            </a:r>
            <a:r>
              <a:rPr lang="en-US" b="1" baseline="0" dirty="0" err="1"/>
              <a:t>chức</a:t>
            </a:r>
            <a:r>
              <a:rPr lang="en-US" b="1" baseline="0" dirty="0"/>
              <a:t> </a:t>
            </a:r>
            <a:r>
              <a:rPr lang="en-US" b="1" baseline="0" dirty="0" err="1"/>
              <a:t>mon</a:t>
            </a:r>
            <a:r>
              <a:rPr lang="vi-VN" b="1" baseline="0" dirty="0"/>
              <a:t>g muốn có được hệ thống phần mềm</a:t>
            </a:r>
            <a:r>
              <a:rPr lang="en-US" b="1" baseline="0" dirty="0"/>
              <a:t>; t</a:t>
            </a:r>
            <a:r>
              <a:rPr lang="vi-VN" b="1" baseline="0" dirty="0" err="1"/>
              <a:t>hứ</a:t>
            </a:r>
            <a:r>
              <a:rPr lang="vi-VN" b="1" baseline="0" dirty="0"/>
              <a:t> hai là các "nhà thầu</a:t>
            </a:r>
            <a:r>
              <a:rPr lang="en-US" b="1" baseline="0" dirty="0"/>
              <a:t>" (</a:t>
            </a:r>
            <a:r>
              <a:rPr lang="en-US" b="1" u="none" baseline="0" dirty="0"/>
              <a:t>CONTRACTOR)</a:t>
            </a:r>
            <a:r>
              <a:rPr lang="en-US" b="1" u="sng" baseline="0" dirty="0"/>
              <a:t> </a:t>
            </a:r>
            <a:r>
              <a:rPr lang="en-US" b="1" u="none" baseline="0" dirty="0"/>
              <a:t>- </a:t>
            </a:r>
            <a:r>
              <a:rPr lang="en-US" b="1" baseline="0" dirty="0" err="1"/>
              <a:t>là</a:t>
            </a:r>
            <a:r>
              <a:rPr lang="en-US" b="1" baseline="0" dirty="0"/>
              <a:t> </a:t>
            </a:r>
            <a:r>
              <a:rPr lang="en-US" b="1" baseline="0" dirty="0" err="1"/>
              <a:t>tổ</a:t>
            </a:r>
            <a:r>
              <a:rPr lang="en-US" b="1" baseline="0" dirty="0"/>
              <a:t> </a:t>
            </a:r>
            <a:r>
              <a:rPr lang="en-US" b="1" baseline="0" dirty="0" err="1"/>
              <a:t>chức</a:t>
            </a:r>
            <a:r>
              <a:rPr lang="en-US" b="1" baseline="0" dirty="0"/>
              <a:t> </a:t>
            </a:r>
            <a:r>
              <a:rPr lang="vi-VN" b="1" baseline="0" dirty="0"/>
              <a:t>mà khách hàng </a:t>
            </a:r>
            <a:r>
              <a:rPr lang="en-US" b="1" baseline="0" dirty="0" err="1"/>
              <a:t>giao</a:t>
            </a:r>
            <a:r>
              <a:rPr lang="en-US" b="1" baseline="0" dirty="0"/>
              <a:t> </a:t>
            </a:r>
            <a:r>
              <a:rPr lang="en-US" b="1" baseline="0" dirty="0" err="1"/>
              <a:t>nhiệm</a:t>
            </a:r>
            <a:r>
              <a:rPr lang="en-US" b="1" baseline="0" dirty="0"/>
              <a:t> </a:t>
            </a:r>
            <a:r>
              <a:rPr lang="en-US" b="1" baseline="0" dirty="0" err="1"/>
              <a:t>vụ</a:t>
            </a:r>
            <a:r>
              <a:rPr lang="en-US" b="1" baseline="0" dirty="0"/>
              <a:t> </a:t>
            </a:r>
            <a:r>
              <a:rPr lang="vi-VN" b="1" baseline="0" dirty="0"/>
              <a:t>hoàn thành dự án</a:t>
            </a:r>
            <a:endParaRPr lang="en-US" b="1" baseline="0" dirty="0"/>
          </a:p>
          <a:p>
            <a:pPr marL="0" indent="0">
              <a:buFontTx/>
              <a:buNone/>
            </a:pPr>
            <a:r>
              <a:rPr lang="en-US" b="1" baseline="0" dirty="0" err="1"/>
              <a:t>Ngày</a:t>
            </a:r>
            <a:r>
              <a:rPr lang="en-US" b="1" baseline="0" dirty="0"/>
              <a:t> nay, </a:t>
            </a:r>
            <a:r>
              <a:rPr lang="en-US" b="1" baseline="0" dirty="0" err="1"/>
              <a:t>còn</a:t>
            </a:r>
            <a:r>
              <a:rPr lang="en-US" b="1" baseline="0" dirty="0"/>
              <a:t> </a:t>
            </a:r>
            <a:r>
              <a:rPr lang="en-US" b="1" baseline="0" dirty="0" err="1"/>
              <a:t>có</a:t>
            </a:r>
            <a:r>
              <a:rPr lang="en-US" b="1" baseline="0" dirty="0"/>
              <a:t> c</a:t>
            </a:r>
            <a:r>
              <a:rPr lang="vi-VN" b="1" baseline="0" dirty="0"/>
              <a:t>ác tổ chức khác đóng góp vào dự án với nhà thầu</a:t>
            </a:r>
            <a:r>
              <a:rPr lang="en-US" b="1" baseline="0" dirty="0"/>
              <a:t>, </a:t>
            </a:r>
            <a:r>
              <a:rPr lang="vi-VN" b="1" baseline="0" dirty="0"/>
              <a:t>có thể được xem là "người tham gia bên ngoài“</a:t>
            </a:r>
            <a:r>
              <a:rPr lang="en-US" b="1" baseline="0" dirty="0"/>
              <a:t> (“external participants”) </a:t>
            </a:r>
            <a:r>
              <a:rPr lang="en-US" b="1" u="none" dirty="0" err="1"/>
              <a:t>các</a:t>
            </a:r>
            <a:r>
              <a:rPr lang="en-US" b="1" u="none" baseline="0" dirty="0"/>
              <a:t> </a:t>
            </a:r>
            <a:r>
              <a:rPr lang="en-US" b="1" u="none" baseline="0" dirty="0" err="1"/>
              <a:t>dự</a:t>
            </a:r>
            <a:r>
              <a:rPr lang="en-US" b="1" u="none" baseline="0" dirty="0"/>
              <a:t> </a:t>
            </a:r>
            <a:r>
              <a:rPr lang="en-US" b="1" u="none" baseline="0" dirty="0" err="1"/>
              <a:t>án</a:t>
            </a:r>
            <a:r>
              <a:rPr lang="en-US" b="1" u="none" baseline="0" dirty="0"/>
              <a:t> </a:t>
            </a:r>
            <a:r>
              <a:rPr lang="en-US" b="1" u="none" baseline="0" dirty="0" err="1"/>
              <a:t>càng</a:t>
            </a:r>
            <a:r>
              <a:rPr lang="en-US" b="1" u="none" baseline="0" dirty="0"/>
              <a:t> </a:t>
            </a:r>
            <a:r>
              <a:rPr lang="en-US" b="1" u="none" baseline="0" dirty="0" err="1"/>
              <a:t>lớn</a:t>
            </a:r>
            <a:r>
              <a:rPr lang="en-US" b="1" u="none" baseline="0" dirty="0"/>
              <a:t> </a:t>
            </a:r>
            <a:r>
              <a:rPr lang="en-US" b="1" u="none" baseline="0" dirty="0" err="1"/>
              <a:t>và</a:t>
            </a:r>
            <a:r>
              <a:rPr lang="en-US" b="1" u="none" baseline="0" dirty="0"/>
              <a:t> </a:t>
            </a:r>
            <a:r>
              <a:rPr lang="en-US" b="1" u="none" baseline="0" dirty="0" err="1"/>
              <a:t>càng</a:t>
            </a:r>
            <a:r>
              <a:rPr lang="en-US" b="1" u="none" baseline="0" dirty="0"/>
              <a:t> </a:t>
            </a:r>
            <a:r>
              <a:rPr lang="en-US" b="1" u="none" baseline="0" dirty="0" err="1"/>
              <a:t>phức</a:t>
            </a:r>
            <a:r>
              <a:rPr lang="en-US" b="1" u="none" baseline="0" dirty="0"/>
              <a:t> </a:t>
            </a:r>
            <a:r>
              <a:rPr lang="en-US" b="1" u="none" baseline="0" dirty="0" err="1"/>
              <a:t>tạp</a:t>
            </a:r>
            <a:r>
              <a:rPr lang="en-US" b="1" u="none" baseline="0" dirty="0"/>
              <a:t> </a:t>
            </a:r>
            <a:r>
              <a:rPr lang="en-US" b="1" u="none" baseline="0" dirty="0" err="1"/>
              <a:t>thì</a:t>
            </a:r>
            <a:r>
              <a:rPr lang="en-US" b="1" u="none" baseline="0" dirty="0"/>
              <a:t> </a:t>
            </a:r>
            <a:r>
              <a:rPr lang="en-US" b="1" u="none" baseline="0" dirty="0" err="1"/>
              <a:t>khả</a:t>
            </a:r>
            <a:r>
              <a:rPr lang="en-US" b="1" u="none" baseline="0" dirty="0"/>
              <a:t> </a:t>
            </a:r>
            <a:r>
              <a:rPr lang="en-US" b="1" u="none" baseline="0" dirty="0" err="1"/>
              <a:t>năng</a:t>
            </a:r>
            <a:r>
              <a:rPr lang="en-US" b="1" u="none" baseline="0" dirty="0"/>
              <a:t> </a:t>
            </a:r>
            <a:r>
              <a:rPr lang="en-US" b="1" u="none" baseline="0" dirty="0" err="1"/>
              <a:t>càng</a:t>
            </a:r>
            <a:r>
              <a:rPr lang="en-US" b="1" u="none" baseline="0" dirty="0"/>
              <a:t> </a:t>
            </a:r>
            <a:r>
              <a:rPr lang="en-US" b="1" u="none" baseline="0" dirty="0" err="1"/>
              <a:t>cần</a:t>
            </a:r>
            <a:r>
              <a:rPr lang="en-US" b="1" u="none" baseline="0" dirty="0"/>
              <a:t> </a:t>
            </a:r>
            <a:r>
              <a:rPr lang="en-US" b="1" u="none" baseline="0" dirty="0" err="1"/>
              <a:t>đến</a:t>
            </a:r>
            <a:r>
              <a:rPr lang="en-US" b="1" u="none" baseline="0" dirty="0"/>
              <a:t> </a:t>
            </a:r>
            <a:r>
              <a:rPr lang="en-US" b="1" u="none" baseline="0" dirty="0" err="1"/>
              <a:t>những</a:t>
            </a:r>
            <a:r>
              <a:rPr lang="en-US" b="1" u="none" baseline="0" dirty="0"/>
              <a:t> </a:t>
            </a:r>
            <a:r>
              <a:rPr lang="en-US" b="1" u="none" baseline="0" dirty="0" err="1"/>
              <a:t>người</a:t>
            </a:r>
            <a:r>
              <a:rPr lang="en-US" b="1" u="none" baseline="0" dirty="0"/>
              <a:t> </a:t>
            </a:r>
            <a:r>
              <a:rPr lang="en-US" b="1" u="none" baseline="0" dirty="0" err="1"/>
              <a:t>tham</a:t>
            </a:r>
            <a:r>
              <a:rPr lang="en-US" b="1" u="none" baseline="0" dirty="0"/>
              <a:t> </a:t>
            </a:r>
            <a:r>
              <a:rPr lang="en-US" b="1" u="none" baseline="0" dirty="0" err="1"/>
              <a:t>gia</a:t>
            </a:r>
            <a:r>
              <a:rPr lang="en-US" b="1" u="none" baseline="0" dirty="0"/>
              <a:t> </a:t>
            </a:r>
            <a:r>
              <a:rPr lang="en-US" b="1" u="none" baseline="0" dirty="0" err="1"/>
              <a:t>bên</a:t>
            </a:r>
            <a:r>
              <a:rPr lang="en-US" b="1" u="none" baseline="0" dirty="0"/>
              <a:t> </a:t>
            </a:r>
            <a:r>
              <a:rPr lang="en-US" b="1" u="none" baseline="0" dirty="0" err="1"/>
              <a:t>ngoài</a:t>
            </a:r>
            <a:r>
              <a:rPr lang="en-US" b="1" u="none" baseline="0" dirty="0"/>
              <a:t> </a:t>
            </a:r>
            <a:r>
              <a:rPr lang="en-US" b="1" u="none" baseline="0" dirty="0" err="1"/>
              <a:t>càng</a:t>
            </a:r>
            <a:r>
              <a:rPr lang="en-US" b="1" u="none" baseline="0" dirty="0"/>
              <a:t> </a:t>
            </a:r>
            <a:r>
              <a:rPr lang="en-US" b="1" u="none" baseline="0" dirty="0" err="1"/>
              <a:t>cao</a:t>
            </a:r>
            <a:r>
              <a:rPr lang="en-US" b="1" u="none" baseline="0" dirty="0"/>
              <a:t>.</a:t>
            </a: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94</a:t>
            </a:fld>
            <a:endParaRPr lang="en-US"/>
          </a:p>
        </p:txBody>
      </p:sp>
    </p:spTree>
    <p:extLst>
      <p:ext uri="{BB962C8B-B14F-4D97-AF65-F5344CB8AC3E}">
        <p14:creationId xmlns:p14="http://schemas.microsoft.com/office/powerpoint/2010/main" val="391970554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Lợi</a:t>
            </a:r>
            <a:r>
              <a:rPr lang="en-US" baseline="0" dirty="0"/>
              <a:t> </a:t>
            </a:r>
            <a:r>
              <a:rPr lang="en-US" baseline="0" dirty="0" err="1"/>
              <a:t>ích</a:t>
            </a:r>
            <a:r>
              <a:rPr lang="en-US" baseline="0" dirty="0"/>
              <a:t> </a:t>
            </a:r>
            <a:r>
              <a:rPr lang="vi-VN" baseline="0" dirty="0"/>
              <a:t>đối với nhà thầu</a:t>
            </a:r>
            <a:r>
              <a:rPr lang="en-US" baseline="0" dirty="0"/>
              <a:t>:</a:t>
            </a:r>
          </a:p>
          <a:p>
            <a:pPr marL="457200" lvl="1" indent="0">
              <a:buFontTx/>
              <a:buNone/>
            </a:pPr>
            <a:r>
              <a:rPr lang="vi-VN" dirty="0"/>
              <a:t>■</a:t>
            </a:r>
            <a:r>
              <a:rPr lang="en-US" dirty="0"/>
              <a:t> </a:t>
            </a:r>
            <a:r>
              <a:rPr lang="vi-VN" baseline="0" dirty="0"/>
              <a:t>ngân sách </a:t>
            </a:r>
            <a:r>
              <a:rPr lang="en-US" baseline="0" dirty="0" err="1"/>
              <a:t>thực</a:t>
            </a:r>
            <a:r>
              <a:rPr lang="en-US" baseline="0" dirty="0"/>
              <a:t> </a:t>
            </a:r>
            <a:r>
              <a:rPr lang="en-US" baseline="0" dirty="0" err="1"/>
              <a:t>hiện</a:t>
            </a:r>
            <a:r>
              <a:rPr lang="en-US" baseline="0" dirty="0"/>
              <a:t> </a:t>
            </a:r>
            <a:r>
              <a:rPr lang="vi-VN" baseline="0" dirty="0"/>
              <a:t>giảm</a:t>
            </a:r>
            <a:endParaRPr lang="en-US" baseline="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vi-VN" dirty="0"/>
              <a:t>■</a:t>
            </a:r>
            <a:r>
              <a:rPr lang="en-US" dirty="0"/>
              <a:t> </a:t>
            </a:r>
            <a:r>
              <a:rPr lang="en-US" baseline="0" dirty="0" err="1"/>
              <a:t>tiến</a:t>
            </a:r>
            <a:r>
              <a:rPr lang="en-US" baseline="0" dirty="0"/>
              <a:t> </a:t>
            </a:r>
            <a:r>
              <a:rPr lang="en-US" baseline="0" dirty="0" err="1"/>
              <a:t>độ</a:t>
            </a:r>
            <a:r>
              <a:rPr lang="en-US" baseline="0" dirty="0"/>
              <a:t> </a:t>
            </a:r>
            <a:r>
              <a:rPr lang="en-US" baseline="0" dirty="0" err="1"/>
              <a:t>thi</a:t>
            </a:r>
            <a:r>
              <a:rPr lang="en-US" baseline="0" dirty="0"/>
              <a:t> </a:t>
            </a:r>
            <a:r>
              <a:rPr lang="en-US" baseline="0" dirty="0" err="1"/>
              <a:t>công</a:t>
            </a:r>
            <a:r>
              <a:rPr lang="en-US" baseline="0" dirty="0"/>
              <a:t> </a:t>
            </a:r>
            <a:r>
              <a:rPr lang="vi-VN" baseline="0" dirty="0"/>
              <a:t>dự án</a:t>
            </a:r>
            <a:r>
              <a:rPr lang="en-US" baseline="0" dirty="0"/>
              <a:t> </a:t>
            </a:r>
            <a:r>
              <a:rPr lang="vi-VN" baseline="0" dirty="0"/>
              <a:t>ngắn hơn</a:t>
            </a:r>
            <a:endParaRPr lang="en-US" baseline="0" dirty="0"/>
          </a:p>
          <a:p>
            <a:pPr marL="457200" lvl="1" indent="0">
              <a:buFontTx/>
              <a:buNone/>
            </a:pPr>
            <a:r>
              <a:rPr lang="vi-VN" dirty="0"/>
              <a:t>■</a:t>
            </a:r>
            <a:r>
              <a:rPr lang="en-US" dirty="0"/>
              <a:t> </a:t>
            </a:r>
            <a:r>
              <a:rPr lang="vi-VN" baseline="0" dirty="0"/>
              <a:t>khắc phục tình trạng thiếu đội ngũ nhân viên chuyên nghiệp</a:t>
            </a:r>
            <a:endParaRPr lang="en-US" baseline="0" dirty="0"/>
          </a:p>
          <a:p>
            <a:pPr marL="457200" lvl="1" indent="0">
              <a:buFontTx/>
              <a:buNone/>
            </a:pPr>
            <a:r>
              <a:rPr lang="vi-VN" dirty="0"/>
              <a:t>■</a:t>
            </a:r>
            <a:r>
              <a:rPr lang="en-US" dirty="0"/>
              <a:t> </a:t>
            </a:r>
            <a:r>
              <a:rPr lang="en-US" baseline="0" dirty="0" err="1"/>
              <a:t>có</a:t>
            </a:r>
            <a:r>
              <a:rPr lang="en-US" baseline="0" dirty="0"/>
              <a:t> </a:t>
            </a:r>
            <a:r>
              <a:rPr lang="en-US" baseline="0" dirty="0" err="1"/>
              <a:t>tính</a:t>
            </a:r>
            <a:r>
              <a:rPr lang="en-US" baseline="0" dirty="0"/>
              <a:t> </a:t>
            </a:r>
            <a:r>
              <a:rPr lang="en-US" baseline="0" dirty="0" err="1"/>
              <a:t>chuyên</a:t>
            </a:r>
            <a:r>
              <a:rPr lang="en-US" baseline="0" dirty="0"/>
              <a:t> </a:t>
            </a:r>
            <a:r>
              <a:rPr lang="en-US" baseline="0" dirty="0" err="1"/>
              <a:t>môn</a:t>
            </a:r>
            <a:r>
              <a:rPr lang="en-US" baseline="0" dirty="0"/>
              <a:t>: </a:t>
            </a:r>
            <a:r>
              <a:rPr lang="en-US" sz="1200" b="1" i="0" kern="1200" dirty="0">
                <a:solidFill>
                  <a:schemeClr val="tx1"/>
                </a:solidFill>
                <a:effectLst/>
                <a:latin typeface="+mn-lt"/>
                <a:ea typeface="+mn-ea"/>
                <a:cs typeface="+mn-cs"/>
              </a:rPr>
              <a:t>CÓ</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HỆ THỐNG ĐÀO TẠO BÀI BẢN CHO NHÂN VIÊN, CŨNG NHƯ CÁC PHÒNG LAB ĐỂ THỬ NGHIỆM GIẢI PHÁP TRƯỚC KHI ĐƯA RA CHO KHÁCH HÀNG</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CŨNG CÓ CÁC HỆ THỐNG GIÁM SÁT VỀ CHẤT LƯỢNG CÔNG VIỆC CỦA NHÂN VIÊN VÀ ĐẢM BẢO QUY TRÌNH DỊCH VỤ.</a:t>
            </a:r>
            <a:endParaRPr lang="en-US" b="1" i="0" baseline="0" dirty="0"/>
          </a:p>
          <a:p>
            <a:pPr marL="0" lvl="0" indent="0">
              <a:buFontTx/>
              <a:buNone/>
            </a:pPr>
            <a:r>
              <a:rPr lang="en-US" dirty="0"/>
              <a:t>- Lợi</a:t>
            </a:r>
            <a:r>
              <a:rPr lang="en-US" baseline="0" dirty="0"/>
              <a:t> </a:t>
            </a:r>
            <a:r>
              <a:rPr lang="en-US" baseline="0" dirty="0" err="1"/>
              <a:t>ích</a:t>
            </a:r>
            <a:r>
              <a:rPr lang="en-US" baseline="0" dirty="0"/>
              <a:t> </a:t>
            </a:r>
            <a:r>
              <a:rPr lang="vi-VN" baseline="0" dirty="0"/>
              <a:t>đối với khách hàng</a:t>
            </a:r>
            <a:endParaRPr lang="en-US" baseline="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vi-VN" dirty="0"/>
              <a:t>■</a:t>
            </a:r>
            <a:r>
              <a:rPr lang="en-US" dirty="0"/>
              <a:t> </a:t>
            </a:r>
            <a:r>
              <a:rPr lang="vi-VN" baseline="0" dirty="0"/>
              <a:t>giảm chi phí</a:t>
            </a:r>
            <a:r>
              <a:rPr lang="en-US" baseline="0" dirty="0"/>
              <a:t> </a:t>
            </a:r>
            <a:r>
              <a:rPr lang="en-US" baseline="0" dirty="0" err="1"/>
              <a:t>mua</a:t>
            </a:r>
            <a:endParaRPr lang="en-US" baseline="0" dirty="0"/>
          </a:p>
          <a:p>
            <a:pPr marL="457200" lvl="1" indent="0">
              <a:buFontTx/>
              <a:buNone/>
            </a:pPr>
            <a:r>
              <a:rPr lang="vi-VN" dirty="0"/>
              <a:t>■</a:t>
            </a:r>
            <a:r>
              <a:rPr lang="en-US" dirty="0"/>
              <a:t> </a:t>
            </a:r>
            <a:r>
              <a:rPr lang="vi-VN" baseline="0" dirty="0"/>
              <a:t>bảo vệ bí mật thương mại</a:t>
            </a:r>
            <a:r>
              <a:rPr lang="en-US" baseline="0" dirty="0"/>
              <a:t>: </a:t>
            </a:r>
            <a:r>
              <a:rPr lang="en-US" sz="1200" b="1" i="0" u="none" dirty="0">
                <a:solidFill>
                  <a:srgbClr val="A40800"/>
                </a:solidFill>
                <a:latin typeface="Lucida Grande" charset="0"/>
                <a:ea typeface="Lucida Grande" charset="0"/>
                <a:cs typeface="Lucida Grande" charset="0"/>
                <a:sym typeface="Lucida Grande" charset="0"/>
              </a:rPr>
              <a:t>DO</a:t>
            </a:r>
            <a:r>
              <a:rPr lang="en-US" sz="1200" b="1" i="0" u="none" baseline="0" dirty="0">
                <a:solidFill>
                  <a:srgbClr val="A40800"/>
                </a:solidFill>
                <a:latin typeface="Lucida Grande" charset="0"/>
                <a:ea typeface="Lucida Grande" charset="0"/>
                <a:cs typeface="Lucida Grande" charset="0"/>
                <a:sym typeface="Lucida Grande" charset="0"/>
              </a:rPr>
              <a:t> CÓ SỰ THAM GIA CỦA KH</a:t>
            </a:r>
            <a:endParaRPr lang="en-US" b="1" i="0" u="none" baseline="0" dirty="0"/>
          </a:p>
          <a:p>
            <a:pPr marL="457200" lvl="1" indent="0">
              <a:buFontTx/>
              <a:buNone/>
            </a:pPr>
            <a:r>
              <a:rPr lang="vi-VN" dirty="0"/>
              <a:t>■</a:t>
            </a:r>
            <a:r>
              <a:rPr lang="en-US" dirty="0"/>
              <a:t> </a:t>
            </a:r>
            <a:r>
              <a:rPr lang="vi-VN" baseline="0" dirty="0"/>
              <a:t>cung cấp việc làm cho bộ phận phát triển phần mềm nội bộ</a:t>
            </a:r>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95</a:t>
            </a:fld>
            <a:endParaRPr lang="en-US"/>
          </a:p>
        </p:txBody>
      </p:sp>
    </p:spTree>
    <p:extLst>
      <p:ext uri="{BB962C8B-B14F-4D97-AF65-F5344CB8AC3E}">
        <p14:creationId xmlns:p14="http://schemas.microsoft.com/office/powerpoint/2010/main" val="389529075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7650"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pPr marL="39688" indent="0">
              <a:buFontTx/>
              <a:buNone/>
            </a:pPr>
            <a:r>
              <a:rPr lang="en-US" sz="2200" dirty="0">
                <a:solidFill>
                  <a:srgbClr val="000000"/>
                </a:solidFill>
                <a:latin typeface="Lucida Grande" charset="0"/>
                <a:ea typeface="Lucida Grande" charset="0"/>
                <a:cs typeface="Lucida Grande" charset="0"/>
                <a:sym typeface="Lucida Grande" charset="0"/>
              </a:rPr>
              <a:t>- </a:t>
            </a:r>
            <a:r>
              <a:rPr lang="en-US" sz="2200" dirty="0" err="1">
                <a:solidFill>
                  <a:srgbClr val="000000"/>
                </a:solidFill>
                <a:latin typeface="Lucida Grande" charset="0"/>
                <a:ea typeface="Lucida Grande" charset="0"/>
                <a:cs typeface="Lucida Grande" charset="0"/>
                <a:sym typeface="Lucida Grande" charset="0"/>
              </a:rPr>
              <a:t>Chậm</a:t>
            </a:r>
            <a:r>
              <a:rPr lang="en-US" sz="2200" dirty="0">
                <a:solidFill>
                  <a:srgbClr val="000000"/>
                </a:solidFill>
                <a:latin typeface="Lucida Grande" charset="0"/>
                <a:ea typeface="Lucida Grande" charset="0"/>
                <a:cs typeface="Lucida Grande" charset="0"/>
                <a:sym typeface="Lucida Grande" charset="0"/>
              </a:rPr>
              <a:t> </a:t>
            </a:r>
            <a:r>
              <a:rPr lang="en-US" sz="2200" dirty="0" err="1">
                <a:solidFill>
                  <a:srgbClr val="000000"/>
                </a:solidFill>
                <a:latin typeface="Lucida Grande" charset="0"/>
                <a:ea typeface="Lucida Grande" charset="0"/>
                <a:cs typeface="Lucida Grande" charset="0"/>
                <a:sym typeface="Lucida Grande" charset="0"/>
              </a:rPr>
              <a:t>trễ</a:t>
            </a:r>
            <a:r>
              <a:rPr lang="en-US" sz="2200" baseline="0" dirty="0">
                <a:solidFill>
                  <a:srgbClr val="000000"/>
                </a:solidFill>
                <a:latin typeface="Lucida Grande" charset="0"/>
                <a:ea typeface="Lucida Grande" charset="0"/>
                <a:cs typeface="Lucida Grande" charset="0"/>
                <a:sym typeface="Lucida Grande" charset="0"/>
              </a:rPr>
              <a:t>: </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khi</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nhóm</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bên</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ngoài</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giao</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sp</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trễ</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thì</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cả</a:t>
            </a:r>
            <a:r>
              <a:rPr lang="en-US" sz="2200" b="0" baseline="0" dirty="0">
                <a:solidFill>
                  <a:srgbClr val="000000"/>
                </a:solidFill>
                <a:latin typeface="Lucida Grande" charset="0"/>
                <a:ea typeface="Lucida Grande" charset="0"/>
                <a:cs typeface="Lucida Grande" charset="0"/>
                <a:sym typeface="Lucida Grande" charset="0"/>
              </a:rPr>
              <a:t> project </a:t>
            </a:r>
            <a:r>
              <a:rPr lang="en-US" sz="2200" b="0" baseline="0" dirty="0" err="1">
                <a:solidFill>
                  <a:srgbClr val="000000"/>
                </a:solidFill>
                <a:latin typeface="Lucida Grande" charset="0"/>
                <a:ea typeface="Lucida Grande" charset="0"/>
                <a:cs typeface="Lucida Grande" charset="0"/>
                <a:sym typeface="Lucida Grande" charset="0"/>
              </a:rPr>
              <a:t>bị</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trì</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hoãn</a:t>
            </a:r>
            <a:r>
              <a:rPr lang="en-US" sz="2200" b="0" baseline="0" dirty="0">
                <a:solidFill>
                  <a:srgbClr val="000000"/>
                </a:solidFill>
                <a:latin typeface="Lucida Grande" charset="0"/>
                <a:ea typeface="Lucida Grande" charset="0"/>
                <a:cs typeface="Lucida Grande" charset="0"/>
                <a:sym typeface="Lucida Grande" charset="0"/>
              </a:rPr>
              <a:t>.</a:t>
            </a:r>
          </a:p>
          <a:p>
            <a:pPr marL="954088" lvl="2" indent="0">
              <a:buFontTx/>
              <a:buNone/>
            </a:pPr>
            <a:r>
              <a:rPr lang="vi-VN" sz="2400" dirty="0"/>
              <a:t>■</a:t>
            </a:r>
            <a:r>
              <a:rPr lang="en-US" sz="2400" dirty="0"/>
              <a:t> </a:t>
            </a:r>
            <a:r>
              <a:rPr lang="en-US" sz="2200" b="1" baseline="0" dirty="0">
                <a:solidFill>
                  <a:srgbClr val="000000"/>
                </a:solidFill>
                <a:latin typeface="Lucida Grande" charset="0"/>
                <a:ea typeface="Lucida Grande" charset="0"/>
                <a:cs typeface="Lucida Grande" charset="0"/>
                <a:sym typeface="Lucida Grande" charset="0"/>
              </a:rPr>
              <a:t>NGUYÊN NHÂN THƯỜNG LÀ DO VIỆC KIỂM SOÁT LỎNG LẺO</a:t>
            </a:r>
          </a:p>
          <a:p>
            <a:pPr marL="39688" indent="0">
              <a:buFontTx/>
              <a:buNone/>
            </a:pPr>
            <a:endParaRPr lang="en-US" sz="2200" baseline="0" dirty="0">
              <a:solidFill>
                <a:srgbClr val="000000"/>
              </a:solidFill>
              <a:latin typeface="Lucida Grande" charset="0"/>
              <a:ea typeface="Lucida Grande" charset="0"/>
              <a:cs typeface="Lucida Grande" charset="0"/>
              <a:sym typeface="Lucida Grande" charset="0"/>
            </a:endParaRPr>
          </a:p>
          <a:p>
            <a:pPr marL="39688" indent="0">
              <a:buFontTx/>
              <a:buNone/>
            </a:pPr>
            <a:r>
              <a:rPr lang="en-US" sz="2200" baseline="0" dirty="0">
                <a:solidFill>
                  <a:srgbClr val="000000"/>
                </a:solidFill>
                <a:latin typeface="Lucida Grande" charset="0"/>
                <a:ea typeface="Lucida Grande" charset="0"/>
                <a:cs typeface="Lucida Grande" charset="0"/>
                <a:sym typeface="Lucida Grande" charset="0"/>
              </a:rPr>
              <a:t>- CL </a:t>
            </a:r>
            <a:r>
              <a:rPr lang="en-US" sz="2200" baseline="0" dirty="0" err="1">
                <a:solidFill>
                  <a:srgbClr val="000000"/>
                </a:solidFill>
                <a:latin typeface="Lucida Grande" charset="0"/>
                <a:ea typeface="Lucida Grande" charset="0"/>
                <a:cs typeface="Lucida Grande" charset="0"/>
                <a:sym typeface="Lucida Grande" charset="0"/>
              </a:rPr>
              <a:t>thấp</a:t>
            </a:r>
            <a:r>
              <a:rPr lang="en-US" sz="2200" baseline="0" dirty="0">
                <a:solidFill>
                  <a:srgbClr val="000000"/>
                </a:solidFill>
                <a:latin typeface="Lucida Grande" charset="0"/>
                <a:ea typeface="Lucida Grande" charset="0"/>
                <a:cs typeface="Lucida Grande" charset="0"/>
                <a:sym typeface="Lucida Grande" charset="0"/>
              </a:rPr>
              <a:t>:</a:t>
            </a:r>
          </a:p>
          <a:p>
            <a:pPr marL="496888" lvl="1" indent="0">
              <a:buFontTx/>
              <a:buNone/>
            </a:pPr>
            <a:r>
              <a:rPr lang="en-US" sz="2200" b="0" baseline="0" dirty="0">
                <a:solidFill>
                  <a:srgbClr val="000000"/>
                </a:solidFill>
                <a:latin typeface="Lucida Grande" charset="0"/>
                <a:ea typeface="Lucida Grande" charset="0"/>
                <a:cs typeface="Lucida Grande" charset="0"/>
                <a:sym typeface="Lucida Grande" charset="0"/>
              </a:rPr>
              <a:t>(a) </a:t>
            </a:r>
            <a:r>
              <a:rPr lang="en-US" sz="2200" b="0" baseline="0" dirty="0" err="1">
                <a:solidFill>
                  <a:srgbClr val="000000"/>
                </a:solidFill>
                <a:latin typeface="Lucida Grande" charset="0"/>
                <a:ea typeface="Lucida Grande" charset="0"/>
                <a:cs typeface="Lucida Grande" charset="0"/>
                <a:sym typeface="Lucida Grande" charset="0"/>
              </a:rPr>
              <a:t>Nhiều</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lỗi</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hoặc</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lỗi</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nghiêm</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trọng</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hơn</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dự</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kiến</a:t>
            </a:r>
            <a:r>
              <a:rPr lang="en-US" sz="2200" b="0" baseline="0" dirty="0">
                <a:solidFill>
                  <a:srgbClr val="000000"/>
                </a:solidFill>
                <a:latin typeface="Lucida Grande" charset="0"/>
                <a:ea typeface="Lucida Grande" charset="0"/>
                <a:cs typeface="Lucida Grande" charset="0"/>
                <a:sym typeface="Lucida Grande" charset="0"/>
              </a:rPr>
              <a:t>; </a:t>
            </a:r>
          </a:p>
          <a:p>
            <a:pPr marL="496888" lvl="1" indent="0">
              <a:buFontTx/>
              <a:buNone/>
            </a:pPr>
            <a:r>
              <a:rPr lang="en-US" sz="2200" b="0" baseline="0" dirty="0">
                <a:solidFill>
                  <a:srgbClr val="000000"/>
                </a:solidFill>
                <a:latin typeface="Lucida Grande" charset="0"/>
                <a:ea typeface="Lucida Grande" charset="0"/>
                <a:cs typeface="Lucida Grande" charset="0"/>
                <a:sym typeface="Lucida Grande" charset="0"/>
              </a:rPr>
              <a:t>(b) </a:t>
            </a:r>
            <a:r>
              <a:rPr lang="en-US" sz="2200" b="0" baseline="0" dirty="0" err="1">
                <a:solidFill>
                  <a:srgbClr val="000000"/>
                </a:solidFill>
                <a:latin typeface="Lucida Grande" charset="0"/>
                <a:ea typeface="Lucida Grande" charset="0"/>
                <a:cs typeface="Lucida Grande" charset="0"/>
                <a:sym typeface="Lucida Grande" charset="0"/>
              </a:rPr>
              <a:t>Không</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theo</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chuẩn</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mã</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nguồn</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và</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tài</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liệu</a:t>
            </a:r>
            <a:r>
              <a:rPr lang="en-US" sz="2200" b="0" baseline="0" dirty="0">
                <a:solidFill>
                  <a:srgbClr val="000000"/>
                </a:solidFill>
                <a:latin typeface="Lucida Grande" charset="0"/>
                <a:ea typeface="Lucida Grande" charset="0"/>
                <a:cs typeface="Lucida Grande" charset="0"/>
                <a:sym typeface="Lucida Grande" charset="0"/>
              </a:rPr>
              <a:t>, vi </a:t>
            </a:r>
            <a:r>
              <a:rPr lang="en-US" sz="2200" b="0" baseline="0" dirty="0" err="1">
                <a:solidFill>
                  <a:srgbClr val="000000"/>
                </a:solidFill>
                <a:latin typeface="Lucida Grande" charset="0"/>
                <a:ea typeface="Lucida Grande" charset="0"/>
                <a:cs typeface="Lucida Grande" charset="0"/>
                <a:sym typeface="Lucida Grande" charset="0"/>
              </a:rPr>
              <a:t>phạm</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cấu</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trúc</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của</a:t>
            </a:r>
            <a:r>
              <a:rPr lang="en-US" sz="2200" b="0" baseline="0" dirty="0">
                <a:solidFill>
                  <a:srgbClr val="000000"/>
                </a:solidFill>
                <a:latin typeface="Lucida Grande" charset="0"/>
                <a:ea typeface="Lucida Grande" charset="0"/>
                <a:cs typeface="Lucida Grande" charset="0"/>
                <a:sym typeface="Lucida Grande" charset="0"/>
              </a:rPr>
              <a:t> HDCV </a:t>
            </a:r>
            <a:r>
              <a:rPr lang="en-US" sz="2200" b="0" baseline="0" dirty="0" err="1">
                <a:solidFill>
                  <a:srgbClr val="000000"/>
                </a:solidFill>
                <a:latin typeface="Lucida Grande" charset="0"/>
                <a:ea typeface="Lucida Grande" charset="0"/>
                <a:cs typeface="Lucida Grande" charset="0"/>
                <a:sym typeface="Lucida Grande" charset="0"/>
              </a:rPr>
              <a:t>và</a:t>
            </a:r>
            <a:r>
              <a:rPr lang="en-US" sz="2200" b="0" baseline="0" dirty="0">
                <a:solidFill>
                  <a:srgbClr val="000000"/>
                </a:solidFill>
                <a:latin typeface="Lucida Grande" charset="0"/>
                <a:ea typeface="Lucida Grande" charset="0"/>
                <a:cs typeface="Lucida Grande" charset="0"/>
                <a:sym typeface="Lucida Grande" charset="0"/>
              </a:rPr>
              <a:t> TT</a:t>
            </a:r>
            <a:r>
              <a:rPr lang="en-US" sz="2200" b="1" baseline="0" dirty="0">
                <a:solidFill>
                  <a:srgbClr val="000000"/>
                </a:solidFill>
                <a:latin typeface="Lucida Grande" charset="0"/>
                <a:ea typeface="Lucida Grande" charset="0"/>
                <a:cs typeface="Lucida Grande" charset="0"/>
                <a:sym typeface="Lucida Grande" charset="0"/>
              </a:rPr>
              <a:t> </a:t>
            </a:r>
            <a:r>
              <a:rPr lang="en-US" sz="2200" b="0" baseline="0" dirty="0">
                <a:solidFill>
                  <a:srgbClr val="000000"/>
                </a:solidFill>
                <a:latin typeface="Lucida Grande" charset="0"/>
                <a:ea typeface="Lucida Grande" charset="0"/>
                <a:cs typeface="Lucida Grande" charset="0"/>
                <a:sym typeface="Wingdings" pitchFamily="2" charset="2"/>
              </a:rPr>
              <a:t> </a:t>
            </a:r>
            <a:r>
              <a:rPr lang="en-US" sz="2200" b="0" baseline="0" dirty="0" err="1">
                <a:solidFill>
                  <a:srgbClr val="000000"/>
                </a:solidFill>
                <a:latin typeface="Lucida Grande" charset="0"/>
                <a:ea typeface="Lucida Grande" charset="0"/>
                <a:cs typeface="Lucida Grande" charset="0"/>
                <a:sym typeface="Lucida Grande" charset="0"/>
              </a:rPr>
              <a:t>sau</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này</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sẽ</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khó</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khăn</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trong</a:t>
            </a:r>
            <a:r>
              <a:rPr lang="en-US" sz="2200" b="0" baseline="0" dirty="0">
                <a:solidFill>
                  <a:srgbClr val="000000"/>
                </a:solidFill>
                <a:latin typeface="Lucida Grande" charset="0"/>
                <a:ea typeface="Lucida Grande" charset="0"/>
                <a:cs typeface="Lucida Grande" charset="0"/>
                <a:sym typeface="Lucida Grande" charset="0"/>
              </a:rPr>
              <a:t> test </a:t>
            </a:r>
            <a:r>
              <a:rPr lang="en-US" sz="2200" b="0" baseline="0" dirty="0" err="1">
                <a:solidFill>
                  <a:srgbClr val="000000"/>
                </a:solidFill>
                <a:latin typeface="Lucida Grande" charset="0"/>
                <a:ea typeface="Lucida Grande" charset="0"/>
                <a:cs typeface="Lucida Grande" charset="0"/>
                <a:sym typeface="Lucida Grande" charset="0"/>
              </a:rPr>
              <a:t>và</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bảo</a:t>
            </a:r>
            <a:r>
              <a:rPr lang="en-US" sz="2200" b="0" baseline="0" dirty="0">
                <a:solidFill>
                  <a:srgbClr val="000000"/>
                </a:solidFill>
                <a:latin typeface="Lucida Grande" charset="0"/>
                <a:ea typeface="Lucida Grande" charset="0"/>
                <a:cs typeface="Lucida Grande" charset="0"/>
                <a:sym typeface="Lucida Grande" charset="0"/>
              </a:rPr>
              <a:t> </a:t>
            </a:r>
            <a:r>
              <a:rPr lang="en-US" sz="2200" b="0" baseline="0" dirty="0" err="1">
                <a:solidFill>
                  <a:srgbClr val="000000"/>
                </a:solidFill>
                <a:latin typeface="Lucida Grande" charset="0"/>
                <a:ea typeface="Lucida Grande" charset="0"/>
                <a:cs typeface="Lucida Grande" charset="0"/>
                <a:sym typeface="Lucida Grande" charset="0"/>
              </a:rPr>
              <a:t>trì</a:t>
            </a:r>
            <a:endParaRPr lang="en-US" sz="2200" b="0" baseline="0" dirty="0">
              <a:solidFill>
                <a:srgbClr val="000000"/>
              </a:solidFill>
              <a:latin typeface="Lucida Grande" charset="0"/>
              <a:ea typeface="Lucida Grande" charset="0"/>
              <a:cs typeface="Lucida Grande" charset="0"/>
              <a:sym typeface="Lucida Grande" charset="0"/>
            </a:endParaRPr>
          </a:p>
          <a:p>
            <a:pPr marL="39688" lvl="0" indent="0">
              <a:buFontTx/>
              <a:buNone/>
            </a:pPr>
            <a:endParaRPr lang="en-US" sz="2200" baseline="0" dirty="0">
              <a:solidFill>
                <a:srgbClr val="000000"/>
              </a:solidFill>
              <a:latin typeface="Lucida Grande" charset="0"/>
              <a:ea typeface="Lucida Grande" charset="0"/>
              <a:cs typeface="Lucida Grande" charset="0"/>
              <a:sym typeface="Lucida Grande" charset="0"/>
            </a:endParaRPr>
          </a:p>
          <a:p>
            <a:pPr marL="39688" lvl="0" indent="0">
              <a:buFontTx/>
              <a:buNone/>
            </a:pPr>
            <a:r>
              <a:rPr lang="en-US" sz="2200" baseline="0" dirty="0">
                <a:solidFill>
                  <a:srgbClr val="000000"/>
                </a:solidFill>
                <a:latin typeface="Lucida Grande" charset="0"/>
                <a:ea typeface="Lucida Grande" charset="0"/>
                <a:cs typeface="Lucida Grande" charset="0"/>
                <a:sym typeface="Lucida Grande" charset="0"/>
              </a:rPr>
              <a:t>- </a:t>
            </a:r>
            <a:r>
              <a:rPr lang="vi-VN" sz="2200" baseline="0" dirty="0">
                <a:solidFill>
                  <a:srgbClr val="000000"/>
                </a:solidFill>
                <a:latin typeface="Lucida Grande" charset="0"/>
                <a:ea typeface="Lucida Grande" charset="0"/>
                <a:cs typeface="Lucida Grande" charset="0"/>
                <a:sym typeface="Lucida Grande" charset="0"/>
              </a:rPr>
              <a:t>Tăng xác suất khó khăn trong việc bảo trì</a:t>
            </a:r>
            <a:r>
              <a:rPr lang="en-US" sz="2200" baseline="0" dirty="0">
                <a:solidFill>
                  <a:srgbClr val="000000"/>
                </a:solidFill>
                <a:latin typeface="Lucida Grande" charset="0"/>
                <a:ea typeface="Lucida Grande" charset="0"/>
                <a:cs typeface="Lucida Grande" charset="0"/>
                <a:sym typeface="Lucida Grande" charset="0"/>
              </a:rPr>
              <a:t>: </a:t>
            </a:r>
            <a:r>
              <a:rPr lang="en-US" sz="2200" b="1" baseline="0" dirty="0">
                <a:solidFill>
                  <a:srgbClr val="000000"/>
                </a:solidFill>
                <a:latin typeface="Lucida Grande" charset="0"/>
                <a:ea typeface="Lucida Grande" charset="0"/>
                <a:cs typeface="Lucida Grande" charset="0"/>
                <a:sym typeface="Lucida Grande" charset="0"/>
              </a:rPr>
              <a:t>RÕ RÀNG, NHIỀU TỔ CHỨC THAM GIA VÀO PT PM NHƯNG CHỈ CÓ 1 TỔ CHỨC CHỊU TRÁCH NHIỆM CHÍNH, ĐÓ LÀ CONTRACTOR </a:t>
            </a:r>
            <a:endParaRPr lang="en-US" sz="2200" b="0" baseline="0" dirty="0">
              <a:solidFill>
                <a:srgbClr val="000000"/>
              </a:solidFill>
              <a:latin typeface="Lucida Grande" charset="0"/>
              <a:ea typeface="Lucida Grande" charset="0"/>
              <a:cs typeface="Lucida Grande" charset="0"/>
              <a:sym typeface="Lucida Grande" charset="0"/>
            </a:endParaRPr>
          </a:p>
          <a:p>
            <a:pPr marL="39688" lvl="0" indent="0">
              <a:buFontTx/>
              <a:buNone/>
            </a:pPr>
            <a:endParaRPr lang="en-US" sz="2200" dirty="0">
              <a:solidFill>
                <a:srgbClr val="000000"/>
              </a:solidFill>
              <a:latin typeface="Lucida Grande" charset="0"/>
              <a:ea typeface="Lucida Grande" charset="0"/>
              <a:cs typeface="Lucida Grande" charset="0"/>
              <a:sym typeface="Lucida Grande" charset="0"/>
            </a:endParaRPr>
          </a:p>
          <a:p>
            <a:pPr marL="39688" lvl="0" indent="0">
              <a:buFontTx/>
              <a:buNone/>
            </a:pPr>
            <a:r>
              <a:rPr lang="en-US" sz="2200" dirty="0">
                <a:solidFill>
                  <a:srgbClr val="000000"/>
                </a:solidFill>
                <a:latin typeface="Lucida Grande" charset="0"/>
                <a:ea typeface="Lucida Grande" charset="0"/>
                <a:cs typeface="Lucida Grande" charset="0"/>
                <a:sym typeface="Lucida Grande" charset="0"/>
              </a:rPr>
              <a:t>-</a:t>
            </a:r>
            <a:r>
              <a:rPr lang="en-US" sz="2200" baseline="0" dirty="0">
                <a:solidFill>
                  <a:srgbClr val="000000"/>
                </a:solidFill>
                <a:latin typeface="Lucida Grande" charset="0"/>
                <a:ea typeface="Lucida Grande" charset="0"/>
                <a:cs typeface="Lucida Grande" charset="0"/>
                <a:sym typeface="Lucida Grande" charset="0"/>
              </a:rPr>
              <a:t> </a:t>
            </a:r>
            <a:r>
              <a:rPr lang="en-US" sz="2200" dirty="0" err="1">
                <a:solidFill>
                  <a:srgbClr val="000000"/>
                </a:solidFill>
                <a:latin typeface="Lucida Grande" charset="0"/>
                <a:ea typeface="Lucida Grande" charset="0"/>
                <a:cs typeface="Lucida Grande" charset="0"/>
                <a:sym typeface="Lucida Grande" charset="0"/>
              </a:rPr>
              <a:t>Mất</a:t>
            </a:r>
            <a:r>
              <a:rPr lang="en-US" sz="2200" dirty="0">
                <a:solidFill>
                  <a:srgbClr val="000000"/>
                </a:solidFill>
                <a:latin typeface="Lucida Grande" charset="0"/>
                <a:ea typeface="Lucida Grande" charset="0"/>
                <a:cs typeface="Lucida Grande" charset="0"/>
                <a:sym typeface="Lucida Grande" charset="0"/>
              </a:rPr>
              <a:t> </a:t>
            </a:r>
            <a:r>
              <a:rPr lang="en-US" sz="2200" dirty="0" err="1">
                <a:solidFill>
                  <a:srgbClr val="000000"/>
                </a:solidFill>
                <a:latin typeface="Lucida Grande" charset="0"/>
                <a:ea typeface="Lucida Grande" charset="0"/>
                <a:cs typeface="Lucida Grande" charset="0"/>
                <a:sym typeface="Lucida Grande" charset="0"/>
              </a:rPr>
              <a:t>kiểm</a:t>
            </a:r>
            <a:r>
              <a:rPr lang="en-US" sz="2200" dirty="0">
                <a:solidFill>
                  <a:srgbClr val="000000"/>
                </a:solidFill>
                <a:latin typeface="Lucida Grande" charset="0"/>
                <a:ea typeface="Lucida Grande" charset="0"/>
                <a:cs typeface="Lucida Grande" charset="0"/>
                <a:sym typeface="Lucida Grande" charset="0"/>
              </a:rPr>
              <a:t> </a:t>
            </a:r>
            <a:r>
              <a:rPr lang="en-US" sz="2200" dirty="0" err="1">
                <a:solidFill>
                  <a:srgbClr val="000000"/>
                </a:solidFill>
                <a:latin typeface="Lucida Grande" charset="0"/>
                <a:ea typeface="Lucida Grande" charset="0"/>
                <a:cs typeface="Lucida Grande" charset="0"/>
                <a:sym typeface="Lucida Grande" charset="0"/>
              </a:rPr>
              <a:t>soát</a:t>
            </a:r>
            <a:r>
              <a:rPr lang="en-US" sz="2200" dirty="0">
                <a:solidFill>
                  <a:srgbClr val="000000"/>
                </a:solidFill>
                <a:latin typeface="Lucida Grande" charset="0"/>
                <a:ea typeface="Lucida Grande" charset="0"/>
                <a:cs typeface="Lucida Grande" charset="0"/>
                <a:sym typeface="Lucida Grande" charset="0"/>
              </a:rPr>
              <a:t> </a:t>
            </a:r>
            <a:r>
              <a:rPr lang="en-US" sz="2200" dirty="0" err="1">
                <a:solidFill>
                  <a:srgbClr val="000000"/>
                </a:solidFill>
                <a:latin typeface="Lucida Grande" charset="0"/>
                <a:ea typeface="Lucida Grande" charset="0"/>
                <a:cs typeface="Lucida Grande" charset="0"/>
                <a:sym typeface="Lucida Grande" charset="0"/>
              </a:rPr>
              <a:t>phát</a:t>
            </a:r>
            <a:r>
              <a:rPr lang="en-US" sz="2200" dirty="0">
                <a:solidFill>
                  <a:srgbClr val="000000"/>
                </a:solidFill>
                <a:latin typeface="Lucida Grande" charset="0"/>
                <a:ea typeface="Lucida Grande" charset="0"/>
                <a:cs typeface="Lucida Grande" charset="0"/>
                <a:sym typeface="Lucida Grande" charset="0"/>
              </a:rPr>
              <a:t> </a:t>
            </a:r>
            <a:r>
              <a:rPr lang="en-US" sz="2200" dirty="0" err="1">
                <a:solidFill>
                  <a:srgbClr val="000000"/>
                </a:solidFill>
                <a:latin typeface="Lucida Grande" charset="0"/>
                <a:ea typeface="Lucida Grande" charset="0"/>
                <a:cs typeface="Lucida Grande" charset="0"/>
                <a:sym typeface="Lucida Grande" charset="0"/>
              </a:rPr>
              <a:t>triển</a:t>
            </a:r>
            <a:endParaRPr lang="en-US" sz="2200" dirty="0">
              <a:solidFill>
                <a:srgbClr val="000000"/>
              </a:solidFill>
              <a:latin typeface="Lucida Grande" charset="0"/>
              <a:ea typeface="Lucida Grande" charset="0"/>
              <a:cs typeface="Lucida Grande" charset="0"/>
              <a:sym typeface="Lucida Grande" charset="0"/>
            </a:endParaRPr>
          </a:p>
          <a:p>
            <a:pPr marL="496888" marR="0" lvl="1" indent="0" algn="l" defTabSz="914400" rtl="0" eaLnBrk="1" fontAlgn="auto" latinLnBrk="0" hangingPunct="1">
              <a:lnSpc>
                <a:spcPct val="100000"/>
              </a:lnSpc>
              <a:spcBef>
                <a:spcPts val="0"/>
              </a:spcBef>
              <a:spcAft>
                <a:spcPts val="0"/>
              </a:spcAft>
              <a:buClrTx/>
              <a:buSzTx/>
              <a:buFontTx/>
              <a:buNone/>
              <a:tabLst/>
              <a:defRPr/>
            </a:pPr>
            <a:r>
              <a:rPr lang="vi-VN" sz="2400" dirty="0"/>
              <a:t>■</a:t>
            </a:r>
            <a:r>
              <a:rPr lang="en-US" sz="2400" dirty="0"/>
              <a:t> </a:t>
            </a:r>
            <a:r>
              <a:rPr lang="en-US" sz="2200" b="1" u="none" dirty="0">
                <a:solidFill>
                  <a:srgbClr val="D90B00"/>
                </a:solidFill>
                <a:latin typeface="Lucida Grande" charset="0"/>
                <a:ea typeface="Lucida Grande" charset="0"/>
                <a:cs typeface="Lucida Grande" charset="0"/>
                <a:sym typeface="Lucida Grande" charset="0"/>
              </a:rPr>
              <a:t>Do tin </a:t>
            </a:r>
            <a:r>
              <a:rPr lang="en-US" sz="2200" b="1" u="none" dirty="0" err="1">
                <a:solidFill>
                  <a:srgbClr val="D90B00"/>
                </a:solidFill>
                <a:latin typeface="Lucida Grande" charset="0"/>
                <a:ea typeface="Lucida Grande" charset="0"/>
                <a:cs typeface="Lucida Grande" charset="0"/>
                <a:sym typeface="Lucida Grande" charset="0"/>
              </a:rPr>
              <a:t>tưởng</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vào</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tiến</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độ</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và</a:t>
            </a:r>
            <a:r>
              <a:rPr lang="en-US" sz="2200" b="1" u="none" baseline="0" dirty="0">
                <a:solidFill>
                  <a:srgbClr val="D90B00"/>
                </a:solidFill>
                <a:latin typeface="Lucida Grande" charset="0"/>
                <a:ea typeface="Lucida Grande" charset="0"/>
                <a:cs typeface="Lucida Grande" charset="0"/>
                <a:sym typeface="Lucida Grande" charset="0"/>
              </a:rPr>
              <a:t> CL </a:t>
            </a:r>
            <a:r>
              <a:rPr lang="en-US" sz="2200" b="1" u="none" baseline="0" dirty="0" err="1">
                <a:solidFill>
                  <a:srgbClr val="D90B00"/>
                </a:solidFill>
                <a:latin typeface="Lucida Grande" charset="0"/>
                <a:ea typeface="Lucida Grande" charset="0"/>
                <a:cs typeface="Lucida Grande" charset="0"/>
                <a:sym typeface="Lucida Grande" charset="0"/>
              </a:rPr>
              <a:t>của</a:t>
            </a:r>
            <a:r>
              <a:rPr lang="en-US" sz="2200" b="1" u="none" baseline="0" dirty="0">
                <a:solidFill>
                  <a:srgbClr val="D90B00"/>
                </a:solidFill>
                <a:latin typeface="Lucida Grande" charset="0"/>
                <a:ea typeface="Lucida Grande" charset="0"/>
                <a:cs typeface="Lucida Grande" charset="0"/>
                <a:sym typeface="Lucida Grande" charset="0"/>
              </a:rPr>
              <a:t> </a:t>
            </a:r>
            <a:r>
              <a:rPr lang="en-US" sz="2400" dirty="0"/>
              <a:t>external participants, </a:t>
            </a:r>
            <a:r>
              <a:rPr lang="en-US" sz="2200" b="0" u="none" dirty="0">
                <a:solidFill>
                  <a:srgbClr val="D90B00"/>
                </a:solidFill>
                <a:latin typeface="Lucida Grande" charset="0"/>
                <a:ea typeface="Lucida Grande" charset="0"/>
                <a:cs typeface="Lucida Grande" charset="0"/>
                <a:sym typeface="Lucida Grande" charset="0"/>
              </a:rPr>
              <a:t>contractor </a:t>
            </a:r>
            <a:r>
              <a:rPr lang="en-US" sz="2200" b="0" u="none" dirty="0" err="1">
                <a:solidFill>
                  <a:srgbClr val="D90B00"/>
                </a:solidFill>
                <a:latin typeface="Lucida Grande" charset="0"/>
                <a:ea typeface="Lucida Grande" charset="0"/>
                <a:cs typeface="Lucida Grande" charset="0"/>
                <a:sym typeface="Lucida Grande" charset="0"/>
              </a:rPr>
              <a:t>có</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thể</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để</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mặc</a:t>
            </a:r>
            <a:r>
              <a:rPr lang="en-US" sz="2200" b="0" u="none" baseline="0" dirty="0">
                <a:solidFill>
                  <a:srgbClr val="D90B00"/>
                </a:solidFill>
                <a:latin typeface="Lucida Grande" charset="0"/>
                <a:ea typeface="Lucida Grande" charset="0"/>
                <a:cs typeface="Lucida Grande" charset="0"/>
                <a:sym typeface="Lucida Grande" charset="0"/>
              </a:rPr>
              <a:t> </a:t>
            </a:r>
            <a:r>
              <a:rPr lang="en-US" sz="2400" b="0" dirty="0"/>
              <a:t>external participants </a:t>
            </a:r>
            <a:r>
              <a:rPr lang="en-US" sz="2200" b="0" u="none" baseline="0" dirty="0" err="1">
                <a:solidFill>
                  <a:srgbClr val="D90B00"/>
                </a:solidFill>
                <a:latin typeface="Lucida Grande" charset="0"/>
                <a:ea typeface="Lucida Grande" charset="0"/>
                <a:cs typeface="Lucida Grande" charset="0"/>
                <a:sym typeface="Lucida Grande" charset="0"/>
              </a:rPr>
              <a:t>phát</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triển</a:t>
            </a:r>
            <a:r>
              <a:rPr lang="en-US" sz="2200" b="0" u="none" baseline="0" dirty="0">
                <a:solidFill>
                  <a:srgbClr val="D90B00"/>
                </a:solidFill>
                <a:latin typeface="Lucida Grande" charset="0"/>
                <a:ea typeface="Lucida Grande" charset="0"/>
                <a:cs typeface="Lucida Grande" charset="0"/>
                <a:sym typeface="Lucida Grande" charset="0"/>
              </a:rPr>
              <a:t> sp</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Kết</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quả</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là</a:t>
            </a:r>
            <a:r>
              <a:rPr lang="en-US" sz="2200" b="1" u="none" baseline="0" dirty="0">
                <a:solidFill>
                  <a:srgbClr val="D90B00"/>
                </a:solidFill>
                <a:latin typeface="Lucida Grande" charset="0"/>
                <a:ea typeface="Lucida Grande" charset="0"/>
                <a:cs typeface="Lucida Grande" charset="0"/>
                <a:sym typeface="Lucida Grande" charset="0"/>
              </a:rPr>
              <a:t> </a:t>
            </a:r>
            <a:r>
              <a:rPr lang="vi-VN" sz="2200" b="1" u="none" baseline="0" dirty="0">
                <a:solidFill>
                  <a:srgbClr val="D90B00"/>
                </a:solidFill>
                <a:latin typeface="Lucida Grande" charset="0"/>
                <a:ea typeface="Lucida Grande" charset="0"/>
                <a:cs typeface="Lucida Grande" charset="0"/>
                <a:sym typeface="Lucida Grande" charset="0"/>
              </a:rPr>
              <a:t>những </a:t>
            </a:r>
            <a:r>
              <a:rPr lang="vi-VN" sz="2200" b="1" u="sng" baseline="0" dirty="0">
                <a:solidFill>
                  <a:srgbClr val="D90B00"/>
                </a:solidFill>
                <a:latin typeface="Lucida Grande" charset="0"/>
                <a:ea typeface="Lucida Grande" charset="0"/>
                <a:cs typeface="Lucida Grande" charset="0"/>
                <a:sym typeface="Lucida Grande" charset="0"/>
              </a:rPr>
              <a:t>khó khăn </a:t>
            </a:r>
            <a:r>
              <a:rPr lang="en-US" sz="2200" b="1" u="sng" baseline="0" dirty="0" err="1">
                <a:solidFill>
                  <a:srgbClr val="D90B00"/>
                </a:solidFill>
                <a:latin typeface="Lucida Grande" charset="0"/>
                <a:ea typeface="Lucida Grande" charset="0"/>
                <a:cs typeface="Lucida Grande" charset="0"/>
                <a:sym typeface="Lucida Grande" charset="0"/>
              </a:rPr>
              <a:t>về</a:t>
            </a:r>
            <a:r>
              <a:rPr lang="en-US" sz="2200" b="1" u="sng" baseline="0" dirty="0">
                <a:solidFill>
                  <a:srgbClr val="D90B00"/>
                </a:solidFill>
                <a:latin typeface="Lucida Grande" charset="0"/>
                <a:ea typeface="Lucida Grande" charset="0"/>
                <a:cs typeface="Lucida Grande" charset="0"/>
                <a:sym typeface="Lucida Grande" charset="0"/>
              </a:rPr>
              <a:t> </a:t>
            </a:r>
            <a:r>
              <a:rPr lang="vi-VN" sz="2200" b="1" u="sng" baseline="0" dirty="0">
                <a:solidFill>
                  <a:srgbClr val="D90B00"/>
                </a:solidFill>
                <a:latin typeface="Lucida Grande" charset="0"/>
                <a:ea typeface="Lucida Grande" charset="0"/>
                <a:cs typeface="Lucida Grande" charset="0"/>
                <a:sym typeface="Lucida Grande" charset="0"/>
              </a:rPr>
              <a:t>phát triển, tình trạng thiếu nhân viên </a:t>
            </a:r>
            <a:r>
              <a:rPr lang="en-US" sz="2200" b="1" u="none" baseline="0" dirty="0">
                <a:solidFill>
                  <a:srgbClr val="D90B00"/>
                </a:solidFill>
                <a:latin typeface="Lucida Grande" charset="0"/>
                <a:ea typeface="Lucida Grande" charset="0"/>
                <a:cs typeface="Lucida Grande" charset="0"/>
                <a:sym typeface="Lucida Grande" charset="0"/>
              </a:rPr>
              <a:t>hay </a:t>
            </a:r>
            <a:r>
              <a:rPr lang="vi-VN" sz="2200" b="1" u="none" baseline="0" dirty="0">
                <a:solidFill>
                  <a:srgbClr val="D90B00"/>
                </a:solidFill>
                <a:latin typeface="Lucida Grande" charset="0"/>
                <a:ea typeface="Lucida Grande" charset="0"/>
                <a:cs typeface="Lucida Grande" charset="0"/>
                <a:sym typeface="Lucida Grande" charset="0"/>
              </a:rPr>
              <a:t>các vấn đề khác đến nhà thầu </a:t>
            </a:r>
            <a:r>
              <a:rPr lang="en-US" sz="2200" b="1" u="none" baseline="0" dirty="0" err="1">
                <a:solidFill>
                  <a:srgbClr val="D90B00"/>
                </a:solidFill>
                <a:latin typeface="Lucida Grande" charset="0"/>
                <a:ea typeface="Lucida Grande" charset="0"/>
                <a:cs typeface="Lucida Grande" charset="0"/>
                <a:sym typeface="Lucida Grande" charset="0"/>
              </a:rPr>
              <a:t>đc</a:t>
            </a:r>
            <a:r>
              <a:rPr lang="en-US" sz="2200" b="1" u="none" baseline="0" dirty="0">
                <a:solidFill>
                  <a:srgbClr val="D90B00"/>
                </a:solidFill>
                <a:latin typeface="Lucida Grande" charset="0"/>
                <a:ea typeface="Lucida Grande" charset="0"/>
                <a:cs typeface="Lucida Grande" charset="0"/>
                <a:sym typeface="Lucida Grande" charset="0"/>
              </a:rPr>
              <a:t> </a:t>
            </a:r>
            <a:r>
              <a:rPr lang="vi-VN" sz="2200" b="1" u="none" baseline="0" dirty="0">
                <a:solidFill>
                  <a:srgbClr val="D90B00"/>
                </a:solidFill>
                <a:latin typeface="Lucida Grande" charset="0"/>
                <a:ea typeface="Lucida Grande" charset="0"/>
                <a:cs typeface="Lucida Grande" charset="0"/>
                <a:sym typeface="Lucida Grande" charset="0"/>
              </a:rPr>
              <a:t>cảnh báo</a:t>
            </a:r>
            <a:r>
              <a:rPr lang="en-US" sz="2200" b="1" u="none" baseline="0" dirty="0">
                <a:solidFill>
                  <a:srgbClr val="D90B00"/>
                </a:solidFill>
                <a:latin typeface="Lucida Grande" charset="0"/>
                <a:ea typeface="Lucida Grande" charset="0"/>
                <a:cs typeface="Lucida Grande" charset="0"/>
                <a:sym typeface="Lucida Grande" charset="0"/>
              </a:rPr>
              <a:t> </a:t>
            </a:r>
            <a:r>
              <a:rPr lang="en-US" sz="2200" b="1" u="none" baseline="0" dirty="0" err="1">
                <a:solidFill>
                  <a:srgbClr val="D90B00"/>
                </a:solidFill>
                <a:latin typeface="Lucida Grande" charset="0"/>
                <a:ea typeface="Lucida Grande" charset="0"/>
                <a:cs typeface="Lucida Grande" charset="0"/>
                <a:sym typeface="Lucida Grande" charset="0"/>
              </a:rPr>
              <a:t>trễ</a:t>
            </a:r>
            <a:r>
              <a:rPr lang="vi-VN" sz="2200" b="1" u="none" baseline="0" dirty="0">
                <a:solidFill>
                  <a:srgbClr val="D90B00"/>
                </a:solidFill>
                <a:latin typeface="Lucida Grande" charset="0"/>
                <a:ea typeface="Lucida Grande" charset="0"/>
                <a:cs typeface="Lucida Grande" charset="0"/>
                <a:sym typeface="Lucida Grande" charset="0"/>
              </a:rPr>
              <a:t>.</a:t>
            </a:r>
            <a:r>
              <a:rPr lang="en-US" sz="2200" b="1" u="none" baseline="0" dirty="0">
                <a:solidFill>
                  <a:srgbClr val="D90B00"/>
                </a:solidFill>
                <a:latin typeface="Lucida Grande" charset="0"/>
                <a:ea typeface="Lucida Grande" charset="0"/>
                <a:cs typeface="Lucida Grande" charset="0"/>
                <a:sym typeface="Lucida Grande" charset="0"/>
              </a:rPr>
              <a:t> </a:t>
            </a:r>
            <a:r>
              <a:rPr lang="vi-VN" sz="2200" b="1" u="none" baseline="0" dirty="0">
                <a:solidFill>
                  <a:srgbClr val="D90B00"/>
                </a:solidFill>
                <a:latin typeface="Lucida Grande" charset="0"/>
                <a:ea typeface="Lucida Grande" charset="0"/>
                <a:cs typeface="Lucida Grande" charset="0"/>
                <a:sym typeface="Lucida Grande" charset="0"/>
              </a:rPr>
              <a:t>Do đó khả năng kịp thời giải quyết những khó khăn</a:t>
            </a:r>
            <a:r>
              <a:rPr lang="en-US" sz="2200" b="1" u="none" baseline="0" dirty="0">
                <a:solidFill>
                  <a:srgbClr val="D90B00"/>
                </a:solidFill>
                <a:latin typeface="Lucida Grande" charset="0"/>
                <a:ea typeface="Lucida Grande" charset="0"/>
                <a:cs typeface="Lucida Grande" charset="0"/>
                <a:sym typeface="Lucida Grande" charset="0"/>
              </a:rPr>
              <a:t> </a:t>
            </a:r>
            <a:r>
              <a:rPr lang="vi-VN" sz="2200" b="1" u="none" baseline="0" dirty="0">
                <a:solidFill>
                  <a:srgbClr val="D90B00"/>
                </a:solidFill>
                <a:latin typeface="Lucida Grande" charset="0"/>
                <a:ea typeface="Lucida Grande" charset="0"/>
                <a:cs typeface="Lucida Grande" charset="0"/>
                <a:sym typeface="Lucida Grande" charset="0"/>
              </a:rPr>
              <a:t>thường giảm mạnh</a:t>
            </a:r>
            <a:r>
              <a:rPr lang="en-US" sz="2200" b="1" u="none" baseline="0" dirty="0">
                <a:solidFill>
                  <a:srgbClr val="D90B00"/>
                </a:solidFill>
                <a:latin typeface="Lucida Grande" charset="0"/>
                <a:ea typeface="Lucida Grande" charset="0"/>
                <a:cs typeface="Lucida Grande" charset="0"/>
                <a:sym typeface="Lucida Grande" charset="0"/>
              </a:rPr>
              <a:t>.</a:t>
            </a:r>
          </a:p>
          <a:p>
            <a:pPr marL="496888" marR="0" lvl="1" indent="0" algn="l" defTabSz="914400" rtl="0" eaLnBrk="1" fontAlgn="auto" latinLnBrk="0" hangingPunct="1">
              <a:lnSpc>
                <a:spcPct val="100000"/>
              </a:lnSpc>
              <a:spcBef>
                <a:spcPts val="0"/>
              </a:spcBef>
              <a:spcAft>
                <a:spcPts val="0"/>
              </a:spcAft>
              <a:buClrTx/>
              <a:buSzTx/>
              <a:buFontTx/>
              <a:buNone/>
              <a:tabLst/>
              <a:defRPr/>
            </a:pPr>
            <a:endParaRPr lang="en-US" sz="2200" b="1" u="none" baseline="0" dirty="0">
              <a:solidFill>
                <a:srgbClr val="D90B00"/>
              </a:solidFill>
              <a:latin typeface="Lucida Grande" charset="0"/>
              <a:ea typeface="Lucida Grande" charset="0"/>
              <a:cs typeface="Lucida Grande" charset="0"/>
              <a:sym typeface="Lucida Grande" charset="0"/>
            </a:endParaRPr>
          </a:p>
          <a:p>
            <a:pPr marL="496888" marR="0" lvl="1" indent="0" algn="l" defTabSz="914400" rtl="0" eaLnBrk="1" fontAlgn="auto" latinLnBrk="0" hangingPunct="1">
              <a:lnSpc>
                <a:spcPct val="100000"/>
              </a:lnSpc>
              <a:spcBef>
                <a:spcPts val="0"/>
              </a:spcBef>
              <a:spcAft>
                <a:spcPts val="0"/>
              </a:spcAft>
              <a:buClrTx/>
              <a:buSzTx/>
              <a:buFontTx/>
              <a:buNone/>
              <a:tabLst/>
              <a:defRPr/>
            </a:pPr>
            <a:endParaRPr lang="en-US" sz="2200" b="1" u="none" baseline="0" dirty="0">
              <a:solidFill>
                <a:srgbClr val="D90B00"/>
              </a:solidFill>
              <a:latin typeface="Lucida Grande" charset="0"/>
              <a:ea typeface="Lucida Grande" charset="0"/>
              <a:cs typeface="Lucida Grande" charset="0"/>
              <a:sym typeface="Lucida Grande" charset="0"/>
            </a:endParaRPr>
          </a:p>
          <a:p>
            <a:pPr marL="496888" marR="0" lvl="1" indent="0" algn="l" defTabSz="914400" rtl="0" eaLnBrk="1" fontAlgn="auto" latinLnBrk="0" hangingPunct="1">
              <a:lnSpc>
                <a:spcPct val="100000"/>
              </a:lnSpc>
              <a:spcBef>
                <a:spcPts val="0"/>
              </a:spcBef>
              <a:spcAft>
                <a:spcPts val="0"/>
              </a:spcAft>
              <a:buClrTx/>
              <a:buSzTx/>
              <a:buFontTx/>
              <a:buNone/>
              <a:tabLst/>
              <a:defRPr/>
            </a:pPr>
            <a:endParaRPr lang="en-US" sz="2200" b="1" u="none" baseline="0" dirty="0">
              <a:solidFill>
                <a:srgbClr val="D90B00"/>
              </a:solidFill>
              <a:latin typeface="Lucida Grande" charset="0"/>
              <a:ea typeface="Lucida Grande" charset="0"/>
              <a:cs typeface="Lucida Grande" charset="0"/>
              <a:sym typeface="Lucida Grande" charset="0"/>
            </a:endParaRPr>
          </a:p>
          <a:p>
            <a:pPr marL="496888" marR="0" lvl="1" indent="0" algn="l" defTabSz="914400" rtl="0" eaLnBrk="1" fontAlgn="auto" latinLnBrk="0" hangingPunct="1">
              <a:lnSpc>
                <a:spcPct val="100000"/>
              </a:lnSpc>
              <a:spcBef>
                <a:spcPts val="0"/>
              </a:spcBef>
              <a:spcAft>
                <a:spcPts val="0"/>
              </a:spcAft>
              <a:buClrTx/>
              <a:buSzTx/>
              <a:buFontTx/>
              <a:buNone/>
              <a:tabLst/>
              <a:defRPr/>
            </a:pPr>
            <a:endParaRPr lang="en-US" sz="2200" b="1" u="none" baseline="0" dirty="0">
              <a:solidFill>
                <a:srgbClr val="D90B00"/>
              </a:solidFill>
              <a:latin typeface="Lucida Grande" charset="0"/>
              <a:ea typeface="Lucida Grande" charset="0"/>
              <a:cs typeface="Lucida Grande" charset="0"/>
              <a:sym typeface="Lucida Grande" charset="0"/>
            </a:endParaRPr>
          </a:p>
          <a:p>
            <a:pPr marL="496888" marR="0" lvl="1" indent="0" algn="l" defTabSz="914400" rtl="0" eaLnBrk="1" fontAlgn="auto" latinLnBrk="0" hangingPunct="1">
              <a:lnSpc>
                <a:spcPct val="100000"/>
              </a:lnSpc>
              <a:spcBef>
                <a:spcPts val="0"/>
              </a:spcBef>
              <a:spcAft>
                <a:spcPts val="0"/>
              </a:spcAft>
              <a:buClrTx/>
              <a:buSzTx/>
              <a:buFontTx/>
              <a:buNone/>
              <a:tabLst/>
              <a:defRPr/>
            </a:pPr>
            <a:endParaRPr lang="en-US" sz="2200" b="1" u="none" baseline="0" dirty="0">
              <a:solidFill>
                <a:srgbClr val="D90B00"/>
              </a:solidFill>
              <a:latin typeface="Lucida Grande" charset="0"/>
              <a:ea typeface="Lucida Grande" charset="0"/>
              <a:cs typeface="Lucida Grande" charset="0"/>
              <a:sym typeface="Lucida Grande" charset="0"/>
            </a:endParaRPr>
          </a:p>
          <a:p>
            <a:pPr marL="496888" marR="0" lvl="1" indent="0" algn="l" defTabSz="914400" rtl="0" eaLnBrk="1" fontAlgn="auto" latinLnBrk="0" hangingPunct="1">
              <a:lnSpc>
                <a:spcPct val="100000"/>
              </a:lnSpc>
              <a:spcBef>
                <a:spcPts val="0"/>
              </a:spcBef>
              <a:spcAft>
                <a:spcPts val="0"/>
              </a:spcAft>
              <a:buClrTx/>
              <a:buSzTx/>
              <a:buFontTx/>
              <a:buNone/>
              <a:tabLst/>
              <a:defRPr/>
            </a:pPr>
            <a:endParaRPr lang="en-US" sz="2200" b="1" u="none" baseline="0" dirty="0">
              <a:solidFill>
                <a:srgbClr val="D90B00"/>
              </a:solidFill>
              <a:latin typeface="Lucida Grande" charset="0"/>
              <a:ea typeface="Lucida Grande" charset="0"/>
              <a:cs typeface="Lucida Grande" charset="0"/>
              <a:sym typeface="Lucida Grande" charset="0"/>
            </a:endParaRPr>
          </a:p>
          <a:p>
            <a:pPr marL="496888" marR="0" lvl="1" indent="0" algn="l" defTabSz="914400" rtl="0" eaLnBrk="1" fontAlgn="auto" latinLnBrk="0" hangingPunct="1">
              <a:lnSpc>
                <a:spcPct val="100000"/>
              </a:lnSpc>
              <a:spcBef>
                <a:spcPts val="0"/>
              </a:spcBef>
              <a:spcAft>
                <a:spcPts val="0"/>
              </a:spcAft>
              <a:buClrTx/>
              <a:buSzTx/>
              <a:buFontTx/>
              <a:buNone/>
              <a:tabLst/>
              <a:defRPr/>
            </a:pPr>
            <a:r>
              <a:rPr lang="en-US" sz="2400" dirty="0"/>
              <a:t>Increased probability of </a:t>
            </a:r>
            <a:r>
              <a:rPr lang="en-US" sz="2400" b="1" dirty="0"/>
              <a:t>difficulties in maintenance:</a:t>
            </a:r>
          </a:p>
          <a:p>
            <a:pPr lvl="1"/>
            <a:r>
              <a:rPr lang="en-US" sz="2400" dirty="0"/>
              <a:t>the contractor is responsible for maintenance of the whole project + the external participants supply incomplete and/or non-standard coding and documentation </a:t>
            </a:r>
            <a:r>
              <a:rPr lang="en-US" sz="2400" dirty="0">
                <a:sym typeface="Wingdings" pitchFamily="2" charset="2"/>
              </a:rPr>
              <a:t> lower-quality maintenance, higher costs</a:t>
            </a:r>
          </a:p>
          <a:p>
            <a:pPr lvl="1"/>
            <a:r>
              <a:rPr lang="en-US" sz="2400" dirty="0"/>
              <a:t>maintenance services are supplied by more than one organization + software failure </a:t>
            </a:r>
            <a:r>
              <a:rPr lang="en-US" sz="2400" dirty="0">
                <a:sym typeface="Wingdings" pitchFamily="2" charset="2"/>
              </a:rPr>
              <a:t> the customer must search for responsible body</a:t>
            </a:r>
          </a:p>
          <a:p>
            <a:pPr marL="39688" lvl="0" indent="0">
              <a:buFontTx/>
              <a:buNone/>
            </a:pPr>
            <a:r>
              <a:rPr lang="en-US" sz="2200" b="1" baseline="0" dirty="0">
                <a:solidFill>
                  <a:srgbClr val="000000"/>
                </a:solidFill>
                <a:latin typeface="Lucida Grande" charset="0"/>
                <a:ea typeface="Lucida Grande" charset="0"/>
                <a:cs typeface="Lucida Grande" charset="0"/>
                <a:sym typeface="Lucida Grande" charset="0"/>
              </a:rPr>
              <a:t>CÓ 2 TÌNH HUỐNG XẢY RA:</a:t>
            </a:r>
          </a:p>
          <a:p>
            <a:pPr marL="496888" lvl="1" indent="0">
              <a:buFontTx/>
              <a:buNone/>
            </a:pPr>
            <a:r>
              <a:rPr lang="vi-VN" sz="2400" dirty="0"/>
              <a:t>■</a:t>
            </a:r>
            <a:r>
              <a:rPr lang="en-US" sz="2400" dirty="0"/>
              <a:t> </a:t>
            </a:r>
            <a:r>
              <a:rPr lang="en-US" sz="2200" b="0" u="none" dirty="0">
                <a:solidFill>
                  <a:srgbClr val="D90B00"/>
                </a:solidFill>
                <a:latin typeface="Lucida Grande" charset="0"/>
                <a:ea typeface="Lucida Grande" charset="0"/>
                <a:cs typeface="Lucida Grande" charset="0"/>
                <a:sym typeface="Lucida Grande" charset="0"/>
              </a:rPr>
              <a:t>Khi </a:t>
            </a:r>
            <a:r>
              <a:rPr lang="en-US" sz="2200" b="0" u="none" baseline="0" dirty="0">
                <a:solidFill>
                  <a:srgbClr val="D90B00"/>
                </a:solidFill>
                <a:latin typeface="Lucida Grande" charset="0"/>
                <a:ea typeface="Lucida Grande" charset="0"/>
                <a:cs typeface="Lucida Grande" charset="0"/>
                <a:sym typeface="Lucida Grande" charset="0"/>
              </a:rPr>
              <a:t>c</a:t>
            </a:r>
            <a:r>
              <a:rPr lang="en-US" sz="2200" b="0" u="none" dirty="0">
                <a:solidFill>
                  <a:srgbClr val="D90B00"/>
                </a:solidFill>
                <a:latin typeface="Lucida Grande" charset="0"/>
                <a:ea typeface="Lucida Grande" charset="0"/>
                <a:cs typeface="Lucida Grande" charset="0"/>
                <a:sym typeface="Lucida Grande" charset="0"/>
              </a:rPr>
              <a:t>ontractor </a:t>
            </a:r>
            <a:r>
              <a:rPr lang="en-US" sz="2200" b="0" u="none" baseline="0" dirty="0" err="1">
                <a:solidFill>
                  <a:srgbClr val="D90B00"/>
                </a:solidFill>
                <a:latin typeface="Lucida Grande" charset="0"/>
                <a:ea typeface="Lucida Grande" charset="0"/>
                <a:cs typeface="Lucida Grande" charset="0"/>
                <a:sym typeface="Lucida Grande" charset="0"/>
              </a:rPr>
              <a:t>là</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bên</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chịu</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trách</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nhiệm</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bảo</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trì</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toàn</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bộ</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err="1">
                <a:solidFill>
                  <a:srgbClr val="D90B00"/>
                </a:solidFill>
                <a:latin typeface="Lucida Grande" charset="0"/>
                <a:ea typeface="Lucida Grande" charset="0"/>
                <a:cs typeface="Lucida Grande" charset="0"/>
                <a:sym typeface="Lucida Grande" charset="0"/>
              </a:rPr>
              <a:t>sả</a:t>
            </a:r>
            <a:r>
              <a:rPr lang="vi-VN" sz="2200" b="0" u="none" baseline="0" dirty="0">
                <a:solidFill>
                  <a:srgbClr val="D90B00"/>
                </a:solidFill>
                <a:latin typeface="Lucida Grande" charset="0"/>
                <a:ea typeface="Lucida Grande" charset="0"/>
                <a:cs typeface="Lucida Grande" charset="0"/>
                <a:sym typeface="Lucida Grande" charset="0"/>
              </a:rPr>
              <a:t>n phẩm</a:t>
            </a:r>
            <a:r>
              <a:rPr lang="en-US" sz="2200" b="0" u="none" baseline="0" dirty="0">
                <a:solidFill>
                  <a:srgbClr val="D90B00"/>
                </a:solidFill>
                <a:latin typeface="Lucida Grande" charset="0"/>
                <a:ea typeface="Lucida Grande" charset="0"/>
                <a:cs typeface="Lucida Grande" charset="0"/>
                <a:sym typeface="Lucida Grande" charset="0"/>
              </a:rPr>
              <a:t> </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nếu</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một</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phần</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sản</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phẩm</a:t>
            </a:r>
            <a:r>
              <a:rPr lang="en-US" sz="2200" b="0" u="none" baseline="0" dirty="0">
                <a:solidFill>
                  <a:srgbClr val="D90B00"/>
                </a:solidFill>
                <a:latin typeface="Lucida Grande" charset="0"/>
                <a:ea typeface="Lucida Grande" charset="0"/>
                <a:cs typeface="Lucida Grande" charset="0"/>
                <a:sym typeface="Wingdings" pitchFamily="2" charset="2"/>
              </a:rPr>
              <a:t> do </a:t>
            </a:r>
            <a:r>
              <a:rPr lang="en-US" sz="2200" b="0" u="none" baseline="0" dirty="0" err="1">
                <a:solidFill>
                  <a:srgbClr val="D90B00"/>
                </a:solidFill>
                <a:latin typeface="Lucida Grande" charset="0"/>
                <a:ea typeface="Lucida Grande" charset="0"/>
                <a:cs typeface="Lucida Grande" charset="0"/>
                <a:sym typeface="Wingdings" pitchFamily="2" charset="2"/>
              </a:rPr>
              <a:t>bên</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thứ</a:t>
            </a:r>
            <a:r>
              <a:rPr lang="en-US" sz="2200" b="0" u="none" baseline="0" dirty="0">
                <a:solidFill>
                  <a:srgbClr val="D90B00"/>
                </a:solidFill>
                <a:latin typeface="Lucida Grande" charset="0"/>
                <a:ea typeface="Lucida Grande" charset="0"/>
                <a:cs typeface="Lucida Grande" charset="0"/>
                <a:sym typeface="Wingdings" pitchFamily="2" charset="2"/>
              </a:rPr>
              <a:t> 3 </a:t>
            </a:r>
            <a:r>
              <a:rPr lang="en-US" sz="2200" b="0" u="none" baseline="0" dirty="0" err="1">
                <a:solidFill>
                  <a:srgbClr val="D90B00"/>
                </a:solidFill>
                <a:latin typeface="Lucida Grande" charset="0"/>
                <a:ea typeface="Lucida Grande" charset="0"/>
                <a:cs typeface="Lucida Grande" charset="0"/>
                <a:sym typeface="Wingdings" pitchFamily="2" charset="2"/>
              </a:rPr>
              <a:t>cung</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cấp</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lại</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có</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chất</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lượng</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thấp</a:t>
            </a:r>
            <a:r>
              <a:rPr lang="en-US" sz="2200" b="0" u="none" baseline="0" dirty="0">
                <a:solidFill>
                  <a:srgbClr val="D90B00"/>
                </a:solidFill>
                <a:latin typeface="Lucida Grande" charset="0"/>
                <a:ea typeface="Lucida Grande" charset="0"/>
                <a:cs typeface="Lucida Grande" charset="0"/>
                <a:sym typeface="Wingdings" pitchFamily="2" charset="2"/>
              </a:rPr>
              <a:t> (ko </a:t>
            </a:r>
            <a:r>
              <a:rPr lang="en-US" sz="2200" b="0" u="none" baseline="0" dirty="0" err="1">
                <a:solidFill>
                  <a:srgbClr val="D90B00"/>
                </a:solidFill>
                <a:latin typeface="Lucida Grande" charset="0"/>
                <a:ea typeface="Lucida Grande" charset="0"/>
                <a:cs typeface="Lucida Grande" charset="0"/>
                <a:sym typeface="Wingdings" pitchFamily="2" charset="2"/>
              </a:rPr>
              <a:t>theo</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chuẩn</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lập</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trình</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tài</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liệu</a:t>
            </a:r>
            <a:r>
              <a:rPr lang="en-US" sz="2200" b="0" u="none" baseline="0" dirty="0">
                <a:solidFill>
                  <a:srgbClr val="D90B00"/>
                </a:solidFill>
                <a:latin typeface="Lucida Grande" charset="0"/>
                <a:ea typeface="Lucida Grande" charset="0"/>
                <a:cs typeface="Lucida Grande" charset="0"/>
                <a:sym typeface="Wingdings" pitchFamily="2" charset="2"/>
              </a:rPr>
              <a:t> ko </a:t>
            </a:r>
            <a:r>
              <a:rPr lang="en-US" sz="2200" b="0" u="none" baseline="0" dirty="0" err="1">
                <a:solidFill>
                  <a:srgbClr val="D90B00"/>
                </a:solidFill>
                <a:latin typeface="Lucida Grande" charset="0"/>
                <a:ea typeface="Lucida Grande" charset="0"/>
                <a:cs typeface="Lucida Grande" charset="0"/>
                <a:sym typeface="Wingdings" pitchFamily="2" charset="2"/>
              </a:rPr>
              <a:t>hoàn</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chỉnh</a:t>
            </a:r>
            <a:r>
              <a:rPr lang="en-US" sz="2200" b="0" u="none" baseline="0" dirty="0">
                <a:solidFill>
                  <a:srgbClr val="D90B00"/>
                </a:solidFill>
                <a:latin typeface="Lucida Grande" charset="0"/>
                <a:ea typeface="Lucida Grande" charset="0"/>
                <a:cs typeface="Lucida Grande" charset="0"/>
                <a:sym typeface="Wingdings" pitchFamily="2" charset="2"/>
              </a:rPr>
              <a:t>…)  CL </a:t>
            </a:r>
            <a:r>
              <a:rPr lang="en-US" sz="2200" b="0" u="none" baseline="0" dirty="0" err="1">
                <a:solidFill>
                  <a:srgbClr val="D90B00"/>
                </a:solidFill>
                <a:latin typeface="Lucida Grande" charset="0"/>
                <a:ea typeface="Lucida Grande" charset="0"/>
                <a:cs typeface="Lucida Grande" charset="0"/>
                <a:sym typeface="Wingdings" pitchFamily="2" charset="2"/>
              </a:rPr>
              <a:t>bảo</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trì</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thấp</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và</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tốn</a:t>
            </a:r>
            <a:r>
              <a:rPr lang="en-US" sz="2200" b="0" u="none" baseline="0" dirty="0">
                <a:solidFill>
                  <a:srgbClr val="D90B00"/>
                </a:solidFill>
                <a:latin typeface="Lucida Grande" charset="0"/>
                <a:ea typeface="Lucida Grande" charset="0"/>
                <a:cs typeface="Lucida Grande" charset="0"/>
                <a:sym typeface="Wingdings" pitchFamily="2" charset="2"/>
              </a:rPr>
              <a:t> </a:t>
            </a:r>
            <a:r>
              <a:rPr lang="en-US" sz="2200" b="0" u="none" baseline="0" dirty="0" err="1">
                <a:solidFill>
                  <a:srgbClr val="D90B00"/>
                </a:solidFill>
                <a:latin typeface="Lucida Grande" charset="0"/>
                <a:ea typeface="Lucida Grande" charset="0"/>
                <a:cs typeface="Lucida Grande" charset="0"/>
                <a:sym typeface="Wingdings" pitchFamily="2" charset="2"/>
              </a:rPr>
              <a:t>kém</a:t>
            </a:r>
            <a:r>
              <a:rPr lang="en-US" sz="2200" b="0" u="none" baseline="0" dirty="0">
                <a:solidFill>
                  <a:srgbClr val="D90B00"/>
                </a:solidFill>
                <a:latin typeface="Lucida Grande" charset="0"/>
                <a:ea typeface="Lucida Grande" charset="0"/>
                <a:cs typeface="Lucida Grande" charset="0"/>
                <a:sym typeface="Wingdings" pitchFamily="2" charset="2"/>
              </a:rPr>
              <a:t>.</a:t>
            </a:r>
          </a:p>
          <a:p>
            <a:pPr marL="496888" lvl="1" indent="0">
              <a:buFontTx/>
              <a:buNone/>
            </a:pPr>
            <a:r>
              <a:rPr lang="vi-VN" sz="2400" dirty="0"/>
              <a:t>■</a:t>
            </a:r>
            <a:r>
              <a:rPr lang="en-US" sz="2400" dirty="0"/>
              <a:t> </a:t>
            </a:r>
            <a:r>
              <a:rPr lang="en-US" sz="2200" b="0" u="none" baseline="0" dirty="0">
                <a:solidFill>
                  <a:srgbClr val="000000"/>
                </a:solidFill>
                <a:latin typeface="Lucida Grande" charset="0"/>
                <a:ea typeface="Lucida Grande" charset="0"/>
                <a:cs typeface="Lucida Grande" charset="0"/>
                <a:sym typeface="Lucida Grande" charset="0"/>
              </a:rPr>
              <a:t>Khi </a:t>
            </a:r>
            <a:r>
              <a:rPr lang="en-US" sz="2200" b="0" u="none" baseline="0" dirty="0" err="1">
                <a:solidFill>
                  <a:srgbClr val="000000"/>
                </a:solidFill>
                <a:latin typeface="Lucida Grande" charset="0"/>
                <a:ea typeface="Lucida Grande" charset="0"/>
                <a:cs typeface="Lucida Grande" charset="0"/>
                <a:sym typeface="Lucida Grande" charset="0"/>
              </a:rPr>
              <a:t>việc</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bảo</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trì</a:t>
            </a:r>
            <a:r>
              <a:rPr lang="en-US" sz="2200" b="0" u="none" baseline="0" dirty="0">
                <a:solidFill>
                  <a:srgbClr val="000000"/>
                </a:solidFill>
                <a:latin typeface="Lucida Grande" charset="0"/>
                <a:ea typeface="Lucida Grande" charset="0"/>
                <a:cs typeface="Lucida Grande" charset="0"/>
                <a:sym typeface="Lucida Grande" charset="0"/>
              </a:rPr>
              <a:t> do </a:t>
            </a:r>
            <a:r>
              <a:rPr lang="en-US" sz="2200" b="0" u="none" baseline="0" dirty="0" err="1">
                <a:solidFill>
                  <a:srgbClr val="000000"/>
                </a:solidFill>
                <a:latin typeface="Lucida Grande" charset="0"/>
                <a:ea typeface="Lucida Grande" charset="0"/>
                <a:cs typeface="Lucida Grande" charset="0"/>
                <a:sym typeface="Lucida Grande" charset="0"/>
              </a:rPr>
              <a:t>nhiều</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tổ</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chức</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khác</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cùng</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chịu</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trách</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nhiệm</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1" u="none" baseline="0" dirty="0">
                <a:solidFill>
                  <a:srgbClr val="000000"/>
                </a:solidFill>
                <a:latin typeface="Lucida Grande" charset="0"/>
                <a:ea typeface="Lucida Grande" charset="0"/>
                <a:cs typeface="Lucida Grande" charset="0"/>
                <a:sym typeface="Lucida Grande" charset="0"/>
              </a:rPr>
              <a:t>(supplier of COTS, subcontractors), </a:t>
            </a:r>
            <a:r>
              <a:rPr lang="en-US" sz="2200" b="0" u="none" baseline="0" dirty="0" err="1">
                <a:solidFill>
                  <a:srgbClr val="000000"/>
                </a:solidFill>
                <a:latin typeface="Lucida Grande" charset="0"/>
                <a:ea typeface="Lucida Grande" charset="0"/>
                <a:cs typeface="Lucida Grande" charset="0"/>
                <a:sym typeface="Lucida Grande" charset="0"/>
              </a:rPr>
              <a:t>tuy</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nhiên</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khi</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phát</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hiện</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lỗi</a:t>
            </a:r>
            <a:r>
              <a:rPr lang="en-US" sz="2200" b="0" u="none" baseline="0" dirty="0">
                <a:solidFill>
                  <a:srgbClr val="000000"/>
                </a:solidFill>
                <a:latin typeface="Lucida Grande" charset="0"/>
                <a:ea typeface="Lucida Grande" charset="0"/>
                <a:cs typeface="Lucida Grande" charset="0"/>
                <a:sym typeface="Lucida Grande" charset="0"/>
              </a:rPr>
              <a:t>, KH </a:t>
            </a:r>
            <a:r>
              <a:rPr lang="en-US" sz="2200" b="0" u="none" baseline="0" dirty="0" err="1">
                <a:solidFill>
                  <a:srgbClr val="000000"/>
                </a:solidFill>
                <a:latin typeface="Lucida Grande" charset="0"/>
                <a:ea typeface="Lucida Grande" charset="0"/>
                <a:cs typeface="Lucida Grande" charset="0"/>
                <a:sym typeface="Lucida Grande" charset="0"/>
              </a:rPr>
              <a:t>sẽ</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phải</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xác</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định</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tổ</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chức</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nào</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chịu</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trách</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err="1">
                <a:solidFill>
                  <a:srgbClr val="000000"/>
                </a:solidFill>
                <a:latin typeface="Lucida Grande" charset="0"/>
                <a:ea typeface="Lucida Grande" charset="0"/>
                <a:cs typeface="Lucida Grande" charset="0"/>
                <a:sym typeface="Lucida Grande" charset="0"/>
              </a:rPr>
              <a:t>nhiệm</a:t>
            </a:r>
            <a:r>
              <a:rPr lang="en-US" sz="2200" b="0" u="none" baseline="0" dirty="0">
                <a:solidFill>
                  <a:srgbClr val="000000"/>
                </a:solidFill>
                <a:latin typeface="Lucida Grande" charset="0"/>
                <a:ea typeface="Lucida Grande" charset="0"/>
                <a:cs typeface="Lucida Grande" charset="0"/>
                <a:sym typeface="Lucida Grande" charset="0"/>
              </a:rPr>
              <a:t> </a:t>
            </a:r>
            <a:r>
              <a:rPr lang="en-US" sz="2200" b="0" u="none" baseline="0" dirty="0">
                <a:solidFill>
                  <a:srgbClr val="000000"/>
                </a:solidFill>
                <a:latin typeface="Lucida Grande" charset="0"/>
                <a:ea typeface="Lucida Grande" charset="0"/>
                <a:cs typeface="Lucida Grande" charset="0"/>
                <a:sym typeface="Wingdings" pitchFamily="2" charset="2"/>
              </a:rPr>
              <a:t> </a:t>
            </a:r>
            <a:r>
              <a:rPr lang="en-US" sz="2200" b="0" u="none" baseline="0" dirty="0" err="1">
                <a:solidFill>
                  <a:srgbClr val="000000"/>
                </a:solidFill>
                <a:latin typeface="Lucida Grande" charset="0"/>
                <a:ea typeface="Lucida Grande" charset="0"/>
                <a:cs typeface="Lucida Grande" charset="0"/>
                <a:sym typeface="Wingdings" pitchFamily="2" charset="2"/>
              </a:rPr>
              <a:t>thiệt</a:t>
            </a:r>
            <a:r>
              <a:rPr lang="en-US" sz="2200" b="0" u="none" baseline="0" dirty="0">
                <a:solidFill>
                  <a:srgbClr val="000000"/>
                </a:solidFill>
                <a:latin typeface="Lucida Grande" charset="0"/>
                <a:ea typeface="Lucida Grande" charset="0"/>
                <a:cs typeface="Lucida Grande" charset="0"/>
                <a:sym typeface="Wingdings" pitchFamily="2" charset="2"/>
              </a:rPr>
              <a:t> </a:t>
            </a:r>
            <a:r>
              <a:rPr lang="en-US" sz="2200" b="0" u="none" baseline="0" dirty="0" err="1">
                <a:solidFill>
                  <a:srgbClr val="000000"/>
                </a:solidFill>
                <a:latin typeface="Lucida Grande" charset="0"/>
                <a:ea typeface="Lucida Grande" charset="0"/>
                <a:cs typeface="Lucida Grande" charset="0"/>
                <a:sym typeface="Wingdings" pitchFamily="2" charset="2"/>
              </a:rPr>
              <a:t>hại</a:t>
            </a:r>
            <a:r>
              <a:rPr lang="en-US" sz="2200" b="0" u="none" baseline="0" dirty="0">
                <a:solidFill>
                  <a:srgbClr val="000000"/>
                </a:solidFill>
                <a:latin typeface="Lucida Grande" charset="0"/>
                <a:ea typeface="Lucida Grande" charset="0"/>
                <a:cs typeface="Lucida Grande" charset="0"/>
                <a:sym typeface="Wingdings" pitchFamily="2" charset="2"/>
              </a:rPr>
              <a:t> </a:t>
            </a:r>
            <a:r>
              <a:rPr lang="en-US" sz="2200" b="0" u="none" baseline="0" dirty="0" err="1">
                <a:solidFill>
                  <a:srgbClr val="000000"/>
                </a:solidFill>
                <a:latin typeface="Lucida Grande" charset="0"/>
                <a:ea typeface="Lucida Grande" charset="0"/>
                <a:cs typeface="Lucida Grande" charset="0"/>
                <a:sym typeface="Wingdings" pitchFamily="2" charset="2"/>
              </a:rPr>
              <a:t>trong</a:t>
            </a:r>
            <a:r>
              <a:rPr lang="en-US" sz="2200" b="0" u="none" baseline="0" dirty="0">
                <a:solidFill>
                  <a:srgbClr val="000000"/>
                </a:solidFill>
                <a:latin typeface="Lucida Grande" charset="0"/>
                <a:ea typeface="Lucida Grande" charset="0"/>
                <a:cs typeface="Lucida Grande" charset="0"/>
                <a:sym typeface="Wingdings" pitchFamily="2" charset="2"/>
              </a:rPr>
              <a:t> TH </a:t>
            </a:r>
            <a:r>
              <a:rPr lang="en-US" sz="2200" b="0" u="none" baseline="0" dirty="0" err="1">
                <a:solidFill>
                  <a:srgbClr val="000000"/>
                </a:solidFill>
                <a:latin typeface="Lucida Grande" charset="0"/>
                <a:ea typeface="Lucida Grande" charset="0"/>
                <a:cs typeface="Lucida Grande" charset="0"/>
                <a:sym typeface="Wingdings" pitchFamily="2" charset="2"/>
              </a:rPr>
              <a:t>này</a:t>
            </a:r>
            <a:r>
              <a:rPr lang="en-US" sz="2200" b="0" u="none" baseline="0" dirty="0">
                <a:solidFill>
                  <a:srgbClr val="000000"/>
                </a:solidFill>
                <a:latin typeface="Lucida Grande" charset="0"/>
                <a:ea typeface="Lucida Grande" charset="0"/>
                <a:cs typeface="Lucida Grande" charset="0"/>
                <a:sym typeface="Wingdings" pitchFamily="2" charset="2"/>
              </a:rPr>
              <a:t> </a:t>
            </a:r>
            <a:r>
              <a:rPr lang="en-US" sz="2200" b="0" u="none" baseline="0" dirty="0" err="1">
                <a:solidFill>
                  <a:srgbClr val="000000"/>
                </a:solidFill>
                <a:latin typeface="Lucida Grande" charset="0"/>
                <a:ea typeface="Lucida Grande" charset="0"/>
                <a:cs typeface="Lucida Grande" charset="0"/>
                <a:sym typeface="Wingdings" pitchFamily="2" charset="2"/>
              </a:rPr>
              <a:t>sẽ</a:t>
            </a:r>
            <a:r>
              <a:rPr lang="en-US" sz="2200" b="0" u="none" baseline="0" dirty="0">
                <a:solidFill>
                  <a:srgbClr val="000000"/>
                </a:solidFill>
                <a:latin typeface="Lucida Grande" charset="0"/>
                <a:ea typeface="Lucida Grande" charset="0"/>
                <a:cs typeface="Lucida Grande" charset="0"/>
                <a:sym typeface="Wingdings" pitchFamily="2" charset="2"/>
              </a:rPr>
              <a:t> </a:t>
            </a:r>
            <a:r>
              <a:rPr lang="en-US" sz="2200" b="0" u="none" baseline="0" dirty="0" err="1">
                <a:solidFill>
                  <a:srgbClr val="000000"/>
                </a:solidFill>
                <a:latin typeface="Lucida Grande" charset="0"/>
                <a:ea typeface="Lucida Grande" charset="0"/>
                <a:cs typeface="Lucida Grande" charset="0"/>
                <a:sym typeface="Wingdings" pitchFamily="2" charset="2"/>
              </a:rPr>
              <a:t>tăng</a:t>
            </a:r>
            <a:r>
              <a:rPr lang="en-US" sz="2200" b="0" u="none" baseline="0" dirty="0">
                <a:solidFill>
                  <a:srgbClr val="000000"/>
                </a:solidFill>
                <a:latin typeface="Lucida Grande" charset="0"/>
                <a:ea typeface="Lucida Grande" charset="0"/>
                <a:cs typeface="Lucida Grande" charset="0"/>
                <a:sym typeface="Wingdings" pitchFamily="2" charset="2"/>
              </a:rPr>
              <a:t> </a:t>
            </a:r>
            <a:r>
              <a:rPr lang="en-US" sz="2200" b="0" u="none" baseline="0" dirty="0" err="1">
                <a:solidFill>
                  <a:srgbClr val="000000"/>
                </a:solidFill>
                <a:latin typeface="Lucida Grande" charset="0"/>
                <a:ea typeface="Lucida Grande" charset="0"/>
                <a:cs typeface="Lucida Grande" charset="0"/>
                <a:sym typeface="Wingdings" pitchFamily="2" charset="2"/>
              </a:rPr>
              <a:t>đáng</a:t>
            </a:r>
            <a:r>
              <a:rPr lang="en-US" sz="2200" b="0" u="none" baseline="0" dirty="0">
                <a:solidFill>
                  <a:srgbClr val="000000"/>
                </a:solidFill>
                <a:latin typeface="Lucida Grande" charset="0"/>
                <a:ea typeface="Lucida Grande" charset="0"/>
                <a:cs typeface="Lucida Grande" charset="0"/>
                <a:sym typeface="Wingdings" pitchFamily="2" charset="2"/>
              </a:rPr>
              <a:t> </a:t>
            </a:r>
            <a:r>
              <a:rPr lang="en-US" sz="2200" b="0" u="none" baseline="0" dirty="0" err="1">
                <a:solidFill>
                  <a:srgbClr val="000000"/>
                </a:solidFill>
                <a:latin typeface="Lucida Grande" charset="0"/>
                <a:ea typeface="Lucida Grande" charset="0"/>
                <a:cs typeface="Lucida Grande" charset="0"/>
                <a:sym typeface="Wingdings" pitchFamily="2" charset="2"/>
              </a:rPr>
              <a:t>kế</a:t>
            </a:r>
            <a:endParaRPr lang="en-US" sz="2400" dirty="0"/>
          </a:p>
        </p:txBody>
      </p:sp>
    </p:spTree>
    <p:extLst>
      <p:ext uri="{BB962C8B-B14F-4D97-AF65-F5344CB8AC3E}">
        <p14:creationId xmlns:p14="http://schemas.microsoft.com/office/powerpoint/2010/main" val="15700455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9698"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pPr marL="39688" indent="0">
              <a:buFontTx/>
              <a:buNone/>
              <a:tabLst>
                <a:tab pos="495300" algn="l"/>
                <a:tab pos="495300" algn="l"/>
                <a:tab pos="495300" algn="l"/>
                <a:tab pos="495300" algn="l"/>
                <a:tab pos="939800" algn="l"/>
                <a:tab pos="939800" algn="l"/>
                <a:tab pos="939800" algn="l"/>
                <a:tab pos="939800" algn="l"/>
                <a:tab pos="1384300" algn="l"/>
                <a:tab pos="1384300" algn="l"/>
                <a:tab pos="1384300" algn="l"/>
                <a:tab pos="1384300" algn="l"/>
                <a:tab pos="1841500" algn="l"/>
                <a:tab pos="1841500" algn="l"/>
                <a:tab pos="1841500" algn="l"/>
                <a:tab pos="1841500" algn="l"/>
                <a:tab pos="2286000" algn="l"/>
                <a:tab pos="2286000" algn="l"/>
                <a:tab pos="2286000" algn="l"/>
                <a:tab pos="2286000" algn="l"/>
                <a:tab pos="2743200" algn="l"/>
                <a:tab pos="2743200" algn="l"/>
                <a:tab pos="2743200" algn="l"/>
                <a:tab pos="2743200" algn="l"/>
                <a:tab pos="3187700" algn="l"/>
                <a:tab pos="3187700" algn="l"/>
                <a:tab pos="3187700" algn="l"/>
                <a:tab pos="3187700" algn="l"/>
                <a:tab pos="3644900" algn="l"/>
                <a:tab pos="3644900" algn="l"/>
                <a:tab pos="3644900" algn="l"/>
                <a:tab pos="3644900" algn="l"/>
              </a:tabLst>
            </a:pPr>
            <a:r>
              <a:rPr lang="en-US" sz="1800" b="1" baseline="0" dirty="0" err="1">
                <a:solidFill>
                  <a:srgbClr val="000000"/>
                </a:solidFill>
                <a:latin typeface="Arial" charset="0"/>
                <a:cs typeface="Arial" charset="0"/>
                <a:sym typeface="Arial" charset="0"/>
              </a:rPr>
              <a:t>Để</a:t>
            </a:r>
            <a:r>
              <a:rPr lang="en-US" sz="1800" b="1" baseline="0" dirty="0">
                <a:solidFill>
                  <a:srgbClr val="000000"/>
                </a:solidFill>
                <a:latin typeface="Arial" charset="0"/>
                <a:cs typeface="Arial" charset="0"/>
                <a:sym typeface="Arial" charset="0"/>
              </a:rPr>
              <a:t> </a:t>
            </a:r>
            <a:r>
              <a:rPr lang="vi-VN" sz="1800" b="1" baseline="0" dirty="0">
                <a:solidFill>
                  <a:srgbClr val="000000"/>
                </a:solidFill>
                <a:latin typeface="Arial" charset="0"/>
                <a:cs typeface="Arial" charset="0"/>
                <a:sym typeface="Arial" charset="0"/>
              </a:rPr>
              <a:t>đảm bảo chất lượng của các khoản đóng góp của người tham gia bên ngoài</a:t>
            </a:r>
            <a:r>
              <a:rPr lang="en-US" sz="1800" b="1" baseline="0" dirty="0">
                <a:solidFill>
                  <a:srgbClr val="000000"/>
                </a:solidFill>
                <a:latin typeface="Arial" charset="0"/>
                <a:cs typeface="Arial" charset="0"/>
                <a:sym typeface="Arial" charset="0"/>
              </a:rPr>
              <a:t>, SQA </a:t>
            </a:r>
            <a:r>
              <a:rPr lang="en-US" sz="1800" b="1" baseline="0" dirty="0" err="1">
                <a:solidFill>
                  <a:srgbClr val="000000"/>
                </a:solidFill>
                <a:latin typeface="Arial" charset="0"/>
                <a:cs typeface="Arial" charset="0"/>
                <a:sym typeface="Arial" charset="0"/>
              </a:rPr>
              <a:t>cần</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có</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các</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mục</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tiêu</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gì</a:t>
            </a:r>
            <a:r>
              <a:rPr lang="en-US" sz="1800" b="1" baseline="0" dirty="0">
                <a:solidFill>
                  <a:srgbClr val="000000"/>
                </a:solidFill>
                <a:latin typeface="Arial" charset="0"/>
                <a:cs typeface="Arial" charset="0"/>
                <a:sym typeface="Arial" charset="0"/>
              </a:rPr>
              <a:t>? – Các </a:t>
            </a:r>
            <a:r>
              <a:rPr lang="en-US" sz="1800" b="1" baseline="0" dirty="0" err="1">
                <a:solidFill>
                  <a:srgbClr val="000000"/>
                </a:solidFill>
                <a:latin typeface="Arial" charset="0"/>
                <a:cs typeface="Arial" charset="0"/>
                <a:sym typeface="Arial" charset="0"/>
              </a:rPr>
              <a:t>mục</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tiêu</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này</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xuất</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phát</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từ</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những</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rủi</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ro</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nói</a:t>
            </a:r>
            <a:r>
              <a:rPr lang="en-US" sz="1800" b="1" baseline="0" dirty="0">
                <a:solidFill>
                  <a:srgbClr val="000000"/>
                </a:solidFill>
                <a:latin typeface="Arial" charset="0"/>
                <a:cs typeface="Arial" charset="0"/>
                <a:sym typeface="Arial" charset="0"/>
              </a:rPr>
              <a:t> </a:t>
            </a:r>
            <a:r>
              <a:rPr lang="en-US" sz="1800" b="1" baseline="0" dirty="0" err="1">
                <a:solidFill>
                  <a:srgbClr val="000000"/>
                </a:solidFill>
                <a:latin typeface="Arial" charset="0"/>
                <a:cs typeface="Arial" charset="0"/>
                <a:sym typeface="Arial" charset="0"/>
              </a:rPr>
              <a:t>trên</a:t>
            </a:r>
            <a:r>
              <a:rPr lang="en-US" sz="1800" b="1" baseline="0" dirty="0">
                <a:solidFill>
                  <a:srgbClr val="000000"/>
                </a:solidFill>
                <a:latin typeface="Arial" charset="0"/>
                <a:cs typeface="Arial" charset="0"/>
                <a:sym typeface="Arial" charset="0"/>
              </a:rPr>
              <a:t>:</a:t>
            </a:r>
          </a:p>
          <a:p>
            <a:pPr marL="39688" indent="0">
              <a:buFontTx/>
              <a:buNone/>
              <a:tabLst>
                <a:tab pos="495300" algn="l"/>
                <a:tab pos="495300" algn="l"/>
                <a:tab pos="495300" algn="l"/>
                <a:tab pos="495300" algn="l"/>
                <a:tab pos="939800" algn="l"/>
                <a:tab pos="939800" algn="l"/>
                <a:tab pos="939800" algn="l"/>
                <a:tab pos="939800" algn="l"/>
                <a:tab pos="1384300" algn="l"/>
                <a:tab pos="1384300" algn="l"/>
                <a:tab pos="1384300" algn="l"/>
                <a:tab pos="1384300" algn="l"/>
                <a:tab pos="1841500" algn="l"/>
                <a:tab pos="1841500" algn="l"/>
                <a:tab pos="1841500" algn="l"/>
                <a:tab pos="1841500" algn="l"/>
                <a:tab pos="2286000" algn="l"/>
                <a:tab pos="2286000" algn="l"/>
                <a:tab pos="2286000" algn="l"/>
                <a:tab pos="2286000" algn="l"/>
                <a:tab pos="2743200" algn="l"/>
                <a:tab pos="2743200" algn="l"/>
                <a:tab pos="2743200" algn="l"/>
                <a:tab pos="2743200" algn="l"/>
                <a:tab pos="3187700" algn="l"/>
                <a:tab pos="3187700" algn="l"/>
                <a:tab pos="3187700" algn="l"/>
                <a:tab pos="3187700" algn="l"/>
                <a:tab pos="3644900" algn="l"/>
                <a:tab pos="3644900" algn="l"/>
                <a:tab pos="3644900" algn="l"/>
                <a:tab pos="3644900" algn="l"/>
              </a:tabLst>
            </a:pPr>
            <a:r>
              <a:rPr lang="vi-VN" sz="1800" dirty="0">
                <a:solidFill>
                  <a:srgbClr val="000000"/>
                </a:solidFill>
                <a:latin typeface="Arial" charset="0"/>
                <a:cs typeface="Arial" charset="0"/>
                <a:sym typeface="Arial" charset="0"/>
              </a:rPr>
              <a:t>1. Ngăn </a:t>
            </a:r>
            <a:r>
              <a:rPr lang="en-US" sz="1800" dirty="0" err="1">
                <a:solidFill>
                  <a:srgbClr val="000000"/>
                </a:solidFill>
                <a:latin typeface="Arial" charset="0"/>
                <a:cs typeface="Arial" charset="0"/>
                <a:sym typeface="Arial" charset="0"/>
              </a:rPr>
              <a:t>chặn</a:t>
            </a:r>
            <a:r>
              <a:rPr lang="en-US" sz="1800" baseline="0" dirty="0">
                <a:solidFill>
                  <a:srgbClr val="000000"/>
                </a:solidFill>
                <a:latin typeface="Arial" charset="0"/>
                <a:cs typeface="Arial" charset="0"/>
                <a:sym typeface="Arial" charset="0"/>
              </a:rPr>
              <a:t> </a:t>
            </a:r>
            <a:r>
              <a:rPr lang="en-US" sz="1800" baseline="0" dirty="0" err="1">
                <a:solidFill>
                  <a:srgbClr val="000000"/>
                </a:solidFill>
                <a:latin typeface="Arial" charset="0"/>
                <a:cs typeface="Arial" charset="0"/>
                <a:sym typeface="Arial" charset="0"/>
              </a:rPr>
              <a:t>sự</a:t>
            </a:r>
            <a:r>
              <a:rPr lang="en-US" sz="1800" baseline="0" dirty="0">
                <a:solidFill>
                  <a:srgbClr val="000000"/>
                </a:solidFill>
                <a:latin typeface="Arial" charset="0"/>
                <a:cs typeface="Arial" charset="0"/>
                <a:sym typeface="Arial" charset="0"/>
              </a:rPr>
              <a:t> </a:t>
            </a:r>
            <a:r>
              <a:rPr lang="en-US" sz="1800" baseline="0" dirty="0" err="1">
                <a:solidFill>
                  <a:srgbClr val="000000"/>
                </a:solidFill>
                <a:latin typeface="Arial" charset="0"/>
                <a:cs typeface="Arial" charset="0"/>
                <a:sym typeface="Arial" charset="0"/>
              </a:rPr>
              <a:t>chậm</a:t>
            </a:r>
            <a:r>
              <a:rPr lang="en-US" sz="1800" baseline="0" dirty="0">
                <a:solidFill>
                  <a:srgbClr val="000000"/>
                </a:solidFill>
                <a:latin typeface="Arial" charset="0"/>
                <a:cs typeface="Arial" charset="0"/>
                <a:sym typeface="Arial" charset="0"/>
              </a:rPr>
              <a:t> </a:t>
            </a:r>
            <a:r>
              <a:rPr lang="en-US" sz="1800" baseline="0" dirty="0" err="1">
                <a:solidFill>
                  <a:srgbClr val="000000"/>
                </a:solidFill>
                <a:latin typeface="Arial" charset="0"/>
                <a:cs typeface="Arial" charset="0"/>
                <a:sym typeface="Arial" charset="0"/>
              </a:rPr>
              <a:t>trễ</a:t>
            </a:r>
            <a:r>
              <a:rPr lang="en-US" sz="1800" baseline="0" dirty="0">
                <a:solidFill>
                  <a:srgbClr val="000000"/>
                </a:solidFill>
                <a:latin typeface="Arial" charset="0"/>
                <a:cs typeface="Arial" charset="0"/>
                <a:sym typeface="Arial" charset="0"/>
              </a:rPr>
              <a:t>, </a:t>
            </a:r>
            <a:r>
              <a:rPr lang="vi-VN" sz="1800" b="1" dirty="0">
                <a:solidFill>
                  <a:srgbClr val="000000"/>
                </a:solidFill>
                <a:latin typeface="Arial" charset="0"/>
                <a:cs typeface="Arial" charset="0"/>
                <a:sym typeface="Arial" charset="0"/>
              </a:rPr>
              <a:t>ĐẢM BẢO THÔNG BÁO SỚM SỰ CHẬM TRỄ.</a:t>
            </a:r>
          </a:p>
          <a:p>
            <a:pPr marL="39688" indent="0">
              <a:buFontTx/>
              <a:buNone/>
              <a:tabLst>
                <a:tab pos="495300" algn="l"/>
                <a:tab pos="495300" algn="l"/>
                <a:tab pos="495300" algn="l"/>
                <a:tab pos="495300" algn="l"/>
                <a:tab pos="939800" algn="l"/>
                <a:tab pos="939800" algn="l"/>
                <a:tab pos="939800" algn="l"/>
                <a:tab pos="939800" algn="l"/>
                <a:tab pos="1384300" algn="l"/>
                <a:tab pos="1384300" algn="l"/>
                <a:tab pos="1384300" algn="l"/>
                <a:tab pos="1384300" algn="l"/>
                <a:tab pos="1841500" algn="l"/>
                <a:tab pos="1841500" algn="l"/>
                <a:tab pos="1841500" algn="l"/>
                <a:tab pos="1841500" algn="l"/>
                <a:tab pos="2286000" algn="l"/>
                <a:tab pos="2286000" algn="l"/>
                <a:tab pos="2286000" algn="l"/>
                <a:tab pos="2286000" algn="l"/>
                <a:tab pos="2743200" algn="l"/>
                <a:tab pos="2743200" algn="l"/>
                <a:tab pos="2743200" algn="l"/>
                <a:tab pos="2743200" algn="l"/>
                <a:tab pos="3187700" algn="l"/>
                <a:tab pos="3187700" algn="l"/>
                <a:tab pos="3187700" algn="l"/>
                <a:tab pos="3187700" algn="l"/>
                <a:tab pos="3644900" algn="l"/>
                <a:tab pos="3644900" algn="l"/>
                <a:tab pos="3644900" algn="l"/>
                <a:tab pos="3644900" algn="l"/>
              </a:tabLst>
            </a:pPr>
            <a:r>
              <a:rPr lang="vi-VN" sz="1800" dirty="0">
                <a:solidFill>
                  <a:srgbClr val="000000"/>
                </a:solidFill>
                <a:latin typeface="Arial" charset="0"/>
                <a:cs typeface="Arial" charset="0"/>
                <a:sym typeface="Arial" charset="0"/>
              </a:rPr>
              <a:t>2. Đảm bảo chất lượng công việc </a:t>
            </a:r>
            <a:r>
              <a:rPr lang="vi-VN" sz="1800" b="1" dirty="0">
                <a:solidFill>
                  <a:srgbClr val="000000"/>
                </a:solidFill>
                <a:latin typeface="Arial" charset="0"/>
                <a:cs typeface="Arial" charset="0"/>
                <a:sym typeface="Arial" charset="0"/>
              </a:rPr>
              <a:t>LÀ THỎA ĐÁNG</a:t>
            </a:r>
          </a:p>
          <a:p>
            <a:pPr marL="39688" indent="0">
              <a:buFontTx/>
              <a:buNone/>
              <a:tabLst>
                <a:tab pos="495300" algn="l"/>
                <a:tab pos="495300" algn="l"/>
                <a:tab pos="495300" algn="l"/>
                <a:tab pos="495300" algn="l"/>
                <a:tab pos="939800" algn="l"/>
                <a:tab pos="939800" algn="l"/>
                <a:tab pos="939800" algn="l"/>
                <a:tab pos="939800" algn="l"/>
                <a:tab pos="1384300" algn="l"/>
                <a:tab pos="1384300" algn="l"/>
                <a:tab pos="1384300" algn="l"/>
                <a:tab pos="1384300" algn="l"/>
                <a:tab pos="1841500" algn="l"/>
                <a:tab pos="1841500" algn="l"/>
                <a:tab pos="1841500" algn="l"/>
                <a:tab pos="1841500" algn="l"/>
                <a:tab pos="2286000" algn="l"/>
                <a:tab pos="2286000" algn="l"/>
                <a:tab pos="2286000" algn="l"/>
                <a:tab pos="2286000" algn="l"/>
                <a:tab pos="2743200" algn="l"/>
                <a:tab pos="2743200" algn="l"/>
                <a:tab pos="2743200" algn="l"/>
                <a:tab pos="2743200" algn="l"/>
                <a:tab pos="3187700" algn="l"/>
                <a:tab pos="3187700" algn="l"/>
                <a:tab pos="3187700" algn="l"/>
                <a:tab pos="3187700" algn="l"/>
                <a:tab pos="3644900" algn="l"/>
                <a:tab pos="3644900" algn="l"/>
                <a:tab pos="3644900" algn="l"/>
                <a:tab pos="3644900" algn="l"/>
              </a:tabLst>
            </a:pPr>
            <a:r>
              <a:rPr lang="vi-VN" sz="1800" dirty="0">
                <a:solidFill>
                  <a:srgbClr val="000000"/>
                </a:solidFill>
                <a:latin typeface="Arial" charset="0"/>
                <a:cs typeface="Arial" charset="0"/>
                <a:sym typeface="Arial" charset="0"/>
              </a:rPr>
              <a:t>3. Bảo đảm đủ tài liệu có sẵn </a:t>
            </a:r>
            <a:r>
              <a:rPr lang="vi-VN" sz="1800" b="1" dirty="0">
                <a:solidFill>
                  <a:srgbClr val="000000"/>
                </a:solidFill>
                <a:latin typeface="Arial" charset="0"/>
                <a:cs typeface="Arial" charset="0"/>
                <a:sym typeface="Arial" charset="0"/>
              </a:rPr>
              <a:t>ĐỂ PHỤC VỤ CHO NHÓM BẢO TRÌ.</a:t>
            </a:r>
          </a:p>
          <a:p>
            <a:pPr marL="39688" indent="0">
              <a:buFontTx/>
              <a:buNone/>
              <a:tabLst>
                <a:tab pos="495300" algn="l"/>
                <a:tab pos="495300" algn="l"/>
                <a:tab pos="495300" algn="l"/>
                <a:tab pos="495300" algn="l"/>
                <a:tab pos="939800" algn="l"/>
                <a:tab pos="939800" algn="l"/>
                <a:tab pos="939800" algn="l"/>
                <a:tab pos="939800" algn="l"/>
                <a:tab pos="1384300" algn="l"/>
                <a:tab pos="1384300" algn="l"/>
                <a:tab pos="1384300" algn="l"/>
                <a:tab pos="1384300" algn="l"/>
                <a:tab pos="1841500" algn="l"/>
                <a:tab pos="1841500" algn="l"/>
                <a:tab pos="1841500" algn="l"/>
                <a:tab pos="1841500" algn="l"/>
                <a:tab pos="2286000" algn="l"/>
                <a:tab pos="2286000" algn="l"/>
                <a:tab pos="2286000" algn="l"/>
                <a:tab pos="2286000" algn="l"/>
                <a:tab pos="2743200" algn="l"/>
                <a:tab pos="2743200" algn="l"/>
                <a:tab pos="2743200" algn="l"/>
                <a:tab pos="2743200" algn="l"/>
                <a:tab pos="3187700" algn="l"/>
                <a:tab pos="3187700" algn="l"/>
                <a:tab pos="3187700" algn="l"/>
                <a:tab pos="3187700" algn="l"/>
                <a:tab pos="3644900" algn="l"/>
                <a:tab pos="3644900" algn="l"/>
                <a:tab pos="3644900" algn="l"/>
                <a:tab pos="3644900" algn="l"/>
              </a:tabLst>
            </a:pPr>
            <a:r>
              <a:rPr lang="vi-VN" sz="1800" dirty="0">
                <a:solidFill>
                  <a:srgbClr val="000000"/>
                </a:solidFill>
                <a:latin typeface="Arial" charset="0"/>
                <a:cs typeface="Arial" charset="0"/>
                <a:sym typeface="Arial" charset="0"/>
              </a:rPr>
              <a:t>4. Đảm bảo hoàn toàn kiểm soát </a:t>
            </a:r>
            <a:r>
              <a:rPr lang="vi-VN" sz="1800" b="1" dirty="0">
                <a:solidFill>
                  <a:srgbClr val="000000"/>
                </a:solidFill>
                <a:latin typeface="Arial" charset="0"/>
                <a:cs typeface="Arial" charset="0"/>
                <a:sym typeface="Arial" charset="0"/>
              </a:rPr>
              <a:t>HIỆU SUẤT CỦA NGƯỜI THAM GIA</a:t>
            </a:r>
            <a:r>
              <a:rPr lang="en-US" sz="1800" b="1" baseline="0" dirty="0">
                <a:solidFill>
                  <a:srgbClr val="000000"/>
                </a:solidFill>
                <a:latin typeface="Arial" charset="0"/>
                <a:cs typeface="Arial" charset="0"/>
                <a:sym typeface="Arial" charset="0"/>
              </a:rPr>
              <a:t> </a:t>
            </a:r>
            <a:r>
              <a:rPr lang="vi-VN" sz="1800" b="1" dirty="0">
                <a:solidFill>
                  <a:srgbClr val="000000"/>
                </a:solidFill>
                <a:latin typeface="Arial" charset="0"/>
                <a:cs typeface="Arial" charset="0"/>
                <a:sym typeface="Arial" charset="0"/>
              </a:rPr>
              <a:t>BÊN NGOÀI</a:t>
            </a:r>
            <a:r>
              <a:rPr lang="en-US" sz="1800" b="1" dirty="0">
                <a:solidFill>
                  <a:srgbClr val="000000"/>
                </a:solidFill>
                <a:latin typeface="Arial" charset="0"/>
                <a:cs typeface="Arial" charset="0"/>
                <a:sym typeface="Arial" charset="0"/>
              </a:rPr>
              <a:t>.</a:t>
            </a:r>
          </a:p>
          <a:p>
            <a:pPr marL="39688" indent="0">
              <a:buFontTx/>
              <a:buNone/>
              <a:tabLst>
                <a:tab pos="495300" algn="l"/>
                <a:tab pos="495300" algn="l"/>
                <a:tab pos="495300" algn="l"/>
                <a:tab pos="495300" algn="l"/>
                <a:tab pos="939800" algn="l"/>
                <a:tab pos="939800" algn="l"/>
                <a:tab pos="939800" algn="l"/>
                <a:tab pos="939800" algn="l"/>
                <a:tab pos="1384300" algn="l"/>
                <a:tab pos="1384300" algn="l"/>
                <a:tab pos="1384300" algn="l"/>
                <a:tab pos="1384300" algn="l"/>
                <a:tab pos="1841500" algn="l"/>
                <a:tab pos="1841500" algn="l"/>
                <a:tab pos="1841500" algn="l"/>
                <a:tab pos="1841500" algn="l"/>
                <a:tab pos="2286000" algn="l"/>
                <a:tab pos="2286000" algn="l"/>
                <a:tab pos="2286000" algn="l"/>
                <a:tab pos="2286000" algn="l"/>
                <a:tab pos="2743200" algn="l"/>
                <a:tab pos="2743200" algn="l"/>
                <a:tab pos="2743200" algn="l"/>
                <a:tab pos="2743200" algn="l"/>
                <a:tab pos="3187700" algn="l"/>
                <a:tab pos="3187700" algn="l"/>
                <a:tab pos="3187700" algn="l"/>
                <a:tab pos="3187700" algn="l"/>
                <a:tab pos="3644900" algn="l"/>
                <a:tab pos="3644900" algn="l"/>
                <a:tab pos="3644900" algn="l"/>
                <a:tab pos="3644900" algn="l"/>
              </a:tabLst>
            </a:pPr>
            <a:endParaRPr lang="en-US" sz="1800" u="sng" dirty="0">
              <a:solidFill>
                <a:srgbClr val="A40800"/>
              </a:solidFill>
              <a:latin typeface="Arial" charset="0"/>
              <a:cs typeface="Arial" charset="0"/>
              <a:sym typeface="Arial" charset="0"/>
            </a:endParaRPr>
          </a:p>
        </p:txBody>
      </p:sp>
    </p:spTree>
    <p:extLst>
      <p:ext uri="{BB962C8B-B14F-4D97-AF65-F5344CB8AC3E}">
        <p14:creationId xmlns:p14="http://schemas.microsoft.com/office/powerpoint/2010/main" val="410256430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1746"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pPr marL="39688"/>
            <a:r>
              <a:rPr lang="en-US" sz="1400" b="0" dirty="0">
                <a:solidFill>
                  <a:srgbClr val="000000"/>
                </a:solidFill>
                <a:latin typeface="Lucida Grande" charset="0"/>
                <a:ea typeface="Lucida Grande" charset="0"/>
                <a:cs typeface="Lucida Grande" charset="0"/>
                <a:sym typeface="Lucida Grande" charset="0"/>
              </a:rPr>
              <a:t>? Như</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vậy</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nhà</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thầu</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có</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mong</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muốn</a:t>
            </a:r>
            <a:r>
              <a:rPr lang="en-US" sz="1400" b="0" baseline="0" dirty="0">
                <a:solidFill>
                  <a:srgbClr val="000000"/>
                </a:solidFill>
                <a:latin typeface="Lucida Grande" charset="0"/>
                <a:ea typeface="Lucida Grande" charset="0"/>
                <a:cs typeface="Lucida Grande" charset="0"/>
                <a:sym typeface="Lucida Grande" charset="0"/>
              </a:rPr>
              <a:t> external participant </a:t>
            </a:r>
            <a:r>
              <a:rPr lang="en-US" sz="1400" b="0" baseline="0" dirty="0" err="1">
                <a:solidFill>
                  <a:srgbClr val="000000"/>
                </a:solidFill>
                <a:latin typeface="Lucida Grande" charset="0"/>
                <a:ea typeface="Lucida Grande" charset="0"/>
                <a:cs typeface="Lucida Grande" charset="0"/>
                <a:sym typeface="Lucida Grande" charset="0"/>
              </a:rPr>
              <a:t>thực</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hiện</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hệ</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thống</a:t>
            </a:r>
            <a:r>
              <a:rPr lang="en-US" sz="1400" b="0" baseline="0" dirty="0">
                <a:solidFill>
                  <a:srgbClr val="000000"/>
                </a:solidFill>
                <a:latin typeface="Lucida Grande" charset="0"/>
                <a:ea typeface="Lucida Grande" charset="0"/>
                <a:cs typeface="Lucida Grande" charset="0"/>
                <a:sym typeface="Lucida Grande" charset="0"/>
              </a:rPr>
              <a:t> SQA </a:t>
            </a:r>
            <a:r>
              <a:rPr lang="en-US" sz="1400" b="0" baseline="0" dirty="0" err="1">
                <a:solidFill>
                  <a:srgbClr val="000000"/>
                </a:solidFill>
                <a:latin typeface="Lucida Grande" charset="0"/>
                <a:ea typeface="Lucida Grande" charset="0"/>
                <a:cs typeface="Lucida Grande" charset="0"/>
                <a:sym typeface="Lucida Grande" charset="0"/>
              </a:rPr>
              <a:t>của</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chính</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họ</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thì</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cần</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có</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những</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công</a:t>
            </a:r>
            <a:r>
              <a:rPr lang="en-US" sz="1400" b="0" baseline="0" dirty="0">
                <a:solidFill>
                  <a:srgbClr val="000000"/>
                </a:solidFill>
                <a:latin typeface="Lucida Grande" charset="0"/>
                <a:ea typeface="Lucida Grande" charset="0"/>
                <a:cs typeface="Lucida Grande" charset="0"/>
                <a:sym typeface="Lucida Grande" charset="0"/>
              </a:rPr>
              <a:t> </a:t>
            </a:r>
            <a:r>
              <a:rPr lang="en-US" sz="1400" b="0" baseline="0" dirty="0" err="1">
                <a:solidFill>
                  <a:srgbClr val="000000"/>
                </a:solidFill>
                <a:latin typeface="Lucida Grande" charset="0"/>
                <a:ea typeface="Lucida Grande" charset="0"/>
                <a:cs typeface="Lucida Grande" charset="0"/>
                <a:sym typeface="Lucida Grande" charset="0"/>
              </a:rPr>
              <a:t>cụ</a:t>
            </a:r>
            <a:r>
              <a:rPr lang="en-US" sz="1400" b="0" baseline="0" dirty="0">
                <a:solidFill>
                  <a:srgbClr val="000000"/>
                </a:solidFill>
                <a:latin typeface="Lucida Grande" charset="0"/>
                <a:ea typeface="Lucida Grande" charset="0"/>
                <a:cs typeface="Lucida Grande" charset="0"/>
                <a:sym typeface="Lucida Grande" charset="0"/>
              </a:rPr>
              <a:t> SQA </a:t>
            </a:r>
            <a:r>
              <a:rPr lang="en-US" sz="1400" b="0" baseline="0" dirty="0" err="1">
                <a:solidFill>
                  <a:srgbClr val="000000"/>
                </a:solidFill>
                <a:latin typeface="Lucida Grande" charset="0"/>
                <a:ea typeface="Lucida Grande" charset="0"/>
                <a:cs typeface="Lucida Grande" charset="0"/>
                <a:sym typeface="Lucida Grande" charset="0"/>
              </a:rPr>
              <a:t>nào</a:t>
            </a:r>
            <a:r>
              <a:rPr lang="en-US" sz="1400" b="0" baseline="0" dirty="0">
                <a:solidFill>
                  <a:srgbClr val="000000"/>
                </a:solidFill>
                <a:latin typeface="Lucida Grande" charset="0"/>
                <a:ea typeface="Lucida Grande" charset="0"/>
                <a:cs typeface="Lucida Grande" charset="0"/>
                <a:sym typeface="Lucida Grande" charset="0"/>
              </a:rPr>
              <a:t>?</a:t>
            </a:r>
            <a:endParaRPr lang="en-US" sz="1400" b="0" dirty="0">
              <a:solidFill>
                <a:srgbClr val="000000"/>
              </a:solidFill>
              <a:latin typeface="Lucida Grande" charset="0"/>
              <a:ea typeface="Lucida Grande" charset="0"/>
              <a:cs typeface="Lucida Grande" charset="0"/>
              <a:sym typeface="Lucida Grande" charset="0"/>
            </a:endParaRPr>
          </a:p>
          <a:p>
            <a:pPr marL="39688"/>
            <a:r>
              <a:rPr lang="en-US" sz="1400" b="1" dirty="0" err="1">
                <a:solidFill>
                  <a:srgbClr val="000000"/>
                </a:solidFill>
                <a:latin typeface="Lucida Grande" charset="0"/>
                <a:ea typeface="Lucida Grande" charset="0"/>
                <a:cs typeface="Lucida Grande" charset="0"/>
                <a:sym typeface="Lucida Grande" charset="0"/>
              </a:rPr>
              <a:t>Những</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công</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cụ</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trên</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đây</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là</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những</a:t>
            </a:r>
            <a:r>
              <a:rPr lang="en-US" sz="1400" b="1" baseline="0" dirty="0">
                <a:solidFill>
                  <a:srgbClr val="000000"/>
                </a:solidFill>
                <a:latin typeface="Lucida Grande" charset="0"/>
                <a:ea typeface="Lucida Grande" charset="0"/>
                <a:cs typeface="Lucida Grande" charset="0"/>
                <a:sym typeface="Lucida Grande" charset="0"/>
              </a:rPr>
              <a:t> cc </a:t>
            </a:r>
            <a:r>
              <a:rPr lang="en-US" sz="1400" b="1" baseline="0" dirty="0" err="1">
                <a:solidFill>
                  <a:srgbClr val="000000"/>
                </a:solidFill>
                <a:latin typeface="Lucida Grande" charset="0"/>
                <a:ea typeface="Lucida Grande" charset="0"/>
                <a:cs typeface="Lucida Grande" charset="0"/>
                <a:sym typeface="Lucida Grande" charset="0"/>
              </a:rPr>
              <a:t>mà</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nhà</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thầu</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có</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thể</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áp</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dụng</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trước</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và</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trong</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quá</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trình</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hợp</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tác</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với</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bên</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tham</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gia</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ngoài</a:t>
            </a:r>
            <a:endParaRPr lang="en-US" sz="1400" b="1" dirty="0">
              <a:solidFill>
                <a:srgbClr val="000000"/>
              </a:solidFill>
              <a:latin typeface="Lucida Grande" charset="0"/>
              <a:ea typeface="Lucida Grande" charset="0"/>
              <a:cs typeface="Lucida Grande" charset="0"/>
              <a:sym typeface="Lucida Grande" charset="0"/>
            </a:endParaRPr>
          </a:p>
          <a:p>
            <a:pPr marL="39688" indent="0">
              <a:buFontTx/>
              <a:buNone/>
            </a:pPr>
            <a:r>
              <a:rPr lang="en-US" sz="1400" dirty="0">
                <a:solidFill>
                  <a:srgbClr val="000000"/>
                </a:solidFill>
                <a:latin typeface="Lucida Grande" charset="0"/>
                <a:ea typeface="Lucida Grande" charset="0"/>
                <a:cs typeface="Lucida Grande" charset="0"/>
                <a:sym typeface="Lucida Grande" charset="0"/>
              </a:rPr>
              <a:t>- Review </a:t>
            </a:r>
            <a:r>
              <a:rPr lang="en-US" sz="1400" dirty="0" err="1">
                <a:solidFill>
                  <a:srgbClr val="000000"/>
                </a:solidFill>
                <a:latin typeface="Lucida Grande" charset="0"/>
                <a:ea typeface="Lucida Grande" charset="0"/>
                <a:cs typeface="Lucida Grande" charset="0"/>
                <a:sym typeface="Lucida Grande" charset="0"/>
              </a:rPr>
              <a:t>tài</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liệu</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yêu</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cầu</a:t>
            </a:r>
            <a:r>
              <a:rPr lang="en-US" sz="1400" baseline="0" dirty="0">
                <a:solidFill>
                  <a:srgbClr val="000000"/>
                </a:solidFill>
                <a:latin typeface="Lucida Grande" charset="0"/>
                <a:ea typeface="Lucida Grande" charset="0"/>
                <a:cs typeface="Lucida Grande" charset="0"/>
                <a:sym typeface="Lucida Grande" charset="0"/>
              </a:rPr>
              <a:t>:</a:t>
            </a:r>
            <a:endParaRPr lang="en-US" sz="1400" dirty="0">
              <a:solidFill>
                <a:srgbClr val="000000"/>
              </a:solidFill>
              <a:latin typeface="Lucida Grande" charset="0"/>
              <a:ea typeface="Lucida Grande" charset="0"/>
              <a:cs typeface="Lucida Grande" charset="0"/>
              <a:sym typeface="Lucida Grande" charset="0"/>
            </a:endParaRPr>
          </a:p>
          <a:p>
            <a:pPr marL="496888" lvl="1" indent="0">
              <a:buFontTx/>
              <a:buNone/>
            </a:pPr>
            <a:r>
              <a:rPr lang="vi-VN" sz="1400" dirty="0"/>
              <a:t>■</a:t>
            </a:r>
            <a:r>
              <a:rPr lang="en-US" sz="1400" dirty="0"/>
              <a:t> </a:t>
            </a:r>
            <a:r>
              <a:rPr lang="en-US" sz="1400" b="1" u="none" dirty="0">
                <a:solidFill>
                  <a:srgbClr val="D90B00"/>
                </a:solidFill>
                <a:latin typeface="Lucida Grande" charset="0"/>
                <a:ea typeface="Lucida Grande" charset="0"/>
                <a:cs typeface="Lucida Grande" charset="0"/>
                <a:sym typeface="Lucida Grande" charset="0"/>
              </a:rPr>
              <a:t>VÌ</a:t>
            </a:r>
            <a:r>
              <a:rPr lang="en-US" sz="1400" b="1" u="none" baseline="0" dirty="0">
                <a:solidFill>
                  <a:srgbClr val="D90B00"/>
                </a:solidFill>
                <a:latin typeface="Lucida Grande" charset="0"/>
                <a:ea typeface="Lucida Grande" charset="0"/>
                <a:cs typeface="Lucida Grande" charset="0"/>
                <a:sym typeface="Lucida Grande" charset="0"/>
              </a:rPr>
              <a:t> TÀI LIỆU YC LÀ CƠ SỞ HÌNH THỨC CHO CÁC HỢP ĐỒNG KÝ KẾT GIỮA CONTRACTOR VÀ BÊN NGOÀI, NÓ RẤT QUAN TRỌNG TRONG VC KIỂM TRA CV HOÀN THÀNH. </a:t>
            </a:r>
            <a:r>
              <a:rPr lang="en-US" sz="1400" b="0" u="none" baseline="0" dirty="0">
                <a:solidFill>
                  <a:srgbClr val="D90B00"/>
                </a:solidFill>
                <a:latin typeface="Lucida Grande" charset="0"/>
                <a:ea typeface="Lucida Grande" charset="0"/>
                <a:cs typeface="Lucida Grande" charset="0"/>
                <a:sym typeface="Lucida Grande" charset="0"/>
              </a:rPr>
              <a:t>Do </a:t>
            </a:r>
            <a:r>
              <a:rPr lang="en-US" sz="1400" b="0" u="none" baseline="0" dirty="0" err="1">
                <a:solidFill>
                  <a:srgbClr val="D90B00"/>
                </a:solidFill>
                <a:latin typeface="Lucida Grande" charset="0"/>
                <a:ea typeface="Lucida Grande" charset="0"/>
                <a:cs typeface="Lucida Grande" charset="0"/>
                <a:sym typeface="Lucida Grande" charset="0"/>
              </a:rPr>
              <a:t>đó</a:t>
            </a:r>
            <a:r>
              <a:rPr lang="en-US" sz="1400" b="0" u="none" baseline="0" dirty="0">
                <a:solidFill>
                  <a:srgbClr val="D90B00"/>
                </a:solidFill>
                <a:latin typeface="Lucida Grande" charset="0"/>
                <a:ea typeface="Lucida Grande" charset="0"/>
                <a:cs typeface="Lucida Grande" charset="0"/>
                <a:sym typeface="Lucida Grande" charset="0"/>
              </a:rPr>
              <a:t>, review </a:t>
            </a:r>
            <a:r>
              <a:rPr lang="en-US" sz="1400" b="0" u="none" baseline="0" dirty="0" err="1">
                <a:solidFill>
                  <a:srgbClr val="D90B00"/>
                </a:solidFill>
                <a:latin typeface="Lucida Grande" charset="0"/>
                <a:ea typeface="Lucida Grande" charset="0"/>
                <a:cs typeface="Lucida Grande" charset="0"/>
                <a:sym typeface="Lucida Grande" charset="0"/>
              </a:rPr>
              <a:t>tài</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liệu</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yc</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nhằm</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đảm</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bảo</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các</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yc</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sng" dirty="0">
                <a:solidFill>
                  <a:srgbClr val="D90B00"/>
                </a:solidFill>
                <a:latin typeface="Lucida Grande" charset="0"/>
                <a:ea typeface="Lucida Grande" charset="0"/>
                <a:cs typeface="Lucida Grande" charset="0"/>
                <a:sym typeface="Lucida Grande" charset="0"/>
              </a:rPr>
              <a:t>correct and complete </a:t>
            </a:r>
            <a:r>
              <a:rPr lang="en-US" sz="1400" b="0" u="none" dirty="0">
                <a:solidFill>
                  <a:srgbClr val="D90B00"/>
                </a:solidFill>
                <a:latin typeface="Lucida Grande" charset="0"/>
                <a:ea typeface="Lucida Grande" charset="0"/>
                <a:cs typeface="Lucida Grande" charset="0"/>
                <a:sym typeface="Lucida Grande" charset="0"/>
              </a:rPr>
              <a:t>- reduces delays and low quality.</a:t>
            </a:r>
            <a:r>
              <a:rPr lang="en-US" sz="1400" b="1" u="none" dirty="0">
                <a:solidFill>
                  <a:srgbClr val="D90B00"/>
                </a:solidFill>
                <a:latin typeface="Lucida Grande" charset="0"/>
                <a:ea typeface="Lucida Grande" charset="0"/>
                <a:cs typeface="Lucida Grande" charset="0"/>
                <a:sym typeface="Lucida Grande" charset="0"/>
              </a:rPr>
              <a:t> </a:t>
            </a:r>
          </a:p>
          <a:p>
            <a:pPr marL="39688" indent="0">
              <a:buFontTx/>
              <a:buNone/>
            </a:pPr>
            <a:endParaRPr lang="en-US" sz="1400" dirty="0">
              <a:solidFill>
                <a:srgbClr val="000000"/>
              </a:solidFill>
              <a:latin typeface="Lucida Grande" charset="0"/>
              <a:ea typeface="Lucida Grande" charset="0"/>
              <a:cs typeface="Lucida Grande" charset="0"/>
              <a:sym typeface="Lucida Grande" charset="0"/>
            </a:endParaRPr>
          </a:p>
          <a:p>
            <a:pPr marL="39688" indent="0">
              <a:buFontTx/>
              <a:buNone/>
            </a:pPr>
            <a:r>
              <a:rPr lang="en-US" sz="1400" dirty="0">
                <a:solidFill>
                  <a:srgbClr val="000000"/>
                </a:solidFill>
                <a:latin typeface="Lucida Grande" charset="0"/>
                <a:ea typeface="Lucida Grande" charset="0"/>
                <a:cs typeface="Lucida Grande" charset="0"/>
                <a:sym typeface="Lucida Grande" charset="0"/>
              </a:rPr>
              <a:t>-</a:t>
            </a:r>
            <a:r>
              <a:rPr lang="en-US" sz="1400" baseline="0" dirty="0">
                <a:solidFill>
                  <a:srgbClr val="000000"/>
                </a:solidFill>
                <a:latin typeface="Lucida Grande" charset="0"/>
                <a:ea typeface="Lucida Grande" charset="0"/>
                <a:cs typeface="Lucida Grande" charset="0"/>
                <a:sym typeface="Lucida Grande" charset="0"/>
              </a:rPr>
              <a:t> </a:t>
            </a:r>
            <a:r>
              <a:rPr lang="en-US" sz="1400" dirty="0" err="1">
                <a:solidFill>
                  <a:srgbClr val="000000"/>
                </a:solidFill>
                <a:latin typeface="Lucida Grande" charset="0"/>
                <a:ea typeface="Lucida Grande" charset="0"/>
                <a:cs typeface="Lucida Grande" charset="0"/>
                <a:sym typeface="Lucida Grande" charset="0"/>
              </a:rPr>
              <a:t>Lựa</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chọn</a:t>
            </a:r>
            <a:r>
              <a:rPr lang="en-US" sz="1400" dirty="0">
                <a:solidFill>
                  <a:srgbClr val="000000"/>
                </a:solidFill>
                <a:latin typeface="Lucida Grande" charset="0"/>
                <a:ea typeface="Lucida Grande" charset="0"/>
                <a:cs typeface="Lucida Grande" charset="0"/>
                <a:sym typeface="Lucida Grande" charset="0"/>
              </a:rPr>
              <a:t> external participant  </a:t>
            </a:r>
            <a:r>
              <a:rPr lang="en-US" sz="1400" b="1" dirty="0">
                <a:solidFill>
                  <a:srgbClr val="000000"/>
                </a:solidFill>
                <a:latin typeface="Lucida Grande" charset="0"/>
                <a:ea typeface="Lucida Grande" charset="0"/>
                <a:cs typeface="Lucida Grande" charset="0"/>
                <a:sym typeface="Wingdings" pitchFamily="2" charset="2"/>
              </a:rPr>
              <a:t> </a:t>
            </a:r>
            <a:r>
              <a:rPr lang="en-US" sz="1400" b="1" u="none" dirty="0">
                <a:solidFill>
                  <a:srgbClr val="D90B00"/>
                </a:solidFill>
                <a:latin typeface="Lucida Grande" charset="0"/>
                <a:ea typeface="Lucida Grande" charset="0"/>
                <a:cs typeface="Lucida Grande" charset="0"/>
                <a:sym typeface="Lucida Grande" charset="0"/>
              </a:rPr>
              <a:t>CẦN</a:t>
            </a:r>
            <a:r>
              <a:rPr lang="en-US" sz="1400" b="1" u="none" baseline="0" dirty="0">
                <a:solidFill>
                  <a:srgbClr val="D90B00"/>
                </a:solidFill>
                <a:latin typeface="Lucida Grande" charset="0"/>
                <a:ea typeface="Lucida Grande" charset="0"/>
                <a:cs typeface="Lucida Grande" charset="0"/>
                <a:sym typeface="Lucida Grande" charset="0"/>
              </a:rPr>
              <a:t> THU THẬP THÔNG TIN VỀ TỔ CHỨC THAM GIA NGOÀI (TỪ NHỮNG TỔ CHỨC ĐÃ TỪNG HỢP TÁC VỚI NCC ĐÓ), CÁC SP TR</a:t>
            </a:r>
            <a:r>
              <a:rPr lang="vi-VN" sz="1400" b="1" u="none" baseline="0" dirty="0">
                <a:solidFill>
                  <a:srgbClr val="D90B00"/>
                </a:solidFill>
                <a:latin typeface="Lucida Grande" charset="0"/>
                <a:ea typeface="Lucida Grande" charset="0"/>
                <a:cs typeface="Lucida Grande" charset="0"/>
                <a:sym typeface="Lucida Grande" charset="0"/>
              </a:rPr>
              <a:t>ƯỚ</a:t>
            </a:r>
            <a:r>
              <a:rPr lang="en-US" sz="1400" b="1" u="none" baseline="0" dirty="0">
                <a:solidFill>
                  <a:srgbClr val="D90B00"/>
                </a:solidFill>
                <a:latin typeface="Lucida Grande" charset="0"/>
                <a:ea typeface="Lucida Grande" charset="0"/>
                <a:cs typeface="Lucida Grande" charset="0"/>
                <a:sym typeface="Lucida Grande" charset="0"/>
              </a:rPr>
              <a:t>C CỦA HỌ, TRÌNH ĐỘ NHÂN VIÊN VÀ ĐÁNH GIÁ THÔNG TIN ĐÓ.</a:t>
            </a:r>
            <a:endParaRPr lang="en-US" sz="1400" b="0" u="none" baseline="0" dirty="0">
              <a:solidFill>
                <a:srgbClr val="D90B00"/>
              </a:solidFill>
              <a:latin typeface="Lucida Grande" charset="0"/>
              <a:ea typeface="Lucida Grande" charset="0"/>
              <a:cs typeface="Lucida Grande" charset="0"/>
              <a:sym typeface="Lucida Grande" charset="0"/>
            </a:endParaRPr>
          </a:p>
          <a:p>
            <a:pPr marL="39688" indent="0">
              <a:buFontTx/>
              <a:buNone/>
            </a:pPr>
            <a:endParaRPr lang="en-US" sz="1400" b="1" dirty="0">
              <a:solidFill>
                <a:srgbClr val="000000"/>
              </a:solidFill>
              <a:latin typeface="Lucida Grande" charset="0"/>
              <a:ea typeface="Lucida Grande" charset="0"/>
              <a:cs typeface="Lucida Grande" charset="0"/>
              <a:sym typeface="Lucida Grande" charset="0"/>
            </a:endParaRPr>
          </a:p>
          <a:p>
            <a:pPr marL="39688" indent="0">
              <a:buFontTx/>
              <a:buNone/>
            </a:pPr>
            <a:r>
              <a:rPr lang="en-US" sz="1400" b="1" dirty="0">
                <a:solidFill>
                  <a:srgbClr val="000000"/>
                </a:solidFill>
                <a:latin typeface="Lucida Grande" charset="0"/>
                <a:ea typeface="Lucida Grande" charset="0"/>
                <a:cs typeface="Lucida Grande" charset="0"/>
                <a:sym typeface="Lucida Grande" charset="0"/>
              </a:rPr>
              <a:t>- </a:t>
            </a:r>
            <a:r>
              <a:rPr lang="en-US" sz="1400" b="1" dirty="0" err="1">
                <a:solidFill>
                  <a:srgbClr val="000000"/>
                </a:solidFill>
                <a:latin typeface="Lucida Grande" charset="0"/>
                <a:ea typeface="Lucida Grande" charset="0"/>
                <a:cs typeface="Lucida Grande" charset="0"/>
                <a:sym typeface="Lucida Grande" charset="0"/>
              </a:rPr>
              <a:t>Phối</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hợp</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kiểm</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soát</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dự</a:t>
            </a:r>
            <a:r>
              <a:rPr lang="en-US" sz="1400" b="1" baseline="0" dirty="0">
                <a:solidFill>
                  <a:srgbClr val="000000"/>
                </a:solidFill>
                <a:latin typeface="Lucida Grande" charset="0"/>
                <a:ea typeface="Lucida Grande" charset="0"/>
                <a:cs typeface="Lucida Grande" charset="0"/>
                <a:sym typeface="Lucida Grande" charset="0"/>
              </a:rPr>
              <a:t> </a:t>
            </a:r>
            <a:r>
              <a:rPr lang="en-US" sz="1400" b="1" baseline="0" dirty="0" err="1">
                <a:solidFill>
                  <a:srgbClr val="000000"/>
                </a:solidFill>
                <a:latin typeface="Lucida Grande" charset="0"/>
                <a:ea typeface="Lucida Grande" charset="0"/>
                <a:cs typeface="Lucida Grande" charset="0"/>
                <a:sym typeface="Lucida Grande" charset="0"/>
              </a:rPr>
              <a:t>án</a:t>
            </a:r>
            <a:r>
              <a:rPr lang="en-US" sz="1400" b="1" baseline="0" dirty="0">
                <a:solidFill>
                  <a:srgbClr val="000000"/>
                </a:solidFill>
                <a:latin typeface="Lucida Grande" charset="0"/>
                <a:ea typeface="Lucida Grande" charset="0"/>
                <a:cs typeface="Lucida Grande" charset="0"/>
                <a:sym typeface="Lucida Grande" charset="0"/>
              </a:rPr>
              <a:t> </a:t>
            </a:r>
            <a:r>
              <a:rPr lang="en-US" sz="1400" dirty="0">
                <a:solidFill>
                  <a:srgbClr val="000000"/>
                </a:solidFill>
                <a:latin typeface="Lucida Grande" charset="0"/>
                <a:ea typeface="Lucida Grande" charset="0"/>
                <a:cs typeface="Lucida Grande" charset="0"/>
                <a:sym typeface="Lucida Grande" charset="0"/>
              </a:rPr>
              <a:t>- </a:t>
            </a:r>
            <a:r>
              <a:rPr lang="vi-VN" sz="1400" b="1" u="none" dirty="0">
                <a:solidFill>
                  <a:srgbClr val="D90B00"/>
                </a:solidFill>
                <a:latin typeface="Lucida Grande" charset="0"/>
                <a:ea typeface="Lucida Grande" charset="0"/>
                <a:cs typeface="Lucida Grande" charset="0"/>
                <a:sym typeface="Lucida Grande" charset="0"/>
              </a:rPr>
              <a:t>theo dõi tiến độ, </a:t>
            </a:r>
            <a:r>
              <a:rPr lang="en-US" sz="1400" b="1" u="none" dirty="0" err="1">
                <a:solidFill>
                  <a:srgbClr val="D90B00"/>
                </a:solidFill>
                <a:latin typeface="Lucida Grande" charset="0"/>
                <a:ea typeface="Lucida Grande" charset="0"/>
                <a:cs typeface="Lucida Grande" charset="0"/>
                <a:sym typeface="Lucida Grande" charset="0"/>
              </a:rPr>
              <a:t>gặp</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gỡ</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các</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nhóm</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trưởng</a:t>
            </a:r>
            <a:r>
              <a:rPr lang="vi-VN" sz="1400" b="1" u="none" dirty="0">
                <a:solidFill>
                  <a:srgbClr val="D90B00"/>
                </a:solidFill>
                <a:latin typeface="Lucida Grande" charset="0"/>
                <a:ea typeface="Lucida Grande" charset="0"/>
                <a:cs typeface="Lucida Grande" charset="0"/>
                <a:sym typeface="Lucida Grande" charset="0"/>
              </a:rPr>
              <a:t>, giải quyết bất đồng </a:t>
            </a:r>
            <a:r>
              <a:rPr lang="en-US" sz="1400" b="1" u="none" dirty="0" err="1">
                <a:solidFill>
                  <a:srgbClr val="D90B00"/>
                </a:solidFill>
                <a:latin typeface="Lucida Grande" charset="0"/>
                <a:ea typeface="Lucida Grande" charset="0"/>
                <a:cs typeface="Lucida Grande" charset="0"/>
                <a:sym typeface="Lucida Grande" charset="0"/>
              </a:rPr>
              <a:t>về</a:t>
            </a:r>
            <a:r>
              <a:rPr lang="en-US" sz="1400" b="1" u="none" baseline="0" dirty="0">
                <a:solidFill>
                  <a:srgbClr val="D90B00"/>
                </a:solidFill>
                <a:latin typeface="Lucida Grande" charset="0"/>
                <a:ea typeface="Lucida Grande" charset="0"/>
                <a:cs typeface="Lucida Grande" charset="0"/>
                <a:sym typeface="Lucida Grande" charset="0"/>
              </a:rPr>
              <a:t> </a:t>
            </a:r>
            <a:r>
              <a:rPr lang="vi-VN" sz="1400" b="1" u="none" dirty="0">
                <a:solidFill>
                  <a:srgbClr val="D90B00"/>
                </a:solidFill>
                <a:latin typeface="Lucida Grande" charset="0"/>
                <a:ea typeface="Lucida Grande" charset="0"/>
                <a:cs typeface="Lucida Grande" charset="0"/>
                <a:sym typeface="Lucida Grande" charset="0"/>
              </a:rPr>
              <a:t>hợp đồng</a:t>
            </a:r>
            <a:r>
              <a:rPr lang="en-US" sz="1400" b="1" u="none" dirty="0">
                <a:solidFill>
                  <a:srgbClr val="D90B00"/>
                </a:solidFill>
                <a:latin typeface="Lucida Grande" charset="0"/>
                <a:ea typeface="Lucida Grande" charset="0"/>
                <a:cs typeface="Lucida Grande" charset="0"/>
                <a:sym typeface="Lucida Grande" charset="0"/>
              </a:rPr>
              <a:t>:</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dirty="0">
                <a:solidFill>
                  <a:srgbClr val="D90B00"/>
                </a:solidFill>
                <a:latin typeface="Lucida Grande" charset="0"/>
                <a:ea typeface="Lucida Grande" charset="0"/>
                <a:cs typeface="Lucida Grande" charset="0"/>
                <a:sym typeface="Lucida Grande" charset="0"/>
              </a:rPr>
              <a:t>t317</a:t>
            </a:r>
          </a:p>
          <a:p>
            <a:pPr marL="39688" indent="0">
              <a:buFontTx/>
              <a:buNone/>
            </a:pPr>
            <a:endParaRPr lang="en-US" sz="1400" dirty="0">
              <a:solidFill>
                <a:srgbClr val="000000"/>
              </a:solidFill>
              <a:latin typeface="Lucida Grande" charset="0"/>
              <a:ea typeface="Lucida Grande" charset="0"/>
              <a:cs typeface="Lucida Grande" charset="0"/>
              <a:sym typeface="Lucida Grande" charset="0"/>
            </a:endParaRPr>
          </a:p>
          <a:p>
            <a:pPr marL="39688" indent="0">
              <a:buFontTx/>
              <a:buNone/>
            </a:pPr>
            <a:r>
              <a:rPr lang="en-US" sz="1400" dirty="0">
                <a:solidFill>
                  <a:srgbClr val="000000"/>
                </a:solidFill>
                <a:latin typeface="Lucida Grande" charset="0"/>
                <a:ea typeface="Lucida Grande" charset="0"/>
                <a:cs typeface="Lucida Grande" charset="0"/>
                <a:sym typeface="Lucida Grande" charset="0"/>
              </a:rPr>
              <a:t>- Tham </a:t>
            </a:r>
            <a:r>
              <a:rPr lang="en-US" sz="1400" dirty="0" err="1">
                <a:solidFill>
                  <a:srgbClr val="000000"/>
                </a:solidFill>
                <a:latin typeface="Lucida Grande" charset="0"/>
                <a:ea typeface="Lucida Grande" charset="0"/>
                <a:cs typeface="Lucida Grande" charset="0"/>
                <a:sym typeface="Lucida Grande" charset="0"/>
              </a:rPr>
              <a:t>gia</a:t>
            </a:r>
            <a:r>
              <a:rPr lang="en-US" sz="1400" dirty="0">
                <a:solidFill>
                  <a:srgbClr val="000000"/>
                </a:solidFill>
                <a:latin typeface="Lucida Grande" charset="0"/>
                <a:ea typeface="Lucida Grande" charset="0"/>
                <a:cs typeface="Lucida Grande" charset="0"/>
                <a:sym typeface="Lucida Grande" charset="0"/>
              </a:rPr>
              <a:t> </a:t>
            </a:r>
            <a:r>
              <a:rPr lang="en-US" sz="1400" dirty="0" err="1">
                <a:solidFill>
                  <a:srgbClr val="000000"/>
                </a:solidFill>
                <a:latin typeface="Lucida Grande" charset="0"/>
                <a:ea typeface="Lucida Grande" charset="0"/>
                <a:cs typeface="Lucida Grande" charset="0"/>
                <a:sym typeface="Lucida Grande" charset="0"/>
              </a:rPr>
              <a:t>đánh</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giá</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thiết</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kế</a:t>
            </a:r>
            <a:r>
              <a:rPr lang="en-US" sz="1400" dirty="0">
                <a:solidFill>
                  <a:srgbClr val="000000"/>
                </a:solidFill>
                <a:latin typeface="Lucida Grande" charset="0"/>
                <a:ea typeface="Lucida Grande" charset="0"/>
                <a:cs typeface="Lucida Grande" charset="0"/>
                <a:sym typeface="Lucida Grande" charset="0"/>
              </a:rPr>
              <a:t> - </a:t>
            </a:r>
            <a:r>
              <a:rPr lang="en-US" sz="1400" b="0" i="1" dirty="0" err="1">
                <a:solidFill>
                  <a:srgbClr val="000000"/>
                </a:solidFill>
                <a:latin typeface="Lucida Grande" charset="0"/>
                <a:ea typeface="Lucida Grande" charset="0"/>
                <a:cs typeface="Lucida Grande" charset="0"/>
                <a:sym typeface="Lucida Grande" charset="0"/>
              </a:rPr>
              <a:t>nhằm</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kiểm</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tra</a:t>
            </a:r>
            <a:r>
              <a:rPr lang="en-US" sz="1400" b="0" i="1" baseline="0" dirty="0">
                <a:solidFill>
                  <a:srgbClr val="000000"/>
                </a:solidFill>
                <a:latin typeface="Lucida Grande" charset="0"/>
                <a:ea typeface="Lucida Grande" charset="0"/>
                <a:cs typeface="Lucida Grande" charset="0"/>
                <a:sym typeface="Lucida Grande" charset="0"/>
              </a:rPr>
              <a:t> </a:t>
            </a:r>
            <a:r>
              <a:rPr lang="vi-VN" sz="1400" b="0" i="1" baseline="0" dirty="0">
                <a:solidFill>
                  <a:srgbClr val="000000"/>
                </a:solidFill>
                <a:latin typeface="Lucida Grande" charset="0"/>
                <a:ea typeface="Lucida Grande" charset="0"/>
                <a:cs typeface="Lucida Grande" charset="0"/>
                <a:sym typeface="Lucida Grande" charset="0"/>
              </a:rPr>
              <a:t>chất lượng </a:t>
            </a:r>
            <a:r>
              <a:rPr lang="en-US" sz="1400" b="0" i="1" baseline="0" dirty="0">
                <a:solidFill>
                  <a:srgbClr val="000000"/>
                </a:solidFill>
                <a:latin typeface="Lucida Grande" charset="0"/>
                <a:ea typeface="Lucida Grande" charset="0"/>
                <a:cs typeface="Lucida Grande" charset="0"/>
                <a:sym typeface="Lucida Grande" charset="0"/>
              </a:rPr>
              <a:t>cv </a:t>
            </a:r>
            <a:r>
              <a:rPr lang="vi-VN" sz="1400" b="0" i="1" baseline="0" dirty="0">
                <a:solidFill>
                  <a:srgbClr val="000000"/>
                </a:solidFill>
                <a:latin typeface="Lucida Grande" charset="0"/>
                <a:ea typeface="Lucida Grande" charset="0"/>
                <a:cs typeface="Lucida Grande" charset="0"/>
                <a:sym typeface="Lucida Grande" charset="0"/>
              </a:rPr>
              <a:t>thực sự của các nhà thầu phụ</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tham</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gia</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thảo</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luận</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cũng</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như</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có</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thể</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quyết</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định</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vấn</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1" baseline="0" dirty="0" err="1">
                <a:solidFill>
                  <a:srgbClr val="000000"/>
                </a:solidFill>
                <a:latin typeface="Lucida Grande" charset="0"/>
                <a:ea typeface="Lucida Grande" charset="0"/>
                <a:cs typeface="Lucida Grande" charset="0"/>
                <a:sym typeface="Lucida Grande" charset="0"/>
              </a:rPr>
              <a:t>đề</a:t>
            </a:r>
            <a:r>
              <a:rPr lang="en-US" sz="1400" b="0" i="1" baseline="0" dirty="0">
                <a:solidFill>
                  <a:srgbClr val="000000"/>
                </a:solidFill>
                <a:latin typeface="Lucida Grande" charset="0"/>
                <a:ea typeface="Lucida Grande" charset="0"/>
                <a:cs typeface="Lucida Grande" charset="0"/>
                <a:sym typeface="Lucida Grande" charset="0"/>
              </a:rPr>
              <a:t>: </a:t>
            </a:r>
            <a:r>
              <a:rPr lang="en-US" sz="1400" b="0" i="0" u="none" dirty="0">
                <a:solidFill>
                  <a:srgbClr val="D90B00"/>
                </a:solidFill>
                <a:latin typeface="Lucida Grande" charset="0"/>
                <a:ea typeface="Lucida Grande" charset="0"/>
                <a:cs typeface="Lucida Grande" charset="0"/>
                <a:sym typeface="Lucida Grande" charset="0"/>
              </a:rPr>
              <a:t>Contractor </a:t>
            </a:r>
            <a:r>
              <a:rPr lang="en-US" sz="1400" b="0" i="0" u="none" dirty="0" err="1">
                <a:solidFill>
                  <a:srgbClr val="D90B00"/>
                </a:solidFill>
                <a:latin typeface="Lucida Grande" charset="0"/>
                <a:ea typeface="Lucida Grande" charset="0"/>
                <a:cs typeface="Lucida Grande" charset="0"/>
                <a:sym typeface="Lucida Grande" charset="0"/>
              </a:rPr>
              <a:t>cần</a:t>
            </a:r>
            <a:r>
              <a:rPr lang="en-US" sz="1400" b="0" i="0" u="none" dirty="0">
                <a:solidFill>
                  <a:srgbClr val="D90B00"/>
                </a:solidFill>
                <a:latin typeface="Lucida Grande" charset="0"/>
                <a:ea typeface="Lucida Grande" charset="0"/>
                <a:cs typeface="Lucida Grande" charset="0"/>
                <a:sym typeface="Lucida Grande" charset="0"/>
              </a:rPr>
              <a:t> </a:t>
            </a:r>
            <a:r>
              <a:rPr lang="en-US" sz="1400" b="0" i="0" u="none" dirty="0" err="1">
                <a:solidFill>
                  <a:srgbClr val="D90B00"/>
                </a:solidFill>
                <a:latin typeface="Lucida Grande" charset="0"/>
                <a:ea typeface="Lucida Grande" charset="0"/>
                <a:cs typeface="Lucida Grande" charset="0"/>
                <a:sym typeface="Lucida Grande" charset="0"/>
              </a:rPr>
              <a:t>đc</a:t>
            </a:r>
            <a:r>
              <a:rPr lang="en-US" sz="1400" b="0" i="0" u="none" baseline="0" dirty="0">
                <a:solidFill>
                  <a:srgbClr val="D90B00"/>
                </a:solidFill>
                <a:latin typeface="Lucida Grande" charset="0"/>
                <a:ea typeface="Lucida Grande" charset="0"/>
                <a:cs typeface="Lucida Grande" charset="0"/>
                <a:sym typeface="Lucida Grande" charset="0"/>
              </a:rPr>
              <a:t> </a:t>
            </a:r>
            <a:r>
              <a:rPr lang="en-US" sz="1400" b="0" i="0" u="none" baseline="0" dirty="0" err="1">
                <a:solidFill>
                  <a:srgbClr val="D90B00"/>
                </a:solidFill>
                <a:latin typeface="Lucida Grande" charset="0"/>
                <a:ea typeface="Lucida Grande" charset="0"/>
                <a:cs typeface="Lucida Grande" charset="0"/>
                <a:sym typeface="Lucida Grande" charset="0"/>
              </a:rPr>
              <a:t>tham</a:t>
            </a:r>
            <a:r>
              <a:rPr lang="en-US" sz="1400" b="0" i="0" u="none" baseline="0" dirty="0">
                <a:solidFill>
                  <a:srgbClr val="D90B00"/>
                </a:solidFill>
                <a:latin typeface="Lucida Grande" charset="0"/>
                <a:ea typeface="Lucida Grande" charset="0"/>
                <a:cs typeface="Lucida Grande" charset="0"/>
                <a:sym typeface="Lucida Grande" charset="0"/>
              </a:rPr>
              <a:t> </a:t>
            </a:r>
            <a:r>
              <a:rPr lang="en-US" sz="1400" b="0" i="0" u="none" baseline="0" dirty="0" err="1">
                <a:solidFill>
                  <a:srgbClr val="D90B00"/>
                </a:solidFill>
                <a:latin typeface="Lucida Grande" charset="0"/>
                <a:ea typeface="Lucida Grande" charset="0"/>
                <a:cs typeface="Lucida Grande" charset="0"/>
                <a:sym typeface="Lucida Grande" charset="0"/>
              </a:rPr>
              <a:t>gia</a:t>
            </a:r>
            <a:r>
              <a:rPr lang="en-US" sz="1400" b="0" i="0" u="none" baseline="0" dirty="0">
                <a:solidFill>
                  <a:srgbClr val="D90B00"/>
                </a:solidFill>
                <a:latin typeface="Lucida Grande" charset="0"/>
                <a:ea typeface="Lucida Grande" charset="0"/>
                <a:cs typeface="Lucida Grande" charset="0"/>
                <a:sym typeface="Lucida Grande" charset="0"/>
              </a:rPr>
              <a:t> </a:t>
            </a:r>
            <a:r>
              <a:rPr lang="en-US" sz="1400" b="0" i="0" u="none" baseline="0" dirty="0" err="1">
                <a:solidFill>
                  <a:srgbClr val="D90B00"/>
                </a:solidFill>
                <a:latin typeface="Lucida Grande" charset="0"/>
                <a:ea typeface="Lucida Grande" charset="0"/>
                <a:cs typeface="Lucida Grande" charset="0"/>
                <a:sym typeface="Lucida Grande" charset="0"/>
              </a:rPr>
              <a:t>như</a:t>
            </a:r>
            <a:r>
              <a:rPr lang="en-US" sz="1400" b="0" i="0" u="none" baseline="0" dirty="0">
                <a:solidFill>
                  <a:srgbClr val="D90B00"/>
                </a:solidFill>
                <a:latin typeface="Lucida Grande" charset="0"/>
                <a:ea typeface="Lucida Grande" charset="0"/>
                <a:cs typeface="Lucida Grande" charset="0"/>
                <a:sym typeface="Lucida Grande" charset="0"/>
              </a:rPr>
              <a:t> 1 </a:t>
            </a:r>
            <a:r>
              <a:rPr lang="en-US" sz="1400" b="0" i="0" u="none" baseline="0" dirty="0" err="1">
                <a:solidFill>
                  <a:srgbClr val="D90B00"/>
                </a:solidFill>
                <a:latin typeface="Lucida Grande" charset="0"/>
                <a:ea typeface="Lucida Grande" charset="0"/>
                <a:cs typeface="Lucida Grande" charset="0"/>
                <a:sym typeface="Lucida Grande" charset="0"/>
              </a:rPr>
              <a:t>thành</a:t>
            </a:r>
            <a:r>
              <a:rPr lang="en-US" sz="1400" b="0" i="0" u="none" baseline="0" dirty="0">
                <a:solidFill>
                  <a:srgbClr val="D90B00"/>
                </a:solidFill>
                <a:latin typeface="Lucida Grande" charset="0"/>
                <a:ea typeface="Lucida Grande" charset="0"/>
                <a:cs typeface="Lucida Grande" charset="0"/>
                <a:sym typeface="Lucida Grande" charset="0"/>
              </a:rPr>
              <a:t> </a:t>
            </a:r>
            <a:r>
              <a:rPr lang="en-US" sz="1400" b="0" i="0" u="none" baseline="0" dirty="0" err="1">
                <a:solidFill>
                  <a:srgbClr val="D90B00"/>
                </a:solidFill>
                <a:latin typeface="Lucida Grande" charset="0"/>
                <a:ea typeface="Lucida Grande" charset="0"/>
                <a:cs typeface="Lucida Grande" charset="0"/>
                <a:sym typeface="Lucida Grande" charset="0"/>
              </a:rPr>
              <a:t>viên</a:t>
            </a:r>
            <a:r>
              <a:rPr lang="en-US" sz="1400" b="0" i="0" u="none" baseline="0" dirty="0">
                <a:solidFill>
                  <a:srgbClr val="D90B00"/>
                </a:solidFill>
                <a:latin typeface="Lucida Grande" charset="0"/>
                <a:ea typeface="Lucida Grande" charset="0"/>
                <a:cs typeface="Lucida Grande" charset="0"/>
                <a:sym typeface="Lucida Grande" charset="0"/>
              </a:rPr>
              <a:t> </a:t>
            </a:r>
            <a:r>
              <a:rPr lang="en-US" sz="1400" b="0" i="0" u="none" baseline="0" dirty="0" err="1">
                <a:solidFill>
                  <a:srgbClr val="D90B00"/>
                </a:solidFill>
                <a:latin typeface="Lucida Grande" charset="0"/>
                <a:ea typeface="Lucida Grande" charset="0"/>
                <a:cs typeface="Lucida Grande" charset="0"/>
                <a:sym typeface="Lucida Grande" charset="0"/>
              </a:rPr>
              <a:t>thật</a:t>
            </a:r>
            <a:r>
              <a:rPr lang="en-US" sz="1400" b="0" i="0" u="none" baseline="0" dirty="0">
                <a:solidFill>
                  <a:srgbClr val="D90B00"/>
                </a:solidFill>
                <a:latin typeface="Lucida Grande" charset="0"/>
                <a:ea typeface="Lucida Grande" charset="0"/>
                <a:cs typeface="Lucida Grande" charset="0"/>
                <a:sym typeface="Lucida Grande" charset="0"/>
              </a:rPr>
              <a:t> </a:t>
            </a:r>
            <a:r>
              <a:rPr lang="en-US" sz="1400" b="0" i="0" u="none" baseline="0" dirty="0" err="1">
                <a:solidFill>
                  <a:srgbClr val="D90B00"/>
                </a:solidFill>
                <a:latin typeface="Lucida Grande" charset="0"/>
                <a:ea typeface="Lucida Grande" charset="0"/>
                <a:cs typeface="Lucida Grande" charset="0"/>
                <a:sym typeface="Lucida Grande" charset="0"/>
              </a:rPr>
              <a:t>sự</a:t>
            </a:r>
            <a:r>
              <a:rPr lang="en-US" sz="1400" b="0" i="0" u="none" baseline="0" dirty="0">
                <a:solidFill>
                  <a:srgbClr val="D90B00"/>
                </a:solidFill>
                <a:latin typeface="Lucida Grande" charset="0"/>
                <a:ea typeface="Lucida Grande" charset="0"/>
                <a:cs typeface="Lucida Grande" charset="0"/>
                <a:sym typeface="Lucida Grande" charset="0"/>
              </a:rPr>
              <a:t> </a:t>
            </a:r>
            <a:r>
              <a:rPr lang="en-US" sz="1400" b="0" i="0" u="none" baseline="0" dirty="0" err="1">
                <a:solidFill>
                  <a:srgbClr val="D90B00"/>
                </a:solidFill>
                <a:latin typeface="Lucida Grande" charset="0"/>
                <a:ea typeface="Lucida Grande" charset="0"/>
                <a:cs typeface="Lucida Grande" charset="0"/>
                <a:sym typeface="Lucida Grande" charset="0"/>
              </a:rPr>
              <a:t>của</a:t>
            </a:r>
            <a:r>
              <a:rPr lang="en-US" sz="1400" b="0" i="0" u="none" baseline="0" dirty="0">
                <a:solidFill>
                  <a:srgbClr val="D90B00"/>
                </a:solidFill>
                <a:latin typeface="Lucida Grande" charset="0"/>
                <a:ea typeface="Lucida Grande" charset="0"/>
                <a:cs typeface="Lucida Grande" charset="0"/>
                <a:sym typeface="Lucida Grande" charset="0"/>
              </a:rPr>
              <a:t> review: </a:t>
            </a:r>
            <a:r>
              <a:rPr lang="en-US" sz="1400" b="1" i="0" u="none" baseline="0" dirty="0" err="1">
                <a:solidFill>
                  <a:srgbClr val="D90B00"/>
                </a:solidFill>
                <a:latin typeface="Lucida Grande" charset="0"/>
                <a:ea typeface="Lucida Grande" charset="0"/>
                <a:cs typeface="Lucida Grande" charset="0"/>
                <a:sym typeface="Lucida Grande" charset="0"/>
              </a:rPr>
              <a:t>xem</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tài</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liệu</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trước</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khi</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cuộc</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họp</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bắt</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đầu</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đc</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tham</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gia</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thảo</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luận</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cũng</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như</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quyết</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định</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cuối</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cùng</a:t>
            </a:r>
            <a:r>
              <a:rPr lang="en-US" sz="1400" b="1" i="0" u="none" baseline="0" dirty="0">
                <a:solidFill>
                  <a:srgbClr val="D90B00"/>
                </a:solidFill>
                <a:latin typeface="Lucida Grande" charset="0"/>
                <a:ea typeface="Lucida Grande" charset="0"/>
                <a:cs typeface="Lucida Grande" charset="0"/>
                <a:sym typeface="Lucida Grande" charset="0"/>
              </a:rPr>
              <a:t> </a:t>
            </a:r>
            <a:r>
              <a:rPr lang="en-US" sz="1400" b="1" i="0" u="none" baseline="0" dirty="0" err="1">
                <a:solidFill>
                  <a:srgbClr val="D90B00"/>
                </a:solidFill>
                <a:latin typeface="Lucida Grande" charset="0"/>
                <a:ea typeface="Lucida Grande" charset="0"/>
                <a:cs typeface="Lucida Grande" charset="0"/>
                <a:sym typeface="Lucida Grande" charset="0"/>
              </a:rPr>
              <a:t>cho</a:t>
            </a:r>
            <a:r>
              <a:rPr lang="en-US" sz="1400" b="1" i="0" u="none" baseline="0" dirty="0">
                <a:solidFill>
                  <a:srgbClr val="D90B00"/>
                </a:solidFill>
                <a:latin typeface="Lucida Grande" charset="0"/>
                <a:ea typeface="Lucida Grande" charset="0"/>
                <a:cs typeface="Lucida Grande" charset="0"/>
                <a:sym typeface="Lucida Grande" charset="0"/>
              </a:rPr>
              <a:t> review.</a:t>
            </a:r>
            <a:endParaRPr lang="en-US" sz="1400" b="0" i="0" u="none" dirty="0">
              <a:solidFill>
                <a:srgbClr val="D90B00"/>
              </a:solidFill>
              <a:latin typeface="Lucida Grande" charset="0"/>
              <a:ea typeface="Lucida Grande" charset="0"/>
              <a:cs typeface="Lucida Grande" charset="0"/>
              <a:sym typeface="Lucida Grande" charset="0"/>
            </a:endParaRPr>
          </a:p>
          <a:p>
            <a:pPr marL="39688" indent="0">
              <a:buFontTx/>
              <a:buNone/>
            </a:pPr>
            <a:endParaRPr lang="en-US" sz="1400" dirty="0">
              <a:solidFill>
                <a:schemeClr val="tx1"/>
              </a:solidFill>
              <a:latin typeface="+mn-lt"/>
              <a:ea typeface="+mn-ea"/>
              <a:cs typeface="+mn-cs"/>
              <a:sym typeface="Lucida Grande" charset="0"/>
            </a:endParaRPr>
          </a:p>
          <a:p>
            <a:pPr marL="39688" indent="0">
              <a:buFontTx/>
              <a:buNone/>
            </a:pPr>
            <a:r>
              <a:rPr lang="en-US" sz="1400" dirty="0">
                <a:solidFill>
                  <a:schemeClr val="tx1"/>
                </a:solidFill>
                <a:latin typeface="+mn-lt"/>
                <a:ea typeface="+mn-ea"/>
                <a:cs typeface="+mn-cs"/>
                <a:sym typeface="Lucida Grande" charset="0"/>
              </a:rPr>
              <a:t>-</a:t>
            </a:r>
            <a:r>
              <a:rPr lang="en-US" sz="1400" baseline="0" dirty="0">
                <a:solidFill>
                  <a:schemeClr val="tx1"/>
                </a:solidFill>
                <a:latin typeface="+mn-lt"/>
                <a:ea typeface="+mn-ea"/>
                <a:cs typeface="+mn-cs"/>
                <a:sym typeface="Lucida Grande" charset="0"/>
              </a:rPr>
              <a:t> </a:t>
            </a:r>
            <a:r>
              <a:rPr lang="en-US" sz="1400" dirty="0">
                <a:solidFill>
                  <a:srgbClr val="000000"/>
                </a:solidFill>
                <a:latin typeface="Lucida Grande" charset="0"/>
                <a:ea typeface="Lucida Grande" charset="0"/>
                <a:cs typeface="Lucida Grande" charset="0"/>
                <a:sym typeface="Lucida Grande" charset="0"/>
              </a:rPr>
              <a:t>Tham </a:t>
            </a:r>
            <a:r>
              <a:rPr lang="en-US" sz="1400" dirty="0" err="1">
                <a:solidFill>
                  <a:srgbClr val="000000"/>
                </a:solidFill>
                <a:latin typeface="Lucida Grande" charset="0"/>
                <a:ea typeface="Lucida Grande" charset="0"/>
                <a:cs typeface="Lucida Grande" charset="0"/>
                <a:sym typeface="Lucida Grande" charset="0"/>
              </a:rPr>
              <a:t>gia</a:t>
            </a:r>
            <a:r>
              <a:rPr lang="en-US" sz="1400" dirty="0">
                <a:solidFill>
                  <a:srgbClr val="000000"/>
                </a:solidFill>
                <a:latin typeface="Lucida Grande" charset="0"/>
                <a:ea typeface="Lucida Grande" charset="0"/>
                <a:cs typeface="Lucida Grande" charset="0"/>
                <a:sym typeface="Lucida Grande" charset="0"/>
              </a:rPr>
              <a:t> </a:t>
            </a:r>
            <a:r>
              <a:rPr lang="en-US" sz="1400" dirty="0" err="1">
                <a:solidFill>
                  <a:srgbClr val="000000"/>
                </a:solidFill>
                <a:latin typeface="Lucida Grande" charset="0"/>
                <a:ea typeface="Lucida Grande" charset="0"/>
                <a:cs typeface="Lucida Grande" charset="0"/>
                <a:sym typeface="Lucida Grande" charset="0"/>
              </a:rPr>
              <a:t>kiểm</a:t>
            </a:r>
            <a:r>
              <a:rPr lang="en-US" sz="1400" baseline="0" dirty="0">
                <a:solidFill>
                  <a:srgbClr val="000000"/>
                </a:solidFill>
                <a:latin typeface="Lucida Grande" charset="0"/>
                <a:ea typeface="Lucida Grande" charset="0"/>
                <a:cs typeface="Lucida Grande" charset="0"/>
                <a:sym typeface="Lucida Grande" charset="0"/>
              </a:rPr>
              <a:t> </a:t>
            </a:r>
            <a:r>
              <a:rPr lang="en-US" sz="1400" baseline="0" dirty="0" err="1">
                <a:solidFill>
                  <a:srgbClr val="000000"/>
                </a:solidFill>
                <a:latin typeface="Lucida Grande" charset="0"/>
                <a:ea typeface="Lucida Grande" charset="0"/>
                <a:cs typeface="Lucida Grande" charset="0"/>
                <a:sym typeface="Lucida Grande" charset="0"/>
              </a:rPr>
              <a:t>thử</a:t>
            </a:r>
            <a:r>
              <a:rPr lang="en-US" sz="1400" baseline="0" dirty="0">
                <a:solidFill>
                  <a:srgbClr val="000000"/>
                </a:solidFill>
                <a:latin typeface="Lucida Grande" charset="0"/>
                <a:ea typeface="Lucida Grande" charset="0"/>
                <a:cs typeface="Lucida Grande" charset="0"/>
                <a:sym typeface="Lucida Grande" charset="0"/>
              </a:rPr>
              <a:t>: </a:t>
            </a:r>
            <a:r>
              <a:rPr lang="en-US" sz="1400" b="1" u="none" dirty="0" err="1">
                <a:solidFill>
                  <a:srgbClr val="D90B00"/>
                </a:solidFill>
                <a:latin typeface="Lucida Grande" charset="0"/>
                <a:ea typeface="Lucida Grande" charset="0"/>
                <a:cs typeface="Lucida Grande" charset="0"/>
                <a:sym typeface="Lucida Grande" charset="0"/>
              </a:rPr>
              <a:t>Nên</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đc</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tham</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gia</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vào</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tất</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cả</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các</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giai</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đoạn</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của</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kiểm</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1" u="none" baseline="0" dirty="0" err="1">
                <a:solidFill>
                  <a:srgbClr val="D90B00"/>
                </a:solidFill>
                <a:latin typeface="Lucida Grande" charset="0"/>
                <a:ea typeface="Lucida Grande" charset="0"/>
                <a:cs typeface="Lucida Grande" charset="0"/>
                <a:sym typeface="Lucida Grande" charset="0"/>
              </a:rPr>
              <a:t>thử</a:t>
            </a:r>
            <a:r>
              <a:rPr lang="en-US" sz="1400" b="1"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thiết</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kế</a:t>
            </a:r>
            <a:r>
              <a:rPr lang="en-US" sz="1400" b="0" u="none" baseline="0" dirty="0">
                <a:solidFill>
                  <a:srgbClr val="D90B00"/>
                </a:solidFill>
                <a:latin typeface="Lucida Grande" charset="0"/>
                <a:ea typeface="Lucida Grande" charset="0"/>
                <a:cs typeface="Lucida Grande" charset="0"/>
                <a:sym typeface="Lucida Grande" charset="0"/>
              </a:rPr>
              <a:t> test, review </a:t>
            </a:r>
            <a:r>
              <a:rPr lang="en-US" sz="1400" b="0" u="none" baseline="0" dirty="0" err="1">
                <a:solidFill>
                  <a:srgbClr val="D90B00"/>
                </a:solidFill>
                <a:latin typeface="Lucida Grande" charset="0"/>
                <a:ea typeface="Lucida Grande" charset="0"/>
                <a:cs typeface="Lucida Grande" charset="0"/>
                <a:sym typeface="Lucida Grande" charset="0"/>
              </a:rPr>
              <a:t>kết</a:t>
            </a:r>
            <a:r>
              <a:rPr lang="en-US" sz="1400" b="0" u="none" baseline="0" dirty="0">
                <a:solidFill>
                  <a:srgbClr val="D90B00"/>
                </a:solidFill>
                <a:latin typeface="Lucida Grande" charset="0"/>
                <a:ea typeface="Lucida Grande" charset="0"/>
                <a:cs typeface="Lucida Grande" charset="0"/>
                <a:sym typeface="Lucida Grande" charset="0"/>
              </a:rPr>
              <a:t> </a:t>
            </a:r>
            <a:r>
              <a:rPr lang="en-US" sz="1400" b="0" u="none" baseline="0" dirty="0" err="1">
                <a:solidFill>
                  <a:srgbClr val="D90B00"/>
                </a:solidFill>
                <a:latin typeface="Lucida Grande" charset="0"/>
                <a:ea typeface="Lucida Grande" charset="0"/>
                <a:cs typeface="Lucida Grande" charset="0"/>
                <a:sym typeface="Lucida Grande" charset="0"/>
              </a:rPr>
              <a:t>quả</a:t>
            </a:r>
            <a:r>
              <a:rPr lang="en-US" sz="1400" b="0" u="none" baseline="0" dirty="0">
                <a:solidFill>
                  <a:srgbClr val="D90B00"/>
                </a:solidFill>
                <a:latin typeface="Lucida Grande" charset="0"/>
                <a:ea typeface="Lucida Grande" charset="0"/>
                <a:cs typeface="Lucida Grande" charset="0"/>
                <a:sym typeface="Lucida Grande" charset="0"/>
              </a:rPr>
              <a:t> test, …</a:t>
            </a:r>
          </a:p>
          <a:p>
            <a:pPr marL="39688" lvl="0" indent="0">
              <a:buFontTx/>
              <a:buNone/>
            </a:pPr>
            <a:endParaRPr lang="en-US" sz="1400" b="1" u="none" baseline="0" dirty="0">
              <a:solidFill>
                <a:srgbClr val="D90B00"/>
              </a:solidFill>
              <a:latin typeface="Lucida Grande" charset="0"/>
              <a:ea typeface="Lucida Grande" charset="0"/>
              <a:cs typeface="Lucida Grande" charset="0"/>
              <a:sym typeface="Lucida Grande" charset="0"/>
            </a:endParaRPr>
          </a:p>
          <a:p>
            <a:pPr marL="782638" lvl="1" indent="-285750">
              <a:buFontTx/>
              <a:buChar char="-"/>
            </a:pPr>
            <a:endParaRPr lang="en-US" sz="1400" b="1" u="none" baseline="0" dirty="0">
              <a:solidFill>
                <a:srgbClr val="D90B00"/>
              </a:solidFill>
              <a:latin typeface="Lucida Grande" charset="0"/>
              <a:ea typeface="Lucida Grande" charset="0"/>
              <a:cs typeface="Lucida Grande" charset="0"/>
              <a:sym typeface="Lucida Grande" charset="0"/>
            </a:endParaRPr>
          </a:p>
          <a:p>
            <a:pPr marL="782638" lvl="1" indent="-285750">
              <a:buFontTx/>
              <a:buChar char="-"/>
            </a:pPr>
            <a:endParaRPr lang="en-US" sz="1400" b="1" u="none" baseline="0" dirty="0">
              <a:solidFill>
                <a:srgbClr val="D90B00"/>
              </a:solidFill>
              <a:latin typeface="Lucida Grande" charset="0"/>
              <a:ea typeface="Lucida Grande" charset="0"/>
              <a:cs typeface="Lucida Grande" charset="0"/>
              <a:sym typeface="Lucida Grande" charset="0"/>
            </a:endParaRPr>
          </a:p>
          <a:p>
            <a:pPr marL="782638" lvl="1" indent="-285750">
              <a:buFontTx/>
              <a:buChar char="-"/>
            </a:pPr>
            <a:endParaRPr lang="en-US" sz="1400" b="1" u="none" baseline="0" dirty="0">
              <a:solidFill>
                <a:srgbClr val="D90B00"/>
              </a:solidFill>
              <a:latin typeface="Lucida Grande" charset="0"/>
              <a:ea typeface="Lucida Grande" charset="0"/>
              <a:cs typeface="Lucida Grande" charset="0"/>
              <a:sym typeface="Lucida Grande" charset="0"/>
            </a:endParaRPr>
          </a:p>
          <a:p>
            <a:pPr marL="782638" lvl="1" indent="-285750">
              <a:buFontTx/>
              <a:buChar char="-"/>
            </a:pPr>
            <a:endParaRPr lang="en-US" sz="1400" b="1" u="none" baseline="0" dirty="0">
              <a:solidFill>
                <a:srgbClr val="D90B00"/>
              </a:solidFill>
              <a:latin typeface="Lucida Grande" charset="0"/>
              <a:ea typeface="Lucida Grande" charset="0"/>
              <a:cs typeface="Lucida Grande" charset="0"/>
              <a:sym typeface="Lucida Grande" charset="0"/>
            </a:endParaRPr>
          </a:p>
          <a:p>
            <a:pPr marL="782638" lvl="1" indent="-285750">
              <a:buFontTx/>
              <a:buChar char="-"/>
            </a:pPr>
            <a:endParaRPr lang="en-US" sz="1400" b="1" u="none" baseline="0" dirty="0">
              <a:solidFill>
                <a:srgbClr val="D90B00"/>
              </a:solidFill>
              <a:latin typeface="Lucida Grande" charset="0"/>
              <a:ea typeface="Lucida Grande" charset="0"/>
              <a:cs typeface="Lucida Grande" charset="0"/>
              <a:sym typeface="Lucida Grande" charset="0"/>
            </a:endParaRPr>
          </a:p>
          <a:p>
            <a:pPr marL="782638" lvl="1" indent="-285750">
              <a:buFontTx/>
              <a:buChar char="-"/>
            </a:pPr>
            <a:r>
              <a:rPr lang="en-US" sz="1400" b="0" u="none" dirty="0">
                <a:solidFill>
                  <a:srgbClr val="D90B00"/>
                </a:solidFill>
                <a:latin typeface="Lucida Grande" charset="0"/>
                <a:ea typeface="Lucida Grande" charset="0"/>
                <a:cs typeface="Lucida Grande" charset="0"/>
                <a:sym typeface="Lucida Grande" charset="0"/>
              </a:rPr>
              <a:t>While it is clear that the case of customer participation in a project is difficult if not impossible to circumscribe or prevent, a good degree of choice is available with respect to the other external participants: subcontractors and suppliers of COTS software. General quality assurance procedures, with the appropriate adaptations, can be applied in this situation as well. Any choice of external participants requires collection of information about the candidates, their products and team qualification, and evaluation of that information.</a:t>
            </a:r>
          </a:p>
        </p:txBody>
      </p:sp>
    </p:spTree>
    <p:extLst>
      <p:ext uri="{BB962C8B-B14F-4D97-AF65-F5344CB8AC3E}">
        <p14:creationId xmlns:p14="http://schemas.microsoft.com/office/powerpoint/2010/main" val="87840373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9688" indent="0">
              <a:buFontTx/>
              <a:buNone/>
            </a:pPr>
            <a:r>
              <a:rPr lang="en-US" sz="1200" dirty="0">
                <a:solidFill>
                  <a:srgbClr val="000000"/>
                </a:solidFill>
                <a:latin typeface="Lucida Grande" charset="0"/>
                <a:ea typeface="Lucida Grande" charset="0"/>
                <a:cs typeface="Lucida Grande" charset="0"/>
                <a:sym typeface="Lucida Grande" charset="0"/>
              </a:rPr>
              <a:t>- Các</a:t>
            </a:r>
            <a:r>
              <a:rPr lang="en-US" sz="1200" baseline="0" dirty="0">
                <a:solidFill>
                  <a:srgbClr val="000000"/>
                </a:solidFill>
                <a:latin typeface="Lucida Grande" charset="0"/>
                <a:ea typeface="Lucida Grande" charset="0"/>
                <a:cs typeface="Lucida Grande" charset="0"/>
                <a:sym typeface="Lucida Grande" charset="0"/>
              </a:rPr>
              <a:t> team leader </a:t>
            </a:r>
            <a:r>
              <a:rPr lang="en-US" sz="1200" baseline="0" dirty="0" err="1">
                <a:solidFill>
                  <a:srgbClr val="000000"/>
                </a:solidFill>
                <a:latin typeface="Lucida Grande" charset="0"/>
                <a:ea typeface="Lucida Grande" charset="0"/>
                <a:cs typeface="Lucida Grande" charset="0"/>
                <a:sym typeface="Lucida Grande" charset="0"/>
              </a:rPr>
              <a:t>phải</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có</a:t>
            </a:r>
            <a:r>
              <a:rPr lang="en-US" sz="1200" baseline="0" dirty="0">
                <a:solidFill>
                  <a:srgbClr val="000000"/>
                </a:solidFill>
                <a:latin typeface="Lucida Grande" charset="0"/>
                <a:ea typeface="Lucida Grande" charset="0"/>
                <a:cs typeface="Lucida Grande" charset="0"/>
                <a:sym typeface="Lucida Grande" charset="0"/>
              </a:rPr>
              <a:t> </a:t>
            </a:r>
            <a:r>
              <a:rPr lang="en-US" sz="1200" dirty="0" err="1">
                <a:solidFill>
                  <a:srgbClr val="000000"/>
                </a:solidFill>
                <a:latin typeface="Lucida Grande" charset="0"/>
                <a:ea typeface="Lucida Grande" charset="0"/>
                <a:cs typeface="Lucida Grande" charset="0"/>
                <a:sym typeface="Lucida Grande" charset="0"/>
              </a:rPr>
              <a:t>Chứng</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nhận</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tay</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nghề</a:t>
            </a:r>
            <a:endParaRPr lang="en-US" sz="1200" baseline="0" dirty="0">
              <a:solidFill>
                <a:srgbClr val="000000"/>
              </a:solidFill>
              <a:latin typeface="Lucida Grande" charset="0"/>
              <a:ea typeface="Lucida Grande" charset="0"/>
              <a:cs typeface="Lucida Grande" charset="0"/>
              <a:sym typeface="Lucida Grande" charset="0"/>
            </a:endParaRPr>
          </a:p>
          <a:p>
            <a:pPr marL="496888" lvl="1" indent="0">
              <a:buFontTx/>
              <a:buNone/>
            </a:pPr>
            <a:r>
              <a:rPr lang="vi-VN" dirty="0"/>
              <a:t>■</a:t>
            </a:r>
            <a:r>
              <a:rPr lang="en-US" dirty="0"/>
              <a:t> </a:t>
            </a:r>
            <a:r>
              <a:rPr lang="en-US" sz="1200" dirty="0" err="1">
                <a:solidFill>
                  <a:srgbClr val="000000"/>
                </a:solidFill>
                <a:latin typeface="Lucida Grande" charset="0"/>
                <a:ea typeface="Lucida Grande" charset="0"/>
                <a:cs typeface="Lucida Grande" charset="0"/>
                <a:sym typeface="Lucida Grande" charset="0"/>
              </a:rPr>
              <a:t>đảm</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bảo</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tính</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chuyên</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nghiệp</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a:solidFill>
                  <a:srgbClr val="000000"/>
                </a:solidFill>
                <a:latin typeface="Lucida Grande" charset="0"/>
                <a:ea typeface="Lucida Grande" charset="0"/>
                <a:cs typeface="Lucida Grande" charset="0"/>
                <a:sym typeface="Wingdings" pitchFamily="2" charset="2"/>
              </a:rPr>
              <a:t></a:t>
            </a:r>
            <a:endParaRPr lang="en-US" sz="1200" baseline="0" dirty="0">
              <a:solidFill>
                <a:srgbClr val="000000"/>
              </a:solidFill>
              <a:latin typeface="Lucida Grande" charset="0"/>
              <a:ea typeface="Lucida Grande" charset="0"/>
              <a:cs typeface="Lucida Grande" charset="0"/>
              <a:sym typeface="Lucida Grande" charset="0"/>
            </a:endParaRPr>
          </a:p>
          <a:p>
            <a:pPr marL="39688" lvl="0" indent="0">
              <a:buFontTx/>
              <a:buNone/>
            </a:pPr>
            <a:endParaRPr lang="en-US" sz="1200" b="1" dirty="0">
              <a:solidFill>
                <a:srgbClr val="000000"/>
              </a:solidFill>
              <a:latin typeface="Lucida Grande" charset="0"/>
              <a:ea typeface="Lucida Grande" charset="0"/>
              <a:cs typeface="Lucida Grande" charset="0"/>
              <a:sym typeface="Lucida Grande" charset="0"/>
            </a:endParaRPr>
          </a:p>
          <a:p>
            <a:pPr marL="39688" lvl="0" indent="0">
              <a:buFontTx/>
              <a:buNone/>
            </a:pPr>
            <a:r>
              <a:rPr lang="en-US" sz="1200" b="1" dirty="0">
                <a:solidFill>
                  <a:srgbClr val="000000"/>
                </a:solidFill>
                <a:latin typeface="Lucida Grande" charset="0"/>
                <a:ea typeface="Lucida Grande" charset="0"/>
                <a:cs typeface="Lucida Grande" charset="0"/>
                <a:sym typeface="Lucida Grande" charset="0"/>
              </a:rPr>
              <a:t>- </a:t>
            </a:r>
            <a:r>
              <a:rPr lang="en-US" sz="1200" b="1" dirty="0" err="1">
                <a:solidFill>
                  <a:srgbClr val="000000"/>
                </a:solidFill>
                <a:latin typeface="Lucida Grande" charset="0"/>
                <a:ea typeface="Lucida Grande" charset="0"/>
                <a:cs typeface="Lucida Grande" charset="0"/>
                <a:sym typeface="Lucida Grande" charset="0"/>
              </a:rPr>
              <a:t>Yêu</a:t>
            </a:r>
            <a:r>
              <a:rPr lang="en-US" sz="1200" b="1" dirty="0">
                <a:solidFill>
                  <a:srgbClr val="000000"/>
                </a:solidFill>
                <a:latin typeface="Lucida Grande" charset="0"/>
                <a:ea typeface="Lucida Grande" charset="0"/>
                <a:cs typeface="Lucida Grande" charset="0"/>
                <a:sym typeface="Lucida Grande" charset="0"/>
              </a:rPr>
              <a:t> </a:t>
            </a:r>
            <a:r>
              <a:rPr lang="en-US" sz="1200" b="1" dirty="0" err="1">
                <a:solidFill>
                  <a:srgbClr val="000000"/>
                </a:solidFill>
                <a:latin typeface="Lucida Grande" charset="0"/>
                <a:ea typeface="Lucida Grande" charset="0"/>
                <a:cs typeface="Lucida Grande" charset="0"/>
                <a:sym typeface="Lucida Grande" charset="0"/>
              </a:rPr>
              <a:t>cầu</a:t>
            </a:r>
            <a:r>
              <a:rPr lang="en-US" sz="1200" b="1" baseline="0" dirty="0">
                <a:solidFill>
                  <a:srgbClr val="000000"/>
                </a:solidFill>
                <a:latin typeface="Lucida Grande" charset="0"/>
                <a:ea typeface="Lucida Grande" charset="0"/>
                <a:cs typeface="Lucida Grande" charset="0"/>
                <a:sym typeface="Lucida Grande" charset="0"/>
              </a:rPr>
              <a:t> participants </a:t>
            </a:r>
            <a:r>
              <a:rPr lang="en-US" sz="1200" dirty="0" err="1">
                <a:solidFill>
                  <a:srgbClr val="000000"/>
                </a:solidFill>
                <a:latin typeface="Lucida Grande" charset="0"/>
                <a:ea typeface="Lucida Grande" charset="0"/>
                <a:cs typeface="Lucida Grande" charset="0"/>
                <a:sym typeface="Lucida Grande" charset="0"/>
              </a:rPr>
              <a:t>bá</a:t>
            </a:r>
            <a:r>
              <a:rPr lang="en-US" sz="1200" baseline="0" dirty="0" err="1">
                <a:solidFill>
                  <a:srgbClr val="000000"/>
                </a:solidFill>
                <a:latin typeface="Lucida Grande" charset="0"/>
                <a:ea typeface="Lucida Grande" charset="0"/>
                <a:cs typeface="Lucida Grande" charset="0"/>
                <a:sym typeface="Lucida Grande" charset="0"/>
              </a:rPr>
              <a:t>o</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cáo</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tiến</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độ</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tài</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nguyên</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và</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ngân</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sách</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a:solidFill>
                  <a:srgbClr val="000000"/>
                </a:solidFill>
                <a:latin typeface="Lucida Grande" charset="0"/>
                <a:ea typeface="Lucida Grande" charset="0"/>
                <a:cs typeface="Lucida Grande" charset="0"/>
                <a:sym typeface="Wingdings" pitchFamily="2" charset="2"/>
              </a:rPr>
              <a:t> </a:t>
            </a:r>
            <a:r>
              <a:rPr lang="en-US" sz="1200" b="1" baseline="0" dirty="0" err="1">
                <a:solidFill>
                  <a:srgbClr val="000000"/>
                </a:solidFill>
                <a:latin typeface="Lucida Grande" charset="0"/>
                <a:ea typeface="Lucida Grande" charset="0"/>
                <a:cs typeface="Lucida Grande" charset="0"/>
                <a:sym typeface="Wingdings" pitchFamily="2" charset="2"/>
              </a:rPr>
              <a:t>tối</a:t>
            </a:r>
            <a:r>
              <a:rPr lang="en-US" sz="1200" b="1" baseline="0" dirty="0">
                <a:solidFill>
                  <a:srgbClr val="000000"/>
                </a:solidFill>
                <a:latin typeface="Lucida Grande" charset="0"/>
                <a:ea typeface="Lucida Grande" charset="0"/>
                <a:cs typeface="Lucida Grande" charset="0"/>
                <a:sym typeface="Wingdings" pitchFamily="2" charset="2"/>
              </a:rPr>
              <a:t> </a:t>
            </a:r>
            <a:r>
              <a:rPr lang="en-US" sz="1200" b="1" baseline="0" dirty="0" err="1">
                <a:solidFill>
                  <a:srgbClr val="000000"/>
                </a:solidFill>
                <a:latin typeface="Lucida Grande" charset="0"/>
                <a:ea typeface="Lucida Grande" charset="0"/>
                <a:cs typeface="Lucida Grande" charset="0"/>
                <a:sym typeface="Wingdings" pitchFamily="2" charset="2"/>
              </a:rPr>
              <a:t>thiểu</a:t>
            </a:r>
            <a:r>
              <a:rPr lang="en-US" sz="1200" b="1" baseline="0" dirty="0">
                <a:solidFill>
                  <a:srgbClr val="000000"/>
                </a:solidFill>
                <a:latin typeface="Lucida Grande" charset="0"/>
                <a:ea typeface="Lucida Grande" charset="0"/>
                <a:cs typeface="Lucida Grande" charset="0"/>
                <a:sym typeface="Wingdings" pitchFamily="2" charset="2"/>
              </a:rPr>
              <a:t> </a:t>
            </a:r>
            <a:r>
              <a:rPr lang="en-US" sz="1200" b="1" baseline="0" dirty="0" err="1">
                <a:solidFill>
                  <a:srgbClr val="000000"/>
                </a:solidFill>
                <a:latin typeface="Lucida Grande" charset="0"/>
                <a:ea typeface="Lucida Grande" charset="0"/>
                <a:cs typeface="Lucida Grande" charset="0"/>
                <a:sym typeface="Wingdings" pitchFamily="2" charset="2"/>
              </a:rPr>
              <a:t>rủi</a:t>
            </a:r>
            <a:r>
              <a:rPr lang="en-US" sz="1200" b="1" baseline="0" dirty="0">
                <a:solidFill>
                  <a:srgbClr val="000000"/>
                </a:solidFill>
                <a:latin typeface="Lucida Grande" charset="0"/>
                <a:ea typeface="Lucida Grande" charset="0"/>
                <a:cs typeface="Lucida Grande" charset="0"/>
                <a:sym typeface="Wingdings" pitchFamily="2" charset="2"/>
              </a:rPr>
              <a:t> </a:t>
            </a:r>
            <a:r>
              <a:rPr lang="en-US" sz="1200" b="1" baseline="0" dirty="0" err="1">
                <a:solidFill>
                  <a:srgbClr val="000000"/>
                </a:solidFill>
                <a:latin typeface="Lucida Grande" charset="0"/>
                <a:ea typeface="Lucida Grande" charset="0"/>
                <a:cs typeface="Lucida Grande" charset="0"/>
                <a:sym typeface="Wingdings" pitchFamily="2" charset="2"/>
              </a:rPr>
              <a:t>ro</a:t>
            </a:r>
            <a:r>
              <a:rPr lang="en-US" sz="1200" b="1" baseline="0" dirty="0">
                <a:solidFill>
                  <a:srgbClr val="000000"/>
                </a:solidFill>
                <a:latin typeface="Lucida Grande" charset="0"/>
                <a:ea typeface="Lucida Grande" charset="0"/>
                <a:cs typeface="Lucida Grande" charset="0"/>
                <a:sym typeface="Wingdings" pitchFamily="2" charset="2"/>
              </a:rPr>
              <a:t> </a:t>
            </a:r>
            <a:r>
              <a:rPr lang="en-US" sz="1200" b="1" baseline="0" dirty="0" err="1">
                <a:solidFill>
                  <a:srgbClr val="000000"/>
                </a:solidFill>
                <a:latin typeface="Lucida Grande" charset="0"/>
                <a:ea typeface="Lucida Grande" charset="0"/>
                <a:cs typeface="Lucida Grande" charset="0"/>
                <a:sym typeface="Wingdings" pitchFamily="2" charset="2"/>
              </a:rPr>
              <a:t>chậm</a:t>
            </a:r>
            <a:r>
              <a:rPr lang="en-US" sz="1200" b="1" baseline="0" dirty="0">
                <a:solidFill>
                  <a:srgbClr val="000000"/>
                </a:solidFill>
                <a:latin typeface="Lucida Grande" charset="0"/>
                <a:ea typeface="Lucida Grande" charset="0"/>
                <a:cs typeface="Lucida Grande" charset="0"/>
                <a:sym typeface="Wingdings" pitchFamily="2" charset="2"/>
              </a:rPr>
              <a:t> </a:t>
            </a:r>
            <a:r>
              <a:rPr lang="en-US" sz="1200" b="1" baseline="0" dirty="0" err="1">
                <a:solidFill>
                  <a:srgbClr val="000000"/>
                </a:solidFill>
                <a:latin typeface="Lucida Grande" charset="0"/>
                <a:ea typeface="Lucida Grande" charset="0"/>
                <a:cs typeface="Lucida Grande" charset="0"/>
                <a:sym typeface="Wingdings" pitchFamily="2" charset="2"/>
              </a:rPr>
              <a:t>trễ</a:t>
            </a:r>
            <a:r>
              <a:rPr lang="en-US" sz="1200" baseline="0" dirty="0">
                <a:solidFill>
                  <a:srgbClr val="000000"/>
                </a:solidFill>
                <a:latin typeface="Lucida Grande" charset="0"/>
                <a:ea typeface="Lucida Grande" charset="0"/>
                <a:cs typeface="Lucida Grande" charset="0"/>
                <a:sym typeface="Wingdings" pitchFamily="2" charset="2"/>
              </a:rPr>
              <a:t> (</a:t>
            </a:r>
            <a:r>
              <a:rPr lang="en-US" sz="1200" i="1" u="none" dirty="0">
                <a:solidFill>
                  <a:srgbClr val="D90B00"/>
                </a:solidFill>
                <a:latin typeface="Lucida Grande" charset="0"/>
                <a:ea typeface="Lucida Grande" charset="0"/>
                <a:cs typeface="Lucida Grande" charset="0"/>
                <a:sym typeface="Lucida Grande" charset="0"/>
              </a:rPr>
              <a:t>prepared in order to </a:t>
            </a:r>
            <a:r>
              <a:rPr lang="en-US" sz="1200" i="1" u="none" dirty="0" err="1">
                <a:solidFill>
                  <a:srgbClr val="D90B00"/>
                </a:solidFill>
                <a:latin typeface="Lucida Grande" charset="0"/>
                <a:ea typeface="Lucida Grande" charset="0"/>
                <a:cs typeface="Lucida Grande" charset="0"/>
                <a:sym typeface="Lucida Grande" charset="0"/>
              </a:rPr>
              <a:t>minimise</a:t>
            </a:r>
            <a:r>
              <a:rPr lang="en-US" sz="1200" i="1" u="none" dirty="0">
                <a:solidFill>
                  <a:srgbClr val="D90B00"/>
                </a:solidFill>
                <a:latin typeface="Lucida Grande" charset="0"/>
                <a:ea typeface="Lucida Grande" charset="0"/>
                <a:cs typeface="Lucida Grande" charset="0"/>
                <a:sym typeface="Lucida Grande" charset="0"/>
              </a:rPr>
              <a:t> the risk of delays). </a:t>
            </a:r>
          </a:p>
          <a:p>
            <a:pPr marL="39688" indent="0">
              <a:buFontTx/>
              <a:buNone/>
            </a:pPr>
            <a:endParaRPr lang="en-US" sz="1200" dirty="0">
              <a:solidFill>
                <a:srgbClr val="000000"/>
              </a:solidFill>
              <a:latin typeface="Lucida Grande" charset="0"/>
              <a:ea typeface="Lucida Grande" charset="0"/>
              <a:cs typeface="Lucida Grande" charset="0"/>
              <a:sym typeface="Lucida Grande" charset="0"/>
            </a:endParaRPr>
          </a:p>
          <a:p>
            <a:pPr marL="39688" indent="0">
              <a:buFontTx/>
              <a:buNone/>
            </a:pPr>
            <a:r>
              <a:rPr lang="en-US" sz="1200" dirty="0">
                <a:solidFill>
                  <a:srgbClr val="000000"/>
                </a:solidFill>
                <a:latin typeface="Lucida Grande" charset="0"/>
                <a:ea typeface="Lucida Grande" charset="0"/>
                <a:cs typeface="Lucida Grande" charset="0"/>
                <a:sym typeface="Lucida Grande" charset="0"/>
              </a:rPr>
              <a:t>- Review </a:t>
            </a:r>
            <a:r>
              <a:rPr lang="en-US" sz="1200" dirty="0" err="1">
                <a:solidFill>
                  <a:srgbClr val="000000"/>
                </a:solidFill>
                <a:latin typeface="Lucida Grande" charset="0"/>
                <a:ea typeface="Lucida Grande" charset="0"/>
                <a:cs typeface="Lucida Grande" charset="0"/>
                <a:sym typeface="Lucida Grande" charset="0"/>
              </a:rPr>
              <a:t>sp</a:t>
            </a:r>
            <a:r>
              <a:rPr lang="en-US" sz="1200" dirty="0">
                <a:solidFill>
                  <a:srgbClr val="000000"/>
                </a:solidFill>
                <a:latin typeface="Lucida Grande" charset="0"/>
                <a:ea typeface="Lucida Grande" charset="0"/>
                <a:cs typeface="Lucida Grande" charset="0"/>
                <a:sym typeface="Lucida Grande" charset="0"/>
              </a:rPr>
              <a:t> </a:t>
            </a:r>
            <a:r>
              <a:rPr lang="en-US" sz="1200" dirty="0" err="1">
                <a:solidFill>
                  <a:srgbClr val="000000"/>
                </a:solidFill>
                <a:latin typeface="Lucida Grande" charset="0"/>
                <a:ea typeface="Lucida Grande" charset="0"/>
                <a:cs typeface="Lucida Grande" charset="0"/>
                <a:sym typeface="Lucida Grande" charset="0"/>
              </a:rPr>
              <a:t>đc</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phân</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phối</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và</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kiểm</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thử</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chấp</a:t>
            </a:r>
            <a:r>
              <a:rPr lang="en-US" sz="1200" baseline="0" dirty="0">
                <a:solidFill>
                  <a:srgbClr val="000000"/>
                </a:solidFill>
                <a:latin typeface="Lucida Grande" charset="0"/>
                <a:ea typeface="Lucida Grande" charset="0"/>
                <a:cs typeface="Lucida Grande" charset="0"/>
                <a:sym typeface="Lucida Grande" charset="0"/>
              </a:rPr>
              <a:t> </a:t>
            </a:r>
            <a:r>
              <a:rPr lang="en-US" sz="1200" baseline="0" dirty="0" err="1">
                <a:solidFill>
                  <a:srgbClr val="000000"/>
                </a:solidFill>
                <a:latin typeface="Lucida Grande" charset="0"/>
                <a:ea typeface="Lucida Grande" charset="0"/>
                <a:cs typeface="Lucida Grande" charset="0"/>
                <a:sym typeface="Lucida Grande" charset="0"/>
              </a:rPr>
              <a:t>nhận</a:t>
            </a:r>
            <a:r>
              <a:rPr lang="en-US" sz="1200" baseline="0" dirty="0">
                <a:solidFill>
                  <a:srgbClr val="000000"/>
                </a:solidFill>
                <a:latin typeface="Lucida Grande" charset="0"/>
                <a:ea typeface="Lucida Grande" charset="0"/>
                <a:cs typeface="Lucida Grande" charset="0"/>
                <a:sym typeface="Lucida Grande" charset="0"/>
              </a:rPr>
              <a:t>.</a:t>
            </a:r>
            <a:endParaRPr lang="en-US" sz="1200" dirty="0">
              <a:solidFill>
                <a:srgbClr val="000000"/>
              </a:solidFill>
              <a:latin typeface="Lucida Grande" charset="0"/>
              <a:ea typeface="Lucida Grande" charset="0"/>
              <a:cs typeface="Lucida Grande" charset="0"/>
              <a:sym typeface="Lucida Grande" charset="0"/>
            </a:endParaRPr>
          </a:p>
          <a:p>
            <a:pPr marL="496888" lvl="1" indent="0">
              <a:buFontTx/>
              <a:buNone/>
            </a:pPr>
            <a:r>
              <a:rPr lang="vi-VN" dirty="0"/>
              <a:t>■</a:t>
            </a:r>
            <a:r>
              <a:rPr lang="en-US" dirty="0"/>
              <a:t> </a:t>
            </a:r>
            <a:r>
              <a:rPr lang="en-US" sz="1200" i="1" u="none" dirty="0">
                <a:solidFill>
                  <a:srgbClr val="D90B00"/>
                </a:solidFill>
                <a:latin typeface="Lucida Grande" charset="0"/>
                <a:ea typeface="Lucida Grande" charset="0"/>
                <a:cs typeface="Lucida Grande" charset="0"/>
                <a:sym typeface="Lucida Grande" charset="0"/>
              </a:rPr>
              <a:t>aimed at assuring the quality of work performed and reduces risks of future maintenance difficulties</a:t>
            </a:r>
          </a:p>
        </p:txBody>
      </p:sp>
      <p:sp>
        <p:nvSpPr>
          <p:cNvPr id="4" name="Slide Number Placeholder 3"/>
          <p:cNvSpPr>
            <a:spLocks noGrp="1"/>
          </p:cNvSpPr>
          <p:nvPr>
            <p:ph type="sldNum" sz="quarter" idx="10"/>
          </p:nvPr>
        </p:nvSpPr>
        <p:spPr/>
        <p:txBody>
          <a:bodyPr/>
          <a:lstStyle/>
          <a:p>
            <a:fld id="{A63B9007-0201-49BE-A587-7F882848EC05}" type="slidenum">
              <a:rPr lang="en-US" smtClean="0"/>
              <a:t>99</a:t>
            </a:fld>
            <a:endParaRPr lang="en-US"/>
          </a:p>
        </p:txBody>
      </p:sp>
    </p:spTree>
    <p:extLst>
      <p:ext uri="{BB962C8B-B14F-4D97-AF65-F5344CB8AC3E}">
        <p14:creationId xmlns:p14="http://schemas.microsoft.com/office/powerpoint/2010/main" val="122342102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a:t>
            </a:r>
            <a:r>
              <a:rPr lang="en-US" dirty="0" err="1"/>
              <a:t>trước</a:t>
            </a:r>
            <a:r>
              <a:rPr lang="en-US" baseline="0" dirty="0"/>
              <a:t> </a:t>
            </a:r>
            <a:r>
              <a:rPr lang="en-US" baseline="0" dirty="0" err="1"/>
              <a:t>sv</a:t>
            </a:r>
            <a:r>
              <a:rPr lang="en-US" baseline="0" dirty="0"/>
              <a:t> </a:t>
            </a:r>
            <a:r>
              <a:rPr lang="en-US" baseline="0" dirty="0" err="1"/>
              <a:t>chuẩn</a:t>
            </a:r>
            <a:r>
              <a:rPr lang="en-US" baseline="0" dirty="0"/>
              <a:t> </a:t>
            </a:r>
            <a:r>
              <a:rPr lang="en-US" baseline="0" dirty="0" err="1"/>
              <a:t>bị</a:t>
            </a:r>
            <a:r>
              <a:rPr lang="en-US" baseline="0" dirty="0"/>
              <a:t> </a:t>
            </a:r>
            <a:r>
              <a:rPr lang="en-US" baseline="0" dirty="0" err="1"/>
              <a:t>trả</a:t>
            </a:r>
            <a:r>
              <a:rPr lang="en-US" baseline="0" dirty="0"/>
              <a:t> </a:t>
            </a:r>
            <a:r>
              <a:rPr lang="en-US" baseline="0" dirty="0" err="1"/>
              <a:t>lời</a:t>
            </a:r>
            <a:r>
              <a:rPr lang="en-US" baseline="0" dirty="0"/>
              <a:t> </a:t>
            </a:r>
            <a:r>
              <a:rPr lang="en-US" baseline="0" dirty="0" err="1"/>
              <a:t>câu</a:t>
            </a:r>
            <a:r>
              <a:rPr lang="en-US" baseline="0" dirty="0"/>
              <a:t> </a:t>
            </a:r>
            <a:r>
              <a:rPr lang="en-US" baseline="0" dirty="0" err="1"/>
              <a:t>hỏi</a:t>
            </a:r>
            <a:r>
              <a:rPr lang="en-US" baseline="0" dirty="0"/>
              <a:t> </a:t>
            </a:r>
            <a:r>
              <a:rPr lang="en-US" baseline="0" dirty="0" err="1"/>
              <a:t>trong</a:t>
            </a:r>
            <a:r>
              <a:rPr lang="en-US" baseline="0" dirty="0"/>
              <a:t> </a:t>
            </a:r>
            <a:r>
              <a:rPr lang="en-US" baseline="0" dirty="0" err="1"/>
              <a:t>tuần</a:t>
            </a:r>
            <a:r>
              <a:rPr lang="en-US" baseline="0" dirty="0"/>
              <a:t> 2 (qua </a:t>
            </a:r>
            <a:r>
              <a:rPr lang="en-US" baseline="0" dirty="0" err="1"/>
              <a:t>tết</a:t>
            </a:r>
            <a:r>
              <a:rPr lang="en-US" baseline="0" dirty="0"/>
              <a:t> </a:t>
            </a:r>
            <a:r>
              <a:rPr lang="en-US" baseline="0" dirty="0" err="1"/>
              <a:t>học</a:t>
            </a:r>
            <a:r>
              <a:rPr lang="en-US" baseline="0" dirty="0"/>
              <a:t>)</a:t>
            </a:r>
          </a:p>
          <a:p>
            <a:r>
              <a:rPr lang="en-US" baseline="0" dirty="0" err="1"/>
              <a:t>Gởi</a:t>
            </a:r>
            <a:r>
              <a:rPr lang="en-US" baseline="0" dirty="0"/>
              <a:t> </a:t>
            </a:r>
            <a:r>
              <a:rPr lang="en-US" baseline="0" dirty="0" err="1"/>
              <a:t>vào</a:t>
            </a:r>
            <a:r>
              <a:rPr lang="en-US" baseline="0" dirty="0"/>
              <a:t> group </a:t>
            </a:r>
            <a:r>
              <a:rPr lang="en-US" baseline="0" dirty="0" err="1"/>
              <a:t>sau</a:t>
            </a:r>
            <a:endParaRPr lang="en-US" baseline="0" dirty="0"/>
          </a:p>
          <a:p>
            <a:endParaRPr lang="en-US" dirty="0"/>
          </a:p>
        </p:txBody>
      </p:sp>
      <p:sp>
        <p:nvSpPr>
          <p:cNvPr id="4" name="Slide Number Placeholder 3"/>
          <p:cNvSpPr>
            <a:spLocks noGrp="1"/>
          </p:cNvSpPr>
          <p:nvPr>
            <p:ph type="sldNum" sz="quarter" idx="10"/>
          </p:nvPr>
        </p:nvSpPr>
        <p:spPr/>
        <p:txBody>
          <a:bodyPr/>
          <a:lstStyle/>
          <a:p>
            <a:fld id="{A63B9007-0201-49BE-A587-7F882848EC05}" type="slidenum">
              <a:rPr lang="en-US" smtClean="0"/>
              <a:t>100</a:t>
            </a:fld>
            <a:endParaRPr lang="en-US"/>
          </a:p>
        </p:txBody>
      </p:sp>
    </p:spTree>
    <p:extLst>
      <p:ext uri="{BB962C8B-B14F-4D97-AF65-F5344CB8AC3E}">
        <p14:creationId xmlns:p14="http://schemas.microsoft.com/office/powerpoint/2010/main" val="68270828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101</a:t>
            </a:fld>
            <a:endParaRPr lang="en-US"/>
          </a:p>
        </p:txBody>
      </p:sp>
    </p:spTree>
    <p:extLst>
      <p:ext uri="{BB962C8B-B14F-4D97-AF65-F5344CB8AC3E}">
        <p14:creationId xmlns:p14="http://schemas.microsoft.com/office/powerpoint/2010/main" val="168670962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Cho điểm</a:t>
            </a:r>
            <a:r>
              <a:rPr lang="en-US" baseline="0"/>
              <a:t> cộng</a:t>
            </a:r>
          </a:p>
          <a:p>
            <a:endParaRPr lang="en-US" baseline="0"/>
          </a:p>
          <a:p>
            <a:r>
              <a:rPr lang="en-US" baseline="0"/>
              <a:t>Một số câu khác:</a:t>
            </a:r>
          </a:p>
          <a:p>
            <a:pPr marL="0" marR="0" indent="0" algn="l" defTabSz="914400" rtl="0" eaLnBrk="1" fontAlgn="auto" latinLnBrk="0" hangingPunct="1">
              <a:lnSpc>
                <a:spcPct val="100000"/>
              </a:lnSpc>
              <a:spcBef>
                <a:spcPts val="0"/>
              </a:spcBef>
              <a:spcAft>
                <a:spcPts val="0"/>
              </a:spcAft>
              <a:buClrTx/>
              <a:buSzTx/>
              <a:buFontTx/>
              <a:buNone/>
              <a:tabLst/>
              <a:defRPr/>
            </a:pPr>
            <a:r>
              <a:rPr lang="en-US" b="0"/>
              <a:t>Cho một số ví dụ về sản phẩm không phù hợp nhu cầu sử dụng trong cuộc sống.</a:t>
            </a:r>
          </a:p>
          <a:p>
            <a:pPr marL="0" marR="0" indent="0" algn="l" defTabSz="914400" rtl="0" eaLnBrk="1" fontAlgn="auto" latinLnBrk="0" hangingPunct="1">
              <a:lnSpc>
                <a:spcPct val="100000"/>
              </a:lnSpc>
              <a:spcBef>
                <a:spcPts val="0"/>
              </a:spcBef>
              <a:spcAft>
                <a:spcPts val="0"/>
              </a:spcAft>
              <a:buClrTx/>
              <a:buSzTx/>
              <a:buFontTx/>
              <a:buNone/>
              <a:tabLst/>
              <a:defRPr/>
            </a:pPr>
            <a:r>
              <a:rPr lang="en-US"/>
              <a:t>Nêu tên gọi các yếu tố chất lượng theo mô hình McCall (có phân loại).</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a:p>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102</a:t>
            </a:fld>
            <a:endParaRPr lang="en-US"/>
          </a:p>
        </p:txBody>
      </p:sp>
    </p:spTree>
    <p:extLst>
      <p:ext uri="{BB962C8B-B14F-4D97-AF65-F5344CB8AC3E}">
        <p14:creationId xmlns:p14="http://schemas.microsoft.com/office/powerpoint/2010/main" val="319589587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
            </a:r>
          </a:p>
        </p:txBody>
      </p:sp>
      <p:sp>
        <p:nvSpPr>
          <p:cNvPr id="4" name="Slide Number Placeholder 3"/>
          <p:cNvSpPr>
            <a:spLocks noGrp="1"/>
          </p:cNvSpPr>
          <p:nvPr>
            <p:ph type="sldNum" sz="quarter" idx="10"/>
          </p:nvPr>
        </p:nvSpPr>
        <p:spPr/>
        <p:txBody>
          <a:bodyPr/>
          <a:lstStyle/>
          <a:p>
            <a:fld id="{A63B9007-0201-49BE-A587-7F882848EC05}" type="slidenum">
              <a:rPr lang="en-US" smtClean="0"/>
              <a:t>103</a:t>
            </a:fld>
            <a:endParaRPr lang="en-US"/>
          </a:p>
        </p:txBody>
      </p:sp>
    </p:spTree>
    <p:extLst>
      <p:ext uri="{BB962C8B-B14F-4D97-AF65-F5344CB8AC3E}">
        <p14:creationId xmlns:p14="http://schemas.microsoft.com/office/powerpoint/2010/main" val="47329679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
            </a:r>
          </a:p>
        </p:txBody>
      </p:sp>
      <p:sp>
        <p:nvSpPr>
          <p:cNvPr id="4" name="Slide Number Placeholder 3"/>
          <p:cNvSpPr>
            <a:spLocks noGrp="1"/>
          </p:cNvSpPr>
          <p:nvPr>
            <p:ph type="sldNum" sz="quarter" idx="10"/>
          </p:nvPr>
        </p:nvSpPr>
        <p:spPr/>
        <p:txBody>
          <a:bodyPr/>
          <a:lstStyle/>
          <a:p>
            <a:fld id="{A63B9007-0201-49BE-A587-7F882848EC05}" type="slidenum">
              <a:rPr lang="en-US" smtClean="0"/>
              <a:t>104</a:t>
            </a:fld>
            <a:endParaRPr lang="en-US"/>
          </a:p>
        </p:txBody>
      </p:sp>
    </p:spTree>
    <p:extLst>
      <p:ext uri="{BB962C8B-B14F-4D97-AF65-F5344CB8AC3E}">
        <p14:creationId xmlns:p14="http://schemas.microsoft.com/office/powerpoint/2010/main" val="315937985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t>
            </a:r>
          </a:p>
        </p:txBody>
      </p:sp>
      <p:sp>
        <p:nvSpPr>
          <p:cNvPr id="4" name="Slide Number Placeholder 3"/>
          <p:cNvSpPr>
            <a:spLocks noGrp="1"/>
          </p:cNvSpPr>
          <p:nvPr>
            <p:ph type="sldNum" sz="quarter" idx="10"/>
          </p:nvPr>
        </p:nvSpPr>
        <p:spPr/>
        <p:txBody>
          <a:bodyPr/>
          <a:lstStyle/>
          <a:p>
            <a:fld id="{A63B9007-0201-49BE-A587-7F882848EC05}" type="slidenum">
              <a:rPr lang="en-US" smtClean="0"/>
              <a:t>105</a:t>
            </a:fld>
            <a:endParaRPr lang="en-US"/>
          </a:p>
        </p:txBody>
      </p:sp>
    </p:spTree>
    <p:extLst>
      <p:ext uri="{BB962C8B-B14F-4D97-AF65-F5344CB8AC3E}">
        <p14:creationId xmlns:p14="http://schemas.microsoft.com/office/powerpoint/2010/main" val="304460661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
            </a:r>
          </a:p>
        </p:txBody>
      </p:sp>
      <p:sp>
        <p:nvSpPr>
          <p:cNvPr id="4" name="Slide Number Placeholder 3"/>
          <p:cNvSpPr>
            <a:spLocks noGrp="1"/>
          </p:cNvSpPr>
          <p:nvPr>
            <p:ph type="sldNum" sz="quarter" idx="10"/>
          </p:nvPr>
        </p:nvSpPr>
        <p:spPr/>
        <p:txBody>
          <a:bodyPr/>
          <a:lstStyle/>
          <a:p>
            <a:fld id="{A63B9007-0201-49BE-A587-7F882848EC05}" type="slidenum">
              <a:rPr lang="en-US" smtClean="0"/>
              <a:t>106</a:t>
            </a:fld>
            <a:endParaRPr lang="en-US"/>
          </a:p>
        </p:txBody>
      </p:sp>
    </p:spTree>
    <p:extLst>
      <p:ext uri="{BB962C8B-B14F-4D97-AF65-F5344CB8AC3E}">
        <p14:creationId xmlns:p14="http://schemas.microsoft.com/office/powerpoint/2010/main" val="105506190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t>
            </a:r>
          </a:p>
        </p:txBody>
      </p:sp>
      <p:sp>
        <p:nvSpPr>
          <p:cNvPr id="4" name="Slide Number Placeholder 3"/>
          <p:cNvSpPr>
            <a:spLocks noGrp="1"/>
          </p:cNvSpPr>
          <p:nvPr>
            <p:ph type="sldNum" sz="quarter" idx="10"/>
          </p:nvPr>
        </p:nvSpPr>
        <p:spPr/>
        <p:txBody>
          <a:bodyPr/>
          <a:lstStyle/>
          <a:p>
            <a:fld id="{A63B9007-0201-49BE-A587-7F882848EC05}" type="slidenum">
              <a:rPr lang="en-US" smtClean="0"/>
              <a:t>107</a:t>
            </a:fld>
            <a:endParaRPr lang="en-US"/>
          </a:p>
        </p:txBody>
      </p:sp>
    </p:spTree>
    <p:extLst>
      <p:ext uri="{BB962C8B-B14F-4D97-AF65-F5344CB8AC3E}">
        <p14:creationId xmlns:p14="http://schemas.microsoft.com/office/powerpoint/2010/main" val="78611731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t>
            </a:r>
          </a:p>
        </p:txBody>
      </p:sp>
      <p:sp>
        <p:nvSpPr>
          <p:cNvPr id="4" name="Slide Number Placeholder 3"/>
          <p:cNvSpPr>
            <a:spLocks noGrp="1"/>
          </p:cNvSpPr>
          <p:nvPr>
            <p:ph type="sldNum" sz="quarter" idx="10"/>
          </p:nvPr>
        </p:nvSpPr>
        <p:spPr/>
        <p:txBody>
          <a:bodyPr/>
          <a:lstStyle/>
          <a:p>
            <a:fld id="{A63B9007-0201-49BE-A587-7F882848EC05}" type="slidenum">
              <a:rPr lang="en-US" smtClean="0"/>
              <a:t>108</a:t>
            </a:fld>
            <a:endParaRPr lang="en-US"/>
          </a:p>
        </p:txBody>
      </p:sp>
    </p:spTree>
    <p:extLst>
      <p:ext uri="{BB962C8B-B14F-4D97-AF65-F5344CB8AC3E}">
        <p14:creationId xmlns:p14="http://schemas.microsoft.com/office/powerpoint/2010/main" val="185143351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B-khó</a:t>
            </a:r>
          </a:p>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t>109</a:t>
            </a:fld>
            <a:endParaRPr lang="en-US"/>
          </a:p>
        </p:txBody>
      </p:sp>
    </p:spTree>
    <p:extLst>
      <p:ext uri="{BB962C8B-B14F-4D97-AF65-F5344CB8AC3E}">
        <p14:creationId xmlns:p14="http://schemas.microsoft.com/office/powerpoint/2010/main" val="110817502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t>
            </a:r>
          </a:p>
        </p:txBody>
      </p:sp>
      <p:sp>
        <p:nvSpPr>
          <p:cNvPr id="4" name="Slide Number Placeholder 3"/>
          <p:cNvSpPr>
            <a:spLocks noGrp="1"/>
          </p:cNvSpPr>
          <p:nvPr>
            <p:ph type="sldNum" sz="quarter" idx="10"/>
          </p:nvPr>
        </p:nvSpPr>
        <p:spPr/>
        <p:txBody>
          <a:bodyPr/>
          <a:lstStyle/>
          <a:p>
            <a:fld id="{A63B9007-0201-49BE-A587-7F882848EC05}" type="slidenum">
              <a:rPr lang="en-US" smtClean="0"/>
              <a:t>110</a:t>
            </a:fld>
            <a:endParaRPr lang="en-US"/>
          </a:p>
        </p:txBody>
      </p:sp>
    </p:spTree>
    <p:extLst>
      <p:ext uri="{BB962C8B-B14F-4D97-AF65-F5344CB8AC3E}">
        <p14:creationId xmlns:p14="http://schemas.microsoft.com/office/powerpoint/2010/main" val="230571896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t>
            </a:r>
          </a:p>
        </p:txBody>
      </p:sp>
      <p:sp>
        <p:nvSpPr>
          <p:cNvPr id="4" name="Slide Number Placeholder 3"/>
          <p:cNvSpPr>
            <a:spLocks noGrp="1"/>
          </p:cNvSpPr>
          <p:nvPr>
            <p:ph type="sldNum" sz="quarter" idx="10"/>
          </p:nvPr>
        </p:nvSpPr>
        <p:spPr/>
        <p:txBody>
          <a:bodyPr/>
          <a:lstStyle/>
          <a:p>
            <a:fld id="{A63B9007-0201-49BE-A587-7F882848EC05}" type="slidenum">
              <a:rPr lang="en-US" smtClean="0"/>
              <a:t>111</a:t>
            </a:fld>
            <a:endParaRPr lang="en-US"/>
          </a:p>
        </p:txBody>
      </p:sp>
    </p:spTree>
    <p:extLst>
      <p:ext uri="{BB962C8B-B14F-4D97-AF65-F5344CB8AC3E}">
        <p14:creationId xmlns:p14="http://schemas.microsoft.com/office/powerpoint/2010/main" val="210853685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
            </a:r>
          </a:p>
        </p:txBody>
      </p:sp>
      <p:sp>
        <p:nvSpPr>
          <p:cNvPr id="4" name="Slide Number Placeholder 3"/>
          <p:cNvSpPr>
            <a:spLocks noGrp="1"/>
          </p:cNvSpPr>
          <p:nvPr>
            <p:ph type="sldNum" sz="quarter" idx="10"/>
          </p:nvPr>
        </p:nvSpPr>
        <p:spPr/>
        <p:txBody>
          <a:bodyPr/>
          <a:lstStyle/>
          <a:p>
            <a:fld id="{A63B9007-0201-49BE-A587-7F882848EC05}" type="slidenum">
              <a:rPr lang="en-US" smtClean="0"/>
              <a:t>112</a:t>
            </a:fld>
            <a:endParaRPr lang="en-US"/>
          </a:p>
        </p:txBody>
      </p:sp>
    </p:spTree>
    <p:extLst>
      <p:ext uri="{BB962C8B-B14F-4D97-AF65-F5344CB8AC3E}">
        <p14:creationId xmlns:p14="http://schemas.microsoft.com/office/powerpoint/2010/main" val="268021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62000" y="1447800"/>
            <a:ext cx="76230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8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82000" cy="1143000"/>
          </a:xfrm>
        </p:spPr>
        <p:txBody>
          <a:bodyPr>
            <a:normAutofit/>
          </a:bodyPr>
          <a:lstStyle>
            <a:lvl1pPr>
              <a:defRPr sz="4000"/>
            </a:lvl1pPr>
          </a:lstStyle>
          <a:p>
            <a:r>
              <a:rPr kumimoji="0" lang="en-US"/>
              <a:t>Click to edit Master title style</a:t>
            </a:r>
          </a:p>
        </p:txBody>
      </p:sp>
      <p:sp>
        <p:nvSpPr>
          <p:cNvPr id="3" name="Content Placeholder 2"/>
          <p:cNvSpPr>
            <a:spLocks noGrp="1"/>
          </p:cNvSpPr>
          <p:nvPr>
            <p:ph idx="1"/>
          </p:nvPr>
        </p:nvSpPr>
        <p:spPr>
          <a:xfrm>
            <a:off x="457200" y="1752600"/>
            <a:ext cx="8382000" cy="4724400"/>
          </a:xfrm>
        </p:spPr>
        <p:txBody>
          <a:bodyPr/>
          <a:lstStyle>
            <a:lvl1pPr>
              <a:spcBef>
                <a:spcPts val="600"/>
              </a:spcBef>
              <a:defRPr sz="2600">
                <a:latin typeface="+mj-lt"/>
                <a:cs typeface="Arial" pitchFamily="34" charset="0"/>
              </a:defRPr>
            </a:lvl1pPr>
            <a:lvl2pPr>
              <a:spcBef>
                <a:spcPts val="600"/>
              </a:spcBef>
              <a:defRPr sz="2400">
                <a:latin typeface="+mj-lt"/>
                <a:cs typeface="Arial" pitchFamily="34" charset="0"/>
              </a:defRPr>
            </a:lvl2pPr>
            <a:lvl3pPr>
              <a:spcBef>
                <a:spcPts val="600"/>
              </a:spcBef>
              <a:defRPr sz="2200">
                <a:latin typeface="+mj-lt"/>
                <a:cs typeface="Arial" pitchFamily="34" charset="0"/>
              </a:defRPr>
            </a:lvl3pPr>
            <a:lvl4pPr>
              <a:spcBef>
                <a:spcPts val="600"/>
              </a:spcBef>
              <a:defRPr>
                <a:latin typeface="+mj-lt"/>
                <a:cs typeface="Arial" pitchFamily="34" charset="0"/>
              </a:defRPr>
            </a:lvl4pPr>
            <a:lvl5pPr>
              <a:spcBef>
                <a:spcPts val="600"/>
              </a:spcBef>
              <a:defRPr>
                <a:latin typeface="+mj-lt"/>
                <a:cs typeface="Arial" pitchFamily="34"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lvl1pPr>
              <a:defRPr sz="1400"/>
            </a:lvl1pPr>
          </a:lstStyle>
          <a:p>
            <a:r>
              <a:rPr lang="en-US"/>
              <a:t>Slide </a:t>
            </a:r>
            <a:fld id="{3900DC13-0C25-439E-AA75-E5DAAC4C3713}"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4.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15.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0DC13-0C25-439E-AA75-E5DAAC4C37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8"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C692C-4F2D-45F6-A9A8-8A3A8FE2780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9"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1"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2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hyperlink" Target="TestingReferences/Test%20Plan/Template_Test%20Plan.dotx" TargetMode="External"/><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6.xml"/></Relationships>
</file>

<file path=ppt/slides/_rels/slide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4.xml"/><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1.xml"/><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ln>
            <a:solidFill>
              <a:schemeClr val="tx1"/>
            </a:solidFill>
          </a:ln>
        </p:spPr>
        <p:txBody>
          <a:bodyPr/>
          <a:lstStyle/>
          <a:p>
            <a:r>
              <a:rPr lang="en-US"/>
              <a:t>SQA components in the project life cycle</a:t>
            </a:r>
          </a:p>
        </p:txBody>
      </p:sp>
      <p:sp>
        <p:nvSpPr>
          <p:cNvPr id="5" name="Line 4"/>
          <p:cNvSpPr>
            <a:spLocks noChangeShapeType="1"/>
          </p:cNvSpPr>
          <p:nvPr/>
        </p:nvSpPr>
        <p:spPr bwMode="auto">
          <a:xfrm>
            <a:off x="762000" y="3276600"/>
            <a:ext cx="1536700" cy="1752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5"/>
          <p:cNvSpPr>
            <a:spLocks noChangeShapeType="1"/>
          </p:cNvSpPr>
          <p:nvPr/>
        </p:nvSpPr>
        <p:spPr bwMode="auto">
          <a:xfrm flipV="1">
            <a:off x="3810000" y="3276600"/>
            <a:ext cx="4559300" cy="17653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5"/>
          <p:cNvSpPr>
            <a:spLocks noChangeArrowheads="1"/>
          </p:cNvSpPr>
          <p:nvPr/>
        </p:nvSpPr>
        <p:spPr bwMode="auto">
          <a:xfrm>
            <a:off x="762000" y="5041900"/>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1 </a:t>
            </a:r>
          </a:p>
          <a:p>
            <a:pPr algn="ctr"/>
            <a:r>
              <a:rPr lang="en-GB" sz="1600" b="1">
                <a:solidFill>
                  <a:srgbClr val="000C0B"/>
                </a:solidFill>
              </a:rPr>
              <a:t>Overview</a:t>
            </a:r>
          </a:p>
        </p:txBody>
      </p:sp>
      <p:sp>
        <p:nvSpPr>
          <p:cNvPr id="16" name="Rectangle 16"/>
          <p:cNvSpPr>
            <a:spLocks noChangeArrowheads="1"/>
          </p:cNvSpPr>
          <p:nvPr/>
        </p:nvSpPr>
        <p:spPr bwMode="auto">
          <a:xfrm>
            <a:off x="2298700" y="5041900"/>
            <a:ext cx="1511300" cy="673100"/>
          </a:xfrm>
          <a:prstGeom prst="rect">
            <a:avLst/>
          </a:prstGeom>
          <a:solidFill>
            <a:schemeClr val="tx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2 Life cycle</a:t>
            </a:r>
          </a:p>
          <a:p>
            <a:pPr algn="ctr"/>
            <a:r>
              <a:rPr lang="en-GB" sz="1600" b="1">
                <a:solidFill>
                  <a:srgbClr val="000C0B"/>
                </a:solidFill>
              </a:rPr>
              <a:t>components</a:t>
            </a:r>
          </a:p>
        </p:txBody>
      </p:sp>
      <p:sp>
        <p:nvSpPr>
          <p:cNvPr id="17" name="Rectangle 17"/>
          <p:cNvSpPr>
            <a:spLocks noChangeArrowheads="1"/>
          </p:cNvSpPr>
          <p:nvPr/>
        </p:nvSpPr>
        <p:spPr bwMode="auto">
          <a:xfrm>
            <a:off x="762000" y="5727700"/>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6 </a:t>
            </a:r>
          </a:p>
          <a:p>
            <a:pPr algn="ctr"/>
            <a:r>
              <a:rPr lang="en-US" sz="1600" b="1">
                <a:solidFill>
                  <a:srgbClr val="000C0B"/>
                </a:solidFill>
              </a:rPr>
              <a:t>Static tesing</a:t>
            </a:r>
            <a:endParaRPr lang="en-GB" sz="1600" b="1">
              <a:solidFill>
                <a:srgbClr val="000C0B"/>
              </a:solidFill>
            </a:endParaRPr>
          </a:p>
        </p:txBody>
      </p:sp>
      <p:sp>
        <p:nvSpPr>
          <p:cNvPr id="18" name="Rectangle 18"/>
          <p:cNvSpPr>
            <a:spLocks noChangeArrowheads="1"/>
          </p:cNvSpPr>
          <p:nvPr/>
        </p:nvSpPr>
        <p:spPr bwMode="auto">
          <a:xfrm>
            <a:off x="38100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500" b="1" dirty="0">
                <a:solidFill>
                  <a:srgbClr val="000C0B"/>
                </a:solidFill>
              </a:rPr>
              <a:t>3 </a:t>
            </a:r>
            <a:r>
              <a:rPr lang="en-US" sz="1500" b="1" dirty="0">
                <a:solidFill>
                  <a:srgbClr val="000C0B"/>
                </a:solidFill>
              </a:rPr>
              <a:t>Infrastructure</a:t>
            </a:r>
            <a:r>
              <a:rPr lang="en-US" sz="1500" dirty="0"/>
              <a:t> </a:t>
            </a:r>
            <a:r>
              <a:rPr lang="en-US" sz="1500" b="1" dirty="0">
                <a:solidFill>
                  <a:srgbClr val="000C0B"/>
                </a:solidFill>
              </a:rPr>
              <a:t>components</a:t>
            </a:r>
            <a:endParaRPr lang="en-GB" sz="1500" b="1" dirty="0">
              <a:solidFill>
                <a:srgbClr val="000C0B"/>
              </a:solidFill>
            </a:endParaRPr>
          </a:p>
        </p:txBody>
      </p:sp>
      <p:sp>
        <p:nvSpPr>
          <p:cNvPr id="19" name="Rectangle 19"/>
          <p:cNvSpPr>
            <a:spLocks noChangeArrowheads="1"/>
          </p:cNvSpPr>
          <p:nvPr/>
        </p:nvSpPr>
        <p:spPr bwMode="auto">
          <a:xfrm>
            <a:off x="22987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7 </a:t>
            </a:r>
            <a:r>
              <a:rPr lang="en-US" sz="1600" b="1">
                <a:solidFill>
                  <a:srgbClr val="000C0B"/>
                </a:solidFill>
              </a:rPr>
              <a:t>Dynamic testing</a:t>
            </a:r>
            <a:endParaRPr lang="en-GB" sz="1600" b="1">
              <a:solidFill>
                <a:srgbClr val="000C0B"/>
              </a:solidFill>
            </a:endParaRPr>
          </a:p>
        </p:txBody>
      </p:sp>
      <p:sp>
        <p:nvSpPr>
          <p:cNvPr id="20" name="Rectangle 20"/>
          <p:cNvSpPr>
            <a:spLocks noChangeArrowheads="1"/>
          </p:cNvSpPr>
          <p:nvPr/>
        </p:nvSpPr>
        <p:spPr bwMode="auto">
          <a:xfrm>
            <a:off x="38100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8 </a:t>
            </a:r>
            <a:r>
              <a:rPr lang="en-US" sz="1600" b="1">
                <a:solidFill>
                  <a:srgbClr val="000C0B"/>
                </a:solidFill>
              </a:rPr>
              <a:t>Test management</a:t>
            </a:r>
            <a:endParaRPr lang="en-GB" sz="1600" b="1">
              <a:solidFill>
                <a:srgbClr val="000C0B"/>
              </a:solidFill>
            </a:endParaRPr>
          </a:p>
        </p:txBody>
      </p:sp>
      <p:sp>
        <p:nvSpPr>
          <p:cNvPr id="21" name="Rectangle 15"/>
          <p:cNvSpPr>
            <a:spLocks noChangeArrowheads="1"/>
          </p:cNvSpPr>
          <p:nvPr/>
        </p:nvSpPr>
        <p:spPr bwMode="auto">
          <a:xfrm>
            <a:off x="53340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4 </a:t>
            </a:r>
            <a:r>
              <a:rPr lang="en-US" sz="1600" b="1">
                <a:solidFill>
                  <a:srgbClr val="000C0B"/>
                </a:solidFill>
              </a:rPr>
              <a:t>Management components</a:t>
            </a:r>
            <a:endParaRPr lang="en-GB" sz="1600" b="1">
              <a:solidFill>
                <a:srgbClr val="000C0B"/>
              </a:solidFill>
            </a:endParaRPr>
          </a:p>
        </p:txBody>
      </p:sp>
      <p:sp>
        <p:nvSpPr>
          <p:cNvPr id="22" name="Rectangle 17"/>
          <p:cNvSpPr>
            <a:spLocks noChangeArrowheads="1"/>
          </p:cNvSpPr>
          <p:nvPr/>
        </p:nvSpPr>
        <p:spPr bwMode="auto">
          <a:xfrm>
            <a:off x="53340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9 </a:t>
            </a:r>
          </a:p>
          <a:p>
            <a:pPr algn="ctr"/>
            <a:r>
              <a:rPr lang="en-GB" sz="1600" b="1">
                <a:solidFill>
                  <a:srgbClr val="000C0B"/>
                </a:solidFill>
              </a:rPr>
              <a:t>Tools</a:t>
            </a:r>
          </a:p>
        </p:txBody>
      </p:sp>
      <p:sp>
        <p:nvSpPr>
          <p:cNvPr id="23" name="Rectangle 16"/>
          <p:cNvSpPr>
            <a:spLocks noChangeArrowheads="1"/>
          </p:cNvSpPr>
          <p:nvPr/>
        </p:nvSpPr>
        <p:spPr bwMode="auto">
          <a:xfrm>
            <a:off x="68453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5 </a:t>
            </a:r>
            <a:r>
              <a:rPr lang="en-US" sz="1600" b="1">
                <a:solidFill>
                  <a:srgbClr val="000C0B"/>
                </a:solidFill>
              </a:rPr>
              <a:t>Standards and Organizing</a:t>
            </a:r>
            <a:endParaRPr lang="en-GB" sz="1600" b="1">
              <a:solidFill>
                <a:srgbClr val="000C0B"/>
              </a:solidFill>
            </a:endParaRPr>
          </a:p>
        </p:txBody>
      </p:sp>
      <p:sp>
        <p:nvSpPr>
          <p:cNvPr id="24" name="Rectangle 19"/>
          <p:cNvSpPr>
            <a:spLocks noChangeArrowheads="1"/>
          </p:cNvSpPr>
          <p:nvPr/>
        </p:nvSpPr>
        <p:spPr bwMode="auto">
          <a:xfrm>
            <a:off x="68453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600" b="1">
              <a:solidFill>
                <a:srgbClr val="000C0B"/>
              </a:solidFill>
            </a:endParaRPr>
          </a:p>
        </p:txBody>
      </p:sp>
    </p:spTree>
    <p:extLst>
      <p:ext uri="{BB962C8B-B14F-4D97-AF65-F5344CB8AC3E}">
        <p14:creationId xmlns:p14="http://schemas.microsoft.com/office/powerpoint/2010/main" val="378064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objectives</a:t>
            </a:r>
          </a:p>
        </p:txBody>
      </p:sp>
      <p:sp>
        <p:nvSpPr>
          <p:cNvPr id="3" name="Content Placeholder 2"/>
          <p:cNvSpPr>
            <a:spLocks noGrp="1"/>
          </p:cNvSpPr>
          <p:nvPr>
            <p:ph idx="1"/>
          </p:nvPr>
        </p:nvSpPr>
        <p:spPr/>
        <p:txBody>
          <a:bodyPr/>
          <a:lstStyle/>
          <a:p>
            <a:r>
              <a:rPr lang="en-US"/>
              <a:t>Compare the three major </a:t>
            </a:r>
            <a:r>
              <a:rPr lang="en-US" b="1"/>
              <a:t>review</a:t>
            </a:r>
            <a:r>
              <a:rPr lang="en-US"/>
              <a:t> methodologies</a:t>
            </a:r>
          </a:p>
          <a:p>
            <a:r>
              <a:rPr lang="en-US"/>
              <a:t>Explain the </a:t>
            </a:r>
            <a:r>
              <a:rPr lang="en-US" b="1"/>
              <a:t>fundamental test process</a:t>
            </a:r>
          </a:p>
          <a:p>
            <a:r>
              <a:rPr lang="en-US"/>
              <a:t>Distinguish </a:t>
            </a:r>
            <a:r>
              <a:rPr lang="en-US" b="1"/>
              <a:t>testing levels </a:t>
            </a:r>
            <a:r>
              <a:rPr lang="en-US"/>
              <a:t>and </a:t>
            </a:r>
            <a:r>
              <a:rPr lang="en-US" b="1"/>
              <a:t>testing types</a:t>
            </a:r>
          </a:p>
          <a:p>
            <a:r>
              <a:rPr lang="en-US"/>
              <a:t>List software </a:t>
            </a:r>
            <a:r>
              <a:rPr lang="en-US" b="1"/>
              <a:t>maintenance components </a:t>
            </a:r>
            <a:r>
              <a:rPr lang="en-US"/>
              <a:t>and explain their distinction</a:t>
            </a:r>
          </a:p>
          <a:p>
            <a:r>
              <a:rPr lang="en-US"/>
              <a:t>Explain the benefits and risks with </a:t>
            </a:r>
            <a:r>
              <a:rPr lang="en-US" b="1"/>
              <a:t>external participants</a:t>
            </a:r>
          </a:p>
          <a:p>
            <a:r>
              <a:rPr lang="en-US"/>
              <a:t>List the SQA tools appropriate for use with external participants</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a:t>
            </a:fld>
            <a:endParaRPr lang="en-US"/>
          </a:p>
        </p:txBody>
      </p:sp>
    </p:spTree>
    <p:extLst>
      <p:ext uri="{BB962C8B-B14F-4D97-AF65-F5344CB8AC3E}">
        <p14:creationId xmlns:p14="http://schemas.microsoft.com/office/powerpoint/2010/main" val="615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51646"/>
            <a:ext cx="8305800" cy="5706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457200"/>
            <a:ext cx="8382000" cy="838200"/>
          </a:xfrm>
        </p:spPr>
        <p:txBody>
          <a:bodyPr/>
          <a:lstStyle/>
          <a:p>
            <a:r>
              <a:rPr lang="en-US"/>
              <a:t>SQA Architecture</a:t>
            </a:r>
          </a:p>
        </p:txBody>
      </p:sp>
      <p:sp>
        <p:nvSpPr>
          <p:cNvPr id="3" name="Rectangle 2"/>
          <p:cNvSpPr/>
          <p:nvPr/>
        </p:nvSpPr>
        <p:spPr>
          <a:xfrm>
            <a:off x="1066800" y="2438400"/>
            <a:ext cx="7239000" cy="25146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3</a:t>
            </a:fld>
            <a:endParaRPr lang="en-US"/>
          </a:p>
        </p:txBody>
      </p:sp>
    </p:spTree>
    <p:extLst>
      <p:ext uri="{BB962C8B-B14F-4D97-AF65-F5344CB8AC3E}">
        <p14:creationId xmlns:p14="http://schemas.microsoft.com/office/powerpoint/2010/main" val="385486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r>
              <a:rPr lang="en-US"/>
              <a:t>Galin (2004). </a:t>
            </a:r>
            <a:r>
              <a:rPr lang="en-US" i="1"/>
              <a:t>Software Quality Assurance from theory to implementation. </a:t>
            </a:r>
            <a:r>
              <a:rPr lang="en-US"/>
              <a:t>Pearson Education Limited</a:t>
            </a:r>
          </a:p>
          <a:p>
            <a:endParaRPr lang="en-US"/>
          </a:p>
          <a:p>
            <a:r>
              <a:rPr lang="en-US"/>
              <a:t>Dorothy Grahamet, </a:t>
            </a:r>
            <a:r>
              <a:rPr lang="nl-NL"/>
              <a:t>Erik van Veenendaal, Isabel Evans, Rex Black. </a:t>
            </a:r>
            <a:r>
              <a:rPr lang="en-US" i="1"/>
              <a:t>Foundations of software testing: ISTQB Certification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a:t>
            </a:fld>
            <a:endParaRPr lang="en-US"/>
          </a:p>
        </p:txBody>
      </p:sp>
    </p:spTree>
    <p:extLst>
      <p:ext uri="{BB962C8B-B14F-4D97-AF65-F5344CB8AC3E}">
        <p14:creationId xmlns:p14="http://schemas.microsoft.com/office/powerpoint/2010/main" val="3605180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pPr marL="395288" indent="-395288">
              <a:buFont typeface="+mj-lt"/>
              <a:buAutoNum type="arabicPeriod"/>
            </a:pPr>
            <a:r>
              <a:rPr lang="en-US"/>
              <a:t>Integrating quality activities in the project life cycle</a:t>
            </a:r>
          </a:p>
          <a:p>
            <a:pPr marL="395288" indent="-395288">
              <a:buFont typeface="+mj-lt"/>
              <a:buAutoNum type="arabicPeriod"/>
            </a:pPr>
            <a:r>
              <a:rPr lang="en-US"/>
              <a:t>Review</a:t>
            </a:r>
          </a:p>
          <a:p>
            <a:pPr marL="395288" indent="-395288">
              <a:buFont typeface="+mj-lt"/>
              <a:buAutoNum type="arabicPeriod"/>
            </a:pPr>
            <a:r>
              <a:rPr lang="en-US"/>
              <a:t>Software testing</a:t>
            </a:r>
          </a:p>
          <a:p>
            <a:pPr marL="395288" indent="-395288">
              <a:buFont typeface="+mj-lt"/>
              <a:buAutoNum type="arabicPeriod"/>
            </a:pPr>
            <a:r>
              <a:rPr lang="en-US"/>
              <a:t>Assuring the quality of software maintenance components </a:t>
            </a:r>
          </a:p>
          <a:p>
            <a:pPr marL="395288" indent="-395288">
              <a:buFont typeface="+mj-lt"/>
              <a:buAutoNum type="arabicPeriod"/>
            </a:pPr>
            <a:r>
              <a:rPr lang="en-US"/>
              <a:t>Assuring the quality of external participants’ contributions </a:t>
            </a:r>
          </a:p>
        </p:txBody>
      </p:sp>
      <p:sp>
        <p:nvSpPr>
          <p:cNvPr id="14"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5" name="Rectangle 15"/>
          <p:cNvSpPr>
            <a:spLocks noChangeArrowheads="1"/>
          </p:cNvSpPr>
          <p:nvPr/>
        </p:nvSpPr>
        <p:spPr bwMode="auto">
          <a:xfrm>
            <a:off x="6647903"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2</a:t>
            </a:r>
          </a:p>
        </p:txBody>
      </p:sp>
      <p:sp>
        <p:nvSpPr>
          <p:cNvPr id="16"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17"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8"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9"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0"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1"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22"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3"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5</a:t>
            </a:fld>
            <a:endParaRPr lang="en-US"/>
          </a:p>
        </p:txBody>
      </p:sp>
    </p:spTree>
    <p:extLst>
      <p:ext uri="{BB962C8B-B14F-4D97-AF65-F5344CB8AC3E}">
        <p14:creationId xmlns:p14="http://schemas.microsoft.com/office/powerpoint/2010/main" val="360145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rctx="PPT">
                                        <p:cTn id="6" dur="indefinite"/>
                                        <p:tgtEl>
                                          <p:spTgt spid="3">
                                            <p:txEl>
                                              <p:pRg st="1" end="1"/>
                                            </p:txEl>
                                          </p:spTgt>
                                        </p:tgtEl>
                                        <p:attrNameLst>
                                          <p:attrName>style.opacity</p:attrName>
                                        </p:attrNameLst>
                                      </p:cBhvr>
                                      <p:to>
                                        <p:strVal val="0.5"/>
                                      </p:to>
                                    </p:set>
                                    <p:animEffect filter="image" prLst="opacity: 0.5">
                                      <p:cBhvr rctx="IE">
                                        <p:cTn id="7" dur="indefinite"/>
                                        <p:tgtEl>
                                          <p:spTgt spid="3">
                                            <p:txEl>
                                              <p:pRg st="1" end="1"/>
                                            </p:txEl>
                                          </p:spTgt>
                                        </p:tgtEl>
                                      </p:cBhvr>
                                    </p:animEffect>
                                  </p:childTnLst>
                                </p:cTn>
                              </p:par>
                              <p:par>
                                <p:cTn id="8" presetID="9" presetClass="emph" presetSubtype="0" grpId="0" nodeType="withEffect">
                                  <p:stCondLst>
                                    <p:cond delay="0"/>
                                  </p:stCondLst>
                                  <p:childTnLst>
                                    <p:set>
                                      <p:cBhvr rctx="PPT">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grpId="0" nodeType="withEffect">
                                  <p:stCondLst>
                                    <p:cond delay="0"/>
                                  </p:stCondLst>
                                  <p:childTnLst>
                                    <p:set>
                                      <p:cBhvr rctx="PPT">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par>
                                <p:cTn id="17" presetID="15" presetClass="emph" presetSubtype="0" nodeType="withEffect">
                                  <p:stCondLst>
                                    <p:cond delay="0"/>
                                  </p:stCondLst>
                                  <p:iterate type="lt">
                                    <p:tmAbs val="25"/>
                                  </p:iterate>
                                  <p:childTnLst>
                                    <p:set>
                                      <p:cBhvr override="childStyle">
                                        <p:cTn id="18" dur="indefinite"/>
                                        <p:tgtEl>
                                          <p:spTgt spid="3">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1. Quality activities in the project life cycle Waterfall model</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999" y="1819658"/>
            <a:ext cx="5186055" cy="4809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1904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1. Quality activities in the project life cycle </a:t>
            </a:r>
            <a:br>
              <a:rPr lang="en-US"/>
            </a:br>
            <a:r>
              <a:rPr lang="en-US"/>
              <a:t>V-model</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06" y="1846886"/>
            <a:ext cx="7914194" cy="4858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5165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1. Quality activities in the project life cycle Iterative development model</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a:t>
            </a:fld>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036" y="2362200"/>
            <a:ext cx="8405746"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2388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1. Quality activities in the project life cycle Testing within a life cycle model</a:t>
            </a:r>
          </a:p>
        </p:txBody>
      </p:sp>
      <p:sp>
        <p:nvSpPr>
          <p:cNvPr id="3" name="Content Placeholder 2"/>
          <p:cNvSpPr>
            <a:spLocks noGrp="1"/>
          </p:cNvSpPr>
          <p:nvPr>
            <p:ph idx="1"/>
          </p:nvPr>
        </p:nvSpPr>
        <p:spPr/>
        <p:txBody>
          <a:bodyPr/>
          <a:lstStyle/>
          <a:p>
            <a:r>
              <a:rPr lang="en-US"/>
              <a:t>Several characteristics of good testing:</a:t>
            </a:r>
          </a:p>
          <a:p>
            <a:pPr lvl="1"/>
            <a:r>
              <a:rPr lang="en-US"/>
              <a:t>for every development activity there is a corresponding testing activity; </a:t>
            </a:r>
          </a:p>
          <a:p>
            <a:pPr lvl="1"/>
            <a:r>
              <a:rPr lang="en-US"/>
              <a:t>the analysis and design of tests for a given test level should begin during the corresponding development activity; </a:t>
            </a:r>
          </a:p>
          <a:p>
            <a:pPr lvl="1"/>
            <a:r>
              <a:rPr lang="en-US"/>
              <a:t>testers should be involved in reviewing documents as soon as drafts are available in the development cycle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a:t>
            </a:fld>
            <a:endParaRPr lang="en-US"/>
          </a:p>
        </p:txBody>
      </p:sp>
    </p:spTree>
    <p:extLst>
      <p:ext uri="{BB962C8B-B14F-4D97-AF65-F5344CB8AC3E}">
        <p14:creationId xmlns:p14="http://schemas.microsoft.com/office/powerpoint/2010/main" val="2847230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pPr marL="395288" indent="-395288">
              <a:buFont typeface="+mj-lt"/>
              <a:buAutoNum type="arabicPeriod"/>
            </a:pPr>
            <a:r>
              <a:rPr lang="en-US" dirty="0"/>
              <a:t>Integrating quality activities in the project life cycle</a:t>
            </a:r>
          </a:p>
          <a:p>
            <a:pPr marL="395288" indent="-395288">
              <a:buFont typeface="+mj-lt"/>
              <a:buAutoNum type="arabicPeriod"/>
            </a:pPr>
            <a:r>
              <a:rPr lang="en-US" b="1" dirty="0"/>
              <a:t>Review</a:t>
            </a:r>
          </a:p>
          <a:p>
            <a:pPr marL="395288" indent="-395288">
              <a:buFont typeface="+mj-lt"/>
              <a:buAutoNum type="arabicPeriod"/>
            </a:pPr>
            <a:r>
              <a:rPr lang="en-US" dirty="0"/>
              <a:t>Software testing</a:t>
            </a:r>
          </a:p>
          <a:p>
            <a:pPr marL="395288" indent="-395288">
              <a:buFont typeface="+mj-lt"/>
              <a:buAutoNum type="arabicPeriod"/>
            </a:pPr>
            <a:r>
              <a:rPr lang="en-US" dirty="0"/>
              <a:t>Assuring the quality of software maintenance components </a:t>
            </a:r>
          </a:p>
          <a:p>
            <a:pPr marL="395288" indent="-395288">
              <a:buFont typeface="+mj-lt"/>
              <a:buAutoNum type="arabicPeriod"/>
            </a:pPr>
            <a:r>
              <a:rPr lang="en-US" dirty="0"/>
              <a:t>Assuring the quality of external participants’ contributions </a:t>
            </a:r>
          </a:p>
        </p:txBody>
      </p:sp>
      <p:sp>
        <p:nvSpPr>
          <p:cNvPr id="14"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5" name="Rectangle 15"/>
          <p:cNvSpPr>
            <a:spLocks noChangeArrowheads="1"/>
          </p:cNvSpPr>
          <p:nvPr/>
        </p:nvSpPr>
        <p:spPr bwMode="auto">
          <a:xfrm>
            <a:off x="6647903"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2</a:t>
            </a:r>
          </a:p>
        </p:txBody>
      </p:sp>
      <p:sp>
        <p:nvSpPr>
          <p:cNvPr id="16"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17"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8"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9"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0"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1"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22"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3"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10</a:t>
            </a:fld>
            <a:endParaRPr lang="en-US"/>
          </a:p>
        </p:txBody>
      </p:sp>
      <p:sp>
        <p:nvSpPr>
          <p:cNvPr id="24" name="Rectangle 23"/>
          <p:cNvSpPr/>
          <p:nvPr/>
        </p:nvSpPr>
        <p:spPr>
          <a:xfrm>
            <a:off x="7239000" y="5910040"/>
            <a:ext cx="1561389" cy="400110"/>
          </a:xfrm>
          <a:prstGeom prst="rect">
            <a:avLst/>
          </a:prstGeom>
        </p:spPr>
        <p:txBody>
          <a:bodyPr wrap="none">
            <a:spAutoFit/>
          </a:bodyPr>
          <a:lstStyle/>
          <a:p>
            <a:r>
              <a:rPr lang="en-US" sz="2000"/>
              <a:t>From ISTQB</a:t>
            </a:r>
          </a:p>
        </p:txBody>
      </p:sp>
    </p:spTree>
    <p:extLst>
      <p:ext uri="{BB962C8B-B14F-4D97-AF65-F5344CB8AC3E}">
        <p14:creationId xmlns:p14="http://schemas.microsoft.com/office/powerpoint/2010/main" val="193858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2" end="2"/>
                                            </p:txEl>
                                          </p:spTgt>
                                        </p:tgtEl>
                                        <p:attrNameLst>
                                          <p:attrName>style.opacity</p:attrName>
                                        </p:attrNameLst>
                                      </p:cBhvr>
                                      <p:to>
                                        <p:strVal val="0.5"/>
                                      </p:to>
                                    </p:set>
                                    <p:animEffect filter="image" prLst="opacity: 0.5">
                                      <p:cBhvr rctx="IE">
                                        <p:cTn id="7" dur="indefinite"/>
                                        <p:tgtEl>
                                          <p:spTgt spid="3">
                                            <p:txEl>
                                              <p:pRg st="2" end="2"/>
                                            </p:txEl>
                                          </p:spTgt>
                                        </p:tgtEl>
                                      </p:cBhvr>
                                    </p:animEffect>
                                  </p:childTnLst>
                                </p:cTn>
                              </p:par>
                              <p:par>
                                <p:cTn id="8" presetID="9" presetClass="emph" presetSubtype="0" nodeType="withEffect">
                                  <p:stCondLst>
                                    <p:cond delay="0"/>
                                  </p:stCondLst>
                                  <p:childTnLst>
                                    <p:set>
                                      <p:cBhvr rctx="PPT">
                                        <p:cTn id="9" dur="indefinite"/>
                                        <p:tgtEl>
                                          <p:spTgt spid="3">
                                            <p:txEl>
                                              <p:pRg st="3" end="3"/>
                                            </p:txEl>
                                          </p:spTgt>
                                        </p:tgtEl>
                                        <p:attrNameLst>
                                          <p:attrName>style.opacity</p:attrName>
                                        </p:attrNameLst>
                                      </p:cBhvr>
                                      <p:to>
                                        <p:strVal val="0.5"/>
                                      </p:to>
                                    </p:set>
                                    <p:animEffect filter="image" prLst="opacity: 0.5">
                                      <p:cBhvr rctx="IE">
                                        <p:cTn id="10" dur="indefinite"/>
                                        <p:tgtEl>
                                          <p:spTgt spid="3">
                                            <p:txEl>
                                              <p:pRg st="3" end="3"/>
                                            </p:txEl>
                                          </p:spTgt>
                                        </p:tgtEl>
                                      </p:cBhvr>
                                    </p:animEffect>
                                  </p:childTnLst>
                                </p:cTn>
                              </p:par>
                              <p:par>
                                <p:cTn id="11" presetID="9" presetClass="emph" presetSubtype="0" nodeType="withEffect">
                                  <p:stCondLst>
                                    <p:cond delay="0"/>
                                  </p:stCondLst>
                                  <p:childTnLst>
                                    <p:set>
                                      <p:cBhvr rctx="PPT">
                                        <p:cTn id="12" dur="indefinite"/>
                                        <p:tgtEl>
                                          <p:spTgt spid="3">
                                            <p:txEl>
                                              <p:pRg st="4" end="4"/>
                                            </p:txEl>
                                          </p:spTgt>
                                        </p:tgtEl>
                                        <p:attrNameLst>
                                          <p:attrName>style.opacity</p:attrName>
                                        </p:attrNameLst>
                                      </p:cBhvr>
                                      <p:to>
                                        <p:strVal val="0.5"/>
                                      </p:to>
                                    </p:set>
                                    <p:animEffect filter="image" prLst="opacity: 0.5">
                                      <p:cBhvr rctx="IE">
                                        <p:cTn id="13" dur="indefinite"/>
                                        <p:tgtEl>
                                          <p:spTgt spid="3">
                                            <p:txEl>
                                              <p:pRg st="4" end="4"/>
                                            </p:txEl>
                                          </p:spTgt>
                                        </p:tgtEl>
                                      </p:cBhvr>
                                    </p:animEffect>
                                  </p:childTnLst>
                                </p:cTn>
                              </p:par>
                              <p:par>
                                <p:cTn id="14" presetID="9" presetClass="emph" presetSubtype="0" nodeType="withEffect">
                                  <p:stCondLst>
                                    <p:cond delay="0"/>
                                  </p:stCondLst>
                                  <p:childTnLst>
                                    <p:set>
                                      <p:cBhvr rctx="PPT">
                                        <p:cTn id="15" dur="indefinite"/>
                                        <p:tgtEl>
                                          <p:spTgt spid="3">
                                            <p:txEl>
                                              <p:pRg st="0" end="0"/>
                                            </p:txEl>
                                          </p:spTgt>
                                        </p:tgtEl>
                                        <p:attrNameLst>
                                          <p:attrName>style.opacity</p:attrName>
                                        </p:attrNameLst>
                                      </p:cBhvr>
                                      <p:to>
                                        <p:strVal val="0.5"/>
                                      </p:to>
                                    </p:set>
                                    <p:animEffect filter="image" prLst="opacity: 0.5">
                                      <p:cBhvr rctx="IE">
                                        <p:cTn id="16" dur="indefinite"/>
                                        <p:tgtEl>
                                          <p:spTgt spid="3">
                                            <p:txEl>
                                              <p:pRg st="0" end="0"/>
                                            </p:txEl>
                                          </p:spTgt>
                                        </p:tgtEl>
                                      </p:cBhvr>
                                    </p:animEffect>
                                  </p:childTnLst>
                                </p:cTn>
                              </p:par>
                              <p:par>
                                <p:cTn id="17" presetID="15" presetClass="emph" presetSubtype="0" nodeType="withEffect">
                                  <p:stCondLst>
                                    <p:cond delay="0"/>
                                  </p:stCondLst>
                                  <p:iterate type="lt">
                                    <p:tmAbs val="25"/>
                                  </p:iterate>
                                  <p:childTnLst>
                                    <p:set>
                                      <p:cBhvr override="childStyle">
                                        <p:cTn id="18" dur="indefinite"/>
                                        <p:tgtEl>
                                          <p:spTgt spid="3">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Review</a:t>
            </a:r>
          </a:p>
        </p:txBody>
      </p:sp>
      <p:sp>
        <p:nvSpPr>
          <p:cNvPr id="3" name="Content Placeholder 2"/>
          <p:cNvSpPr>
            <a:spLocks noGrp="1"/>
          </p:cNvSpPr>
          <p:nvPr>
            <p:ph idx="1"/>
          </p:nvPr>
        </p:nvSpPr>
        <p:spPr/>
        <p:txBody>
          <a:bodyPr/>
          <a:lstStyle/>
          <a:p>
            <a:r>
              <a:rPr lang="en-US" dirty="0"/>
              <a:t>The IEEE definition </a:t>
            </a:r>
          </a:p>
          <a:p>
            <a:pPr marL="0" indent="0">
              <a:lnSpc>
                <a:spcPct val="150000"/>
              </a:lnSpc>
              <a:buNone/>
            </a:pPr>
            <a:r>
              <a:rPr lang="en-US" dirty="0"/>
              <a:t>A </a:t>
            </a:r>
            <a:r>
              <a:rPr lang="en-US" b="1" dirty="0"/>
              <a:t>process</a:t>
            </a:r>
            <a:r>
              <a:rPr lang="en-US" dirty="0"/>
              <a:t> or </a:t>
            </a:r>
            <a:r>
              <a:rPr lang="en-US" b="1" dirty="0"/>
              <a:t>meeting</a:t>
            </a:r>
            <a:r>
              <a:rPr lang="en-US" dirty="0"/>
              <a:t> during which a work product, or set of work products, is presented to project personnel, managers, users, customers, or other interested parties for </a:t>
            </a:r>
            <a:r>
              <a:rPr lang="en-US" b="1" dirty="0"/>
              <a:t>comment</a:t>
            </a:r>
            <a:r>
              <a:rPr lang="en-US" dirty="0"/>
              <a:t> or </a:t>
            </a:r>
            <a:r>
              <a:rPr lang="en-US" b="1" dirty="0"/>
              <a:t>approval</a:t>
            </a:r>
            <a:endParaRPr lang="en-US" dirty="0"/>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11</a:t>
            </a:fld>
            <a:endParaRPr lang="en-US"/>
          </a:p>
        </p:txBody>
      </p:sp>
    </p:spTree>
    <p:extLst>
      <p:ext uri="{BB962C8B-B14F-4D97-AF65-F5344CB8AC3E}">
        <p14:creationId xmlns:p14="http://schemas.microsoft.com/office/powerpoint/2010/main" val="1406007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Review</a:t>
            </a:r>
            <a:br>
              <a:rPr lang="en-US" dirty="0"/>
            </a:br>
            <a:r>
              <a:rPr lang="en-US" dirty="0"/>
              <a:t>Objectives</a:t>
            </a:r>
          </a:p>
        </p:txBody>
      </p:sp>
      <p:sp>
        <p:nvSpPr>
          <p:cNvPr id="3" name="Content Placeholder 2"/>
          <p:cNvSpPr>
            <a:spLocks noGrp="1"/>
          </p:cNvSpPr>
          <p:nvPr>
            <p:ph idx="1"/>
          </p:nvPr>
        </p:nvSpPr>
        <p:spPr/>
        <p:txBody>
          <a:bodyPr>
            <a:normAutofit/>
          </a:bodyPr>
          <a:lstStyle/>
          <a:p>
            <a:r>
              <a:rPr lang="en-US" dirty="0"/>
              <a:t>Direct</a:t>
            </a:r>
          </a:p>
          <a:p>
            <a:pPr lvl="1"/>
            <a:r>
              <a:rPr lang="en-US" dirty="0"/>
              <a:t>to </a:t>
            </a:r>
            <a:r>
              <a:rPr lang="en-US" b="1" dirty="0"/>
              <a:t>detect</a:t>
            </a:r>
            <a:r>
              <a:rPr lang="en-US" dirty="0"/>
              <a:t> analysis and design </a:t>
            </a:r>
            <a:r>
              <a:rPr lang="en-US" b="1" dirty="0"/>
              <a:t>errors</a:t>
            </a:r>
          </a:p>
          <a:p>
            <a:pPr lvl="1"/>
            <a:r>
              <a:rPr lang="en-US" dirty="0"/>
              <a:t>to </a:t>
            </a:r>
            <a:r>
              <a:rPr lang="en-US" b="1" dirty="0"/>
              <a:t>identify new risks </a:t>
            </a:r>
            <a:r>
              <a:rPr lang="en-US" dirty="0"/>
              <a:t>likely to affect completion of the project</a:t>
            </a:r>
          </a:p>
          <a:p>
            <a:pPr lvl="1"/>
            <a:r>
              <a:rPr lang="en-US" dirty="0"/>
              <a:t>to </a:t>
            </a:r>
            <a:r>
              <a:rPr lang="en-US" b="1" dirty="0"/>
              <a:t>identify</a:t>
            </a:r>
            <a:r>
              <a:rPr lang="en-US" dirty="0"/>
              <a:t> </a:t>
            </a:r>
            <a:r>
              <a:rPr lang="en-US" b="1" dirty="0"/>
              <a:t>deviations</a:t>
            </a:r>
            <a:r>
              <a:rPr lang="en-US" dirty="0"/>
              <a:t> from templates and style procedures</a:t>
            </a:r>
          </a:p>
          <a:p>
            <a:pPr lvl="1"/>
            <a:r>
              <a:rPr lang="en-US" dirty="0"/>
              <a:t>to </a:t>
            </a:r>
            <a:r>
              <a:rPr lang="en-US" b="1" dirty="0"/>
              <a:t>approve</a:t>
            </a:r>
            <a:r>
              <a:rPr lang="en-US" dirty="0"/>
              <a:t> the analysis or design product</a:t>
            </a:r>
          </a:p>
          <a:p>
            <a:r>
              <a:rPr lang="en-US" dirty="0"/>
              <a:t>Indirect</a:t>
            </a:r>
          </a:p>
          <a:p>
            <a:pPr lvl="1"/>
            <a:r>
              <a:rPr lang="en-US" dirty="0"/>
              <a:t>for exchange of professional knowledge</a:t>
            </a:r>
          </a:p>
          <a:p>
            <a:pPr lvl="1"/>
            <a:r>
              <a:rPr lang="en-US" dirty="0"/>
              <a:t>to record analysis and design errors that will serve as a basis for future </a:t>
            </a:r>
            <a:r>
              <a:rPr lang="en-US" i="1" dirty="0"/>
              <a:t>corrective actions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12</a:t>
            </a:fld>
            <a:endParaRPr lang="en-US"/>
          </a:p>
        </p:txBody>
      </p:sp>
    </p:spTree>
    <p:extLst>
      <p:ext uri="{BB962C8B-B14F-4D97-AF65-F5344CB8AC3E}">
        <p14:creationId xmlns:p14="http://schemas.microsoft.com/office/powerpoint/2010/main" val="1759234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Review</a:t>
            </a:r>
            <a:br>
              <a:rPr lang="en-US" dirty="0"/>
            </a:br>
            <a:r>
              <a:rPr lang="en-GB" dirty="0"/>
              <a:t>Types of reviews</a:t>
            </a:r>
            <a:endParaRPr lang="en-US" dirty="0"/>
          </a:p>
        </p:txBody>
      </p:sp>
      <p:sp>
        <p:nvSpPr>
          <p:cNvPr id="3" name="Content Placeholder 2"/>
          <p:cNvSpPr>
            <a:spLocks noGrp="1"/>
          </p:cNvSpPr>
          <p:nvPr>
            <p:ph idx="1"/>
          </p:nvPr>
        </p:nvSpPr>
        <p:spPr/>
        <p:txBody>
          <a:bodyPr/>
          <a:lstStyle/>
          <a:p>
            <a:r>
              <a:rPr lang="en-US" dirty="0"/>
              <a:t>Walkthrough</a:t>
            </a:r>
          </a:p>
          <a:p>
            <a:r>
              <a:rPr lang="en-US" dirty="0"/>
              <a:t>Inspection </a:t>
            </a:r>
          </a:p>
          <a:p>
            <a:r>
              <a:rPr lang="en-US" dirty="0"/>
              <a:t>Technical review/Peer review</a:t>
            </a:r>
          </a:p>
        </p:txBody>
      </p:sp>
      <p:sp>
        <p:nvSpPr>
          <p:cNvPr id="9" name="Slide Number Placeholder 8"/>
          <p:cNvSpPr>
            <a:spLocks noGrp="1"/>
          </p:cNvSpPr>
          <p:nvPr>
            <p:ph type="sldNum" sz="quarter" idx="12"/>
          </p:nvPr>
        </p:nvSpPr>
        <p:spPr/>
        <p:txBody>
          <a:bodyPr/>
          <a:lstStyle/>
          <a:p>
            <a:r>
              <a:rPr lang="en-US"/>
              <a:t>Slide </a:t>
            </a:r>
            <a:fld id="{3900DC13-0C25-439E-AA75-E5DAAC4C3713}" type="slidenum">
              <a:rPr lang="en-US" smtClean="0"/>
              <a:pPr/>
              <a:t>13</a:t>
            </a:fld>
            <a:endParaRPr lang="en-US"/>
          </a:p>
        </p:txBody>
      </p:sp>
    </p:spTree>
    <p:extLst>
      <p:ext uri="{BB962C8B-B14F-4D97-AF65-F5344CB8AC3E}">
        <p14:creationId xmlns:p14="http://schemas.microsoft.com/office/powerpoint/2010/main" val="2108002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ChangeArrowheads="1"/>
          </p:cNvSpPr>
          <p:nvPr>
            <p:ph type="title"/>
          </p:nvPr>
        </p:nvSpPr>
        <p:spPr/>
        <p:txBody>
          <a:bodyPr>
            <a:normAutofit fontScale="90000"/>
          </a:bodyPr>
          <a:lstStyle/>
          <a:p>
            <a:r>
              <a:rPr lang="en-US" dirty="0"/>
              <a:t>2. Review</a:t>
            </a:r>
            <a:br>
              <a:rPr lang="en-GB" dirty="0"/>
            </a:br>
            <a:r>
              <a:rPr lang="en-GB" dirty="0"/>
              <a:t>Walkthrough</a:t>
            </a:r>
          </a:p>
        </p:txBody>
      </p:sp>
      <p:sp>
        <p:nvSpPr>
          <p:cNvPr id="80899" name="Rectangle 1027"/>
          <p:cNvSpPr>
            <a:spLocks noGrp="1" noChangeArrowheads="1"/>
          </p:cNvSpPr>
          <p:nvPr>
            <p:ph type="body" idx="1"/>
          </p:nvPr>
        </p:nvSpPr>
        <p:spPr/>
        <p:txBody>
          <a:bodyPr>
            <a:normAutofit fontScale="92500" lnSpcReduction="10000"/>
          </a:bodyPr>
          <a:lstStyle/>
          <a:p>
            <a:r>
              <a:rPr lang="en-US" dirty="0"/>
              <a:t>An informal meeting for evaluation or informational purposes</a:t>
            </a:r>
          </a:p>
          <a:p>
            <a:r>
              <a:rPr lang="en-US" dirty="0"/>
              <a:t>Led by the author</a:t>
            </a:r>
          </a:p>
          <a:p>
            <a:r>
              <a:rPr lang="en-US" dirty="0"/>
              <a:t>The author describes his work product to a group of colleagues and solicits comments</a:t>
            </a:r>
          </a:p>
          <a:p>
            <a:r>
              <a:rPr lang="en-US" dirty="0"/>
              <a:t>Goals</a:t>
            </a:r>
          </a:p>
          <a:p>
            <a:pPr lvl="1"/>
            <a:r>
              <a:rPr lang="en-US" dirty="0"/>
              <a:t>to present the document to stakeholders </a:t>
            </a:r>
          </a:p>
          <a:p>
            <a:pPr lvl="1"/>
            <a:r>
              <a:rPr lang="en-US" dirty="0"/>
              <a:t>to familiarize the audience with the content of the document</a:t>
            </a:r>
          </a:p>
          <a:p>
            <a:pPr lvl="1"/>
            <a:r>
              <a:rPr lang="en-US" dirty="0"/>
              <a:t>to gather feedback</a:t>
            </a:r>
          </a:p>
          <a:p>
            <a:pPr lvl="1"/>
            <a:r>
              <a:rPr lang="en-US" dirty="0"/>
              <a:t>to examine and discuss the validity of proposed solutions and the viability of alternatives, establishing consensus</a:t>
            </a:r>
          </a:p>
          <a:p>
            <a:r>
              <a:rPr lang="en-US" dirty="0"/>
              <a:t>Especially useful if people from outside the software discipline  or </a:t>
            </a:r>
            <a:r>
              <a:rPr lang="en-IE" dirty="0"/>
              <a:t>for higher-level documents</a:t>
            </a:r>
            <a:endParaRPr lang="en-GB"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14</a:t>
            </a:fld>
            <a:endParaRPr lang="en-US"/>
          </a:p>
        </p:txBody>
      </p:sp>
    </p:spTree>
    <p:extLst>
      <p:ext uri="{BB962C8B-B14F-4D97-AF65-F5344CB8AC3E}">
        <p14:creationId xmlns:p14="http://schemas.microsoft.com/office/powerpoint/2010/main" val="104382168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ChangeArrowheads="1"/>
          </p:cNvSpPr>
          <p:nvPr>
            <p:ph type="title"/>
          </p:nvPr>
        </p:nvSpPr>
        <p:spPr/>
        <p:txBody>
          <a:bodyPr>
            <a:normAutofit fontScale="90000"/>
          </a:bodyPr>
          <a:lstStyle/>
          <a:p>
            <a:r>
              <a:rPr lang="en-US" dirty="0"/>
              <a:t>2. Review</a:t>
            </a:r>
            <a:br>
              <a:rPr lang="en-US" dirty="0"/>
            </a:br>
            <a:r>
              <a:rPr lang="en-GB" dirty="0"/>
              <a:t>Inspection</a:t>
            </a:r>
          </a:p>
        </p:txBody>
      </p:sp>
      <p:sp>
        <p:nvSpPr>
          <p:cNvPr id="80899" name="Rectangle 1027"/>
          <p:cNvSpPr>
            <a:spLocks noGrp="1" noChangeArrowheads="1"/>
          </p:cNvSpPr>
          <p:nvPr>
            <p:ph type="body" idx="1"/>
          </p:nvPr>
        </p:nvSpPr>
        <p:spPr/>
        <p:txBody>
          <a:bodyPr>
            <a:normAutofit/>
          </a:bodyPr>
          <a:lstStyle/>
          <a:p>
            <a:r>
              <a:rPr lang="en-US" dirty="0"/>
              <a:t>The most formal review type</a:t>
            </a:r>
          </a:p>
          <a:p>
            <a:pPr lvl="1"/>
            <a:r>
              <a:rPr lang="en-US" dirty="0"/>
              <a:t>prescribed and systematic</a:t>
            </a:r>
          </a:p>
          <a:p>
            <a:pPr lvl="1"/>
            <a:r>
              <a:rPr lang="en-US" dirty="0"/>
              <a:t>roles are well defined (moderator, reader, and a recorder)</a:t>
            </a:r>
          </a:p>
          <a:p>
            <a:r>
              <a:rPr lang="en-US" dirty="0"/>
              <a:t>Usually led by trained moderator (not the author)</a:t>
            </a:r>
            <a:endParaRPr lang="en-GB" dirty="0"/>
          </a:p>
          <a:p>
            <a:r>
              <a:rPr lang="en-US" dirty="0"/>
              <a:t>Attendees should prepare for this type of meeting by reading through the document</a:t>
            </a:r>
          </a:p>
          <a:p>
            <a:r>
              <a:rPr lang="en-US" dirty="0"/>
              <a:t>The defects found are documented in a logging list</a:t>
            </a:r>
          </a:p>
          <a:p>
            <a:r>
              <a:rPr lang="en-US" dirty="0"/>
              <a:t>The result of the inspection meeting should be a written report</a:t>
            </a:r>
          </a:p>
          <a:p>
            <a:r>
              <a:rPr lang="en-US" dirty="0"/>
              <a:t>Metrics are gathered and analyzed to optimize the process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15</a:t>
            </a:fld>
            <a:endParaRPr lang="en-US"/>
          </a:p>
        </p:txBody>
      </p:sp>
    </p:spTree>
    <p:extLst>
      <p:ext uri="{BB962C8B-B14F-4D97-AF65-F5344CB8AC3E}">
        <p14:creationId xmlns:p14="http://schemas.microsoft.com/office/powerpoint/2010/main" val="269437971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2. Review</a:t>
            </a:r>
            <a:br>
              <a:rPr lang="en-US" dirty="0"/>
            </a:br>
            <a:r>
              <a:rPr lang="en-GB" dirty="0"/>
              <a:t>Inspection (cont’d)</a:t>
            </a:r>
            <a:endParaRPr lang="en-US" dirty="0"/>
          </a:p>
        </p:txBody>
      </p:sp>
      <p:sp>
        <p:nvSpPr>
          <p:cNvPr id="3" name="Content Placeholder 2"/>
          <p:cNvSpPr>
            <a:spLocks noGrp="1"/>
          </p:cNvSpPr>
          <p:nvPr>
            <p:ph idx="1"/>
          </p:nvPr>
        </p:nvSpPr>
        <p:spPr/>
        <p:txBody>
          <a:bodyPr>
            <a:normAutofit/>
          </a:bodyPr>
          <a:lstStyle/>
          <a:p>
            <a:r>
              <a:rPr lang="en-US" dirty="0"/>
              <a:t>Goals</a:t>
            </a:r>
          </a:p>
          <a:p>
            <a:pPr lvl="1"/>
            <a:r>
              <a:rPr lang="en-US" dirty="0"/>
              <a:t>to </a:t>
            </a:r>
            <a:r>
              <a:rPr lang="en-US" b="1" dirty="0"/>
              <a:t>find problems </a:t>
            </a:r>
            <a:r>
              <a:rPr lang="en-US" dirty="0"/>
              <a:t>and see what's missing, not to fix anything</a:t>
            </a:r>
          </a:p>
          <a:p>
            <a:pPr lvl="1"/>
            <a:r>
              <a:rPr lang="en-US" b="1" dirty="0"/>
              <a:t>help</a:t>
            </a:r>
            <a:r>
              <a:rPr lang="en-US" dirty="0"/>
              <a:t> the author to improve the quality of the document, by producing documents with a higher level of quality</a:t>
            </a:r>
          </a:p>
          <a:p>
            <a:pPr lvl="1"/>
            <a:r>
              <a:rPr lang="en-US" b="1" dirty="0"/>
              <a:t>train</a:t>
            </a:r>
            <a:r>
              <a:rPr lang="en-US" dirty="0"/>
              <a:t> new employees in the organization's development process</a:t>
            </a:r>
          </a:p>
          <a:p>
            <a:pPr lvl="1"/>
            <a:r>
              <a:rPr lang="en-US" b="1" dirty="0"/>
              <a:t>learn</a:t>
            </a:r>
            <a:r>
              <a:rPr lang="en-US" dirty="0"/>
              <a:t> from defects found and </a:t>
            </a:r>
            <a:r>
              <a:rPr lang="en-US" b="1" dirty="0"/>
              <a:t>improve</a:t>
            </a:r>
            <a:r>
              <a:rPr lang="en-US" dirty="0"/>
              <a:t> processes in order to prevent recurrence of similar defects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16</a:t>
            </a:fld>
            <a:endParaRPr lang="en-US"/>
          </a:p>
        </p:txBody>
      </p:sp>
    </p:spTree>
    <p:extLst>
      <p:ext uri="{BB962C8B-B14F-4D97-AF65-F5344CB8AC3E}">
        <p14:creationId xmlns:p14="http://schemas.microsoft.com/office/powerpoint/2010/main" val="1432704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Review</a:t>
            </a:r>
            <a:br>
              <a:rPr lang="en-US" dirty="0"/>
            </a:br>
            <a:r>
              <a:rPr lang="en-US" dirty="0"/>
              <a:t>Technical review/Peer review</a:t>
            </a:r>
          </a:p>
        </p:txBody>
      </p:sp>
      <p:sp>
        <p:nvSpPr>
          <p:cNvPr id="3" name="Content Placeholder 2"/>
          <p:cNvSpPr>
            <a:spLocks noGrp="1"/>
          </p:cNvSpPr>
          <p:nvPr>
            <p:ph idx="1"/>
          </p:nvPr>
        </p:nvSpPr>
        <p:spPr/>
        <p:txBody>
          <a:bodyPr>
            <a:normAutofit/>
          </a:bodyPr>
          <a:lstStyle/>
          <a:p>
            <a:r>
              <a:rPr lang="en-US" dirty="0"/>
              <a:t>A discussion meeting focuses on achieving </a:t>
            </a:r>
            <a:r>
              <a:rPr lang="en-US" b="1" dirty="0"/>
              <a:t>consensus about the technical content of a document</a:t>
            </a:r>
          </a:p>
          <a:p>
            <a:r>
              <a:rPr lang="en-GB" dirty="0"/>
              <a:t>Includes </a:t>
            </a:r>
            <a:r>
              <a:rPr lang="en-GB" b="1" dirty="0"/>
              <a:t>peer </a:t>
            </a:r>
            <a:r>
              <a:rPr lang="en-GB" dirty="0"/>
              <a:t>and</a:t>
            </a:r>
            <a:r>
              <a:rPr lang="en-GB" b="1" dirty="0"/>
              <a:t> technical experts </a:t>
            </a:r>
            <a:r>
              <a:rPr lang="en-GB" dirty="0"/>
              <a:t>(e.g. </a:t>
            </a:r>
            <a:r>
              <a:rPr lang="en-US" dirty="0"/>
              <a:t>architects, chief designers and key users)</a:t>
            </a:r>
            <a:r>
              <a:rPr lang="en-GB" dirty="0"/>
              <a:t>, no management participation</a:t>
            </a:r>
          </a:p>
          <a:p>
            <a:r>
              <a:rPr lang="en-US" dirty="0"/>
              <a:t>Goals</a:t>
            </a:r>
          </a:p>
          <a:p>
            <a:pPr lvl="1"/>
            <a:r>
              <a:rPr lang="en-US" dirty="0"/>
              <a:t>assess the </a:t>
            </a:r>
            <a:r>
              <a:rPr lang="en-US" b="1" dirty="0"/>
              <a:t>value of technical concepts </a:t>
            </a:r>
            <a:r>
              <a:rPr lang="en-US" dirty="0"/>
              <a:t>and </a:t>
            </a:r>
            <a:r>
              <a:rPr lang="en-US" b="1" dirty="0"/>
              <a:t>alternatives</a:t>
            </a:r>
            <a:r>
              <a:rPr lang="en-US" dirty="0"/>
              <a:t> in the product and project environment</a:t>
            </a:r>
          </a:p>
          <a:p>
            <a:pPr lvl="1"/>
            <a:r>
              <a:rPr lang="en-US" dirty="0"/>
              <a:t>establish </a:t>
            </a:r>
            <a:r>
              <a:rPr lang="en-US" b="1" dirty="0"/>
              <a:t>consistency in the use and representation </a:t>
            </a:r>
            <a:r>
              <a:rPr lang="en-US" dirty="0"/>
              <a:t>of technical concepts</a:t>
            </a:r>
          </a:p>
          <a:p>
            <a:pPr lvl="1"/>
            <a:r>
              <a:rPr lang="en-US" dirty="0"/>
              <a:t>ensure that </a:t>
            </a:r>
            <a:r>
              <a:rPr lang="en-US" b="1" dirty="0"/>
              <a:t>technical concepts are used correctly</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17</a:t>
            </a:fld>
            <a:endParaRPr lang="en-US"/>
          </a:p>
        </p:txBody>
      </p:sp>
    </p:spTree>
    <p:extLst>
      <p:ext uri="{BB962C8B-B14F-4D97-AF65-F5344CB8AC3E}">
        <p14:creationId xmlns:p14="http://schemas.microsoft.com/office/powerpoint/2010/main" val="3864850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pPr marL="395288" indent="-395288">
              <a:buFont typeface="+mj-lt"/>
              <a:buAutoNum type="arabicPeriod"/>
            </a:pPr>
            <a:r>
              <a:rPr lang="en-US"/>
              <a:t>Integrating quality activities in the project life cycle</a:t>
            </a:r>
          </a:p>
          <a:p>
            <a:pPr marL="395288" indent="-395288">
              <a:buFont typeface="+mj-lt"/>
              <a:buAutoNum type="arabicPeriod"/>
            </a:pPr>
            <a:r>
              <a:rPr lang="en-US"/>
              <a:t>Review</a:t>
            </a:r>
          </a:p>
          <a:p>
            <a:pPr marL="395288" indent="-395288">
              <a:buFont typeface="+mj-lt"/>
              <a:buAutoNum type="arabicPeriod"/>
            </a:pPr>
            <a:r>
              <a:rPr lang="en-US" b="1"/>
              <a:t>Software testing</a:t>
            </a:r>
          </a:p>
          <a:p>
            <a:pPr marL="395288" indent="-395288">
              <a:buFont typeface="+mj-lt"/>
              <a:buAutoNum type="arabicPeriod"/>
            </a:pPr>
            <a:r>
              <a:rPr lang="en-US"/>
              <a:t>Assuring the quality of software maintenance components </a:t>
            </a:r>
          </a:p>
          <a:p>
            <a:pPr marL="395288" indent="-395288">
              <a:buFont typeface="+mj-lt"/>
              <a:buAutoNum type="arabicPeriod"/>
            </a:pPr>
            <a:r>
              <a:rPr lang="en-US"/>
              <a:t>Assuring the quality of external participants’ contributions </a:t>
            </a:r>
          </a:p>
        </p:txBody>
      </p:sp>
      <p:sp>
        <p:nvSpPr>
          <p:cNvPr id="14"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5" name="Rectangle 15"/>
          <p:cNvSpPr>
            <a:spLocks noChangeArrowheads="1"/>
          </p:cNvSpPr>
          <p:nvPr/>
        </p:nvSpPr>
        <p:spPr bwMode="auto">
          <a:xfrm>
            <a:off x="6647903"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2</a:t>
            </a:r>
          </a:p>
        </p:txBody>
      </p:sp>
      <p:sp>
        <p:nvSpPr>
          <p:cNvPr id="16"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17"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8"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9"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0"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1"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22"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3"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18</a:t>
            </a:fld>
            <a:endParaRPr lang="en-US"/>
          </a:p>
        </p:txBody>
      </p:sp>
    </p:spTree>
    <p:extLst>
      <p:ext uri="{BB962C8B-B14F-4D97-AF65-F5344CB8AC3E}">
        <p14:creationId xmlns:p14="http://schemas.microsoft.com/office/powerpoint/2010/main" val="3761366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grpId="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grpId="0" nodeType="withEffect">
                                  <p:stCondLst>
                                    <p:cond delay="0"/>
                                  </p:stCondLst>
                                  <p:childTnLst>
                                    <p:set>
                                      <p:cBhvr rctx="PPT">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grpId="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Software testing</a:t>
            </a:r>
          </a:p>
        </p:txBody>
      </p:sp>
      <p:sp>
        <p:nvSpPr>
          <p:cNvPr id="7" name="Content Placeholder 6"/>
          <p:cNvSpPr>
            <a:spLocks noGrp="1"/>
          </p:cNvSpPr>
          <p:nvPr>
            <p:ph idx="1"/>
          </p:nvPr>
        </p:nvSpPr>
        <p:spPr/>
        <p:txBody>
          <a:bodyPr/>
          <a:lstStyle/>
          <a:p>
            <a:pPr marL="0" indent="0">
              <a:buNone/>
            </a:pPr>
            <a:r>
              <a:rPr lang="en-US"/>
              <a:t>3.1.  Objectives</a:t>
            </a:r>
          </a:p>
          <a:p>
            <a:pPr marL="0" indent="0">
              <a:buNone/>
            </a:pPr>
            <a:r>
              <a:rPr lang="en-US"/>
              <a:t>3.2.  Fundamental test process</a:t>
            </a:r>
          </a:p>
          <a:p>
            <a:pPr marL="0" indent="0">
              <a:buNone/>
            </a:pPr>
            <a:r>
              <a:rPr lang="en-US"/>
              <a:t>3.3.  Test levels</a:t>
            </a:r>
          </a:p>
          <a:p>
            <a:pPr marL="0" indent="0">
              <a:buNone/>
            </a:pPr>
            <a:r>
              <a:rPr lang="en-US"/>
              <a:t>3.4.  Test types</a:t>
            </a:r>
          </a:p>
          <a:p>
            <a:endParaRPr lang="en-US"/>
          </a:p>
        </p:txBody>
      </p:sp>
      <p:sp>
        <p:nvSpPr>
          <p:cNvPr id="11" name="Rectangle 10"/>
          <p:cNvSpPr/>
          <p:nvPr/>
        </p:nvSpPr>
        <p:spPr>
          <a:xfrm>
            <a:off x="7239000" y="5910040"/>
            <a:ext cx="1561389" cy="400110"/>
          </a:xfrm>
          <a:prstGeom prst="rect">
            <a:avLst/>
          </a:prstGeom>
        </p:spPr>
        <p:txBody>
          <a:bodyPr wrap="none">
            <a:spAutoFit/>
          </a:bodyPr>
          <a:lstStyle/>
          <a:p>
            <a:r>
              <a:rPr lang="en-US" sz="2000"/>
              <a:t>From ISTQB</a:t>
            </a:r>
          </a:p>
        </p:txBody>
      </p:sp>
      <p:sp>
        <p:nvSpPr>
          <p:cNvPr id="12" name="Slide Number Placeholder 11"/>
          <p:cNvSpPr>
            <a:spLocks noGrp="1"/>
          </p:cNvSpPr>
          <p:nvPr>
            <p:ph type="sldNum" sz="quarter" idx="12"/>
          </p:nvPr>
        </p:nvSpPr>
        <p:spPr/>
        <p:txBody>
          <a:bodyPr/>
          <a:lstStyle/>
          <a:p>
            <a:r>
              <a:rPr lang="en-US"/>
              <a:t>Slide </a:t>
            </a:r>
            <a:fld id="{3900DC13-0C25-439E-AA75-E5DAAC4C3713}" type="slidenum">
              <a:rPr lang="en-US" smtClean="0"/>
              <a:pPr/>
              <a:t>19</a:t>
            </a:fld>
            <a:endParaRPr lang="en-US"/>
          </a:p>
        </p:txBody>
      </p:sp>
    </p:spTree>
    <p:extLst>
      <p:ext uri="{BB962C8B-B14F-4D97-AF65-F5344CB8AC3E}">
        <p14:creationId xmlns:p14="http://schemas.microsoft.com/office/powerpoint/2010/main" val="2488878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Testing objectives</a:t>
            </a:r>
          </a:p>
        </p:txBody>
      </p:sp>
      <p:sp>
        <p:nvSpPr>
          <p:cNvPr id="3" name="Content Placeholder 2"/>
          <p:cNvSpPr>
            <a:spLocks noGrp="1"/>
          </p:cNvSpPr>
          <p:nvPr>
            <p:ph idx="1"/>
          </p:nvPr>
        </p:nvSpPr>
        <p:spPr/>
        <p:txBody>
          <a:bodyPr/>
          <a:lstStyle/>
          <a:p>
            <a:r>
              <a:rPr lang="en-US" dirty="0"/>
              <a:t>to detect defects</a:t>
            </a:r>
          </a:p>
          <a:p>
            <a:r>
              <a:rPr lang="en-US" dirty="0"/>
              <a:t>to determine that they satisfy specified requirements</a:t>
            </a:r>
          </a:p>
          <a:p>
            <a:r>
              <a:rPr lang="en-US" dirty="0"/>
              <a:t>to demonstrate that they are fit for purpose </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20</a:t>
            </a:fld>
            <a:endParaRPr lang="en-US"/>
          </a:p>
        </p:txBody>
      </p:sp>
    </p:spTree>
    <p:extLst>
      <p:ext uri="{BB962C8B-B14F-4D97-AF65-F5344CB8AC3E}">
        <p14:creationId xmlns:p14="http://schemas.microsoft.com/office/powerpoint/2010/main" val="3934529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3.2.	Test process</a:t>
            </a:r>
          </a:p>
        </p:txBody>
      </p:sp>
      <p:sp>
        <p:nvSpPr>
          <p:cNvPr id="9" name="Right Arrow Callout 8"/>
          <p:cNvSpPr/>
          <p:nvPr/>
        </p:nvSpPr>
        <p:spPr>
          <a:xfrm rot="5400000">
            <a:off x="4176210" y="-17676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Planning and Control</a:t>
            </a:r>
          </a:p>
        </p:txBody>
      </p:sp>
      <p:sp>
        <p:nvSpPr>
          <p:cNvPr id="13" name="Right Arrow Callout 12"/>
          <p:cNvSpPr/>
          <p:nvPr/>
        </p:nvSpPr>
        <p:spPr>
          <a:xfrm rot="5400000">
            <a:off x="4176210" y="-759551"/>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Analysis and Design</a:t>
            </a:r>
          </a:p>
        </p:txBody>
      </p:sp>
      <p:sp>
        <p:nvSpPr>
          <p:cNvPr id="15" name="Right Arrow Callout 14"/>
          <p:cNvSpPr/>
          <p:nvPr/>
        </p:nvSpPr>
        <p:spPr>
          <a:xfrm rot="5400000">
            <a:off x="4176210" y="2485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Implementation and Execution</a:t>
            </a:r>
          </a:p>
        </p:txBody>
      </p:sp>
      <p:sp>
        <p:nvSpPr>
          <p:cNvPr id="18" name="Right Arrow Callout 17"/>
          <p:cNvSpPr/>
          <p:nvPr/>
        </p:nvSpPr>
        <p:spPr>
          <a:xfrm rot="5400000">
            <a:off x="4140206" y="1256674"/>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Reporting and Evaluating Exit Criteria</a:t>
            </a:r>
          </a:p>
        </p:txBody>
      </p:sp>
      <p:sp>
        <p:nvSpPr>
          <p:cNvPr id="19" name="Rectangle 18"/>
          <p:cNvSpPr/>
          <p:nvPr/>
        </p:nvSpPr>
        <p:spPr>
          <a:xfrm>
            <a:off x="503548" y="5945952"/>
            <a:ext cx="8280920" cy="6072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800" b="1" dirty="0">
                <a:solidFill>
                  <a:prstClr val="black"/>
                </a:solidFill>
              </a:rPr>
              <a:t>Test Closure Activities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21</a:t>
            </a:fld>
            <a:endParaRPr lang="en-US"/>
          </a:p>
        </p:txBody>
      </p:sp>
    </p:spTree>
    <p:extLst>
      <p:ext uri="{BB962C8B-B14F-4D97-AF65-F5344CB8AC3E}">
        <p14:creationId xmlns:p14="http://schemas.microsoft.com/office/powerpoint/2010/main" val="343228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mph" presetSubtype="2" fill="hold" nodeType="clickEffect">
                                  <p:stCondLst>
                                    <p:cond delay="0"/>
                                  </p:stCondLst>
                                  <p:childTnLst>
                                    <p:animClr clrSpc="rgb" dir="cw">
                                      <p:cBhvr>
                                        <p:cTn id="27" dur="2000" fill="hold"/>
                                        <p:tgtEl>
                                          <p:spTgt spid="9"/>
                                        </p:tgtEl>
                                        <p:attrNameLst>
                                          <p:attrName>fillcolor</p:attrName>
                                        </p:attrNameLst>
                                      </p:cBhvr>
                                      <p:to>
                                        <a:schemeClr val="accent2"/>
                                      </p:to>
                                    </p:animClr>
                                    <p:set>
                                      <p:cBhvr>
                                        <p:cTn id="28" dur="2000" fill="hold"/>
                                        <p:tgtEl>
                                          <p:spTgt spid="9"/>
                                        </p:tgtEl>
                                        <p:attrNameLst>
                                          <p:attrName>fill.type</p:attrName>
                                        </p:attrNameLst>
                                      </p:cBhvr>
                                      <p:to>
                                        <p:strVal val="solid"/>
                                      </p:to>
                                    </p:set>
                                    <p:set>
                                      <p:cBhvr>
                                        <p:cTn id="29" dur="20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5"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normAutofit fontScale="90000"/>
          </a:bodyPr>
          <a:lstStyle/>
          <a:p>
            <a:r>
              <a:rPr lang="en-US" dirty="0"/>
              <a:t>3.2.	Test process</a:t>
            </a:r>
            <a:br>
              <a:rPr lang="en-US" dirty="0"/>
            </a:br>
            <a:r>
              <a:rPr lang="en-GB" dirty="0"/>
              <a:t>Test planning and control </a:t>
            </a:r>
          </a:p>
        </p:txBody>
      </p:sp>
      <p:sp>
        <p:nvSpPr>
          <p:cNvPr id="121859" name="Rectangle 3"/>
          <p:cNvSpPr>
            <a:spLocks noGrp="1" noChangeArrowheads="1"/>
          </p:cNvSpPr>
          <p:nvPr>
            <p:ph type="body" idx="1"/>
          </p:nvPr>
        </p:nvSpPr>
        <p:spPr/>
        <p:txBody>
          <a:bodyPr>
            <a:normAutofit/>
          </a:bodyPr>
          <a:lstStyle/>
          <a:p>
            <a:r>
              <a:rPr lang="en-GB" dirty="0"/>
              <a:t>Test planning has the following major tasks:</a:t>
            </a:r>
          </a:p>
          <a:p>
            <a:pPr lvl="1"/>
            <a:r>
              <a:rPr lang="en-GB" i="1" dirty="0"/>
              <a:t>determine</a:t>
            </a:r>
            <a:r>
              <a:rPr lang="en-GB" dirty="0"/>
              <a:t> the </a:t>
            </a:r>
            <a:r>
              <a:rPr lang="en-GB" b="1" dirty="0"/>
              <a:t>scope</a:t>
            </a:r>
            <a:r>
              <a:rPr lang="en-GB" dirty="0"/>
              <a:t>, </a:t>
            </a:r>
            <a:r>
              <a:rPr lang="en-GB" b="1" dirty="0"/>
              <a:t>risks</a:t>
            </a:r>
            <a:r>
              <a:rPr lang="en-GB" dirty="0"/>
              <a:t> and the </a:t>
            </a:r>
            <a:r>
              <a:rPr lang="en-GB" b="1" dirty="0"/>
              <a:t>objectives</a:t>
            </a:r>
            <a:r>
              <a:rPr lang="en-GB" dirty="0"/>
              <a:t> of testing </a:t>
            </a:r>
          </a:p>
          <a:p>
            <a:pPr lvl="1"/>
            <a:r>
              <a:rPr lang="en-GB" i="1" dirty="0"/>
              <a:t>determine</a:t>
            </a:r>
            <a:r>
              <a:rPr lang="en-GB" dirty="0"/>
              <a:t> the </a:t>
            </a:r>
            <a:r>
              <a:rPr lang="en-GB" b="1" dirty="0"/>
              <a:t>test approach </a:t>
            </a:r>
            <a:r>
              <a:rPr lang="en-GB" dirty="0"/>
              <a:t>(techniques </a:t>
            </a:r>
            <a:r>
              <a:rPr lang="en-US" dirty="0"/>
              <a:t>test items, coverage, identifying and interfacing with the teams involved in testing, </a:t>
            </a:r>
            <a:r>
              <a:rPr lang="en-US" dirty="0" err="1"/>
              <a:t>testware</a:t>
            </a:r>
            <a:r>
              <a:rPr lang="en-GB" dirty="0"/>
              <a:t>)</a:t>
            </a:r>
          </a:p>
          <a:p>
            <a:pPr lvl="1"/>
            <a:r>
              <a:rPr lang="en-GB" i="1" dirty="0"/>
              <a:t>determine</a:t>
            </a:r>
            <a:r>
              <a:rPr lang="en-GB" dirty="0"/>
              <a:t> the required test</a:t>
            </a:r>
            <a:r>
              <a:rPr lang="en-GB" b="1" dirty="0"/>
              <a:t> resources </a:t>
            </a:r>
            <a:r>
              <a:rPr lang="en-GB" dirty="0"/>
              <a:t>(e.g. people, test environment, PCs)</a:t>
            </a:r>
          </a:p>
          <a:p>
            <a:pPr lvl="1"/>
            <a:r>
              <a:rPr lang="en-GB" b="1" i="1" dirty="0"/>
              <a:t>schedule</a:t>
            </a:r>
            <a:r>
              <a:rPr lang="en-GB" dirty="0"/>
              <a:t> test analysis and design tasks, test implementation, execution and evaluation</a:t>
            </a:r>
          </a:p>
          <a:p>
            <a:pPr lvl="1"/>
            <a:r>
              <a:rPr lang="en-GB" i="1" dirty="0"/>
              <a:t>determine</a:t>
            </a:r>
            <a:r>
              <a:rPr lang="en-GB" dirty="0"/>
              <a:t> the </a:t>
            </a:r>
            <a:r>
              <a:rPr lang="en-GB" b="1" dirty="0"/>
              <a:t>exit criteria</a:t>
            </a:r>
            <a:r>
              <a:rPr lang="en-GB" dirty="0"/>
              <a:t> to </a:t>
            </a:r>
            <a:r>
              <a:rPr lang="en-US" dirty="0"/>
              <a:t>know when testing is finished</a:t>
            </a:r>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22</a:t>
            </a:fld>
            <a:endParaRPr lang="en-US"/>
          </a:p>
        </p:txBody>
      </p:sp>
      <p:sp>
        <p:nvSpPr>
          <p:cNvPr id="2" name="Rectangle 1"/>
          <p:cNvSpPr/>
          <p:nvPr/>
        </p:nvSpPr>
        <p:spPr>
          <a:xfrm>
            <a:off x="3319459" y="6060681"/>
            <a:ext cx="2346412" cy="400110"/>
          </a:xfrm>
          <a:prstGeom prst="rect">
            <a:avLst/>
          </a:prstGeom>
        </p:spPr>
        <p:txBody>
          <a:bodyPr wrap="none">
            <a:spAutoFit/>
          </a:bodyPr>
          <a:lstStyle/>
          <a:p>
            <a:r>
              <a:rPr lang="en-US" sz="2000">
                <a:hlinkClick r:id="rId3" action="ppaction://hlinkfile"/>
              </a:rPr>
              <a:t>Template_Test Plan</a:t>
            </a:r>
            <a:endParaRPr lang="en-US" sz="2000"/>
          </a:p>
        </p:txBody>
      </p:sp>
    </p:spTree>
    <p:extLst>
      <p:ext uri="{BB962C8B-B14F-4D97-AF65-F5344CB8AC3E}">
        <p14:creationId xmlns:p14="http://schemas.microsoft.com/office/powerpoint/2010/main" val="76926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normAutofit fontScale="90000"/>
          </a:bodyPr>
          <a:lstStyle/>
          <a:p>
            <a:r>
              <a:rPr lang="en-US" dirty="0"/>
              <a:t>3.2.	Test process</a:t>
            </a:r>
            <a:br>
              <a:rPr lang="en-US" dirty="0"/>
            </a:br>
            <a:r>
              <a:rPr lang="en-GB" dirty="0"/>
              <a:t>Test planning and control (cont’d)</a:t>
            </a:r>
          </a:p>
        </p:txBody>
      </p:sp>
      <p:sp>
        <p:nvSpPr>
          <p:cNvPr id="131075" name="Rectangle 3"/>
          <p:cNvSpPr>
            <a:spLocks noGrp="1" noChangeArrowheads="1"/>
          </p:cNvSpPr>
          <p:nvPr>
            <p:ph type="body" idx="1"/>
          </p:nvPr>
        </p:nvSpPr>
        <p:spPr/>
        <p:txBody>
          <a:bodyPr>
            <a:normAutofit/>
          </a:bodyPr>
          <a:lstStyle/>
          <a:p>
            <a:r>
              <a:rPr lang="en-US" dirty="0"/>
              <a:t>Test control is an ongoing activity</a:t>
            </a:r>
          </a:p>
          <a:p>
            <a:r>
              <a:rPr lang="en-GB" dirty="0"/>
              <a:t>Monitor status and take corrective action if necessary</a:t>
            </a:r>
          </a:p>
          <a:p>
            <a:r>
              <a:rPr lang="en-GB" dirty="0"/>
              <a:t>Test control has the following major tasks: </a:t>
            </a:r>
          </a:p>
          <a:p>
            <a:pPr lvl="1"/>
            <a:r>
              <a:rPr lang="en-GB" i="1" dirty="0"/>
              <a:t>measure</a:t>
            </a:r>
            <a:r>
              <a:rPr lang="en-GB" b="1" i="1" dirty="0"/>
              <a:t> </a:t>
            </a:r>
            <a:r>
              <a:rPr lang="en-GB" dirty="0"/>
              <a:t>and</a:t>
            </a:r>
            <a:r>
              <a:rPr lang="en-GB" b="1" i="1" dirty="0"/>
              <a:t> </a:t>
            </a:r>
            <a:r>
              <a:rPr lang="en-GB" i="1" dirty="0" err="1"/>
              <a:t>analyze</a:t>
            </a:r>
            <a:r>
              <a:rPr lang="en-GB" b="1" i="1" dirty="0"/>
              <a:t> </a:t>
            </a:r>
            <a:r>
              <a:rPr lang="en-GB" dirty="0"/>
              <a:t>the results of reviews and testing</a:t>
            </a:r>
          </a:p>
          <a:p>
            <a:pPr lvl="1"/>
            <a:r>
              <a:rPr lang="en-GB" i="1" dirty="0"/>
              <a:t>monitor</a:t>
            </a:r>
            <a:r>
              <a:rPr lang="en-GB" b="1" dirty="0"/>
              <a:t> </a:t>
            </a:r>
            <a:r>
              <a:rPr lang="en-GB" dirty="0"/>
              <a:t>and</a:t>
            </a:r>
            <a:r>
              <a:rPr lang="en-GB" b="1" dirty="0"/>
              <a:t> </a:t>
            </a:r>
            <a:r>
              <a:rPr lang="en-GB" i="1" dirty="0"/>
              <a:t>document</a:t>
            </a:r>
            <a:r>
              <a:rPr lang="en-GB" b="1" dirty="0"/>
              <a:t> </a:t>
            </a:r>
            <a:r>
              <a:rPr lang="en-GB" dirty="0"/>
              <a:t>progress, test coverage and exit criteria</a:t>
            </a:r>
          </a:p>
          <a:p>
            <a:pPr lvl="1"/>
            <a:r>
              <a:rPr lang="en-GB" i="1" dirty="0"/>
              <a:t>provide information </a:t>
            </a:r>
            <a:r>
              <a:rPr lang="en-GB" dirty="0"/>
              <a:t>on testing</a:t>
            </a:r>
          </a:p>
          <a:p>
            <a:pPr lvl="1"/>
            <a:r>
              <a:rPr lang="en-GB" i="1" dirty="0"/>
              <a:t>initiate</a:t>
            </a:r>
            <a:r>
              <a:rPr lang="en-GB" dirty="0"/>
              <a:t> </a:t>
            </a:r>
            <a:r>
              <a:rPr lang="en-GB" b="1" dirty="0"/>
              <a:t>corrective actions </a:t>
            </a:r>
          </a:p>
          <a:p>
            <a:pPr lvl="1"/>
            <a:r>
              <a:rPr lang="en-GB" i="1" dirty="0"/>
              <a:t>make decisions</a:t>
            </a:r>
            <a:r>
              <a:rPr lang="en-GB" b="1" dirty="0"/>
              <a:t>:</a:t>
            </a:r>
            <a:r>
              <a:rPr lang="en-GB" dirty="0"/>
              <a:t> to continue testing, to stop testing, to release the software or to retain it for further work </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23</a:t>
            </a:fld>
            <a:endParaRPr lang="en-US"/>
          </a:p>
        </p:txBody>
      </p:sp>
    </p:spTree>
    <p:extLst>
      <p:ext uri="{BB962C8B-B14F-4D97-AF65-F5344CB8AC3E}">
        <p14:creationId xmlns:p14="http://schemas.microsoft.com/office/powerpoint/2010/main" val="374614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3.2.	Test process</a:t>
            </a:r>
          </a:p>
        </p:txBody>
      </p:sp>
      <p:sp>
        <p:nvSpPr>
          <p:cNvPr id="9" name="Right Arrow Callout 8"/>
          <p:cNvSpPr/>
          <p:nvPr/>
        </p:nvSpPr>
        <p:spPr>
          <a:xfrm rot="5400000">
            <a:off x="4176210" y="-17676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Planning and Control</a:t>
            </a:r>
          </a:p>
        </p:txBody>
      </p:sp>
      <p:sp>
        <p:nvSpPr>
          <p:cNvPr id="13" name="Right Arrow Callout 12"/>
          <p:cNvSpPr/>
          <p:nvPr/>
        </p:nvSpPr>
        <p:spPr>
          <a:xfrm rot="5400000">
            <a:off x="4176210" y="-759551"/>
            <a:ext cx="971599" cy="8316924"/>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Analysis and Design</a:t>
            </a:r>
          </a:p>
        </p:txBody>
      </p:sp>
      <p:sp>
        <p:nvSpPr>
          <p:cNvPr id="15" name="Right Arrow Callout 14"/>
          <p:cNvSpPr/>
          <p:nvPr/>
        </p:nvSpPr>
        <p:spPr>
          <a:xfrm rot="5400000">
            <a:off x="4176210" y="2485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Implementation and Execution</a:t>
            </a:r>
          </a:p>
        </p:txBody>
      </p:sp>
      <p:sp>
        <p:nvSpPr>
          <p:cNvPr id="18" name="Right Arrow Callout 17"/>
          <p:cNvSpPr/>
          <p:nvPr/>
        </p:nvSpPr>
        <p:spPr>
          <a:xfrm rot="5400000">
            <a:off x="4140206" y="1256674"/>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Evaluating Exit Criteria and Reporting</a:t>
            </a:r>
          </a:p>
        </p:txBody>
      </p:sp>
      <p:sp>
        <p:nvSpPr>
          <p:cNvPr id="19" name="Rectangle 18"/>
          <p:cNvSpPr/>
          <p:nvPr/>
        </p:nvSpPr>
        <p:spPr>
          <a:xfrm>
            <a:off x="503548" y="5945952"/>
            <a:ext cx="8280920" cy="6072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800" b="1" dirty="0">
                <a:solidFill>
                  <a:prstClr val="black"/>
                </a:solidFill>
              </a:rPr>
              <a:t>Test Closure Activities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24</a:t>
            </a:fld>
            <a:endParaRPr lang="en-US"/>
          </a:p>
        </p:txBody>
      </p:sp>
    </p:spTree>
    <p:extLst>
      <p:ext uri="{BB962C8B-B14F-4D97-AF65-F5344CB8AC3E}">
        <p14:creationId xmlns:p14="http://schemas.microsoft.com/office/powerpoint/2010/main" val="1669925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normAutofit fontScale="90000"/>
          </a:bodyPr>
          <a:lstStyle/>
          <a:p>
            <a:r>
              <a:rPr lang="en-US" dirty="0"/>
              <a:t>3.2.	Test process</a:t>
            </a:r>
            <a:br>
              <a:rPr lang="en-US" dirty="0"/>
            </a:br>
            <a:r>
              <a:rPr lang="en-GB" dirty="0"/>
              <a:t>Test analysis and design </a:t>
            </a:r>
          </a:p>
        </p:txBody>
      </p:sp>
      <p:sp>
        <p:nvSpPr>
          <p:cNvPr id="128003" name="Rectangle 3"/>
          <p:cNvSpPr>
            <a:spLocks noGrp="1" noChangeArrowheads="1"/>
          </p:cNvSpPr>
          <p:nvPr>
            <p:ph type="body" idx="1"/>
          </p:nvPr>
        </p:nvSpPr>
        <p:spPr/>
        <p:txBody>
          <a:bodyPr>
            <a:normAutofit/>
          </a:bodyPr>
          <a:lstStyle/>
          <a:p>
            <a:endParaRPr lang="en-GB" sz="3200" dirty="0"/>
          </a:p>
          <a:p>
            <a:endParaRPr lang="en-GB" sz="3200" dirty="0"/>
          </a:p>
          <a:p>
            <a:r>
              <a:rPr lang="en-US" sz="3200" dirty="0"/>
              <a:t>Test analysis and design is the activity where general testing objectives are transformed into tangible </a:t>
            </a:r>
            <a:r>
              <a:rPr lang="en-US" sz="3200" b="1" dirty="0"/>
              <a:t>test conditions </a:t>
            </a:r>
            <a:r>
              <a:rPr lang="en-US" sz="3200" dirty="0"/>
              <a:t>and </a:t>
            </a:r>
            <a:r>
              <a:rPr lang="en-US" sz="3200" b="1" dirty="0"/>
              <a:t>test cases</a:t>
            </a:r>
            <a:r>
              <a:rPr lang="en-GB" sz="3200" b="1" dirty="0"/>
              <a:t> </a:t>
            </a:r>
          </a:p>
          <a:p>
            <a:endParaRPr lang="en-GB" sz="3200" dirty="0"/>
          </a:p>
          <a:p>
            <a:endParaRPr lang="en-GB" sz="3200"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25</a:t>
            </a:fld>
            <a:endParaRPr lang="en-US"/>
          </a:p>
        </p:txBody>
      </p:sp>
    </p:spTree>
    <p:extLst>
      <p:ext uri="{BB962C8B-B14F-4D97-AF65-F5344CB8AC3E}">
        <p14:creationId xmlns:p14="http://schemas.microsoft.com/office/powerpoint/2010/main" val="3996814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noAutofit/>
          </a:bodyPr>
          <a:lstStyle/>
          <a:p>
            <a:r>
              <a:rPr lang="en-US" sz="3600"/>
              <a:t>3.2.	Test process</a:t>
            </a:r>
            <a:br>
              <a:rPr lang="en-US" sz="3600"/>
            </a:br>
            <a:r>
              <a:rPr lang="en-GB" sz="3600"/>
              <a:t>Test analysis and design </a:t>
            </a:r>
          </a:p>
        </p:txBody>
      </p:sp>
      <p:sp>
        <p:nvSpPr>
          <p:cNvPr id="133123" name="Rectangle 3"/>
          <p:cNvSpPr>
            <a:spLocks noGrp="1" noChangeArrowheads="1"/>
          </p:cNvSpPr>
          <p:nvPr>
            <p:ph type="body" idx="1"/>
          </p:nvPr>
        </p:nvSpPr>
        <p:spPr/>
        <p:txBody>
          <a:bodyPr/>
          <a:lstStyle/>
          <a:p>
            <a:r>
              <a:rPr lang="en-GB" dirty="0"/>
              <a:t>Major tasks: </a:t>
            </a:r>
          </a:p>
          <a:p>
            <a:pPr lvl="1"/>
            <a:endParaRPr lang="en-GB" dirty="0"/>
          </a:p>
          <a:p>
            <a:pPr lvl="1"/>
            <a:r>
              <a:rPr lang="en-GB" i="1" dirty="0"/>
              <a:t>review</a:t>
            </a:r>
            <a:r>
              <a:rPr lang="en-GB" dirty="0"/>
              <a:t> the </a:t>
            </a:r>
            <a:r>
              <a:rPr lang="en-GB" b="1" dirty="0"/>
              <a:t>test basis </a:t>
            </a:r>
            <a:r>
              <a:rPr lang="en-GB" dirty="0"/>
              <a:t>(</a:t>
            </a:r>
            <a:r>
              <a:rPr lang="en-US" dirty="0"/>
              <a:t>such as requirements, architecture, design, interfaces</a:t>
            </a:r>
            <a:r>
              <a:rPr lang="en-GB" dirty="0"/>
              <a:t>), </a:t>
            </a:r>
            <a:r>
              <a:rPr lang="en-GB" i="1" dirty="0"/>
              <a:t>examining</a:t>
            </a:r>
            <a:r>
              <a:rPr lang="en-GB" dirty="0"/>
              <a:t> the </a:t>
            </a:r>
            <a:r>
              <a:rPr lang="en-GB" b="1" dirty="0"/>
              <a:t>specifications</a:t>
            </a:r>
            <a:r>
              <a:rPr lang="en-GB" dirty="0"/>
              <a:t> for the software under test</a:t>
            </a:r>
          </a:p>
          <a:p>
            <a:pPr marL="620713" lvl="1" indent="0">
              <a:buNone/>
            </a:pPr>
            <a:endParaRPr lang="en-GB" dirty="0"/>
          </a:p>
          <a:p>
            <a:pPr marL="620713" lvl="1" indent="0">
              <a:buNone/>
            </a:pPr>
            <a:r>
              <a:rPr lang="en-GB" i="1" dirty="0"/>
              <a:t>we can start designing certain kinds of tests before the code exists (called black-box tests), as we can use the test basis documents to understand what the system should do once built</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26</a:t>
            </a:fld>
            <a:endParaRPr lang="en-US"/>
          </a:p>
        </p:txBody>
      </p:sp>
    </p:spTree>
    <p:extLst>
      <p:ext uri="{BB962C8B-B14F-4D97-AF65-F5344CB8AC3E}">
        <p14:creationId xmlns:p14="http://schemas.microsoft.com/office/powerpoint/2010/main" val="3003304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noAutofit/>
          </a:bodyPr>
          <a:lstStyle/>
          <a:p>
            <a:r>
              <a:rPr lang="en-US" sz="3600"/>
              <a:t>3.2.	Test process</a:t>
            </a:r>
            <a:br>
              <a:rPr lang="en-US" sz="3600"/>
            </a:br>
            <a:r>
              <a:rPr lang="en-GB" sz="3600"/>
              <a:t>Test analysis and design </a:t>
            </a:r>
          </a:p>
        </p:txBody>
      </p:sp>
      <p:sp>
        <p:nvSpPr>
          <p:cNvPr id="139267" name="Rectangle 3"/>
          <p:cNvSpPr>
            <a:spLocks noGrp="1" noChangeArrowheads="1"/>
          </p:cNvSpPr>
          <p:nvPr>
            <p:ph type="body" idx="1"/>
          </p:nvPr>
        </p:nvSpPr>
        <p:spPr/>
        <p:txBody>
          <a:bodyPr/>
          <a:lstStyle/>
          <a:p>
            <a:r>
              <a:rPr lang="en-GB" dirty="0"/>
              <a:t>Major tasks: </a:t>
            </a:r>
          </a:p>
          <a:p>
            <a:pPr lvl="1"/>
            <a:endParaRPr lang="en-GB" dirty="0"/>
          </a:p>
          <a:p>
            <a:pPr lvl="1"/>
            <a:r>
              <a:rPr lang="en-GB" i="1" dirty="0"/>
              <a:t>evaluate</a:t>
            </a:r>
            <a:r>
              <a:rPr lang="en-GB" b="1" dirty="0"/>
              <a:t> testability </a:t>
            </a:r>
            <a:r>
              <a:rPr lang="en-GB" dirty="0"/>
              <a:t>of the </a:t>
            </a:r>
            <a:r>
              <a:rPr lang="en-US" dirty="0"/>
              <a:t>test basis and test objects</a:t>
            </a:r>
            <a:r>
              <a:rPr lang="en-GB" dirty="0"/>
              <a:t>, e.g.</a:t>
            </a:r>
          </a:p>
          <a:p>
            <a:pPr marL="620713" lvl="1" indent="0">
              <a:buNone/>
            </a:pPr>
            <a:endParaRPr lang="en-GB" dirty="0"/>
          </a:p>
          <a:p>
            <a:pPr marL="620713" lvl="1" indent="0">
              <a:buNone/>
            </a:pPr>
            <a:r>
              <a:rPr lang="en-GB" dirty="0"/>
              <a:t>- if the requirements just say 'the software needs to respond quickly enough' that is not testable, because 'quick enough' may mean different things to different people</a:t>
            </a:r>
          </a:p>
          <a:p>
            <a:pPr marL="620713" lvl="1" indent="0">
              <a:buNone/>
            </a:pPr>
            <a:r>
              <a:rPr lang="en-GB" dirty="0"/>
              <a:t>- a more testable requirement would be 'the software needs to respond in 5 seconds with 20 people logged on' </a:t>
            </a:r>
          </a:p>
          <a:p>
            <a:pPr lvl="1"/>
            <a:endParaRPr lang="en-GB" dirty="0"/>
          </a:p>
          <a:p>
            <a:endParaRPr lang="en-GB" dirty="0"/>
          </a:p>
          <a:p>
            <a:endParaRPr lang="en-GB" dirty="0"/>
          </a:p>
          <a:p>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27</a:t>
            </a:fld>
            <a:endParaRPr lang="en-US"/>
          </a:p>
        </p:txBody>
      </p:sp>
    </p:spTree>
    <p:extLst>
      <p:ext uri="{BB962C8B-B14F-4D97-AF65-F5344CB8AC3E}">
        <p14:creationId xmlns:p14="http://schemas.microsoft.com/office/powerpoint/2010/main" val="844282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noAutofit/>
          </a:bodyPr>
          <a:lstStyle/>
          <a:p>
            <a:r>
              <a:rPr lang="en-US" sz="3600"/>
              <a:t>3.2.	Test process</a:t>
            </a:r>
            <a:br>
              <a:rPr lang="en-US" sz="3600"/>
            </a:br>
            <a:r>
              <a:rPr lang="en-GB" sz="3600"/>
              <a:t>Test analysis and design </a:t>
            </a:r>
          </a:p>
        </p:txBody>
      </p:sp>
      <p:sp>
        <p:nvSpPr>
          <p:cNvPr id="135171" name="Rectangle 3"/>
          <p:cNvSpPr>
            <a:spLocks noGrp="1" noChangeArrowheads="1"/>
          </p:cNvSpPr>
          <p:nvPr>
            <p:ph type="body" idx="1"/>
          </p:nvPr>
        </p:nvSpPr>
        <p:spPr/>
        <p:txBody>
          <a:bodyPr>
            <a:normAutofit/>
          </a:bodyPr>
          <a:lstStyle/>
          <a:p>
            <a:r>
              <a:rPr lang="en-GB" dirty="0"/>
              <a:t>Major tasks: </a:t>
            </a:r>
          </a:p>
          <a:p>
            <a:pPr lvl="1"/>
            <a:endParaRPr lang="en-GB" dirty="0"/>
          </a:p>
          <a:p>
            <a:pPr lvl="1"/>
            <a:r>
              <a:rPr lang="en-US" i="1" dirty="0"/>
              <a:t>Identifying</a:t>
            </a:r>
            <a:r>
              <a:rPr lang="en-US" dirty="0"/>
              <a:t> and </a:t>
            </a:r>
            <a:r>
              <a:rPr lang="en-US" i="1" dirty="0"/>
              <a:t>prioritizing</a:t>
            </a:r>
            <a:r>
              <a:rPr lang="en-US" dirty="0"/>
              <a:t> </a:t>
            </a:r>
            <a:r>
              <a:rPr lang="en-US" b="1" dirty="0"/>
              <a:t>test conditions</a:t>
            </a:r>
            <a:r>
              <a:rPr lang="en-GB" dirty="0"/>
              <a:t>, based on analysis of test items, the specifications, </a:t>
            </a:r>
            <a:r>
              <a:rPr lang="en-GB" dirty="0" err="1"/>
              <a:t>behavior</a:t>
            </a:r>
            <a:r>
              <a:rPr lang="en-GB" dirty="0"/>
              <a:t> and structure, i.e. determine ‘what’ is to be tested </a:t>
            </a:r>
          </a:p>
          <a:p>
            <a:pPr marL="620713" lvl="1" indent="0">
              <a:buNone/>
            </a:pPr>
            <a:endParaRPr lang="en-GB" dirty="0"/>
          </a:p>
          <a:p>
            <a:pPr marL="620713" lvl="1" indent="0">
              <a:buNone/>
            </a:pPr>
            <a:r>
              <a:rPr lang="en-GB" dirty="0"/>
              <a:t>this gives us a high-level list of what we are interested in testing, e.g.</a:t>
            </a:r>
          </a:p>
          <a:p>
            <a:pPr marL="941832" lvl="3" indent="0">
              <a:buNone/>
              <a:defRPr/>
            </a:pPr>
            <a:r>
              <a:rPr lang="en-GB" sz="2400" dirty="0"/>
              <a:t>“number items ordered &gt; 99”</a:t>
            </a:r>
          </a:p>
          <a:p>
            <a:pPr marL="941832" lvl="3" indent="0">
              <a:buNone/>
              <a:defRPr/>
            </a:pPr>
            <a:r>
              <a:rPr lang="en-GB" sz="2400" dirty="0"/>
              <a:t>“the ID must be numeric”</a:t>
            </a:r>
          </a:p>
          <a:p>
            <a:pPr marL="0" indent="0">
              <a:buNone/>
            </a:pPr>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28</a:t>
            </a:fld>
            <a:endParaRPr lang="en-US"/>
          </a:p>
        </p:txBody>
      </p:sp>
    </p:spTree>
    <p:extLst>
      <p:ext uri="{BB962C8B-B14F-4D97-AF65-F5344CB8AC3E}">
        <p14:creationId xmlns:p14="http://schemas.microsoft.com/office/powerpoint/2010/main" val="2792907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noAutofit/>
          </a:bodyPr>
          <a:lstStyle/>
          <a:p>
            <a:r>
              <a:rPr lang="en-US" sz="3600"/>
              <a:t>3.2.	Test process</a:t>
            </a:r>
            <a:br>
              <a:rPr lang="en-US" sz="3600"/>
            </a:br>
            <a:r>
              <a:rPr lang="en-GB" sz="3600"/>
              <a:t>Test analysis and design </a:t>
            </a:r>
          </a:p>
        </p:txBody>
      </p:sp>
      <p:sp>
        <p:nvSpPr>
          <p:cNvPr id="137219" name="Rectangle 3"/>
          <p:cNvSpPr>
            <a:spLocks noGrp="1" noChangeArrowheads="1"/>
          </p:cNvSpPr>
          <p:nvPr>
            <p:ph type="body" idx="1"/>
          </p:nvPr>
        </p:nvSpPr>
        <p:spPr/>
        <p:txBody>
          <a:bodyPr/>
          <a:lstStyle/>
          <a:p>
            <a:r>
              <a:rPr lang="en-GB" dirty="0"/>
              <a:t>Major tasks: </a:t>
            </a:r>
          </a:p>
          <a:p>
            <a:pPr lvl="1"/>
            <a:endParaRPr lang="en-GB" dirty="0"/>
          </a:p>
          <a:p>
            <a:pPr lvl="1"/>
            <a:r>
              <a:rPr lang="en-US" i="1" dirty="0"/>
              <a:t>Designing</a:t>
            </a:r>
            <a:r>
              <a:rPr lang="en-US" dirty="0"/>
              <a:t> and </a:t>
            </a:r>
            <a:r>
              <a:rPr lang="en-US" i="1" dirty="0"/>
              <a:t>prioritizing</a:t>
            </a:r>
            <a:r>
              <a:rPr lang="en-US" dirty="0"/>
              <a:t> </a:t>
            </a:r>
            <a:r>
              <a:rPr lang="en-US" b="1" dirty="0"/>
              <a:t>test cases</a:t>
            </a:r>
            <a:r>
              <a:rPr lang="en-GB" dirty="0"/>
              <a:t> (using techniques to help select representative tests which carry risks or which are of particular interest) based on the test conditions and going into more detail</a:t>
            </a:r>
          </a:p>
          <a:p>
            <a:endParaRPr lang="en-GB" dirty="0"/>
          </a:p>
          <a:p>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29</a:t>
            </a:fld>
            <a:endParaRPr lang="en-US"/>
          </a:p>
        </p:txBody>
      </p:sp>
    </p:spTree>
    <p:extLst>
      <p:ext uri="{BB962C8B-B14F-4D97-AF65-F5344CB8AC3E}">
        <p14:creationId xmlns:p14="http://schemas.microsoft.com/office/powerpoint/2010/main" val="2813432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noAutofit/>
          </a:bodyPr>
          <a:lstStyle/>
          <a:p>
            <a:r>
              <a:rPr lang="en-US" sz="3600"/>
              <a:t>3.2.	Test process </a:t>
            </a:r>
            <a:br>
              <a:rPr lang="en-US" sz="3600"/>
            </a:br>
            <a:r>
              <a:rPr lang="en-GB" sz="3600"/>
              <a:t>Test analysis and design </a:t>
            </a:r>
          </a:p>
        </p:txBody>
      </p:sp>
      <p:sp>
        <p:nvSpPr>
          <p:cNvPr id="141315" name="Rectangle 3"/>
          <p:cNvSpPr>
            <a:spLocks noGrp="1" noChangeArrowheads="1"/>
          </p:cNvSpPr>
          <p:nvPr>
            <p:ph type="body" idx="1"/>
          </p:nvPr>
        </p:nvSpPr>
        <p:spPr/>
        <p:txBody>
          <a:bodyPr/>
          <a:lstStyle/>
          <a:p>
            <a:r>
              <a:rPr lang="en-GB" dirty="0"/>
              <a:t>Major tasks: </a:t>
            </a:r>
          </a:p>
          <a:p>
            <a:pPr lvl="1"/>
            <a:endParaRPr lang="en-GB" dirty="0"/>
          </a:p>
          <a:p>
            <a:pPr lvl="1"/>
            <a:r>
              <a:rPr lang="en-GB" i="1" dirty="0"/>
              <a:t>design</a:t>
            </a:r>
            <a:r>
              <a:rPr lang="en-GB" b="1" dirty="0"/>
              <a:t> </a:t>
            </a:r>
            <a:r>
              <a:rPr lang="en-GB" dirty="0"/>
              <a:t>the</a:t>
            </a:r>
            <a:r>
              <a:rPr lang="en-GB" b="1" dirty="0"/>
              <a:t> test environment </a:t>
            </a:r>
            <a:r>
              <a:rPr lang="en-GB" dirty="0"/>
              <a:t>set-up</a:t>
            </a:r>
            <a:r>
              <a:rPr lang="en-GB" b="1" dirty="0"/>
              <a:t> </a:t>
            </a:r>
            <a:r>
              <a:rPr lang="en-GB" dirty="0"/>
              <a:t>and </a:t>
            </a:r>
            <a:r>
              <a:rPr lang="en-GB" i="1" dirty="0"/>
              <a:t>identify</a:t>
            </a:r>
            <a:r>
              <a:rPr lang="en-GB" dirty="0"/>
              <a:t> any required</a:t>
            </a:r>
            <a:r>
              <a:rPr lang="en-GB" b="1" dirty="0"/>
              <a:t> infrastructure </a:t>
            </a:r>
            <a:r>
              <a:rPr lang="en-GB" dirty="0"/>
              <a:t>and</a:t>
            </a:r>
            <a:r>
              <a:rPr lang="en-GB" b="1" dirty="0"/>
              <a:t> tools</a:t>
            </a:r>
          </a:p>
          <a:p>
            <a:pPr marL="393192" lvl="1" indent="0">
              <a:buNone/>
            </a:pPr>
            <a:endParaRPr lang="en-GB" dirty="0"/>
          </a:p>
          <a:p>
            <a:pPr marL="620713" lvl="1" indent="0">
              <a:buNone/>
            </a:pPr>
            <a:r>
              <a:rPr lang="en-GB" dirty="0"/>
              <a:t>this includes testing tools and support tools such as spreadsheets, word processors, project planning tools, and non-IT tools and equipment - everything we need to carry out our work</a:t>
            </a:r>
          </a:p>
          <a:p>
            <a:pPr lvl="1"/>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30</a:t>
            </a:fld>
            <a:endParaRPr lang="en-US"/>
          </a:p>
        </p:txBody>
      </p:sp>
    </p:spTree>
    <p:extLst>
      <p:ext uri="{BB962C8B-B14F-4D97-AF65-F5344CB8AC3E}">
        <p14:creationId xmlns:p14="http://schemas.microsoft.com/office/powerpoint/2010/main" val="2915432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3.2.	Test process</a:t>
            </a:r>
          </a:p>
        </p:txBody>
      </p:sp>
      <p:sp>
        <p:nvSpPr>
          <p:cNvPr id="9" name="Right Arrow Callout 8"/>
          <p:cNvSpPr/>
          <p:nvPr/>
        </p:nvSpPr>
        <p:spPr>
          <a:xfrm rot="5400000">
            <a:off x="4176210" y="-17676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Planning and Control</a:t>
            </a:r>
          </a:p>
        </p:txBody>
      </p:sp>
      <p:sp>
        <p:nvSpPr>
          <p:cNvPr id="13" name="Right Arrow Callout 12"/>
          <p:cNvSpPr/>
          <p:nvPr/>
        </p:nvSpPr>
        <p:spPr>
          <a:xfrm rot="5400000">
            <a:off x="4176210" y="-759551"/>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Analysis and Design</a:t>
            </a:r>
          </a:p>
        </p:txBody>
      </p:sp>
      <p:sp>
        <p:nvSpPr>
          <p:cNvPr id="15" name="Right Arrow Callout 14"/>
          <p:cNvSpPr/>
          <p:nvPr/>
        </p:nvSpPr>
        <p:spPr>
          <a:xfrm rot="5400000">
            <a:off x="4176210" y="248563"/>
            <a:ext cx="971599" cy="8316924"/>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Implementation and Execution</a:t>
            </a:r>
          </a:p>
        </p:txBody>
      </p:sp>
      <p:sp>
        <p:nvSpPr>
          <p:cNvPr id="18" name="Right Arrow Callout 17"/>
          <p:cNvSpPr/>
          <p:nvPr/>
        </p:nvSpPr>
        <p:spPr>
          <a:xfrm rot="5400000">
            <a:off x="4140206" y="1256674"/>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Evaluating Exit Criteria and Reporting</a:t>
            </a:r>
          </a:p>
        </p:txBody>
      </p:sp>
      <p:sp>
        <p:nvSpPr>
          <p:cNvPr id="19" name="Rectangle 18"/>
          <p:cNvSpPr/>
          <p:nvPr/>
        </p:nvSpPr>
        <p:spPr>
          <a:xfrm>
            <a:off x="503548" y="5945952"/>
            <a:ext cx="8280920" cy="6072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800" b="1" dirty="0">
                <a:solidFill>
                  <a:prstClr val="black"/>
                </a:solidFill>
              </a:rPr>
              <a:t>Test Closure Activities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31</a:t>
            </a:fld>
            <a:endParaRPr lang="en-US"/>
          </a:p>
        </p:txBody>
      </p:sp>
    </p:spTree>
    <p:extLst>
      <p:ext uri="{BB962C8B-B14F-4D97-AF65-F5344CB8AC3E}">
        <p14:creationId xmlns:p14="http://schemas.microsoft.com/office/powerpoint/2010/main" val="8681404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normAutofit fontScale="90000"/>
          </a:bodyPr>
          <a:lstStyle/>
          <a:p>
            <a:r>
              <a:rPr lang="en-US" dirty="0"/>
              <a:t>3.2.	Test process </a:t>
            </a:r>
            <a:br>
              <a:rPr lang="en-US" dirty="0"/>
            </a:br>
            <a:r>
              <a:rPr lang="en-GB" dirty="0"/>
              <a:t>Test implementation and execution</a:t>
            </a:r>
          </a:p>
        </p:txBody>
      </p:sp>
      <p:sp>
        <p:nvSpPr>
          <p:cNvPr id="145411" name="Rectangle 3"/>
          <p:cNvSpPr>
            <a:spLocks noGrp="1" noChangeArrowheads="1"/>
          </p:cNvSpPr>
          <p:nvPr>
            <p:ph type="body" idx="1"/>
          </p:nvPr>
        </p:nvSpPr>
        <p:spPr/>
        <p:txBody>
          <a:bodyPr>
            <a:normAutofit/>
          </a:bodyPr>
          <a:lstStyle/>
          <a:p>
            <a:r>
              <a:rPr lang="en-GB" dirty="0"/>
              <a:t>Major tasks:</a:t>
            </a:r>
          </a:p>
          <a:p>
            <a:pPr lvl="1"/>
            <a:r>
              <a:rPr lang="en-GB" i="1" dirty="0"/>
              <a:t>develop</a:t>
            </a:r>
            <a:r>
              <a:rPr lang="en-GB" b="1" dirty="0"/>
              <a:t> </a:t>
            </a:r>
            <a:r>
              <a:rPr lang="en-GB" dirty="0"/>
              <a:t>and</a:t>
            </a:r>
            <a:r>
              <a:rPr lang="en-GB" b="1" dirty="0"/>
              <a:t> </a:t>
            </a:r>
            <a:r>
              <a:rPr lang="en-GB" i="1" dirty="0"/>
              <a:t>prioritize</a:t>
            </a:r>
            <a:r>
              <a:rPr lang="en-GB" b="1" dirty="0"/>
              <a:t> </a:t>
            </a:r>
            <a:r>
              <a:rPr lang="en-GB" dirty="0"/>
              <a:t>test cases, create </a:t>
            </a:r>
            <a:r>
              <a:rPr lang="en-GB" b="1" dirty="0"/>
              <a:t>test data </a:t>
            </a:r>
            <a:r>
              <a:rPr lang="en-GB" dirty="0"/>
              <a:t>for those tests, write</a:t>
            </a:r>
            <a:r>
              <a:rPr lang="en-GB" b="1" dirty="0"/>
              <a:t> test procedures</a:t>
            </a:r>
          </a:p>
          <a:p>
            <a:pPr lvl="1"/>
            <a:r>
              <a:rPr lang="en-GB" i="1" dirty="0"/>
              <a:t>create</a:t>
            </a:r>
            <a:r>
              <a:rPr lang="en-GB" b="1" dirty="0"/>
              <a:t> test suites </a:t>
            </a:r>
            <a:r>
              <a:rPr lang="en-GB" dirty="0"/>
              <a:t>from the test cases for efficient test execution (a test suite is a logical collection of test cases which naturally work together)</a:t>
            </a:r>
          </a:p>
          <a:p>
            <a:pPr lvl="1"/>
            <a:r>
              <a:rPr lang="en-GB" i="1" dirty="0"/>
              <a:t>set up </a:t>
            </a:r>
            <a:r>
              <a:rPr lang="en-GB" dirty="0"/>
              <a:t>a </a:t>
            </a:r>
            <a:r>
              <a:rPr lang="en-GB" b="1" dirty="0"/>
              <a:t>test execution schedule</a:t>
            </a:r>
          </a:p>
          <a:p>
            <a:pPr lvl="1"/>
            <a:r>
              <a:rPr lang="en-US" i="1" dirty="0"/>
              <a:t>verifying</a:t>
            </a:r>
            <a:r>
              <a:rPr lang="en-US" b="1" dirty="0"/>
              <a:t> </a:t>
            </a:r>
            <a:r>
              <a:rPr lang="en-US" dirty="0"/>
              <a:t>that</a:t>
            </a:r>
            <a:r>
              <a:rPr lang="en-US" b="1" dirty="0"/>
              <a:t> the test environment has been set up correctly</a:t>
            </a:r>
            <a:r>
              <a:rPr lang="en-GB" dirty="0"/>
              <a:t>, possibly even running specific tests on it</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32</a:t>
            </a:fld>
            <a:endParaRPr lang="en-US"/>
          </a:p>
        </p:txBody>
      </p:sp>
    </p:spTree>
    <p:extLst>
      <p:ext uri="{BB962C8B-B14F-4D97-AF65-F5344CB8AC3E}">
        <p14:creationId xmlns:p14="http://schemas.microsoft.com/office/powerpoint/2010/main" val="2875958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normAutofit fontScale="90000"/>
          </a:bodyPr>
          <a:lstStyle/>
          <a:p>
            <a:r>
              <a:rPr lang="en-US"/>
              <a:t>3.2.	Test process </a:t>
            </a:r>
            <a:br>
              <a:rPr lang="en-US"/>
            </a:br>
            <a:r>
              <a:rPr lang="en-GB"/>
              <a:t>Test implementation and execution</a:t>
            </a:r>
          </a:p>
        </p:txBody>
      </p:sp>
      <p:sp>
        <p:nvSpPr>
          <p:cNvPr id="149507" name="Rectangle 3"/>
          <p:cNvSpPr>
            <a:spLocks noGrp="1" noChangeArrowheads="1"/>
          </p:cNvSpPr>
          <p:nvPr>
            <p:ph type="body" idx="1"/>
          </p:nvPr>
        </p:nvSpPr>
        <p:spPr/>
        <p:txBody>
          <a:bodyPr/>
          <a:lstStyle/>
          <a:p>
            <a:r>
              <a:rPr lang="en-GB" dirty="0"/>
              <a:t>Major tasks:</a:t>
            </a:r>
          </a:p>
          <a:p>
            <a:pPr lvl="1"/>
            <a:endParaRPr lang="en-GB" dirty="0"/>
          </a:p>
          <a:p>
            <a:pPr lvl="1"/>
            <a:r>
              <a:rPr lang="en-GB" i="1" dirty="0"/>
              <a:t>execute</a:t>
            </a:r>
            <a:r>
              <a:rPr lang="en-GB" dirty="0"/>
              <a:t> the test suites and individual test cases, following the test procedures</a:t>
            </a:r>
          </a:p>
          <a:p>
            <a:pPr lvl="2"/>
            <a:r>
              <a:rPr lang="en-GB" dirty="0"/>
              <a:t>do this manually or by using test execution tools, according to the planned sequence</a:t>
            </a:r>
          </a:p>
          <a:p>
            <a:pPr lvl="1"/>
            <a:r>
              <a:rPr lang="en-GB" i="1" dirty="0"/>
              <a:t>log</a:t>
            </a:r>
            <a:r>
              <a:rPr lang="en-GB" dirty="0"/>
              <a:t> the outcome of test execution, </a:t>
            </a:r>
            <a:r>
              <a:rPr lang="en-GB" i="1" dirty="0"/>
              <a:t>record</a:t>
            </a:r>
            <a:r>
              <a:rPr lang="en-GB" dirty="0"/>
              <a:t> the identities and </a:t>
            </a:r>
            <a:r>
              <a:rPr lang="en-GB" b="1" i="1" dirty="0"/>
              <a:t>versions</a:t>
            </a:r>
            <a:r>
              <a:rPr lang="en-GB" b="1" dirty="0"/>
              <a:t> </a:t>
            </a:r>
            <a:r>
              <a:rPr lang="en-GB" b="1" i="1" dirty="0"/>
              <a:t>of the software under test</a:t>
            </a:r>
            <a:r>
              <a:rPr lang="en-GB" dirty="0"/>
              <a:t>, test tools and </a:t>
            </a:r>
            <a:r>
              <a:rPr lang="en-GB" b="1" dirty="0" err="1"/>
              <a:t>testware</a:t>
            </a:r>
            <a:endParaRPr lang="en-GB" b="1" dirty="0"/>
          </a:p>
          <a:p>
            <a:pPr lvl="1"/>
            <a:r>
              <a:rPr lang="en-GB" i="1" dirty="0"/>
              <a:t>compare</a:t>
            </a:r>
            <a:r>
              <a:rPr lang="en-GB" dirty="0"/>
              <a:t> actual results with expected results</a:t>
            </a:r>
          </a:p>
          <a:p>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33</a:t>
            </a:fld>
            <a:endParaRPr lang="en-US"/>
          </a:p>
        </p:txBody>
      </p:sp>
    </p:spTree>
    <p:extLst>
      <p:ext uri="{BB962C8B-B14F-4D97-AF65-F5344CB8AC3E}">
        <p14:creationId xmlns:p14="http://schemas.microsoft.com/office/powerpoint/2010/main" val="3532584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normAutofit fontScale="90000"/>
          </a:bodyPr>
          <a:lstStyle/>
          <a:p>
            <a:r>
              <a:rPr lang="en-US"/>
              <a:t>3.2.	Test process </a:t>
            </a:r>
            <a:br>
              <a:rPr lang="en-US"/>
            </a:br>
            <a:r>
              <a:rPr lang="en-GB"/>
              <a:t>Test implementation and execution</a:t>
            </a:r>
          </a:p>
        </p:txBody>
      </p:sp>
      <p:sp>
        <p:nvSpPr>
          <p:cNvPr id="151555" name="Rectangle 3"/>
          <p:cNvSpPr>
            <a:spLocks noGrp="1" noChangeArrowheads="1"/>
          </p:cNvSpPr>
          <p:nvPr>
            <p:ph type="body" idx="1"/>
          </p:nvPr>
        </p:nvSpPr>
        <p:spPr/>
        <p:txBody>
          <a:bodyPr>
            <a:normAutofit/>
          </a:bodyPr>
          <a:lstStyle/>
          <a:p>
            <a:r>
              <a:rPr lang="en-GB" dirty="0"/>
              <a:t>Major tasks:</a:t>
            </a:r>
          </a:p>
          <a:p>
            <a:pPr lvl="1"/>
            <a:endParaRPr lang="en-GB" dirty="0"/>
          </a:p>
          <a:p>
            <a:pPr lvl="1"/>
            <a:r>
              <a:rPr lang="en-GB" dirty="0"/>
              <a:t>where there are differences between actual and expected results, </a:t>
            </a:r>
            <a:r>
              <a:rPr lang="en-US" i="1" dirty="0"/>
              <a:t>reporting discrepancies </a:t>
            </a:r>
            <a:r>
              <a:rPr lang="en-US" dirty="0"/>
              <a:t>as </a:t>
            </a:r>
            <a:r>
              <a:rPr lang="en-US" b="1" dirty="0"/>
              <a:t>incidents</a:t>
            </a:r>
            <a:r>
              <a:rPr lang="en-US" dirty="0"/>
              <a:t> with as much information as possible, including possible causal analysis (e.g. a defect in the code, in specified test data, in the test document, or a mistake in the way the test was executed)</a:t>
            </a:r>
            <a:endParaRPr lang="en-GB" dirty="0"/>
          </a:p>
          <a:p>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34</a:t>
            </a:fld>
            <a:endParaRPr lang="en-US"/>
          </a:p>
        </p:txBody>
      </p:sp>
    </p:spTree>
    <p:extLst>
      <p:ext uri="{BB962C8B-B14F-4D97-AF65-F5344CB8AC3E}">
        <p14:creationId xmlns:p14="http://schemas.microsoft.com/office/powerpoint/2010/main" val="2235013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fontScale="90000"/>
          </a:bodyPr>
          <a:lstStyle/>
          <a:p>
            <a:r>
              <a:rPr lang="en-US"/>
              <a:t>3.2.	Test process </a:t>
            </a:r>
            <a:br>
              <a:rPr lang="en-US"/>
            </a:br>
            <a:r>
              <a:rPr lang="en-GB"/>
              <a:t>Test implementation and execution</a:t>
            </a:r>
          </a:p>
        </p:txBody>
      </p:sp>
      <p:sp>
        <p:nvSpPr>
          <p:cNvPr id="153603" name="Rectangle 3"/>
          <p:cNvSpPr>
            <a:spLocks noGrp="1" noChangeArrowheads="1"/>
          </p:cNvSpPr>
          <p:nvPr>
            <p:ph type="body" idx="1"/>
          </p:nvPr>
        </p:nvSpPr>
        <p:spPr/>
        <p:txBody>
          <a:bodyPr/>
          <a:lstStyle/>
          <a:p>
            <a:r>
              <a:rPr lang="en-GB" dirty="0"/>
              <a:t>Major tasks:</a:t>
            </a:r>
          </a:p>
          <a:p>
            <a:pPr lvl="1"/>
            <a:endParaRPr lang="en-GB" dirty="0"/>
          </a:p>
          <a:p>
            <a:pPr lvl="1"/>
            <a:r>
              <a:rPr lang="en-GB" i="1" dirty="0"/>
              <a:t>repeat test activities </a:t>
            </a:r>
            <a:r>
              <a:rPr lang="en-US" dirty="0"/>
              <a:t>when changes have been made following incidents</a:t>
            </a:r>
            <a:endParaRPr lang="en-GB" dirty="0"/>
          </a:p>
          <a:p>
            <a:pPr marL="620713" lvl="1" indent="0">
              <a:buNone/>
            </a:pPr>
            <a:r>
              <a:rPr lang="en-GB" dirty="0"/>
              <a:t>re-execute tests that previously failed in order to confirm a fix (</a:t>
            </a:r>
            <a:r>
              <a:rPr lang="en-GB" b="1" dirty="0"/>
              <a:t>confirmation testing </a:t>
            </a:r>
            <a:r>
              <a:rPr lang="en-GB" dirty="0"/>
              <a:t>or </a:t>
            </a:r>
            <a:r>
              <a:rPr lang="en-GB" b="1" dirty="0"/>
              <a:t>re-testing</a:t>
            </a:r>
            <a:r>
              <a:rPr lang="en-GB" dirty="0"/>
              <a:t>)</a:t>
            </a:r>
          </a:p>
          <a:p>
            <a:pPr marL="620713" lvl="1" indent="0">
              <a:buNone/>
            </a:pPr>
            <a:r>
              <a:rPr lang="en-US" dirty="0"/>
              <a:t>execution of a corrected test and/or execution of tests in order to ensure that defects have not been introduced in unchanged areas of the software or that defect fixing did not uncover other defects (</a:t>
            </a:r>
            <a:r>
              <a:rPr lang="en-US" b="1" dirty="0"/>
              <a:t>regression testing</a:t>
            </a:r>
            <a:r>
              <a:rPr lang="en-US" dirty="0"/>
              <a:t>)</a:t>
            </a:r>
            <a:endParaRPr lang="en-GB" dirty="0"/>
          </a:p>
          <a:p>
            <a:endParaRPr lang="en-GB" dirty="0"/>
          </a:p>
          <a:p>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35</a:t>
            </a:fld>
            <a:endParaRPr lang="en-US"/>
          </a:p>
        </p:txBody>
      </p:sp>
    </p:spTree>
    <p:extLst>
      <p:ext uri="{BB962C8B-B14F-4D97-AF65-F5344CB8AC3E}">
        <p14:creationId xmlns:p14="http://schemas.microsoft.com/office/powerpoint/2010/main" val="2412625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3.2.	Test process</a:t>
            </a:r>
          </a:p>
        </p:txBody>
      </p:sp>
      <p:sp>
        <p:nvSpPr>
          <p:cNvPr id="9" name="Right Arrow Callout 8"/>
          <p:cNvSpPr/>
          <p:nvPr/>
        </p:nvSpPr>
        <p:spPr>
          <a:xfrm rot="5400000">
            <a:off x="4176210" y="-17676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Planning and Control</a:t>
            </a:r>
          </a:p>
        </p:txBody>
      </p:sp>
      <p:sp>
        <p:nvSpPr>
          <p:cNvPr id="13" name="Right Arrow Callout 12"/>
          <p:cNvSpPr/>
          <p:nvPr/>
        </p:nvSpPr>
        <p:spPr>
          <a:xfrm rot="5400000">
            <a:off x="4176210" y="-759551"/>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Analysis and Design</a:t>
            </a:r>
          </a:p>
        </p:txBody>
      </p:sp>
      <p:sp>
        <p:nvSpPr>
          <p:cNvPr id="15" name="Right Arrow Callout 14"/>
          <p:cNvSpPr/>
          <p:nvPr/>
        </p:nvSpPr>
        <p:spPr>
          <a:xfrm rot="5400000">
            <a:off x="4176210" y="2485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Implementation and Execution</a:t>
            </a:r>
          </a:p>
        </p:txBody>
      </p:sp>
      <p:sp>
        <p:nvSpPr>
          <p:cNvPr id="18" name="Right Arrow Callout 17"/>
          <p:cNvSpPr/>
          <p:nvPr/>
        </p:nvSpPr>
        <p:spPr>
          <a:xfrm rot="5400000">
            <a:off x="4140206" y="1256674"/>
            <a:ext cx="971599" cy="8316924"/>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Evaluating Exit Criteria and Reporting</a:t>
            </a:r>
          </a:p>
        </p:txBody>
      </p:sp>
      <p:sp>
        <p:nvSpPr>
          <p:cNvPr id="19" name="Rectangle 18"/>
          <p:cNvSpPr/>
          <p:nvPr/>
        </p:nvSpPr>
        <p:spPr>
          <a:xfrm>
            <a:off x="503548" y="5945952"/>
            <a:ext cx="8280920" cy="6072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800" b="1" dirty="0">
                <a:solidFill>
                  <a:prstClr val="black"/>
                </a:solidFill>
              </a:rPr>
              <a:t>Test Closure Activities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36</a:t>
            </a:fld>
            <a:endParaRPr lang="en-US"/>
          </a:p>
        </p:txBody>
      </p:sp>
    </p:spTree>
    <p:extLst>
      <p:ext uri="{BB962C8B-B14F-4D97-AF65-F5344CB8AC3E}">
        <p14:creationId xmlns:p14="http://schemas.microsoft.com/office/powerpoint/2010/main" val="868140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rmAutofit fontScale="90000"/>
          </a:bodyPr>
          <a:lstStyle/>
          <a:p>
            <a:r>
              <a:rPr lang="en-US" dirty="0"/>
              <a:t>3.2.	Test process </a:t>
            </a:r>
            <a:br>
              <a:rPr lang="en-US" dirty="0"/>
            </a:br>
            <a:r>
              <a:rPr lang="en-GB" dirty="0"/>
              <a:t>Evaluating exit criteria and reporting </a:t>
            </a:r>
          </a:p>
        </p:txBody>
      </p:sp>
      <p:sp>
        <p:nvSpPr>
          <p:cNvPr id="157699" name="Rectangle 3"/>
          <p:cNvSpPr>
            <a:spLocks noGrp="1" noChangeArrowheads="1"/>
          </p:cNvSpPr>
          <p:nvPr>
            <p:ph type="body" idx="1"/>
          </p:nvPr>
        </p:nvSpPr>
        <p:spPr/>
        <p:txBody>
          <a:bodyPr>
            <a:normAutofit/>
          </a:bodyPr>
          <a:lstStyle/>
          <a:p>
            <a:r>
              <a:rPr lang="en-GB" dirty="0"/>
              <a:t>Evaluating exit criteria is the activity where </a:t>
            </a:r>
            <a:r>
              <a:rPr lang="en-GB" b="1" dirty="0"/>
              <a:t>test execution is assessed against the defined objectives, </a:t>
            </a:r>
            <a:r>
              <a:rPr lang="en-GB" dirty="0"/>
              <a:t>to know whether we have done enough testing</a:t>
            </a:r>
          </a:p>
          <a:p>
            <a:r>
              <a:rPr lang="en-GB" dirty="0"/>
              <a:t>Major tasks:</a:t>
            </a:r>
          </a:p>
          <a:p>
            <a:pPr lvl="1"/>
            <a:r>
              <a:rPr lang="en-GB" i="1" dirty="0"/>
              <a:t>check</a:t>
            </a:r>
            <a:r>
              <a:rPr lang="en-GB" b="1" dirty="0"/>
              <a:t> </a:t>
            </a:r>
            <a:r>
              <a:rPr lang="en-GB" dirty="0"/>
              <a:t>test logs against the exit criteria specified in test planning</a:t>
            </a:r>
          </a:p>
          <a:p>
            <a:pPr lvl="1"/>
            <a:r>
              <a:rPr lang="en-GB" i="1" dirty="0"/>
              <a:t>assess</a:t>
            </a:r>
            <a:r>
              <a:rPr lang="en-GB" dirty="0"/>
              <a:t> if more tests are needed or if the exit criteria specified should be changed</a:t>
            </a:r>
          </a:p>
          <a:p>
            <a:pPr lvl="1"/>
            <a:r>
              <a:rPr lang="en-GB" i="1" dirty="0"/>
              <a:t>write</a:t>
            </a:r>
            <a:r>
              <a:rPr lang="en-GB" dirty="0"/>
              <a:t> a </a:t>
            </a:r>
            <a:r>
              <a:rPr lang="en-GB" b="1" dirty="0"/>
              <a:t>test summary report </a:t>
            </a:r>
            <a:r>
              <a:rPr lang="en-GB" dirty="0"/>
              <a:t>for stakeholders </a:t>
            </a:r>
          </a:p>
          <a:p>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37</a:t>
            </a:fld>
            <a:endParaRPr lang="en-US"/>
          </a:p>
        </p:txBody>
      </p:sp>
    </p:spTree>
    <p:extLst>
      <p:ext uri="{BB962C8B-B14F-4D97-AF65-F5344CB8AC3E}">
        <p14:creationId xmlns:p14="http://schemas.microsoft.com/office/powerpoint/2010/main" val="908584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3.2.	Test process</a:t>
            </a:r>
          </a:p>
        </p:txBody>
      </p:sp>
      <p:sp>
        <p:nvSpPr>
          <p:cNvPr id="9" name="Right Arrow Callout 8"/>
          <p:cNvSpPr/>
          <p:nvPr/>
        </p:nvSpPr>
        <p:spPr>
          <a:xfrm rot="5400000">
            <a:off x="4176210" y="-17676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Planning and Control</a:t>
            </a:r>
          </a:p>
        </p:txBody>
      </p:sp>
      <p:sp>
        <p:nvSpPr>
          <p:cNvPr id="13" name="Right Arrow Callout 12"/>
          <p:cNvSpPr/>
          <p:nvPr/>
        </p:nvSpPr>
        <p:spPr>
          <a:xfrm rot="5400000">
            <a:off x="4176210" y="-759551"/>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Analysis and Design</a:t>
            </a:r>
          </a:p>
        </p:txBody>
      </p:sp>
      <p:sp>
        <p:nvSpPr>
          <p:cNvPr id="15" name="Right Arrow Callout 14"/>
          <p:cNvSpPr/>
          <p:nvPr/>
        </p:nvSpPr>
        <p:spPr>
          <a:xfrm rot="5400000">
            <a:off x="4176210" y="248562"/>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Implementation and Execution</a:t>
            </a:r>
          </a:p>
        </p:txBody>
      </p:sp>
      <p:sp>
        <p:nvSpPr>
          <p:cNvPr id="18" name="Right Arrow Callout 17"/>
          <p:cNvSpPr/>
          <p:nvPr/>
        </p:nvSpPr>
        <p:spPr>
          <a:xfrm rot="5400000">
            <a:off x="4140206" y="1256674"/>
            <a:ext cx="971599" cy="8316924"/>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E" sz="2800" b="1" dirty="0">
                <a:solidFill>
                  <a:prstClr val="black"/>
                </a:solidFill>
              </a:rPr>
              <a:t>Evaluating Exit Criteria and Reporting</a:t>
            </a:r>
          </a:p>
        </p:txBody>
      </p:sp>
      <p:sp>
        <p:nvSpPr>
          <p:cNvPr id="19" name="Rectangle 18"/>
          <p:cNvSpPr/>
          <p:nvPr/>
        </p:nvSpPr>
        <p:spPr>
          <a:xfrm>
            <a:off x="503548" y="5945952"/>
            <a:ext cx="8280920" cy="60724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800" b="1" dirty="0">
                <a:solidFill>
                  <a:prstClr val="black"/>
                </a:solidFill>
              </a:rPr>
              <a:t>Test Closure Activities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38</a:t>
            </a:fld>
            <a:endParaRPr lang="en-US"/>
          </a:p>
        </p:txBody>
      </p:sp>
    </p:spTree>
    <p:extLst>
      <p:ext uri="{BB962C8B-B14F-4D97-AF65-F5344CB8AC3E}">
        <p14:creationId xmlns:p14="http://schemas.microsoft.com/office/powerpoint/2010/main" val="868140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normAutofit fontScale="90000"/>
          </a:bodyPr>
          <a:lstStyle/>
          <a:p>
            <a:r>
              <a:rPr lang="en-US" dirty="0"/>
              <a:t>3.2.	Test process </a:t>
            </a:r>
            <a:br>
              <a:rPr lang="en-US" dirty="0"/>
            </a:br>
            <a:r>
              <a:rPr lang="en-GB" dirty="0"/>
              <a:t>Test closure activities</a:t>
            </a:r>
          </a:p>
        </p:txBody>
      </p:sp>
      <p:sp>
        <p:nvSpPr>
          <p:cNvPr id="159747" name="Rectangle 3"/>
          <p:cNvSpPr>
            <a:spLocks noGrp="1" noChangeArrowheads="1"/>
          </p:cNvSpPr>
          <p:nvPr>
            <p:ph type="body" idx="1"/>
          </p:nvPr>
        </p:nvSpPr>
        <p:spPr/>
        <p:txBody>
          <a:bodyPr>
            <a:normAutofit/>
          </a:bodyPr>
          <a:lstStyle/>
          <a:p>
            <a:r>
              <a:rPr lang="en-US" dirty="0"/>
              <a:t>Collect data from completed test activities to consolidate experience</a:t>
            </a:r>
            <a:endParaRPr lang="en-GB" dirty="0"/>
          </a:p>
          <a:p>
            <a:r>
              <a:rPr lang="en-GB" dirty="0"/>
              <a:t>We may need to do this when:</a:t>
            </a:r>
          </a:p>
          <a:p>
            <a:pPr lvl="1"/>
            <a:r>
              <a:rPr lang="en-GB" dirty="0"/>
              <a:t>software is delivered</a:t>
            </a:r>
          </a:p>
          <a:p>
            <a:pPr lvl="1"/>
            <a:r>
              <a:rPr lang="en-GB" dirty="0"/>
              <a:t>have gathered the information needed from testing</a:t>
            </a:r>
          </a:p>
          <a:p>
            <a:pPr lvl="1"/>
            <a:r>
              <a:rPr lang="en-GB" dirty="0"/>
              <a:t>the project is cancelled</a:t>
            </a:r>
          </a:p>
          <a:p>
            <a:pPr lvl="1"/>
            <a:r>
              <a:rPr lang="en-GB" dirty="0"/>
              <a:t>a particular milestone is achieved</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39</a:t>
            </a:fld>
            <a:endParaRPr lang="en-US"/>
          </a:p>
        </p:txBody>
      </p:sp>
    </p:spTree>
    <p:extLst>
      <p:ext uri="{BB962C8B-B14F-4D97-AF65-F5344CB8AC3E}">
        <p14:creationId xmlns:p14="http://schemas.microsoft.com/office/powerpoint/2010/main" val="11378288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normAutofit fontScale="90000"/>
          </a:bodyPr>
          <a:lstStyle/>
          <a:p>
            <a:r>
              <a:rPr lang="en-US"/>
              <a:t>3.2.	Test process </a:t>
            </a:r>
            <a:br>
              <a:rPr lang="en-US"/>
            </a:br>
            <a:r>
              <a:rPr lang="en-GB"/>
              <a:t>Test closure activities</a:t>
            </a:r>
          </a:p>
        </p:txBody>
      </p:sp>
      <p:sp>
        <p:nvSpPr>
          <p:cNvPr id="161795" name="Rectangle 3"/>
          <p:cNvSpPr>
            <a:spLocks noGrp="1" noChangeArrowheads="1"/>
          </p:cNvSpPr>
          <p:nvPr>
            <p:ph type="body" idx="1"/>
          </p:nvPr>
        </p:nvSpPr>
        <p:spPr/>
        <p:txBody>
          <a:bodyPr/>
          <a:lstStyle/>
          <a:p>
            <a:r>
              <a:rPr lang="en-GB" dirty="0"/>
              <a:t>Major tasks: </a:t>
            </a:r>
          </a:p>
          <a:p>
            <a:pPr lvl="1"/>
            <a:r>
              <a:rPr lang="en-GB" i="1" dirty="0"/>
              <a:t>check</a:t>
            </a:r>
            <a:r>
              <a:rPr lang="en-GB" dirty="0"/>
              <a:t> which planned deliverables we actually delivered and ensure all incident reports have been resolved </a:t>
            </a:r>
          </a:p>
          <a:p>
            <a:pPr lvl="1"/>
            <a:r>
              <a:rPr lang="en-GB" i="1" dirty="0"/>
              <a:t>finalize</a:t>
            </a:r>
            <a:r>
              <a:rPr lang="en-GB" b="1" dirty="0"/>
              <a:t> </a:t>
            </a:r>
            <a:r>
              <a:rPr lang="en-GB" dirty="0"/>
              <a:t>and</a:t>
            </a:r>
            <a:r>
              <a:rPr lang="en-GB" b="1" dirty="0"/>
              <a:t> </a:t>
            </a:r>
            <a:r>
              <a:rPr lang="en-GB" i="1" dirty="0"/>
              <a:t>archive</a:t>
            </a:r>
            <a:r>
              <a:rPr lang="en-GB" b="1" dirty="0"/>
              <a:t> </a:t>
            </a:r>
            <a:r>
              <a:rPr lang="en-GB" b="1" dirty="0" err="1"/>
              <a:t>testware</a:t>
            </a:r>
            <a:r>
              <a:rPr lang="en-GB" dirty="0"/>
              <a:t> (such as scripts, test environment, and any other test infrastructure) for later reuse</a:t>
            </a:r>
          </a:p>
          <a:p>
            <a:pPr lvl="1"/>
            <a:r>
              <a:rPr lang="en-GB" i="1" dirty="0"/>
              <a:t>hand over </a:t>
            </a:r>
            <a:r>
              <a:rPr lang="en-GB" dirty="0" err="1"/>
              <a:t>testware</a:t>
            </a:r>
            <a:r>
              <a:rPr lang="en-GB" b="1" dirty="0"/>
              <a:t> </a:t>
            </a:r>
            <a:r>
              <a:rPr lang="en-GB" dirty="0"/>
              <a:t>to the maintenance organization</a:t>
            </a:r>
          </a:p>
          <a:p>
            <a:pPr lvl="1"/>
            <a:r>
              <a:rPr lang="en-US" i="1" dirty="0"/>
              <a:t>analyzing lessons learned </a:t>
            </a:r>
            <a:r>
              <a:rPr lang="en-US" dirty="0"/>
              <a:t>for future releases and projects, and incorporating lessons to improve the testing process</a:t>
            </a:r>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40</a:t>
            </a:fld>
            <a:endParaRPr lang="en-US"/>
          </a:p>
        </p:txBody>
      </p:sp>
    </p:spTree>
    <p:extLst>
      <p:ext uri="{BB962C8B-B14F-4D97-AF65-F5344CB8AC3E}">
        <p14:creationId xmlns:p14="http://schemas.microsoft.com/office/powerpoint/2010/main" val="15962037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3.2. 	Test process</a:t>
            </a:r>
            <a:br>
              <a:rPr lang="en-US" dirty="0"/>
            </a:br>
            <a:r>
              <a:rPr lang="en-US" dirty="0"/>
              <a:t>Inputs &amp; Outputs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41</a:t>
            </a:fld>
            <a:endParaRPr lang="en-US"/>
          </a:p>
        </p:txBody>
      </p:sp>
      <p:sp>
        <p:nvSpPr>
          <p:cNvPr id="30" name="Pentagon 29"/>
          <p:cNvSpPr/>
          <p:nvPr/>
        </p:nvSpPr>
        <p:spPr>
          <a:xfrm>
            <a:off x="76200" y="3744461"/>
            <a:ext cx="1828800" cy="566177"/>
          </a:xfrm>
          <a:prstGeom prst="homePlate">
            <a:avLst>
              <a:gd name="adj" fmla="val 48293"/>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a:ea typeface="+mn-ea"/>
                <a:cs typeface="Arial"/>
              </a:rPr>
              <a:t>Planning and Control</a:t>
            </a:r>
          </a:p>
        </p:txBody>
      </p:sp>
      <p:sp>
        <p:nvSpPr>
          <p:cNvPr id="31" name="Pentagon 30"/>
          <p:cNvSpPr/>
          <p:nvPr/>
        </p:nvSpPr>
        <p:spPr>
          <a:xfrm>
            <a:off x="2133780" y="3744458"/>
            <a:ext cx="1515302" cy="588137"/>
          </a:xfrm>
          <a:prstGeom prst="homePlate">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a:ea typeface="+mn-ea"/>
                <a:cs typeface="Arial"/>
              </a:rPr>
              <a:t>Analysis and Design</a:t>
            </a:r>
          </a:p>
        </p:txBody>
      </p:sp>
      <p:sp>
        <p:nvSpPr>
          <p:cNvPr id="32" name="Pentagon 31"/>
          <p:cNvSpPr/>
          <p:nvPr/>
        </p:nvSpPr>
        <p:spPr>
          <a:xfrm>
            <a:off x="3887059" y="3744459"/>
            <a:ext cx="1756302" cy="566177"/>
          </a:xfrm>
          <a:prstGeom prst="homePlate">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a:ea typeface="+mn-ea"/>
                <a:cs typeface="Arial"/>
              </a:rPr>
              <a:t>Implementation and Execution</a:t>
            </a:r>
          </a:p>
        </p:txBody>
      </p:sp>
      <p:sp>
        <p:nvSpPr>
          <p:cNvPr id="33" name="Pentagon 32"/>
          <p:cNvSpPr/>
          <p:nvPr/>
        </p:nvSpPr>
        <p:spPr>
          <a:xfrm>
            <a:off x="5811238" y="3744459"/>
            <a:ext cx="1732562" cy="566177"/>
          </a:xfrm>
          <a:prstGeom prst="homePlate">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a:ea typeface="+mn-ea"/>
                <a:cs typeface="Arial"/>
              </a:rPr>
              <a:t>Test Report and Evaluation</a:t>
            </a:r>
          </a:p>
        </p:txBody>
      </p:sp>
      <p:sp>
        <p:nvSpPr>
          <p:cNvPr id="34" name="Pentagon 33"/>
          <p:cNvSpPr/>
          <p:nvPr/>
        </p:nvSpPr>
        <p:spPr>
          <a:xfrm>
            <a:off x="7674477" y="3744459"/>
            <a:ext cx="1393323" cy="566177"/>
          </a:xfrm>
          <a:prstGeom prst="homePlate">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a:ea typeface="+mn-ea"/>
                <a:cs typeface="Arial"/>
              </a:rPr>
              <a:t>Test Closure</a:t>
            </a:r>
          </a:p>
        </p:txBody>
      </p:sp>
      <p:sp>
        <p:nvSpPr>
          <p:cNvPr id="35" name="TextBox 9"/>
          <p:cNvSpPr txBox="1">
            <a:spLocks noChangeArrowheads="1"/>
          </p:cNvSpPr>
          <p:nvPr/>
        </p:nvSpPr>
        <p:spPr bwMode="auto">
          <a:xfrm>
            <a:off x="-76200" y="1937912"/>
            <a:ext cx="2133780" cy="109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1">
            <a:spAutoFit/>
          </a:bodyPr>
          <a:lstStyle>
            <a:lvl1pPr marL="171450" indent="-171450"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Business Requirements</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Functional Specification</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AU"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User Stories (Draft)</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AU"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Project Plan Document</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AU"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Solution Document</a:t>
            </a:r>
            <a:endPar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36" name="TextBox 10"/>
          <p:cNvSpPr txBox="1">
            <a:spLocks noChangeArrowheads="1"/>
          </p:cNvSpPr>
          <p:nvPr/>
        </p:nvSpPr>
        <p:spPr bwMode="auto">
          <a:xfrm>
            <a:off x="76200" y="4830750"/>
            <a:ext cx="13192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marL="171450" indent="-171450" defTabSz="214313"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defTabSz="214313"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defTabSz="214313"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defTabSz="214313"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defTabSz="214313"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Plan</a:t>
            </a:r>
          </a:p>
          <a:p>
            <a:pPr marL="171450" marR="0" lvl="0" indent="-171450" defTabSz="214313" eaLnBrk="1" fontAlgn="auto" latinLnBrk="0" hangingPunct="1">
              <a:lnSpc>
                <a:spcPct val="100000"/>
              </a:lnSpc>
              <a:spcBef>
                <a:spcPct val="0"/>
              </a:spcBef>
              <a:spcAft>
                <a:spcPts val="0"/>
              </a:spcAft>
              <a:buClrTx/>
              <a:buSzTx/>
              <a:buFontTx/>
              <a:buAutoNum type="arabicPeriod"/>
              <a:tabLst/>
              <a:defRPr/>
            </a:pPr>
            <a:endPar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37" name="TextBox 11"/>
          <p:cNvSpPr txBox="1">
            <a:spLocks noChangeArrowheads="1"/>
          </p:cNvSpPr>
          <p:nvPr/>
        </p:nvSpPr>
        <p:spPr bwMode="auto">
          <a:xfrm>
            <a:off x="1892490" y="1937912"/>
            <a:ext cx="22860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1">
            <a:spAutoFit/>
          </a:bodyPr>
          <a:lstStyle>
            <a:lvl1pPr marL="171450" indent="-171450"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Business Requirements</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Functional Specification</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AU"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User Stories</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AU"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Project Plan Document</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AU"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Solution Document</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AU"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Plan</a:t>
            </a:r>
            <a:endPar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38" name="TextBox 12"/>
          <p:cNvSpPr txBox="1">
            <a:spLocks noChangeArrowheads="1"/>
          </p:cNvSpPr>
          <p:nvPr/>
        </p:nvSpPr>
        <p:spPr bwMode="auto">
          <a:xfrm>
            <a:off x="2082890" y="4799972"/>
            <a:ext cx="172711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1">
            <a:spAutoFit/>
          </a:bodyPr>
          <a:lstStyle>
            <a:lvl1pPr marL="171450" indent="-171450" defTabSz="214313"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defTabSz="214313"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defTabSz="214313"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defTabSz="214313"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defTabSz="214313"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Designs</a:t>
            </a:r>
          </a:p>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Cases</a:t>
            </a:r>
          </a:p>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Procedures</a:t>
            </a:r>
          </a:p>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Data</a:t>
            </a:r>
          </a:p>
        </p:txBody>
      </p:sp>
      <p:sp>
        <p:nvSpPr>
          <p:cNvPr id="39" name="TextBox 13"/>
          <p:cNvSpPr txBox="1">
            <a:spLocks noChangeArrowheads="1"/>
          </p:cNvSpPr>
          <p:nvPr/>
        </p:nvSpPr>
        <p:spPr bwMode="auto">
          <a:xfrm>
            <a:off x="4089890" y="1937912"/>
            <a:ext cx="157394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1">
            <a:spAutoFit/>
          </a:bodyPr>
          <a:lstStyle>
            <a:lvl1pPr marL="171450" indent="-171450"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Designs</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Cases</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Procedures</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Data</a:t>
            </a:r>
          </a:p>
        </p:txBody>
      </p:sp>
      <p:sp>
        <p:nvSpPr>
          <p:cNvPr id="40" name="TextBox 14"/>
          <p:cNvSpPr txBox="1">
            <a:spLocks noChangeArrowheads="1"/>
          </p:cNvSpPr>
          <p:nvPr/>
        </p:nvSpPr>
        <p:spPr bwMode="auto">
          <a:xfrm>
            <a:off x="3962400" y="4793902"/>
            <a:ext cx="147730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1">
            <a:spAutoFit/>
          </a:bodyPr>
          <a:lstStyle>
            <a:lvl1pPr marL="171450" indent="-171450" defTabSz="214313"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defTabSz="214313"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defTabSz="214313"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defTabSz="214313"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defTabSz="214313"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Results</a:t>
            </a:r>
          </a:p>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Scripts</a:t>
            </a:r>
          </a:p>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Defects</a:t>
            </a:r>
          </a:p>
        </p:txBody>
      </p:sp>
      <p:sp>
        <p:nvSpPr>
          <p:cNvPr id="47" name="TextBox 21"/>
          <p:cNvSpPr txBox="1">
            <a:spLocks noChangeArrowheads="1"/>
          </p:cNvSpPr>
          <p:nvPr/>
        </p:nvSpPr>
        <p:spPr bwMode="auto">
          <a:xfrm>
            <a:off x="6005511" y="1937912"/>
            <a:ext cx="12985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marL="171450" indent="-171450"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Results</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Scripts</a:t>
            </a:r>
          </a:p>
        </p:txBody>
      </p:sp>
      <p:sp>
        <p:nvSpPr>
          <p:cNvPr id="49" name="TextBox 23"/>
          <p:cNvSpPr txBox="1">
            <a:spLocks noChangeArrowheads="1"/>
          </p:cNvSpPr>
          <p:nvPr/>
        </p:nvSpPr>
        <p:spPr bwMode="auto">
          <a:xfrm>
            <a:off x="5501150" y="4799972"/>
            <a:ext cx="23072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1">
            <a:spAutoFit/>
          </a:bodyPr>
          <a:lstStyle>
            <a:lvl1pPr marL="171450" indent="-171450" defTabSz="214313"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defTabSz="214313"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defTabSz="214313"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defTabSz="214313"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defTabSz="214313"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Reports</a:t>
            </a:r>
          </a:p>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Exit Criteria Evaluation </a:t>
            </a:r>
          </a:p>
        </p:txBody>
      </p:sp>
      <p:sp>
        <p:nvSpPr>
          <p:cNvPr id="51" name="TextBox 25"/>
          <p:cNvSpPr txBox="1">
            <a:spLocks noChangeArrowheads="1"/>
          </p:cNvSpPr>
          <p:nvPr/>
        </p:nvSpPr>
        <p:spPr bwMode="auto">
          <a:xfrm>
            <a:off x="7696200" y="4807833"/>
            <a:ext cx="13192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marL="171450" indent="-171450" defTabSz="214313"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defTabSz="214313"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defTabSz="214313"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defTabSz="214313"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defTabSz="214313"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defTabSz="214313"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214313" eaLnBrk="1" fontAlgn="auto" latinLnBrk="0" hangingPunct="1">
              <a:lnSpc>
                <a:spcPct val="100000"/>
              </a:lnSpc>
              <a:spcBef>
                <a:spcPct val="0"/>
              </a:spcBef>
              <a:spcAft>
                <a:spcPts val="0"/>
              </a:spcAft>
              <a:buClrTx/>
              <a:buSzTx/>
              <a:buFontTx/>
              <a:buAutoNum type="arabicPeriod"/>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Report Summary</a:t>
            </a:r>
          </a:p>
        </p:txBody>
      </p:sp>
      <p:sp>
        <p:nvSpPr>
          <p:cNvPr id="53" name="TextBox 27"/>
          <p:cNvSpPr txBox="1">
            <a:spLocks noChangeArrowheads="1"/>
          </p:cNvSpPr>
          <p:nvPr/>
        </p:nvSpPr>
        <p:spPr bwMode="auto">
          <a:xfrm>
            <a:off x="7673880" y="1937912"/>
            <a:ext cx="13208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marL="171450" indent="-171450"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Plan</a:t>
            </a:r>
          </a:p>
          <a:p>
            <a:pPr marL="171450" marR="0" lvl="0" indent="-171450" defTabSz="914400" eaLnBrk="1" fontAlgn="auto" latinLnBrk="0" hangingPunct="1">
              <a:lnSpc>
                <a:spcPct val="100000"/>
              </a:lnSpc>
              <a:spcBef>
                <a:spcPct val="0"/>
              </a:spcBef>
              <a:spcAft>
                <a:spcPts val="0"/>
              </a:spcAft>
              <a:buClrTx/>
              <a:buSzTx/>
              <a:buFontTx/>
              <a:buAutoNum type="arabicPeriod"/>
              <a:tabLst/>
              <a:defRPr/>
            </a:pPr>
            <a:r>
              <a:rPr kumimoji="0" lang="en-US" altLang="en-US" sz="13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Test Reports</a:t>
            </a:r>
          </a:p>
        </p:txBody>
      </p:sp>
      <p:sp>
        <p:nvSpPr>
          <p:cNvPr id="54" name="Down Arrow 53"/>
          <p:cNvSpPr/>
          <p:nvPr/>
        </p:nvSpPr>
        <p:spPr>
          <a:xfrm>
            <a:off x="7673880" y="3333655"/>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59" name="Down Arrow 58"/>
          <p:cNvSpPr/>
          <p:nvPr/>
        </p:nvSpPr>
        <p:spPr>
          <a:xfrm>
            <a:off x="5994399" y="3333654"/>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0" name="Down Arrow 59"/>
          <p:cNvSpPr/>
          <p:nvPr/>
        </p:nvSpPr>
        <p:spPr>
          <a:xfrm>
            <a:off x="4009094" y="3333655"/>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1" name="Down Arrow 60"/>
          <p:cNvSpPr/>
          <p:nvPr/>
        </p:nvSpPr>
        <p:spPr>
          <a:xfrm>
            <a:off x="2180231" y="3333655"/>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2" name="Down Arrow 61"/>
          <p:cNvSpPr/>
          <p:nvPr/>
        </p:nvSpPr>
        <p:spPr>
          <a:xfrm>
            <a:off x="238125" y="3333655"/>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3" name="Down Arrow 62"/>
          <p:cNvSpPr/>
          <p:nvPr/>
        </p:nvSpPr>
        <p:spPr>
          <a:xfrm>
            <a:off x="7747000" y="4405732"/>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4" name="Down Arrow 63"/>
          <p:cNvSpPr/>
          <p:nvPr/>
        </p:nvSpPr>
        <p:spPr>
          <a:xfrm>
            <a:off x="5902818" y="4412040"/>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5" name="Down Arrow 64"/>
          <p:cNvSpPr/>
          <p:nvPr/>
        </p:nvSpPr>
        <p:spPr>
          <a:xfrm>
            <a:off x="4009094" y="4405733"/>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6" name="Down Arrow 65"/>
          <p:cNvSpPr/>
          <p:nvPr/>
        </p:nvSpPr>
        <p:spPr>
          <a:xfrm>
            <a:off x="2180231" y="4440519"/>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7" name="Down Arrow 66"/>
          <p:cNvSpPr/>
          <p:nvPr/>
        </p:nvSpPr>
        <p:spPr>
          <a:xfrm>
            <a:off x="238125" y="4441090"/>
            <a:ext cx="1320800" cy="244475"/>
          </a:xfrm>
          <a:prstGeom prst="downArrow">
            <a:avLst/>
          </a:prstGeom>
          <a:solidFill>
            <a:srgbClr val="92D050"/>
          </a:solidFill>
          <a:ln w="38100" cap="flat" cmpd="sng" algn="ctr">
            <a:solidFill>
              <a:srgbClr val="92D050"/>
            </a:solidFill>
            <a:prstDash val="solid"/>
          </a:ln>
          <a:effectLst>
            <a:outerShdw blurRad="40000" dist="20000" dir="5400000" rotWithShape="0">
              <a:srgbClr val="000000">
                <a:alpha val="38000"/>
              </a:srgbClr>
            </a:outerShdw>
          </a:effec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en-US" sz="1300" b="0" i="0" u="none" strike="noStrike" kern="0" cap="none" spc="0" normalizeH="0" baseline="0" noProof="0">
              <a:ln>
                <a:noFill/>
              </a:ln>
              <a:solidFill>
                <a:srgbClr val="FFFFFF"/>
              </a:solidFill>
              <a:effectLst/>
              <a:uLnTx/>
              <a:uFillTx/>
              <a:latin typeface="Arial" panose="020B0604020202020204" pitchFamily="34" charset="0"/>
              <a:ea typeface="+mn-ea"/>
              <a:cs typeface="Arial"/>
            </a:endParaRPr>
          </a:p>
        </p:txBody>
      </p:sp>
    </p:spTree>
    <p:extLst>
      <p:ext uri="{BB962C8B-B14F-4D97-AF65-F5344CB8AC3E}">
        <p14:creationId xmlns:p14="http://schemas.microsoft.com/office/powerpoint/2010/main" val="19835660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Kiểm tra hiểu bài</a:t>
            </a:r>
            <a:br>
              <a:rPr lang="en-US"/>
            </a:br>
            <a:r>
              <a:rPr lang="en-US"/>
              <a:t>Quy trình kiểm thử</a:t>
            </a:r>
          </a:p>
        </p:txBody>
      </p:sp>
      <p:sp>
        <p:nvSpPr>
          <p:cNvPr id="3" name="Content Placeholder 2"/>
          <p:cNvSpPr>
            <a:spLocks noGrp="1"/>
          </p:cNvSpPr>
          <p:nvPr>
            <p:ph idx="1"/>
          </p:nvPr>
        </p:nvSpPr>
        <p:spPr/>
        <p:txBody>
          <a:bodyPr/>
          <a:lstStyle/>
          <a:p>
            <a:pPr marL="514350" indent="-514350">
              <a:buFont typeface="+mj-lt"/>
              <a:buAutoNum type="arabicPeriod"/>
            </a:pPr>
            <a:r>
              <a:rPr lang="en-US"/>
              <a:t>Việc đánh giá </a:t>
            </a:r>
            <a:r>
              <a:rPr lang="en-US" b="1"/>
              <a:t>tính kiểm thử được </a:t>
            </a:r>
            <a:r>
              <a:rPr lang="en-US"/>
              <a:t>của yêu cầu và hệ thống thuộc giai đoạn nào.</a:t>
            </a:r>
          </a:p>
          <a:p>
            <a:pPr marL="514350" indent="-514350">
              <a:buFont typeface="+mj-lt"/>
              <a:buAutoNum type="arabicPeriod"/>
            </a:pPr>
            <a:r>
              <a:rPr lang="en-US"/>
              <a:t>Chuẩn bị môi trường và các công cụ kiểm thử cần thiết là các công việc thuộc giai đoạn nào.</a:t>
            </a:r>
          </a:p>
          <a:p>
            <a:pPr marL="514350" indent="-514350">
              <a:buFont typeface="+mj-lt"/>
              <a:buAutoNum type="arabicPeriod"/>
            </a:pPr>
            <a:r>
              <a:rPr lang="en-US"/>
              <a:t>Giai đoạn nào phải xác định xem có cần thêm test.</a:t>
            </a:r>
          </a:p>
          <a:p>
            <a:pPr marL="514350" indent="-514350">
              <a:buFont typeface="+mj-lt"/>
              <a:buAutoNum type="arabicPeriod"/>
            </a:pPr>
            <a:r>
              <a:rPr lang="en-US"/>
              <a:t>Báo cáo sự cố kiểm thử thuộc giai đoạn nào.</a:t>
            </a:r>
          </a:p>
          <a:p>
            <a:pPr marL="514350" indent="-514350">
              <a:buFont typeface="+mj-lt"/>
              <a:buAutoNum type="arabicPeriod"/>
            </a:pPr>
            <a:r>
              <a:rPr lang="en-US"/>
              <a:t>Cần có những tài liệu gì để viết test plan.</a:t>
            </a:r>
          </a:p>
          <a:p>
            <a:pPr marL="514350" indent="-514350">
              <a:buFont typeface="+mj-lt"/>
              <a:buAutoNum type="arabicPeriod"/>
            </a:pPr>
            <a:r>
              <a:rPr lang="en-US"/>
              <a:t>Sau khi thực thi kiểm thử, các tester thường làm gì.</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42</a:t>
            </a:fld>
            <a:endParaRPr lang="en-US"/>
          </a:p>
        </p:txBody>
      </p:sp>
    </p:spTree>
    <p:extLst>
      <p:ext uri="{BB962C8B-B14F-4D97-AF65-F5344CB8AC3E}">
        <p14:creationId xmlns:p14="http://schemas.microsoft.com/office/powerpoint/2010/main" val="36988313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Kiểm tra hiểu bài</a:t>
            </a:r>
            <a:br>
              <a:rPr lang="en-US"/>
            </a:br>
            <a:r>
              <a:rPr lang="en-US"/>
              <a:t>Quy trình kiểm thử</a:t>
            </a:r>
          </a:p>
        </p:txBody>
      </p:sp>
      <p:sp>
        <p:nvSpPr>
          <p:cNvPr id="3" name="Content Placeholder 2"/>
          <p:cNvSpPr>
            <a:spLocks noGrp="1"/>
          </p:cNvSpPr>
          <p:nvPr>
            <p:ph idx="1"/>
          </p:nvPr>
        </p:nvSpPr>
        <p:spPr>
          <a:xfrm>
            <a:off x="457200" y="1752600"/>
            <a:ext cx="8382000" cy="4876800"/>
          </a:xfrm>
        </p:spPr>
        <p:txBody>
          <a:bodyPr>
            <a:normAutofit fontScale="92500" lnSpcReduction="10000"/>
          </a:bodyPr>
          <a:lstStyle/>
          <a:p>
            <a:pPr marL="514350" indent="-514350">
              <a:buFont typeface="+mj-lt"/>
              <a:buAutoNum type="arabicPeriod" startAt="7"/>
            </a:pPr>
            <a:r>
              <a:rPr lang="en-US"/>
              <a:t>Which of the following requirements is testable?</a:t>
            </a:r>
          </a:p>
          <a:p>
            <a:pPr marL="457200" indent="0">
              <a:buNone/>
            </a:pPr>
            <a:r>
              <a:rPr lang="en-US"/>
              <a:t>A. The system shall be user friendly</a:t>
            </a:r>
          </a:p>
          <a:p>
            <a:pPr marL="457200" indent="0">
              <a:buNone/>
            </a:pPr>
            <a:r>
              <a:rPr lang="en-US"/>
              <a:t>B. The safety-critical parts of the system contain 0 faults</a:t>
            </a:r>
          </a:p>
          <a:p>
            <a:pPr marL="796925" indent="-339725">
              <a:buNone/>
            </a:pPr>
            <a:r>
              <a:rPr lang="en-US"/>
              <a:t>C. The response time shall be less than one second for the specified design load</a:t>
            </a:r>
          </a:p>
          <a:p>
            <a:pPr marL="457200" indent="0">
              <a:buNone/>
            </a:pPr>
            <a:r>
              <a:rPr lang="en-US"/>
              <a:t>D. The system shall be built to be portable</a:t>
            </a:r>
          </a:p>
          <a:p>
            <a:pPr marL="514350" indent="-514350">
              <a:buFont typeface="+mj-lt"/>
              <a:buAutoNum type="arabicPeriod" startAt="8"/>
            </a:pPr>
            <a:r>
              <a:rPr lang="en-US"/>
              <a:t>Which option is part of the ‘implementation and execution’ area of the fundamental test process?</a:t>
            </a:r>
          </a:p>
          <a:p>
            <a:pPr marL="457200" indent="0">
              <a:buNone/>
            </a:pPr>
            <a:r>
              <a:rPr lang="en-US"/>
              <a:t>A. Developing the tests</a:t>
            </a:r>
          </a:p>
          <a:p>
            <a:pPr marL="457200" indent="0">
              <a:buNone/>
            </a:pPr>
            <a:r>
              <a:rPr lang="en-US"/>
              <a:t>B. Comparing actual and expected results</a:t>
            </a:r>
          </a:p>
          <a:p>
            <a:pPr marL="457200" indent="0">
              <a:buNone/>
            </a:pPr>
            <a:r>
              <a:rPr lang="en-US"/>
              <a:t>C. Writing a test summary</a:t>
            </a:r>
          </a:p>
          <a:p>
            <a:pPr marL="457200" indent="0">
              <a:buNone/>
            </a:pPr>
            <a:r>
              <a:rPr lang="en-US"/>
              <a:t>D. Analysing lessons learnt for future releases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43</a:t>
            </a:fld>
            <a:endParaRPr lang="en-US"/>
          </a:p>
        </p:txBody>
      </p:sp>
    </p:spTree>
    <p:extLst>
      <p:ext uri="{BB962C8B-B14F-4D97-AF65-F5344CB8AC3E}">
        <p14:creationId xmlns:p14="http://schemas.microsoft.com/office/powerpoint/2010/main" val="30673766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p:txBody>
          <a:bodyPr/>
          <a:lstStyle/>
          <a:p>
            <a:r>
              <a:rPr lang="en-US" dirty="0"/>
              <a:t>3.3.	Test levels</a:t>
            </a:r>
          </a:p>
        </p:txBody>
      </p:sp>
      <p:sp>
        <p:nvSpPr>
          <p:cNvPr id="3" name="Content Placeholder 2"/>
          <p:cNvSpPr>
            <a:spLocks noGrp="1"/>
          </p:cNvSpPr>
          <p:nvPr>
            <p:ph idx="1"/>
          </p:nvPr>
        </p:nvSpPr>
        <p:spPr/>
        <p:txBody>
          <a:bodyPr/>
          <a:lstStyle/>
          <a:p>
            <a:r>
              <a:rPr lang="en-US" dirty="0">
                <a:ea typeface="ＭＳ Ｐゴシック" panose="020B0600070205080204" pitchFamily="50" charset="-128"/>
              </a:rPr>
              <a:t>There are 4 levels of testing:</a:t>
            </a:r>
          </a:p>
          <a:p>
            <a:pPr lvl="1"/>
            <a:r>
              <a:rPr lang="en-US" dirty="0"/>
              <a:t>Component test (Unit test)</a:t>
            </a:r>
          </a:p>
          <a:p>
            <a:pPr lvl="1"/>
            <a:r>
              <a:rPr lang="en-US" dirty="0"/>
              <a:t>Integration test</a:t>
            </a:r>
          </a:p>
          <a:p>
            <a:pPr lvl="1"/>
            <a:r>
              <a:rPr lang="en-US" dirty="0"/>
              <a:t>System test</a:t>
            </a:r>
          </a:p>
          <a:p>
            <a:pPr lvl="1"/>
            <a:r>
              <a:rPr lang="en-US" dirty="0"/>
              <a:t>Acceptance test</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44</a:t>
            </a:fld>
            <a:endParaRPr lang="en-US"/>
          </a:p>
        </p:txBody>
      </p:sp>
    </p:spTree>
    <p:extLst>
      <p:ext uri="{BB962C8B-B14F-4D97-AF65-F5344CB8AC3E}">
        <p14:creationId xmlns:p14="http://schemas.microsoft.com/office/powerpoint/2010/main" val="12829459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3.3.	Test levels</a:t>
            </a:r>
            <a:br>
              <a:rPr lang="en-US" dirty="0"/>
            </a:br>
            <a:r>
              <a:rPr lang="en-US" dirty="0"/>
              <a:t>Component test 	[1/3]</a:t>
            </a:r>
          </a:p>
        </p:txBody>
      </p:sp>
      <p:sp>
        <p:nvSpPr>
          <p:cNvPr id="3" name="Content Placeholder 2"/>
          <p:cNvSpPr>
            <a:spLocks noGrp="1"/>
          </p:cNvSpPr>
          <p:nvPr>
            <p:ph idx="1"/>
          </p:nvPr>
        </p:nvSpPr>
        <p:spPr/>
        <p:txBody>
          <a:bodyPr>
            <a:normAutofit/>
          </a:bodyPr>
          <a:lstStyle/>
          <a:p>
            <a:r>
              <a:rPr lang="en-US" altLang="en-US" dirty="0"/>
              <a:t>Individual software components (e.g. </a:t>
            </a:r>
            <a:r>
              <a:rPr lang="en-US" altLang="ja-JP" dirty="0"/>
              <a:t>program, function, procedure</a:t>
            </a:r>
            <a:r>
              <a:rPr lang="en-US" altLang="en-US" dirty="0"/>
              <a:t>, method, object, etc.) are tested separately</a:t>
            </a:r>
            <a:endParaRPr lang="en-US" altLang="ja-JP" dirty="0"/>
          </a:p>
          <a:p>
            <a:r>
              <a:rPr lang="en-US" dirty="0"/>
              <a:t>Test basis:</a:t>
            </a:r>
          </a:p>
          <a:p>
            <a:pPr lvl="1"/>
            <a:r>
              <a:rPr lang="en-US" dirty="0"/>
              <a:t>component requirements</a:t>
            </a:r>
          </a:p>
          <a:p>
            <a:pPr lvl="1"/>
            <a:r>
              <a:rPr lang="en-US" dirty="0"/>
              <a:t>detailed design</a:t>
            </a:r>
          </a:p>
          <a:p>
            <a:pPr lvl="1"/>
            <a:r>
              <a:rPr lang="en-US" dirty="0"/>
              <a:t>code	</a:t>
            </a:r>
          </a:p>
          <a:p>
            <a:r>
              <a:rPr lang="en-GB" altLang="en-US" dirty="0"/>
              <a:t>Done by: </a:t>
            </a:r>
            <a:r>
              <a:rPr lang="en-GB" dirty="0"/>
              <a:t>development team</a:t>
            </a:r>
          </a:p>
          <a:p>
            <a:r>
              <a:rPr lang="en-US" altLang="ja-JP" dirty="0"/>
              <a:t>When?</a:t>
            </a:r>
          </a:p>
          <a:p>
            <a:pPr lvl="1"/>
            <a:r>
              <a:rPr lang="en-US" altLang="ja-JP" dirty="0"/>
              <a:t>After coding</a:t>
            </a:r>
          </a:p>
          <a:p>
            <a:pPr lvl="1"/>
            <a:r>
              <a:rPr lang="en-US" altLang="ja-JP" dirty="0"/>
              <a:t>Before integration test</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45</a:t>
            </a:fld>
            <a:endParaRPr lang="en-US"/>
          </a:p>
        </p:txBody>
      </p:sp>
    </p:spTree>
    <p:extLst>
      <p:ext uri="{BB962C8B-B14F-4D97-AF65-F5344CB8AC3E}">
        <p14:creationId xmlns:p14="http://schemas.microsoft.com/office/powerpoint/2010/main" val="17572095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normAutofit fontScale="90000"/>
          </a:bodyPr>
          <a:lstStyle/>
          <a:p>
            <a:r>
              <a:rPr lang="en-US"/>
              <a:t>3.3.	Test levels</a:t>
            </a:r>
            <a:br>
              <a:rPr lang="en-US"/>
            </a:br>
            <a:r>
              <a:rPr lang="en-GB"/>
              <a:t>Component test	[2/3]</a:t>
            </a:r>
          </a:p>
        </p:txBody>
      </p:sp>
      <p:sp>
        <p:nvSpPr>
          <p:cNvPr id="225283" name="Rectangle 3"/>
          <p:cNvSpPr>
            <a:spLocks noGrp="1" noChangeArrowheads="1"/>
          </p:cNvSpPr>
          <p:nvPr>
            <p:ph type="body" idx="1"/>
          </p:nvPr>
        </p:nvSpPr>
        <p:spPr/>
        <p:txBody>
          <a:bodyPr/>
          <a:lstStyle/>
          <a:p>
            <a:r>
              <a:rPr lang="en-GB" altLang="en-US" dirty="0"/>
              <a:t>Component test may include:</a:t>
            </a:r>
          </a:p>
          <a:p>
            <a:pPr lvl="1"/>
            <a:r>
              <a:rPr lang="en-GB" altLang="en-US" dirty="0"/>
              <a:t>Testing of </a:t>
            </a:r>
            <a:r>
              <a:rPr lang="en-GB" altLang="en-US" b="1" dirty="0"/>
              <a:t>functionality</a:t>
            </a:r>
          </a:p>
          <a:p>
            <a:pPr lvl="1"/>
            <a:r>
              <a:rPr lang="en-GB" altLang="en-US" dirty="0"/>
              <a:t>Testing of specific </a:t>
            </a:r>
            <a:r>
              <a:rPr lang="en-GB" altLang="en-US" b="1" dirty="0"/>
              <a:t>non-functional</a:t>
            </a:r>
            <a:r>
              <a:rPr lang="en-GB" altLang="en-US" dirty="0"/>
              <a:t> characteristics, such as resource-behaviour (e.g. memory leaks) or </a:t>
            </a:r>
            <a:r>
              <a:rPr lang="en-GB" dirty="0"/>
              <a:t>performance</a:t>
            </a:r>
            <a:r>
              <a:rPr lang="en-GB" altLang="en-US" dirty="0"/>
              <a:t> testing</a:t>
            </a:r>
          </a:p>
          <a:p>
            <a:pPr lvl="1"/>
            <a:r>
              <a:rPr lang="en-GB" altLang="en-US" b="1" dirty="0"/>
              <a:t>Structural</a:t>
            </a:r>
            <a:r>
              <a:rPr lang="en-GB" altLang="en-US" dirty="0"/>
              <a:t> testing (structure-based techniques)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46</a:t>
            </a:fld>
            <a:endParaRPr lang="en-US"/>
          </a:p>
        </p:txBody>
      </p:sp>
    </p:spTree>
    <p:extLst>
      <p:ext uri="{BB962C8B-B14F-4D97-AF65-F5344CB8AC3E}">
        <p14:creationId xmlns:p14="http://schemas.microsoft.com/office/powerpoint/2010/main" val="105072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3.3.	Test levels</a:t>
            </a:r>
            <a:br>
              <a:rPr lang="en-US"/>
            </a:br>
            <a:r>
              <a:rPr lang="en-US"/>
              <a:t>Integration test</a:t>
            </a:r>
          </a:p>
        </p:txBody>
      </p:sp>
      <p:sp>
        <p:nvSpPr>
          <p:cNvPr id="3" name="Content Placeholder 2"/>
          <p:cNvSpPr>
            <a:spLocks noGrp="1"/>
          </p:cNvSpPr>
          <p:nvPr>
            <p:ph idx="1"/>
          </p:nvPr>
        </p:nvSpPr>
        <p:spPr/>
        <p:txBody>
          <a:bodyPr>
            <a:normAutofit/>
          </a:bodyPr>
          <a:lstStyle/>
          <a:p>
            <a:r>
              <a:rPr lang="en-US" dirty="0"/>
              <a:t>Test </a:t>
            </a:r>
            <a:r>
              <a:rPr lang="en-US" b="1" dirty="0"/>
              <a:t>interfaces</a:t>
            </a:r>
            <a:r>
              <a:rPr lang="en-US" dirty="0"/>
              <a:t> between components, </a:t>
            </a:r>
            <a:r>
              <a:rPr lang="en-US" b="1" dirty="0"/>
              <a:t>interactions</a:t>
            </a:r>
            <a:r>
              <a:rPr lang="en-US" dirty="0"/>
              <a:t> to different parts of a system such as an operating system, file system and hardware or interfaces between systems</a:t>
            </a:r>
          </a:p>
          <a:p>
            <a:pPr lvl="1"/>
            <a:r>
              <a:rPr lang="en-GB" altLang="en-US" dirty="0">
                <a:ea typeface="ＭＳ Ｐゴシック" panose="020B0600070205080204" pitchFamily="50" charset="-128"/>
              </a:rPr>
              <a:t>Component integration test:</a:t>
            </a:r>
          </a:p>
          <a:p>
            <a:pPr lvl="2" indent="0">
              <a:buNone/>
            </a:pPr>
            <a:r>
              <a:rPr lang="en-GB" altLang="en-US" dirty="0">
                <a:ea typeface="ＭＳ Ｐゴシック" panose="020B0600070205080204" pitchFamily="50" charset="-128"/>
              </a:rPr>
              <a:t>Tests the interactions between software components and is done after component testing</a:t>
            </a:r>
          </a:p>
          <a:p>
            <a:pPr lvl="1"/>
            <a:r>
              <a:rPr lang="en-GB" altLang="en-US" dirty="0">
                <a:ea typeface="ＭＳ Ｐゴシック" panose="020B0600070205080204" pitchFamily="50" charset="-128"/>
              </a:rPr>
              <a:t>System integration test: </a:t>
            </a:r>
          </a:p>
          <a:p>
            <a:pPr lvl="2" indent="0">
              <a:buNone/>
            </a:pPr>
            <a:r>
              <a:rPr lang="en-GB" altLang="en-US" dirty="0"/>
              <a:t>Tests the interactions between different systems and may be done after system testing</a:t>
            </a:r>
          </a:p>
          <a:p>
            <a:pPr>
              <a:defRPr/>
            </a:pPr>
            <a:r>
              <a:rPr lang="en-GB" dirty="0"/>
              <a:t>Done by: </a:t>
            </a:r>
            <a:r>
              <a:rPr lang="en-US" dirty="0"/>
              <a:t>carried out by the developers, but preferably by a specialist integration testers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47</a:t>
            </a:fld>
            <a:endParaRPr lang="en-US"/>
          </a:p>
        </p:txBody>
      </p:sp>
    </p:spTree>
    <p:extLst>
      <p:ext uri="{BB962C8B-B14F-4D97-AF65-F5344CB8AC3E}">
        <p14:creationId xmlns:p14="http://schemas.microsoft.com/office/powerpoint/2010/main" val="3650203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3.3.	Test levels</a:t>
            </a:r>
            <a:br>
              <a:rPr lang="en-US"/>
            </a:br>
            <a:r>
              <a:rPr lang="en-US"/>
              <a:t>Integration test (cont.)</a:t>
            </a:r>
          </a:p>
        </p:txBody>
      </p:sp>
      <p:sp>
        <p:nvSpPr>
          <p:cNvPr id="3" name="Content Placeholder 2"/>
          <p:cNvSpPr>
            <a:spLocks noGrp="1"/>
          </p:cNvSpPr>
          <p:nvPr>
            <p:ph idx="1"/>
          </p:nvPr>
        </p:nvSpPr>
        <p:spPr/>
        <p:txBody>
          <a:bodyPr>
            <a:normAutofit fontScale="92500" lnSpcReduction="10000"/>
          </a:bodyPr>
          <a:lstStyle/>
          <a:p>
            <a:r>
              <a:rPr lang="en-US" dirty="0"/>
              <a:t>Test basis:</a:t>
            </a:r>
          </a:p>
          <a:p>
            <a:pPr lvl="1"/>
            <a:r>
              <a:rPr lang="en-US" dirty="0"/>
              <a:t>software and system design</a:t>
            </a:r>
          </a:p>
          <a:p>
            <a:pPr lvl="1"/>
            <a:r>
              <a:rPr lang="en-US" dirty="0"/>
              <a:t>architecture</a:t>
            </a:r>
          </a:p>
          <a:p>
            <a:pPr lvl="1"/>
            <a:r>
              <a:rPr lang="en-US" dirty="0"/>
              <a:t>workflows</a:t>
            </a:r>
          </a:p>
          <a:p>
            <a:pPr lvl="1"/>
            <a:r>
              <a:rPr lang="en-US" dirty="0"/>
              <a:t>use cases</a:t>
            </a:r>
          </a:p>
          <a:p>
            <a:r>
              <a:rPr lang="en-GB" altLang="en-US" dirty="0">
                <a:ea typeface="ＭＳ Ｐゴシック" panose="020B0600070205080204" pitchFamily="50" charset="-128"/>
              </a:rPr>
              <a:t>Integration test may include:</a:t>
            </a:r>
          </a:p>
          <a:p>
            <a:pPr lvl="1"/>
            <a:r>
              <a:rPr lang="en-GB" altLang="en-US" dirty="0">
                <a:ea typeface="ＭＳ Ｐゴシック" panose="020B0600070205080204" pitchFamily="50" charset="-128"/>
              </a:rPr>
              <a:t>Testing of functionality</a:t>
            </a:r>
          </a:p>
          <a:p>
            <a:pPr lvl="1"/>
            <a:r>
              <a:rPr lang="en-GB" altLang="en-US" dirty="0">
                <a:ea typeface="ＭＳ Ｐゴシック" panose="020B0600070205080204" pitchFamily="50" charset="-128"/>
              </a:rPr>
              <a:t>Testing of specific non-functional characteristics (e.g. performance)</a:t>
            </a:r>
          </a:p>
          <a:p>
            <a:pPr lvl="1"/>
            <a:r>
              <a:rPr lang="en-GB" altLang="en-US" dirty="0">
                <a:ea typeface="ＭＳ Ｐゴシック" panose="020B0600070205080204" pitchFamily="50" charset="-128"/>
              </a:rPr>
              <a:t>Structural testing (Structure-based techniques)</a:t>
            </a:r>
          </a:p>
          <a:p>
            <a:r>
              <a:rPr lang="en-GB" dirty="0"/>
              <a:t>Integration strategy: </a:t>
            </a:r>
            <a:r>
              <a:rPr lang="en-GB" b="1" dirty="0"/>
              <a:t>Big-bang</a:t>
            </a:r>
            <a:r>
              <a:rPr lang="en-GB" dirty="0"/>
              <a:t> vs </a:t>
            </a:r>
            <a:r>
              <a:rPr lang="en-GB" b="1" dirty="0"/>
              <a:t>Incremental</a:t>
            </a:r>
            <a:r>
              <a:rPr lang="en-GB" dirty="0"/>
              <a:t> (Top-down, Bottom-up, Functional)</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48</a:t>
            </a:fld>
            <a:endParaRPr lang="en-US"/>
          </a:p>
        </p:txBody>
      </p:sp>
    </p:spTree>
    <p:extLst>
      <p:ext uri="{BB962C8B-B14F-4D97-AF65-F5344CB8AC3E}">
        <p14:creationId xmlns:p14="http://schemas.microsoft.com/office/powerpoint/2010/main" val="4126392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p:txBody>
          <a:bodyPr>
            <a:normAutofit fontScale="90000"/>
          </a:bodyPr>
          <a:lstStyle/>
          <a:p>
            <a:r>
              <a:rPr lang="en-US" dirty="0"/>
              <a:t>3.3.	Test levels</a:t>
            </a:r>
            <a:br>
              <a:rPr lang="en-US" dirty="0"/>
            </a:br>
            <a:r>
              <a:rPr lang="en-US" dirty="0"/>
              <a:t>Integration test – </a:t>
            </a:r>
            <a:r>
              <a:rPr lang="en-GB" dirty="0"/>
              <a:t>Big-bang </a:t>
            </a:r>
          </a:p>
        </p:txBody>
      </p:sp>
      <p:sp>
        <p:nvSpPr>
          <p:cNvPr id="293891" name="Rectangle 3"/>
          <p:cNvSpPr>
            <a:spLocks noGrp="1" noChangeArrowheads="1"/>
          </p:cNvSpPr>
          <p:nvPr>
            <p:ph type="body" idx="1"/>
          </p:nvPr>
        </p:nvSpPr>
        <p:spPr/>
        <p:txBody>
          <a:bodyPr>
            <a:normAutofit lnSpcReduction="10000"/>
          </a:bodyPr>
          <a:lstStyle/>
          <a:p>
            <a:r>
              <a:rPr lang="en-GB" dirty="0"/>
              <a:t>Strategy</a:t>
            </a:r>
          </a:p>
          <a:p>
            <a:pPr lvl="1"/>
            <a:r>
              <a:rPr lang="en-US" dirty="0"/>
              <a:t>all tested components or systems are </a:t>
            </a:r>
            <a:r>
              <a:rPr lang="en-US" b="1" dirty="0"/>
              <a:t>integrated simultaneously</a:t>
            </a:r>
            <a:r>
              <a:rPr lang="en-US" dirty="0"/>
              <a:t>, after which everything is tested as a whole</a:t>
            </a:r>
          </a:p>
          <a:p>
            <a:r>
              <a:rPr lang="en-GB" dirty="0"/>
              <a:t>Advantage</a:t>
            </a:r>
          </a:p>
          <a:p>
            <a:pPr lvl="1"/>
            <a:r>
              <a:rPr lang="en-US" dirty="0"/>
              <a:t>everything is finished before integration testing starts</a:t>
            </a:r>
            <a:endParaRPr lang="en-GB" dirty="0"/>
          </a:p>
          <a:p>
            <a:pPr lvl="1"/>
            <a:r>
              <a:rPr lang="en-GB" dirty="0"/>
              <a:t>no need to simulate</a:t>
            </a:r>
          </a:p>
          <a:p>
            <a:r>
              <a:rPr lang="en-GB" dirty="0"/>
              <a:t>Disadvantage</a:t>
            </a:r>
          </a:p>
          <a:p>
            <a:pPr lvl="1"/>
            <a:r>
              <a:rPr lang="en-US" dirty="0"/>
              <a:t>it is </a:t>
            </a:r>
            <a:r>
              <a:rPr lang="en-US" b="1" dirty="0"/>
              <a:t>time-consuming</a:t>
            </a:r>
            <a:r>
              <a:rPr lang="en-US" dirty="0"/>
              <a:t> and </a:t>
            </a:r>
            <a:r>
              <a:rPr lang="en-US" b="1" dirty="0"/>
              <a:t>difficult to trace the cause of failures</a:t>
            </a:r>
            <a:endParaRPr lang="en-GB" dirty="0"/>
          </a:p>
          <a:p>
            <a:pPr lvl="2"/>
            <a:r>
              <a:rPr lang="en-GB" dirty="0"/>
              <a:t>takes longer to</a:t>
            </a:r>
            <a:r>
              <a:rPr lang="en-GB" b="1" dirty="0"/>
              <a:t> locate </a:t>
            </a:r>
            <a:r>
              <a:rPr lang="en-GB" dirty="0"/>
              <a:t>and</a:t>
            </a:r>
            <a:r>
              <a:rPr lang="en-GB" b="1" dirty="0"/>
              <a:t> fix faults</a:t>
            </a:r>
          </a:p>
          <a:p>
            <a:pPr lvl="2"/>
            <a:r>
              <a:rPr lang="en-GB" b="1" dirty="0"/>
              <a:t>re-testing</a:t>
            </a:r>
            <a:r>
              <a:rPr lang="en-GB" dirty="0"/>
              <a:t> after fixes </a:t>
            </a:r>
            <a:r>
              <a:rPr lang="en-GB" b="1" dirty="0"/>
              <a:t>more extensive</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49</a:t>
            </a:fld>
            <a:endParaRPr lang="en-US"/>
          </a:p>
        </p:txBody>
      </p:sp>
    </p:spTree>
    <p:extLst>
      <p:ext uri="{BB962C8B-B14F-4D97-AF65-F5344CB8AC3E}">
        <p14:creationId xmlns:p14="http://schemas.microsoft.com/office/powerpoint/2010/main" val="13717194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050"/>
          <p:cNvSpPr>
            <a:spLocks noGrp="1" noChangeArrowheads="1"/>
          </p:cNvSpPr>
          <p:nvPr>
            <p:ph type="title"/>
          </p:nvPr>
        </p:nvSpPr>
        <p:spPr/>
        <p:txBody>
          <a:bodyPr>
            <a:normAutofit fontScale="90000"/>
          </a:bodyPr>
          <a:lstStyle/>
          <a:p>
            <a:r>
              <a:rPr lang="en-US" dirty="0"/>
              <a:t>3.3.	Test levels</a:t>
            </a:r>
            <a:br>
              <a:rPr lang="en-US" dirty="0"/>
            </a:br>
            <a:r>
              <a:rPr lang="en-US" dirty="0"/>
              <a:t>Integration test – </a:t>
            </a:r>
            <a:r>
              <a:rPr lang="en-GB" dirty="0"/>
              <a:t>Incremental </a:t>
            </a:r>
          </a:p>
        </p:txBody>
      </p:sp>
      <p:sp>
        <p:nvSpPr>
          <p:cNvPr id="295939" name="Rectangle 2051"/>
          <p:cNvSpPr>
            <a:spLocks noGrp="1" noChangeArrowheads="1"/>
          </p:cNvSpPr>
          <p:nvPr>
            <p:ph type="body" idx="1"/>
          </p:nvPr>
        </p:nvSpPr>
        <p:spPr/>
        <p:txBody>
          <a:bodyPr>
            <a:normAutofit lnSpcReduction="10000"/>
          </a:bodyPr>
          <a:lstStyle/>
          <a:p>
            <a:r>
              <a:rPr lang="en-GB" dirty="0"/>
              <a:t>Strategy</a:t>
            </a:r>
          </a:p>
          <a:p>
            <a:pPr lvl="1"/>
            <a:r>
              <a:rPr lang="en-GB" dirty="0"/>
              <a:t>all components are </a:t>
            </a:r>
            <a:r>
              <a:rPr lang="en-GB" b="1" dirty="0"/>
              <a:t>integrated one by one</a:t>
            </a:r>
            <a:r>
              <a:rPr lang="en-GB" dirty="0"/>
              <a:t>, and a test is carried out </a:t>
            </a:r>
            <a:r>
              <a:rPr lang="en-GB" b="1" dirty="0"/>
              <a:t>after each step</a:t>
            </a:r>
          </a:p>
          <a:p>
            <a:pPr lvl="2"/>
            <a:r>
              <a:rPr lang="en-GB" dirty="0"/>
              <a:t>Baseline 0: tested component</a:t>
            </a:r>
          </a:p>
          <a:p>
            <a:pPr lvl="2"/>
            <a:r>
              <a:rPr lang="en-GB" dirty="0"/>
              <a:t>Baseline 1: two components</a:t>
            </a:r>
          </a:p>
          <a:p>
            <a:pPr lvl="2"/>
            <a:r>
              <a:rPr lang="en-GB" dirty="0"/>
              <a:t>Baseline 2: three components, etc.</a:t>
            </a:r>
          </a:p>
          <a:p>
            <a:r>
              <a:rPr lang="en-GB" dirty="0"/>
              <a:t>Advantages</a:t>
            </a:r>
          </a:p>
          <a:p>
            <a:pPr lvl="1"/>
            <a:r>
              <a:rPr lang="en-US" b="1" dirty="0"/>
              <a:t>defects are found early </a:t>
            </a:r>
            <a:r>
              <a:rPr lang="en-US" dirty="0"/>
              <a:t>in a smaller assembly</a:t>
            </a:r>
          </a:p>
          <a:p>
            <a:pPr lvl="1"/>
            <a:r>
              <a:rPr lang="en-US" dirty="0"/>
              <a:t>relatively easy to detect the cause</a:t>
            </a:r>
          </a:p>
          <a:p>
            <a:r>
              <a:rPr lang="en-GB" dirty="0"/>
              <a:t>Disadvantage</a:t>
            </a:r>
          </a:p>
          <a:p>
            <a:pPr lvl="1"/>
            <a:r>
              <a:rPr lang="en-GB" dirty="0"/>
              <a:t>time-consuming to develop </a:t>
            </a:r>
            <a:r>
              <a:rPr lang="en-GB" b="1" dirty="0"/>
              <a:t>stubs</a:t>
            </a:r>
            <a:r>
              <a:rPr lang="en-GB" dirty="0"/>
              <a:t> and </a:t>
            </a:r>
            <a:r>
              <a:rPr lang="en-GB" b="1" dirty="0"/>
              <a:t>drivers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50</a:t>
            </a:fld>
            <a:endParaRPr lang="en-US"/>
          </a:p>
        </p:txBody>
      </p:sp>
    </p:spTree>
    <p:extLst>
      <p:ext uri="{BB962C8B-B14F-4D97-AF65-F5344CB8AC3E}">
        <p14:creationId xmlns:p14="http://schemas.microsoft.com/office/powerpoint/2010/main" val="188859765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3.3.	Test levels</a:t>
            </a:r>
            <a:br>
              <a:rPr lang="en-US" dirty="0"/>
            </a:br>
            <a:r>
              <a:rPr lang="en-US" dirty="0"/>
              <a:t>Integration test – </a:t>
            </a:r>
            <a:r>
              <a:rPr lang="en-GB" dirty="0"/>
              <a:t>Incremental (cont.)</a:t>
            </a:r>
            <a:endParaRPr lang="en-US" dirty="0"/>
          </a:p>
        </p:txBody>
      </p:sp>
      <p:sp>
        <p:nvSpPr>
          <p:cNvPr id="3" name="Content Placeholder 2"/>
          <p:cNvSpPr>
            <a:spLocks noGrp="1"/>
          </p:cNvSpPr>
          <p:nvPr>
            <p:ph idx="1"/>
          </p:nvPr>
        </p:nvSpPr>
        <p:spPr/>
        <p:txBody>
          <a:bodyPr/>
          <a:lstStyle/>
          <a:p>
            <a:r>
              <a:rPr lang="en-GB" dirty="0"/>
              <a:t>Stub replaces a </a:t>
            </a:r>
            <a:r>
              <a:rPr lang="en-GB" b="1" dirty="0"/>
              <a:t>called component</a:t>
            </a:r>
            <a:r>
              <a:rPr lang="en-GB" dirty="0"/>
              <a:t> for integration testing</a:t>
            </a:r>
          </a:p>
          <a:p>
            <a:r>
              <a:rPr lang="en-US" dirty="0"/>
              <a:t>For example: if we have modules X, Y, Z (X calls functions from Y and Z)</a:t>
            </a:r>
            <a:br>
              <a:rPr lang="en-US" dirty="0"/>
            </a:br>
            <a:br>
              <a:rPr lang="en-US" dirty="0"/>
            </a:br>
            <a:endParaRPr lang="en-US" dirty="0"/>
          </a:p>
          <a:p>
            <a:endParaRPr lang="en-US" b="1" dirty="0"/>
          </a:p>
          <a:p>
            <a:endParaRPr lang="en-US" b="1" dirty="0"/>
          </a:p>
        </p:txBody>
      </p:sp>
      <p:sp>
        <p:nvSpPr>
          <p:cNvPr id="5" name="Line 2114"/>
          <p:cNvSpPr>
            <a:spLocks noChangeShapeType="1"/>
          </p:cNvSpPr>
          <p:nvPr/>
        </p:nvSpPr>
        <p:spPr bwMode="blackGray">
          <a:xfrm flipH="1">
            <a:off x="2619377" y="3606258"/>
            <a:ext cx="709420" cy="424782"/>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6" name="Line 2115"/>
          <p:cNvSpPr>
            <a:spLocks noChangeShapeType="1"/>
          </p:cNvSpPr>
          <p:nvPr/>
        </p:nvSpPr>
        <p:spPr bwMode="blackGray">
          <a:xfrm>
            <a:off x="3940259" y="3599039"/>
            <a:ext cx="685800" cy="517525"/>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7" name="Rectangle 2117"/>
          <p:cNvSpPr>
            <a:spLocks noChangeArrowheads="1"/>
          </p:cNvSpPr>
          <p:nvPr/>
        </p:nvSpPr>
        <p:spPr bwMode="blackGray">
          <a:xfrm>
            <a:off x="3194362" y="3117755"/>
            <a:ext cx="843257"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X</a:t>
            </a:r>
          </a:p>
        </p:txBody>
      </p:sp>
      <p:sp>
        <p:nvSpPr>
          <p:cNvPr id="8" name="Rectangle 2118"/>
          <p:cNvSpPr>
            <a:spLocks noChangeArrowheads="1"/>
          </p:cNvSpPr>
          <p:nvPr/>
        </p:nvSpPr>
        <p:spPr bwMode="blackGray">
          <a:xfrm>
            <a:off x="2261998" y="4031040"/>
            <a:ext cx="787473"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Y</a:t>
            </a:r>
          </a:p>
        </p:txBody>
      </p:sp>
      <p:sp>
        <p:nvSpPr>
          <p:cNvPr id="9" name="Rectangle 2119"/>
          <p:cNvSpPr>
            <a:spLocks noChangeArrowheads="1"/>
          </p:cNvSpPr>
          <p:nvPr/>
        </p:nvSpPr>
        <p:spPr bwMode="blackGray">
          <a:xfrm>
            <a:off x="4166998" y="4030991"/>
            <a:ext cx="774345"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Z</a:t>
            </a:r>
          </a:p>
        </p:txBody>
      </p:sp>
      <p:sp>
        <p:nvSpPr>
          <p:cNvPr id="10" name="Rectangle 9"/>
          <p:cNvSpPr/>
          <p:nvPr/>
        </p:nvSpPr>
        <p:spPr>
          <a:xfrm>
            <a:off x="5283039" y="3144593"/>
            <a:ext cx="3380541" cy="461665"/>
          </a:xfrm>
          <a:prstGeom prst="rect">
            <a:avLst/>
          </a:prstGeom>
        </p:spPr>
        <p:txBody>
          <a:bodyPr wrap="none">
            <a:spAutoFit/>
          </a:bodyPr>
          <a:lstStyle/>
          <a:p>
            <a:r>
              <a:rPr lang="en-US" sz="2400" dirty="0"/>
              <a:t>X is </a:t>
            </a:r>
            <a:r>
              <a:rPr lang="en-US" sz="2400" b="1" dirty="0"/>
              <a:t>ready</a:t>
            </a:r>
            <a:r>
              <a:rPr lang="en-US" sz="2400" dirty="0"/>
              <a:t> </a:t>
            </a:r>
            <a:r>
              <a:rPr lang="en-US" sz="2400" b="1" dirty="0"/>
              <a:t>to be tested</a:t>
            </a:r>
          </a:p>
        </p:txBody>
      </p:sp>
      <p:sp>
        <p:nvSpPr>
          <p:cNvPr id="11" name="Rectangle 10"/>
          <p:cNvSpPr/>
          <p:nvPr/>
        </p:nvSpPr>
        <p:spPr>
          <a:xfrm>
            <a:off x="5283039" y="4144971"/>
            <a:ext cx="3164200" cy="461665"/>
          </a:xfrm>
          <a:prstGeom prst="rect">
            <a:avLst/>
          </a:prstGeom>
        </p:spPr>
        <p:txBody>
          <a:bodyPr wrap="none">
            <a:spAutoFit/>
          </a:bodyPr>
          <a:lstStyle/>
          <a:p>
            <a:r>
              <a:rPr lang="en-US" sz="2400"/>
              <a:t>Y and Z are </a:t>
            </a:r>
            <a:r>
              <a:rPr lang="en-US" sz="2400" b="1"/>
              <a:t>not ready</a:t>
            </a:r>
          </a:p>
        </p:txBody>
      </p:sp>
      <p:sp>
        <p:nvSpPr>
          <p:cNvPr id="12" name="Rectangle 2118"/>
          <p:cNvSpPr>
            <a:spLocks noChangeArrowheads="1"/>
          </p:cNvSpPr>
          <p:nvPr/>
        </p:nvSpPr>
        <p:spPr bwMode="blackGray">
          <a:xfrm>
            <a:off x="2268421" y="4030991"/>
            <a:ext cx="787473"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stub Y</a:t>
            </a:r>
          </a:p>
        </p:txBody>
      </p:sp>
      <p:sp>
        <p:nvSpPr>
          <p:cNvPr id="13" name="Rectangle 2119"/>
          <p:cNvSpPr>
            <a:spLocks noChangeArrowheads="1"/>
          </p:cNvSpPr>
          <p:nvPr/>
        </p:nvSpPr>
        <p:spPr bwMode="blackGray">
          <a:xfrm>
            <a:off x="4166998" y="4030991"/>
            <a:ext cx="774345"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stub Z</a:t>
            </a:r>
          </a:p>
        </p:txBody>
      </p:sp>
      <p:sp>
        <p:nvSpPr>
          <p:cNvPr id="14" name="Rectangle 13"/>
          <p:cNvSpPr/>
          <p:nvPr/>
        </p:nvSpPr>
        <p:spPr>
          <a:xfrm>
            <a:off x="609600" y="4643735"/>
            <a:ext cx="8053980" cy="461665"/>
          </a:xfrm>
          <a:prstGeom prst="rect">
            <a:avLst/>
          </a:prstGeom>
        </p:spPr>
        <p:txBody>
          <a:bodyPr wrap="square">
            <a:spAutoFit/>
          </a:bodyPr>
          <a:lstStyle/>
          <a:p>
            <a:r>
              <a:rPr lang="en-US" sz="2400" b="1" dirty="0">
                <a:solidFill>
                  <a:srgbClr val="002060"/>
                </a:solidFill>
              </a:rPr>
              <a:t>write stubs to simulate Y and Z </a:t>
            </a:r>
            <a:r>
              <a:rPr lang="en-US" sz="2400" dirty="0">
                <a:solidFill>
                  <a:srgbClr val="002060"/>
                </a:solidFill>
              </a:rPr>
              <a:t>to return values for X</a:t>
            </a:r>
          </a:p>
        </p:txBody>
      </p:sp>
      <p:sp>
        <p:nvSpPr>
          <p:cNvPr id="15" name="Slide Number Placeholder 14"/>
          <p:cNvSpPr>
            <a:spLocks noGrp="1"/>
          </p:cNvSpPr>
          <p:nvPr>
            <p:ph type="sldNum" sz="quarter" idx="12"/>
          </p:nvPr>
        </p:nvSpPr>
        <p:spPr/>
        <p:txBody>
          <a:bodyPr/>
          <a:lstStyle/>
          <a:p>
            <a:r>
              <a:rPr lang="en-US"/>
              <a:t>Slide </a:t>
            </a:r>
            <a:fld id="{3900DC13-0C25-439E-AA75-E5DAAC4C3713}" type="slidenum">
              <a:rPr lang="en-US" smtClean="0"/>
              <a:pPr/>
              <a:t>51</a:t>
            </a:fld>
            <a:endParaRPr lang="en-US"/>
          </a:p>
        </p:txBody>
      </p:sp>
      <p:sp>
        <p:nvSpPr>
          <p:cNvPr id="4" name="Rectangle 3"/>
          <p:cNvSpPr/>
          <p:nvPr/>
        </p:nvSpPr>
        <p:spPr>
          <a:xfrm>
            <a:off x="593586" y="5181600"/>
            <a:ext cx="7488916" cy="1323439"/>
          </a:xfrm>
          <a:prstGeom prst="rect">
            <a:avLst/>
          </a:prstGeom>
        </p:spPr>
        <p:txBody>
          <a:bodyPr wrap="square">
            <a:spAutoFit/>
          </a:bodyPr>
          <a:lstStyle/>
          <a:p>
            <a:r>
              <a:rPr lang="en-US" sz="2000" dirty="0"/>
              <a:t>public int </a:t>
            </a:r>
            <a:r>
              <a:rPr lang="en-US" sz="2000" dirty="0" err="1"/>
              <a:t>generateRandInt</a:t>
            </a:r>
            <a:r>
              <a:rPr lang="en-US" sz="2000" dirty="0"/>
              <a:t>()</a:t>
            </a:r>
          </a:p>
          <a:p>
            <a:r>
              <a:rPr lang="en-US" sz="2000" dirty="0"/>
              <a:t>{</a:t>
            </a:r>
          </a:p>
          <a:p>
            <a:r>
              <a:rPr lang="en-US" sz="2000" dirty="0"/>
              <a:t>     return 1; // eventually need to return a random integer 1..100</a:t>
            </a:r>
          </a:p>
          <a:p>
            <a:r>
              <a:rPr lang="en-US" sz="2000" dirty="0"/>
              <a:t>}</a:t>
            </a:r>
          </a:p>
        </p:txBody>
      </p:sp>
    </p:spTree>
    <p:extLst>
      <p:ext uri="{BB962C8B-B14F-4D97-AF65-F5344CB8AC3E}">
        <p14:creationId xmlns:p14="http://schemas.microsoft.com/office/powerpoint/2010/main" val="2731477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3074"/>
          <p:cNvSpPr>
            <a:spLocks noGrp="1" noChangeArrowheads="1"/>
          </p:cNvSpPr>
          <p:nvPr>
            <p:ph type="title"/>
          </p:nvPr>
        </p:nvSpPr>
        <p:spPr/>
        <p:txBody>
          <a:bodyPr>
            <a:normAutofit fontScale="90000"/>
          </a:bodyPr>
          <a:lstStyle/>
          <a:p>
            <a:r>
              <a:rPr lang="en-US"/>
              <a:t>3.3.	Test levels</a:t>
            </a:r>
            <a:br>
              <a:rPr lang="en-US"/>
            </a:br>
            <a:r>
              <a:rPr lang="en-US"/>
              <a:t>Integration test – </a:t>
            </a:r>
            <a:r>
              <a:rPr lang="en-GB"/>
              <a:t>Incremental (cont.)</a:t>
            </a:r>
          </a:p>
        </p:txBody>
      </p:sp>
      <p:sp>
        <p:nvSpPr>
          <p:cNvPr id="309251" name="Rectangle 3075"/>
          <p:cNvSpPr>
            <a:spLocks noGrp="1" noChangeArrowheads="1"/>
          </p:cNvSpPr>
          <p:nvPr>
            <p:ph type="body" idx="1"/>
          </p:nvPr>
        </p:nvSpPr>
        <p:spPr/>
        <p:txBody>
          <a:bodyPr/>
          <a:lstStyle/>
          <a:p>
            <a:r>
              <a:rPr lang="en-GB" dirty="0"/>
              <a:t>Driver which </a:t>
            </a:r>
            <a:r>
              <a:rPr lang="en-US" b="1" dirty="0"/>
              <a:t>calls a component </a:t>
            </a:r>
            <a:r>
              <a:rPr lang="en-US" dirty="0"/>
              <a:t>to be tested </a:t>
            </a:r>
          </a:p>
          <a:p>
            <a:r>
              <a:rPr lang="en-US" dirty="0"/>
              <a:t>For example: if we have modules X, Y, Z, and we need to test Y and Z modules</a:t>
            </a:r>
            <a:br>
              <a:rPr lang="en-US" dirty="0"/>
            </a:br>
            <a:endParaRPr lang="en-US" dirty="0"/>
          </a:p>
          <a:p>
            <a:endParaRPr lang="en-GB" dirty="0"/>
          </a:p>
        </p:txBody>
      </p:sp>
      <p:sp>
        <p:nvSpPr>
          <p:cNvPr id="5" name="Line 2114"/>
          <p:cNvSpPr>
            <a:spLocks noChangeShapeType="1"/>
          </p:cNvSpPr>
          <p:nvPr/>
        </p:nvSpPr>
        <p:spPr bwMode="blackGray">
          <a:xfrm flipH="1">
            <a:off x="1347979" y="3879130"/>
            <a:ext cx="709420" cy="424782"/>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6" name="Line 2115"/>
          <p:cNvSpPr>
            <a:spLocks noChangeShapeType="1"/>
          </p:cNvSpPr>
          <p:nvPr/>
        </p:nvSpPr>
        <p:spPr bwMode="blackGray">
          <a:xfrm>
            <a:off x="2668861" y="3871911"/>
            <a:ext cx="685800" cy="517525"/>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7" name="Rectangle 2117"/>
          <p:cNvSpPr>
            <a:spLocks noChangeArrowheads="1"/>
          </p:cNvSpPr>
          <p:nvPr/>
        </p:nvSpPr>
        <p:spPr bwMode="blackGray">
          <a:xfrm>
            <a:off x="1922964" y="3390627"/>
            <a:ext cx="843257"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X</a:t>
            </a:r>
          </a:p>
        </p:txBody>
      </p:sp>
      <p:sp>
        <p:nvSpPr>
          <p:cNvPr id="8" name="Rectangle 2118"/>
          <p:cNvSpPr>
            <a:spLocks noChangeArrowheads="1"/>
          </p:cNvSpPr>
          <p:nvPr/>
        </p:nvSpPr>
        <p:spPr bwMode="blackGray">
          <a:xfrm>
            <a:off x="990600" y="4303912"/>
            <a:ext cx="787473"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Y</a:t>
            </a:r>
          </a:p>
        </p:txBody>
      </p:sp>
      <p:sp>
        <p:nvSpPr>
          <p:cNvPr id="9" name="Rectangle 2119"/>
          <p:cNvSpPr>
            <a:spLocks noChangeArrowheads="1"/>
          </p:cNvSpPr>
          <p:nvPr/>
        </p:nvSpPr>
        <p:spPr bwMode="blackGray">
          <a:xfrm>
            <a:off x="2868268" y="4303863"/>
            <a:ext cx="774345" cy="572937"/>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Z</a:t>
            </a:r>
          </a:p>
        </p:txBody>
      </p:sp>
      <p:sp>
        <p:nvSpPr>
          <p:cNvPr id="10" name="Rectangle 9"/>
          <p:cNvSpPr/>
          <p:nvPr/>
        </p:nvSpPr>
        <p:spPr>
          <a:xfrm>
            <a:off x="4011641" y="3417465"/>
            <a:ext cx="2191626" cy="461665"/>
          </a:xfrm>
          <a:prstGeom prst="rect">
            <a:avLst/>
          </a:prstGeom>
        </p:spPr>
        <p:txBody>
          <a:bodyPr wrap="none">
            <a:spAutoFit/>
          </a:bodyPr>
          <a:lstStyle/>
          <a:p>
            <a:r>
              <a:rPr lang="en-US" sz="2400"/>
              <a:t>X is </a:t>
            </a:r>
            <a:r>
              <a:rPr lang="en-US" sz="2400" b="1"/>
              <a:t>not ready</a:t>
            </a:r>
          </a:p>
        </p:txBody>
      </p:sp>
      <p:sp>
        <p:nvSpPr>
          <p:cNvPr id="11" name="Rectangle 10"/>
          <p:cNvSpPr/>
          <p:nvPr/>
        </p:nvSpPr>
        <p:spPr>
          <a:xfrm>
            <a:off x="4011641" y="4417843"/>
            <a:ext cx="4273157" cy="461665"/>
          </a:xfrm>
          <a:prstGeom prst="rect">
            <a:avLst/>
          </a:prstGeom>
        </p:spPr>
        <p:txBody>
          <a:bodyPr wrap="none">
            <a:spAutoFit/>
          </a:bodyPr>
          <a:lstStyle/>
          <a:p>
            <a:r>
              <a:rPr lang="en-US" sz="2400"/>
              <a:t>Y and Z are </a:t>
            </a:r>
            <a:r>
              <a:rPr lang="en-US" sz="2400" b="1"/>
              <a:t>ready to be tested</a:t>
            </a:r>
          </a:p>
        </p:txBody>
      </p:sp>
      <p:sp>
        <p:nvSpPr>
          <p:cNvPr id="14" name="Rectangle 13"/>
          <p:cNvSpPr/>
          <p:nvPr/>
        </p:nvSpPr>
        <p:spPr>
          <a:xfrm>
            <a:off x="761999" y="5211769"/>
            <a:ext cx="7332389" cy="461665"/>
          </a:xfrm>
          <a:prstGeom prst="rect">
            <a:avLst/>
          </a:prstGeom>
        </p:spPr>
        <p:txBody>
          <a:bodyPr wrap="square">
            <a:spAutoFit/>
          </a:bodyPr>
          <a:lstStyle/>
          <a:p>
            <a:r>
              <a:rPr lang="en-US" sz="2400" b="1">
                <a:solidFill>
                  <a:srgbClr val="002060"/>
                </a:solidFill>
              </a:rPr>
              <a:t>write driver for X</a:t>
            </a:r>
            <a:r>
              <a:rPr lang="en-US" sz="2400">
                <a:solidFill>
                  <a:srgbClr val="002060"/>
                </a:solidFill>
              </a:rPr>
              <a:t>, which returns values for Y and Z</a:t>
            </a:r>
          </a:p>
        </p:txBody>
      </p:sp>
      <p:sp>
        <p:nvSpPr>
          <p:cNvPr id="15" name="Rectangle 2117"/>
          <p:cNvSpPr>
            <a:spLocks noChangeArrowheads="1"/>
          </p:cNvSpPr>
          <p:nvPr/>
        </p:nvSpPr>
        <p:spPr bwMode="blackGray">
          <a:xfrm>
            <a:off x="1905000" y="3352800"/>
            <a:ext cx="936397" cy="610764"/>
          </a:xfrm>
          <a:prstGeom prst="rect">
            <a:avLst/>
          </a:prstGeom>
          <a:solidFill>
            <a:srgbClr val="92D050"/>
          </a:solidFill>
          <a:ln w="19050">
            <a:solidFill>
              <a:schemeClr val="tx1"/>
            </a:solidFill>
            <a:miter lim="800000"/>
            <a:headEnd/>
            <a:tailEnd/>
          </a:ln>
          <a:effectLst/>
        </p:spPr>
        <p:txBody>
          <a:bodyPr wrap="square" anchor="ctr">
            <a:noAutofit/>
          </a:bodyPr>
          <a:lstStyle/>
          <a:p>
            <a:pPr algn="ctr">
              <a:lnSpc>
                <a:spcPct val="85000"/>
              </a:lnSpc>
            </a:pPr>
            <a:r>
              <a:rPr lang="en-GB" sz="2000" b="1">
                <a:solidFill>
                  <a:srgbClr val="000000"/>
                </a:solidFill>
              </a:rPr>
              <a:t>driverX</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52</a:t>
            </a:fld>
            <a:endParaRPr lang="en-US"/>
          </a:p>
        </p:txBody>
      </p:sp>
    </p:spTree>
    <p:extLst>
      <p:ext uri="{BB962C8B-B14F-4D97-AF65-F5344CB8AC3E}">
        <p14:creationId xmlns:p14="http://schemas.microsoft.com/office/powerpoint/2010/main" val="229680394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3.3.	Test levels</a:t>
            </a:r>
            <a:br>
              <a:rPr lang="en-US" dirty="0"/>
            </a:br>
            <a:r>
              <a:rPr lang="en-US" dirty="0"/>
              <a:t>Integration test – </a:t>
            </a:r>
            <a:r>
              <a:rPr lang="en-GB" dirty="0"/>
              <a:t>Incremental (cont.)</a:t>
            </a:r>
            <a:endParaRPr lang="en-US" dirty="0"/>
          </a:p>
        </p:txBody>
      </p:sp>
      <p:sp>
        <p:nvSpPr>
          <p:cNvPr id="3" name="Content Placeholder 2"/>
          <p:cNvSpPr>
            <a:spLocks noGrp="1"/>
          </p:cNvSpPr>
          <p:nvPr>
            <p:ph idx="1"/>
          </p:nvPr>
        </p:nvSpPr>
        <p:spPr/>
        <p:txBody>
          <a:bodyPr/>
          <a:lstStyle/>
          <a:p>
            <a:r>
              <a:rPr lang="en-US" dirty="0"/>
              <a:t>Methods:</a:t>
            </a:r>
            <a:endParaRPr lang="en-GB" dirty="0"/>
          </a:p>
          <a:p>
            <a:pPr lvl="1"/>
            <a:r>
              <a:rPr lang="en-GB" b="1" dirty="0"/>
              <a:t>top-down</a:t>
            </a:r>
            <a:r>
              <a:rPr lang="en-GB" dirty="0"/>
              <a:t>: testing takes place from top to bottom, following the control flow or architectural structure (e.g. starting from the GUI or main menu)</a:t>
            </a:r>
          </a:p>
          <a:p>
            <a:pPr lvl="1"/>
            <a:r>
              <a:rPr lang="en-GB" b="1" dirty="0"/>
              <a:t>bottom-up</a:t>
            </a:r>
            <a:r>
              <a:rPr lang="en-GB" dirty="0"/>
              <a:t>: testing takes place from the bottom of the control flow upwards</a:t>
            </a:r>
          </a:p>
          <a:p>
            <a:pPr lvl="1"/>
            <a:r>
              <a:rPr lang="en-GB" b="1" dirty="0"/>
              <a:t>functional incremental</a:t>
            </a:r>
            <a:r>
              <a:rPr lang="en-GB" dirty="0"/>
              <a:t>: integration and testing </a:t>
            </a:r>
            <a:r>
              <a:rPr lang="en-GB" b="1" dirty="0"/>
              <a:t>takes place on the basis of the functions</a:t>
            </a:r>
            <a:r>
              <a:rPr lang="en-GB" dirty="0"/>
              <a:t>, as documented in the functional specification</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53</a:t>
            </a:fld>
            <a:endParaRPr lang="en-US"/>
          </a:p>
        </p:txBody>
      </p:sp>
    </p:spTree>
    <p:extLst>
      <p:ext uri="{BB962C8B-B14F-4D97-AF65-F5344CB8AC3E}">
        <p14:creationId xmlns:p14="http://schemas.microsoft.com/office/powerpoint/2010/main" val="24660223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018" name="Rectangle 2082"/>
          <p:cNvSpPr>
            <a:spLocks noGrp="1" noChangeArrowheads="1"/>
          </p:cNvSpPr>
          <p:nvPr>
            <p:ph type="body" idx="1"/>
          </p:nvPr>
        </p:nvSpPr>
        <p:spPr/>
        <p:txBody>
          <a:bodyPr/>
          <a:lstStyle/>
          <a:p>
            <a:r>
              <a:rPr lang="en-GB" dirty="0"/>
              <a:t>Baselines:</a:t>
            </a:r>
          </a:p>
          <a:p>
            <a:pPr lvl="1">
              <a:spcBef>
                <a:spcPct val="0"/>
              </a:spcBef>
            </a:pPr>
            <a:r>
              <a:rPr lang="en-GB" dirty="0"/>
              <a:t>baseline 0: component a</a:t>
            </a:r>
          </a:p>
          <a:p>
            <a:pPr lvl="1">
              <a:spcBef>
                <a:spcPct val="0"/>
              </a:spcBef>
            </a:pPr>
            <a:r>
              <a:rPr lang="en-GB" dirty="0"/>
              <a:t>baseline 1: a + b</a:t>
            </a:r>
          </a:p>
          <a:p>
            <a:pPr lvl="1">
              <a:spcBef>
                <a:spcPct val="0"/>
              </a:spcBef>
            </a:pPr>
            <a:r>
              <a:rPr lang="en-GB" dirty="0"/>
              <a:t>baseline 2: a + b + c</a:t>
            </a:r>
          </a:p>
          <a:p>
            <a:pPr lvl="1">
              <a:spcBef>
                <a:spcPct val="0"/>
              </a:spcBef>
            </a:pPr>
            <a:r>
              <a:rPr lang="en-GB" dirty="0">
                <a:solidFill>
                  <a:schemeClr val="hlink"/>
                </a:solidFill>
              </a:rPr>
              <a:t>baseline 3: a + b + c + d</a:t>
            </a:r>
            <a:endParaRPr lang="en-GB" dirty="0"/>
          </a:p>
          <a:p>
            <a:pPr lvl="1">
              <a:spcBef>
                <a:spcPct val="0"/>
              </a:spcBef>
            </a:pPr>
            <a:r>
              <a:rPr lang="en-GB" dirty="0"/>
              <a:t>etc.</a:t>
            </a:r>
          </a:p>
          <a:p>
            <a:r>
              <a:rPr lang="en-GB" dirty="0"/>
              <a:t>Need to call to lower</a:t>
            </a:r>
            <a:br>
              <a:rPr lang="en-GB" dirty="0"/>
            </a:br>
            <a:r>
              <a:rPr lang="en-GB" dirty="0"/>
              <a:t>level components not</a:t>
            </a:r>
            <a:br>
              <a:rPr lang="en-GB" dirty="0"/>
            </a:br>
            <a:r>
              <a:rPr lang="en-GB" dirty="0"/>
              <a:t>yet integrated</a:t>
            </a:r>
          </a:p>
          <a:p>
            <a:r>
              <a:rPr lang="en-GB" dirty="0">
                <a:solidFill>
                  <a:schemeClr val="accent2"/>
                </a:solidFill>
              </a:rPr>
              <a:t>Need stubs to replace a called </a:t>
            </a:r>
          </a:p>
          <a:p>
            <a:pPr marL="280988" indent="0">
              <a:buNone/>
            </a:pPr>
            <a:r>
              <a:rPr lang="en-GB" dirty="0">
                <a:solidFill>
                  <a:schemeClr val="accent2"/>
                </a:solidFill>
              </a:rPr>
              <a:t>component</a:t>
            </a:r>
          </a:p>
        </p:txBody>
      </p:sp>
      <p:sp>
        <p:nvSpPr>
          <p:cNvPr id="297986" name="AutoShape 2050"/>
          <p:cNvSpPr>
            <a:spLocks noChangeArrowheads="1"/>
          </p:cNvSpPr>
          <p:nvPr/>
        </p:nvSpPr>
        <p:spPr bwMode="ltGray">
          <a:xfrm>
            <a:off x="6189785" y="1752600"/>
            <a:ext cx="2039815" cy="2667000"/>
          </a:xfrm>
          <a:prstGeom prst="downArrow">
            <a:avLst>
              <a:gd name="adj1" fmla="val 50000"/>
              <a:gd name="adj2" fmla="val 30172"/>
            </a:avLst>
          </a:prstGeom>
          <a:solidFill>
            <a:srgbClr val="000000"/>
          </a:solidFill>
          <a:ln w="38100">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7" name="Rectangle 2081"/>
          <p:cNvSpPr>
            <a:spLocks noGrp="1" noChangeArrowheads="1"/>
          </p:cNvSpPr>
          <p:nvPr>
            <p:ph type="title"/>
          </p:nvPr>
        </p:nvSpPr>
        <p:spPr/>
        <p:txBody>
          <a:bodyPr>
            <a:normAutofit fontScale="90000"/>
          </a:bodyPr>
          <a:lstStyle/>
          <a:p>
            <a:r>
              <a:rPr lang="en-US" dirty="0"/>
              <a:t>3.3.	Test levels</a:t>
            </a:r>
            <a:br>
              <a:rPr lang="en-US" dirty="0"/>
            </a:br>
            <a:r>
              <a:rPr lang="en-US" dirty="0"/>
              <a:t>Integration test – </a:t>
            </a:r>
            <a:r>
              <a:rPr lang="en-GB" dirty="0"/>
              <a:t>Top-down 	</a:t>
            </a:r>
          </a:p>
        </p:txBody>
      </p:sp>
      <p:grpSp>
        <p:nvGrpSpPr>
          <p:cNvPr id="298066" name="Group 2130"/>
          <p:cNvGrpSpPr>
            <a:grpSpLocks/>
          </p:cNvGrpSpPr>
          <p:nvPr/>
        </p:nvGrpSpPr>
        <p:grpSpPr bwMode="auto">
          <a:xfrm>
            <a:off x="4878266" y="2252664"/>
            <a:ext cx="3941884" cy="3854450"/>
            <a:chOff x="3329" y="1419"/>
            <a:chExt cx="2690" cy="2428"/>
          </a:xfrm>
        </p:grpSpPr>
        <p:sp>
          <p:nvSpPr>
            <p:cNvPr id="298006" name="Line 2070"/>
            <p:cNvSpPr>
              <a:spLocks noChangeShapeType="1"/>
            </p:cNvSpPr>
            <p:nvPr/>
          </p:nvSpPr>
          <p:spPr bwMode="auto">
            <a:xfrm>
              <a:off x="4368" y="2119"/>
              <a:ext cx="144"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07" name="Line 2071"/>
            <p:cNvSpPr>
              <a:spLocks noChangeShapeType="1"/>
            </p:cNvSpPr>
            <p:nvPr/>
          </p:nvSpPr>
          <p:spPr bwMode="auto">
            <a:xfrm flipH="1">
              <a:off x="5104" y="2024"/>
              <a:ext cx="318" cy="42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08" name="Line 2072"/>
            <p:cNvSpPr>
              <a:spLocks noChangeShapeType="1"/>
            </p:cNvSpPr>
            <p:nvPr/>
          </p:nvSpPr>
          <p:spPr bwMode="auto">
            <a:xfrm>
              <a:off x="5416" y="2052"/>
              <a:ext cx="227" cy="3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09" name="Line 2073"/>
            <p:cNvSpPr>
              <a:spLocks noChangeShapeType="1"/>
            </p:cNvSpPr>
            <p:nvPr/>
          </p:nvSpPr>
          <p:spPr bwMode="auto">
            <a:xfrm flipH="1">
              <a:off x="5481" y="2666"/>
              <a:ext cx="180"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0" name="Line 2074"/>
            <p:cNvSpPr>
              <a:spLocks noChangeShapeType="1"/>
            </p:cNvSpPr>
            <p:nvPr/>
          </p:nvSpPr>
          <p:spPr bwMode="auto">
            <a:xfrm>
              <a:off x="5702" y="2599"/>
              <a:ext cx="156" cy="44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1" name="Line 2075"/>
            <p:cNvSpPr>
              <a:spLocks noChangeShapeType="1"/>
            </p:cNvSpPr>
            <p:nvPr/>
          </p:nvSpPr>
          <p:spPr bwMode="auto">
            <a:xfrm flipH="1">
              <a:off x="5050" y="2610"/>
              <a:ext cx="49" cy="3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2" name="Line 2076"/>
            <p:cNvSpPr>
              <a:spLocks noChangeShapeType="1"/>
            </p:cNvSpPr>
            <p:nvPr/>
          </p:nvSpPr>
          <p:spPr bwMode="auto">
            <a:xfrm flipH="1">
              <a:off x="3453" y="2582"/>
              <a:ext cx="442" cy="44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3" name="Line 2077"/>
            <p:cNvSpPr>
              <a:spLocks noChangeShapeType="1"/>
            </p:cNvSpPr>
            <p:nvPr/>
          </p:nvSpPr>
          <p:spPr bwMode="auto">
            <a:xfrm>
              <a:off x="3910" y="2666"/>
              <a:ext cx="0"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4" name="Line 2078"/>
            <p:cNvSpPr>
              <a:spLocks noChangeShapeType="1"/>
            </p:cNvSpPr>
            <p:nvPr/>
          </p:nvSpPr>
          <p:spPr bwMode="auto">
            <a:xfrm>
              <a:off x="3991" y="2666"/>
              <a:ext cx="403" cy="35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5" name="Line 2079"/>
            <p:cNvSpPr>
              <a:spLocks noChangeShapeType="1"/>
            </p:cNvSpPr>
            <p:nvPr/>
          </p:nvSpPr>
          <p:spPr bwMode="auto">
            <a:xfrm flipH="1">
              <a:off x="3780" y="3112"/>
              <a:ext cx="118" cy="49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16" name="Line 2080"/>
            <p:cNvSpPr>
              <a:spLocks noChangeShapeType="1"/>
            </p:cNvSpPr>
            <p:nvPr/>
          </p:nvSpPr>
          <p:spPr bwMode="auto">
            <a:xfrm>
              <a:off x="3918" y="3101"/>
              <a:ext cx="363" cy="52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03" name="Line 2067"/>
            <p:cNvSpPr>
              <a:spLocks noChangeShapeType="1"/>
            </p:cNvSpPr>
            <p:nvPr/>
          </p:nvSpPr>
          <p:spPr bwMode="auto">
            <a:xfrm flipH="1">
              <a:off x="4296" y="1587"/>
              <a:ext cx="587" cy="3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04" name="Line 2068"/>
            <p:cNvSpPr>
              <a:spLocks noChangeShapeType="1"/>
            </p:cNvSpPr>
            <p:nvPr/>
          </p:nvSpPr>
          <p:spPr bwMode="auto">
            <a:xfrm>
              <a:off x="4945" y="1588"/>
              <a:ext cx="468" cy="32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05" name="Line 2069"/>
            <p:cNvSpPr>
              <a:spLocks noChangeShapeType="1"/>
            </p:cNvSpPr>
            <p:nvPr/>
          </p:nvSpPr>
          <p:spPr bwMode="auto">
            <a:xfrm flipH="1">
              <a:off x="3865" y="2119"/>
              <a:ext cx="395"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297988" name="Rectangle 2052"/>
            <p:cNvSpPr>
              <a:spLocks noChangeArrowheads="1"/>
            </p:cNvSpPr>
            <p:nvPr/>
          </p:nvSpPr>
          <p:spPr bwMode="blackWhite">
            <a:xfrm>
              <a:off x="4796" y="1419"/>
              <a:ext cx="25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a</a:t>
              </a:r>
            </a:p>
          </p:txBody>
        </p:sp>
        <p:sp useBgFill="1">
          <p:nvSpPr>
            <p:cNvPr id="297989" name="Rectangle 2053"/>
            <p:cNvSpPr>
              <a:spLocks noChangeArrowheads="1"/>
            </p:cNvSpPr>
            <p:nvPr/>
          </p:nvSpPr>
          <p:spPr bwMode="blackWhite">
            <a:xfrm>
              <a:off x="4141" y="1867"/>
              <a:ext cx="275"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b</a:t>
              </a:r>
            </a:p>
          </p:txBody>
        </p:sp>
        <p:sp useBgFill="1">
          <p:nvSpPr>
            <p:cNvPr id="297990" name="Rectangle 2054"/>
            <p:cNvSpPr>
              <a:spLocks noChangeArrowheads="1"/>
            </p:cNvSpPr>
            <p:nvPr/>
          </p:nvSpPr>
          <p:spPr bwMode="blackWhite">
            <a:xfrm>
              <a:off x="5283" y="1862"/>
              <a:ext cx="253" cy="29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c</a:t>
              </a:r>
            </a:p>
          </p:txBody>
        </p:sp>
        <p:sp useBgFill="1">
          <p:nvSpPr>
            <p:cNvPr id="297993" name="Rectangle 2057"/>
            <p:cNvSpPr>
              <a:spLocks noChangeArrowheads="1"/>
            </p:cNvSpPr>
            <p:nvPr/>
          </p:nvSpPr>
          <p:spPr bwMode="blackWhite">
            <a:xfrm>
              <a:off x="3762" y="2414"/>
              <a:ext cx="278"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d</a:t>
              </a:r>
            </a:p>
          </p:txBody>
        </p:sp>
        <p:sp useBgFill="1">
          <p:nvSpPr>
            <p:cNvPr id="297994" name="Rectangle 2058"/>
            <p:cNvSpPr>
              <a:spLocks noChangeArrowheads="1"/>
            </p:cNvSpPr>
            <p:nvPr/>
          </p:nvSpPr>
          <p:spPr bwMode="blackWhite">
            <a:xfrm>
              <a:off x="4365" y="2414"/>
              <a:ext cx="25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e</a:t>
              </a:r>
            </a:p>
          </p:txBody>
        </p:sp>
        <p:sp useBgFill="1">
          <p:nvSpPr>
            <p:cNvPr id="297991" name="Rectangle 2055"/>
            <p:cNvSpPr>
              <a:spLocks noChangeArrowheads="1"/>
            </p:cNvSpPr>
            <p:nvPr/>
          </p:nvSpPr>
          <p:spPr bwMode="blackWhite">
            <a:xfrm>
              <a:off x="4980" y="2414"/>
              <a:ext cx="212"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f</a:t>
              </a:r>
            </a:p>
          </p:txBody>
        </p:sp>
        <p:sp useBgFill="1">
          <p:nvSpPr>
            <p:cNvPr id="297992" name="Rectangle 2056"/>
            <p:cNvSpPr>
              <a:spLocks noChangeArrowheads="1"/>
            </p:cNvSpPr>
            <p:nvPr/>
          </p:nvSpPr>
          <p:spPr bwMode="blackWhite">
            <a:xfrm>
              <a:off x="5546" y="2409"/>
              <a:ext cx="265" cy="29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g</a:t>
              </a:r>
            </a:p>
          </p:txBody>
        </p:sp>
        <p:sp useBgFill="1">
          <p:nvSpPr>
            <p:cNvPr id="297995" name="Rectangle 2059"/>
            <p:cNvSpPr>
              <a:spLocks noChangeArrowheads="1"/>
            </p:cNvSpPr>
            <p:nvPr/>
          </p:nvSpPr>
          <p:spPr bwMode="blackWhite">
            <a:xfrm>
              <a:off x="3329" y="2961"/>
              <a:ext cx="282"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h</a:t>
              </a:r>
            </a:p>
          </p:txBody>
        </p:sp>
        <p:sp useBgFill="1">
          <p:nvSpPr>
            <p:cNvPr id="297996" name="Rectangle 2060"/>
            <p:cNvSpPr>
              <a:spLocks noChangeArrowheads="1"/>
            </p:cNvSpPr>
            <p:nvPr/>
          </p:nvSpPr>
          <p:spPr bwMode="blackWhite">
            <a:xfrm>
              <a:off x="3798" y="2961"/>
              <a:ext cx="20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i</a:t>
              </a:r>
            </a:p>
          </p:txBody>
        </p:sp>
        <p:sp useBgFill="1">
          <p:nvSpPr>
            <p:cNvPr id="297997" name="Rectangle 2061"/>
            <p:cNvSpPr>
              <a:spLocks noChangeArrowheads="1"/>
            </p:cNvSpPr>
            <p:nvPr/>
          </p:nvSpPr>
          <p:spPr bwMode="blackWhite">
            <a:xfrm>
              <a:off x="4285" y="2961"/>
              <a:ext cx="203"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j</a:t>
              </a:r>
            </a:p>
          </p:txBody>
        </p:sp>
        <p:sp useBgFill="1">
          <p:nvSpPr>
            <p:cNvPr id="297998" name="Rectangle 2062"/>
            <p:cNvSpPr>
              <a:spLocks noChangeArrowheads="1"/>
            </p:cNvSpPr>
            <p:nvPr/>
          </p:nvSpPr>
          <p:spPr bwMode="blackWhite">
            <a:xfrm>
              <a:off x="4895" y="2961"/>
              <a:ext cx="276"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k</a:t>
              </a:r>
            </a:p>
          </p:txBody>
        </p:sp>
        <p:sp useBgFill="1">
          <p:nvSpPr>
            <p:cNvPr id="297999" name="Rectangle 2063"/>
            <p:cNvSpPr>
              <a:spLocks noChangeArrowheads="1"/>
            </p:cNvSpPr>
            <p:nvPr/>
          </p:nvSpPr>
          <p:spPr bwMode="blackWhite">
            <a:xfrm>
              <a:off x="5360" y="2961"/>
              <a:ext cx="20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l</a:t>
              </a:r>
            </a:p>
          </p:txBody>
        </p:sp>
        <p:sp useBgFill="1">
          <p:nvSpPr>
            <p:cNvPr id="298000" name="Rectangle 2064"/>
            <p:cNvSpPr>
              <a:spLocks noChangeArrowheads="1"/>
            </p:cNvSpPr>
            <p:nvPr/>
          </p:nvSpPr>
          <p:spPr bwMode="blackWhite">
            <a:xfrm>
              <a:off x="5663" y="2961"/>
              <a:ext cx="356"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m</a:t>
              </a:r>
            </a:p>
          </p:txBody>
        </p:sp>
        <p:sp useBgFill="1">
          <p:nvSpPr>
            <p:cNvPr id="298001" name="Rectangle 2065"/>
            <p:cNvSpPr>
              <a:spLocks noChangeArrowheads="1"/>
            </p:cNvSpPr>
            <p:nvPr/>
          </p:nvSpPr>
          <p:spPr bwMode="blackWhite">
            <a:xfrm>
              <a:off x="3652" y="3558"/>
              <a:ext cx="282"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n</a:t>
              </a:r>
            </a:p>
          </p:txBody>
        </p:sp>
        <p:sp useBgFill="1">
          <p:nvSpPr>
            <p:cNvPr id="298002" name="Rectangle 2066"/>
            <p:cNvSpPr>
              <a:spLocks noChangeArrowheads="1"/>
            </p:cNvSpPr>
            <p:nvPr/>
          </p:nvSpPr>
          <p:spPr bwMode="blackWhite">
            <a:xfrm>
              <a:off x="4142" y="3558"/>
              <a:ext cx="273"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o</a:t>
              </a:r>
            </a:p>
          </p:txBody>
        </p:sp>
      </p:grpSp>
      <p:grpSp>
        <p:nvGrpSpPr>
          <p:cNvPr id="298069" name="Group 2133"/>
          <p:cNvGrpSpPr>
            <a:grpSpLocks/>
          </p:cNvGrpSpPr>
          <p:nvPr/>
        </p:nvGrpSpPr>
        <p:grpSpPr bwMode="auto">
          <a:xfrm>
            <a:off x="5512778" y="2252663"/>
            <a:ext cx="2599592" cy="2038350"/>
            <a:chOff x="3762" y="1419"/>
            <a:chExt cx="1774" cy="1284"/>
          </a:xfrm>
        </p:grpSpPr>
        <p:sp>
          <p:nvSpPr>
            <p:cNvPr id="298050" name="Line 2114"/>
            <p:cNvSpPr>
              <a:spLocks noChangeShapeType="1"/>
            </p:cNvSpPr>
            <p:nvPr/>
          </p:nvSpPr>
          <p:spPr bwMode="blackGray">
            <a:xfrm flipH="1">
              <a:off x="4296" y="1587"/>
              <a:ext cx="587" cy="316"/>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51" name="Line 2115"/>
            <p:cNvSpPr>
              <a:spLocks noChangeShapeType="1"/>
            </p:cNvSpPr>
            <p:nvPr/>
          </p:nvSpPr>
          <p:spPr bwMode="blackGray">
            <a:xfrm>
              <a:off x="4945" y="1588"/>
              <a:ext cx="468" cy="326"/>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52" name="Line 2116"/>
            <p:cNvSpPr>
              <a:spLocks noChangeShapeType="1"/>
            </p:cNvSpPr>
            <p:nvPr/>
          </p:nvSpPr>
          <p:spPr bwMode="blackGray">
            <a:xfrm flipH="1">
              <a:off x="3865" y="2119"/>
              <a:ext cx="395" cy="331"/>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8053" name="Rectangle 2117"/>
            <p:cNvSpPr>
              <a:spLocks noChangeArrowheads="1"/>
            </p:cNvSpPr>
            <p:nvPr/>
          </p:nvSpPr>
          <p:spPr bwMode="blackGray">
            <a:xfrm>
              <a:off x="4796" y="1419"/>
              <a:ext cx="257" cy="28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a</a:t>
              </a:r>
            </a:p>
          </p:txBody>
        </p:sp>
        <p:sp>
          <p:nvSpPr>
            <p:cNvPr id="298054" name="Rectangle 2118"/>
            <p:cNvSpPr>
              <a:spLocks noChangeArrowheads="1"/>
            </p:cNvSpPr>
            <p:nvPr/>
          </p:nvSpPr>
          <p:spPr bwMode="blackGray">
            <a:xfrm>
              <a:off x="4141" y="1867"/>
              <a:ext cx="275" cy="28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b</a:t>
              </a:r>
            </a:p>
          </p:txBody>
        </p:sp>
        <p:sp>
          <p:nvSpPr>
            <p:cNvPr id="298055" name="Rectangle 2119"/>
            <p:cNvSpPr>
              <a:spLocks noChangeArrowheads="1"/>
            </p:cNvSpPr>
            <p:nvPr/>
          </p:nvSpPr>
          <p:spPr bwMode="blackGray">
            <a:xfrm>
              <a:off x="5283" y="1862"/>
              <a:ext cx="253" cy="29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c</a:t>
              </a:r>
            </a:p>
          </p:txBody>
        </p:sp>
        <p:sp>
          <p:nvSpPr>
            <p:cNvPr id="298056" name="Rectangle 2120"/>
            <p:cNvSpPr>
              <a:spLocks noChangeArrowheads="1"/>
            </p:cNvSpPr>
            <p:nvPr/>
          </p:nvSpPr>
          <p:spPr bwMode="blackGray">
            <a:xfrm>
              <a:off x="3762" y="2414"/>
              <a:ext cx="278" cy="28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d</a:t>
              </a:r>
            </a:p>
          </p:txBody>
        </p:sp>
      </p:grpSp>
      <p:grpSp>
        <p:nvGrpSpPr>
          <p:cNvPr id="298068" name="Group 2132"/>
          <p:cNvGrpSpPr>
            <a:grpSpLocks/>
          </p:cNvGrpSpPr>
          <p:nvPr/>
        </p:nvGrpSpPr>
        <p:grpSpPr bwMode="auto">
          <a:xfrm>
            <a:off x="4878265" y="3824290"/>
            <a:ext cx="3637085" cy="1335088"/>
            <a:chOff x="3329" y="2409"/>
            <a:chExt cx="2482" cy="841"/>
          </a:xfrm>
        </p:grpSpPr>
        <p:sp>
          <p:nvSpPr>
            <p:cNvPr id="298059" name="Rectangle 2123"/>
            <p:cNvSpPr>
              <a:spLocks noChangeArrowheads="1"/>
            </p:cNvSpPr>
            <p:nvPr/>
          </p:nvSpPr>
          <p:spPr bwMode="gray">
            <a:xfrm>
              <a:off x="4365" y="2414"/>
              <a:ext cx="257" cy="28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e</a:t>
              </a:r>
            </a:p>
          </p:txBody>
        </p:sp>
        <p:sp>
          <p:nvSpPr>
            <p:cNvPr id="298060" name="Rectangle 2124"/>
            <p:cNvSpPr>
              <a:spLocks noChangeArrowheads="1"/>
            </p:cNvSpPr>
            <p:nvPr/>
          </p:nvSpPr>
          <p:spPr bwMode="gray">
            <a:xfrm>
              <a:off x="4980" y="2414"/>
              <a:ext cx="212" cy="28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f</a:t>
              </a:r>
            </a:p>
          </p:txBody>
        </p:sp>
        <p:sp>
          <p:nvSpPr>
            <p:cNvPr id="298061" name="Rectangle 2125"/>
            <p:cNvSpPr>
              <a:spLocks noChangeArrowheads="1"/>
            </p:cNvSpPr>
            <p:nvPr/>
          </p:nvSpPr>
          <p:spPr bwMode="gray">
            <a:xfrm>
              <a:off x="5546" y="2409"/>
              <a:ext cx="265" cy="29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g</a:t>
              </a:r>
            </a:p>
          </p:txBody>
        </p:sp>
        <p:sp>
          <p:nvSpPr>
            <p:cNvPr id="298062" name="Rectangle 2126"/>
            <p:cNvSpPr>
              <a:spLocks noChangeArrowheads="1"/>
            </p:cNvSpPr>
            <p:nvPr/>
          </p:nvSpPr>
          <p:spPr bwMode="gray">
            <a:xfrm>
              <a:off x="3329" y="2961"/>
              <a:ext cx="282" cy="28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h</a:t>
              </a:r>
            </a:p>
          </p:txBody>
        </p:sp>
        <p:sp>
          <p:nvSpPr>
            <p:cNvPr id="298063" name="Rectangle 2127"/>
            <p:cNvSpPr>
              <a:spLocks noChangeArrowheads="1"/>
            </p:cNvSpPr>
            <p:nvPr/>
          </p:nvSpPr>
          <p:spPr bwMode="gray">
            <a:xfrm>
              <a:off x="3798" y="2961"/>
              <a:ext cx="207" cy="28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i</a:t>
              </a:r>
            </a:p>
          </p:txBody>
        </p:sp>
        <p:sp>
          <p:nvSpPr>
            <p:cNvPr id="298064" name="Rectangle 2128"/>
            <p:cNvSpPr>
              <a:spLocks noChangeArrowheads="1"/>
            </p:cNvSpPr>
            <p:nvPr/>
          </p:nvSpPr>
          <p:spPr bwMode="gray">
            <a:xfrm>
              <a:off x="4285" y="2961"/>
              <a:ext cx="203" cy="28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j</a:t>
              </a:r>
            </a:p>
          </p:txBody>
        </p:sp>
      </p:gr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54</a:t>
            </a:fld>
            <a:endParaRPr lang="en-US"/>
          </a:p>
        </p:txBody>
      </p:sp>
    </p:spTree>
    <p:extLst>
      <p:ext uri="{BB962C8B-B14F-4D97-AF65-F5344CB8AC3E}">
        <p14:creationId xmlns:p14="http://schemas.microsoft.com/office/powerpoint/2010/main" val="9315004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97986"/>
                                        </p:tgtEl>
                                        <p:attrNameLst>
                                          <p:attrName>style.visibility</p:attrName>
                                        </p:attrNameLst>
                                      </p:cBhvr>
                                      <p:to>
                                        <p:strVal val="visible"/>
                                      </p:to>
                                    </p:set>
                                    <p:animEffect transition="in" filter="slide(fromTop)">
                                      <p:cBhvr>
                                        <p:cTn id="7" dur="500"/>
                                        <p:tgtEl>
                                          <p:spTgt spid="297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98069"/>
                                        </p:tgtEl>
                                        <p:attrNameLst>
                                          <p:attrName>style.visibility</p:attrName>
                                        </p:attrNameLst>
                                      </p:cBhvr>
                                      <p:to>
                                        <p:strVal val="visible"/>
                                      </p:to>
                                    </p:set>
                                    <p:animEffect transition="in" filter="wipe(up)">
                                      <p:cBhvr>
                                        <p:cTn id="12" dur="500"/>
                                        <p:tgtEl>
                                          <p:spTgt spid="2980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8068"/>
                                        </p:tgtEl>
                                        <p:attrNameLst>
                                          <p:attrName>style.visibility</p:attrName>
                                        </p:attrNameLst>
                                      </p:cBhvr>
                                      <p:to>
                                        <p:strVal val="visible"/>
                                      </p:to>
                                    </p:set>
                                    <p:animEffect transition="in" filter="wipe(left)">
                                      <p:cBhvr>
                                        <p:cTn id="17" dur="500"/>
                                        <p:tgtEl>
                                          <p:spTgt spid="29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1026"/>
          <p:cNvSpPr>
            <a:spLocks noGrp="1" noChangeArrowheads="1"/>
          </p:cNvSpPr>
          <p:nvPr>
            <p:ph type="title"/>
          </p:nvPr>
        </p:nvSpPr>
        <p:spPr/>
        <p:txBody>
          <a:bodyPr>
            <a:normAutofit fontScale="90000"/>
          </a:bodyPr>
          <a:lstStyle/>
          <a:p>
            <a:r>
              <a:rPr lang="en-US"/>
              <a:t>3.3.	Test levels</a:t>
            </a:r>
            <a:br>
              <a:rPr lang="en-US"/>
            </a:br>
            <a:r>
              <a:rPr lang="en-US"/>
              <a:t>Integration test – </a:t>
            </a:r>
            <a:r>
              <a:rPr lang="en-GB"/>
              <a:t>Top-down (cont.)</a:t>
            </a:r>
          </a:p>
        </p:txBody>
      </p:sp>
      <p:sp>
        <p:nvSpPr>
          <p:cNvPr id="303107" name="Rectangle 1027"/>
          <p:cNvSpPr>
            <a:spLocks noGrp="1" noChangeArrowheads="1"/>
          </p:cNvSpPr>
          <p:nvPr>
            <p:ph type="body" idx="1"/>
          </p:nvPr>
        </p:nvSpPr>
        <p:spPr/>
        <p:txBody>
          <a:bodyPr/>
          <a:lstStyle/>
          <a:p>
            <a:r>
              <a:rPr lang="en-GB" dirty="0"/>
              <a:t>Advantages:</a:t>
            </a:r>
          </a:p>
          <a:p>
            <a:pPr lvl="1"/>
            <a:r>
              <a:rPr lang="en-GB" dirty="0"/>
              <a:t>critical control structure tested first and most often</a:t>
            </a:r>
          </a:p>
          <a:p>
            <a:pPr lvl="1"/>
            <a:r>
              <a:rPr lang="en-GB" dirty="0"/>
              <a:t>can demonstrate system early (show working menus)</a:t>
            </a:r>
          </a:p>
          <a:p>
            <a:endParaRPr lang="en-GB" dirty="0"/>
          </a:p>
          <a:p>
            <a:r>
              <a:rPr lang="en-GB" dirty="0"/>
              <a:t>Disadvantages:</a:t>
            </a:r>
          </a:p>
          <a:p>
            <a:pPr lvl="1"/>
            <a:r>
              <a:rPr lang="en-GB" dirty="0"/>
              <a:t>needs stubs</a:t>
            </a:r>
          </a:p>
          <a:p>
            <a:pPr lvl="1"/>
            <a:r>
              <a:rPr lang="en-GB" dirty="0"/>
              <a:t>detail left until last</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55</a:t>
            </a:fld>
            <a:endParaRPr lang="en-US"/>
          </a:p>
        </p:txBody>
      </p:sp>
    </p:spTree>
    <p:extLst>
      <p:ext uri="{BB962C8B-B14F-4D97-AF65-F5344CB8AC3E}">
        <p14:creationId xmlns:p14="http://schemas.microsoft.com/office/powerpoint/2010/main" val="23651374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AutoShape 3074"/>
          <p:cNvSpPr>
            <a:spLocks noChangeArrowheads="1"/>
          </p:cNvSpPr>
          <p:nvPr/>
        </p:nvSpPr>
        <p:spPr bwMode="ltGray">
          <a:xfrm flipV="1">
            <a:off x="6049108" y="2819400"/>
            <a:ext cx="2039815" cy="2819400"/>
          </a:xfrm>
          <a:prstGeom prst="downArrow">
            <a:avLst>
              <a:gd name="adj1" fmla="val 50000"/>
              <a:gd name="adj2" fmla="val 31897"/>
            </a:avLst>
          </a:prstGeom>
          <a:solidFill>
            <a:srgbClr val="000000"/>
          </a:solidFill>
          <a:ln w="38100">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05245" name="Group 3165"/>
          <p:cNvGrpSpPr>
            <a:grpSpLocks/>
          </p:cNvGrpSpPr>
          <p:nvPr/>
        </p:nvGrpSpPr>
        <p:grpSpPr bwMode="auto">
          <a:xfrm>
            <a:off x="4878266" y="1836739"/>
            <a:ext cx="3941884" cy="3854450"/>
            <a:chOff x="3329" y="1157"/>
            <a:chExt cx="2690" cy="2428"/>
          </a:xfrm>
        </p:grpSpPr>
        <p:sp>
          <p:nvSpPr>
            <p:cNvPr id="305188" name="Line 3108"/>
            <p:cNvSpPr>
              <a:spLocks noChangeShapeType="1"/>
            </p:cNvSpPr>
            <p:nvPr/>
          </p:nvSpPr>
          <p:spPr bwMode="auto">
            <a:xfrm>
              <a:off x="4368" y="1857"/>
              <a:ext cx="144"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89" name="Line 3109"/>
            <p:cNvSpPr>
              <a:spLocks noChangeShapeType="1"/>
            </p:cNvSpPr>
            <p:nvPr/>
          </p:nvSpPr>
          <p:spPr bwMode="auto">
            <a:xfrm flipH="1">
              <a:off x="5104" y="1762"/>
              <a:ext cx="318" cy="42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0" name="Line 3110"/>
            <p:cNvSpPr>
              <a:spLocks noChangeShapeType="1"/>
            </p:cNvSpPr>
            <p:nvPr/>
          </p:nvSpPr>
          <p:spPr bwMode="auto">
            <a:xfrm>
              <a:off x="5416" y="1790"/>
              <a:ext cx="227" cy="3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1" name="Line 3111"/>
            <p:cNvSpPr>
              <a:spLocks noChangeShapeType="1"/>
            </p:cNvSpPr>
            <p:nvPr/>
          </p:nvSpPr>
          <p:spPr bwMode="auto">
            <a:xfrm flipH="1">
              <a:off x="5481" y="2404"/>
              <a:ext cx="180"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2" name="Line 3112"/>
            <p:cNvSpPr>
              <a:spLocks noChangeShapeType="1"/>
            </p:cNvSpPr>
            <p:nvPr/>
          </p:nvSpPr>
          <p:spPr bwMode="auto">
            <a:xfrm>
              <a:off x="5702" y="2337"/>
              <a:ext cx="156" cy="44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3" name="Line 3113"/>
            <p:cNvSpPr>
              <a:spLocks noChangeShapeType="1"/>
            </p:cNvSpPr>
            <p:nvPr/>
          </p:nvSpPr>
          <p:spPr bwMode="auto">
            <a:xfrm flipH="1">
              <a:off x="5050" y="2348"/>
              <a:ext cx="49" cy="3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4" name="Line 3114"/>
            <p:cNvSpPr>
              <a:spLocks noChangeShapeType="1"/>
            </p:cNvSpPr>
            <p:nvPr/>
          </p:nvSpPr>
          <p:spPr bwMode="auto">
            <a:xfrm flipH="1">
              <a:off x="3453" y="2320"/>
              <a:ext cx="442" cy="44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6" name="Line 3116"/>
            <p:cNvSpPr>
              <a:spLocks noChangeShapeType="1"/>
            </p:cNvSpPr>
            <p:nvPr/>
          </p:nvSpPr>
          <p:spPr bwMode="auto">
            <a:xfrm>
              <a:off x="3991" y="2404"/>
              <a:ext cx="403" cy="35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9" name="Line 3119"/>
            <p:cNvSpPr>
              <a:spLocks noChangeShapeType="1"/>
            </p:cNvSpPr>
            <p:nvPr/>
          </p:nvSpPr>
          <p:spPr bwMode="auto">
            <a:xfrm flipH="1">
              <a:off x="4296" y="1325"/>
              <a:ext cx="587" cy="3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200" name="Line 3120"/>
            <p:cNvSpPr>
              <a:spLocks noChangeShapeType="1"/>
            </p:cNvSpPr>
            <p:nvPr/>
          </p:nvSpPr>
          <p:spPr bwMode="auto">
            <a:xfrm>
              <a:off x="4945" y="1326"/>
              <a:ext cx="468" cy="32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305202" name="Rectangle 3122"/>
            <p:cNvSpPr>
              <a:spLocks noChangeArrowheads="1"/>
            </p:cNvSpPr>
            <p:nvPr/>
          </p:nvSpPr>
          <p:spPr bwMode="blackWhite">
            <a:xfrm>
              <a:off x="4796" y="1157"/>
              <a:ext cx="25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a</a:t>
              </a:r>
            </a:p>
          </p:txBody>
        </p:sp>
        <p:sp>
          <p:nvSpPr>
            <p:cNvPr id="305201" name="Line 3121"/>
            <p:cNvSpPr>
              <a:spLocks noChangeShapeType="1"/>
            </p:cNvSpPr>
            <p:nvPr/>
          </p:nvSpPr>
          <p:spPr bwMode="auto">
            <a:xfrm flipH="1">
              <a:off x="3865" y="1857"/>
              <a:ext cx="395"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305203" name="Rectangle 3123"/>
            <p:cNvSpPr>
              <a:spLocks noChangeArrowheads="1"/>
            </p:cNvSpPr>
            <p:nvPr/>
          </p:nvSpPr>
          <p:spPr bwMode="blackWhite">
            <a:xfrm>
              <a:off x="4141" y="1605"/>
              <a:ext cx="275"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b</a:t>
              </a:r>
            </a:p>
          </p:txBody>
        </p:sp>
        <p:sp useBgFill="1">
          <p:nvSpPr>
            <p:cNvPr id="305204" name="Rectangle 3124"/>
            <p:cNvSpPr>
              <a:spLocks noChangeArrowheads="1"/>
            </p:cNvSpPr>
            <p:nvPr/>
          </p:nvSpPr>
          <p:spPr bwMode="blackWhite">
            <a:xfrm>
              <a:off x="5283" y="1600"/>
              <a:ext cx="253" cy="29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c</a:t>
              </a:r>
            </a:p>
          </p:txBody>
        </p:sp>
        <p:sp useBgFill="1">
          <p:nvSpPr>
            <p:cNvPr id="305206" name="Rectangle 3126"/>
            <p:cNvSpPr>
              <a:spLocks noChangeArrowheads="1"/>
            </p:cNvSpPr>
            <p:nvPr/>
          </p:nvSpPr>
          <p:spPr bwMode="blackWhite">
            <a:xfrm>
              <a:off x="4365" y="2152"/>
              <a:ext cx="25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e</a:t>
              </a:r>
            </a:p>
          </p:txBody>
        </p:sp>
        <p:sp useBgFill="1">
          <p:nvSpPr>
            <p:cNvPr id="305207" name="Rectangle 3127"/>
            <p:cNvSpPr>
              <a:spLocks noChangeArrowheads="1"/>
            </p:cNvSpPr>
            <p:nvPr/>
          </p:nvSpPr>
          <p:spPr bwMode="blackWhite">
            <a:xfrm>
              <a:off x="4980" y="2152"/>
              <a:ext cx="212"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f</a:t>
              </a:r>
            </a:p>
          </p:txBody>
        </p:sp>
        <p:sp useBgFill="1">
          <p:nvSpPr>
            <p:cNvPr id="305208" name="Rectangle 3128"/>
            <p:cNvSpPr>
              <a:spLocks noChangeArrowheads="1"/>
            </p:cNvSpPr>
            <p:nvPr/>
          </p:nvSpPr>
          <p:spPr bwMode="blackWhite">
            <a:xfrm>
              <a:off x="5546" y="2147"/>
              <a:ext cx="265" cy="29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g</a:t>
              </a:r>
            </a:p>
          </p:txBody>
        </p:sp>
        <p:sp useBgFill="1">
          <p:nvSpPr>
            <p:cNvPr id="305212" name="Rectangle 3132"/>
            <p:cNvSpPr>
              <a:spLocks noChangeArrowheads="1"/>
            </p:cNvSpPr>
            <p:nvPr/>
          </p:nvSpPr>
          <p:spPr bwMode="blackWhite">
            <a:xfrm>
              <a:off x="4895" y="2699"/>
              <a:ext cx="276"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k</a:t>
              </a:r>
            </a:p>
          </p:txBody>
        </p:sp>
        <p:sp useBgFill="1">
          <p:nvSpPr>
            <p:cNvPr id="305213" name="Rectangle 3133"/>
            <p:cNvSpPr>
              <a:spLocks noChangeArrowheads="1"/>
            </p:cNvSpPr>
            <p:nvPr/>
          </p:nvSpPr>
          <p:spPr bwMode="blackWhite">
            <a:xfrm>
              <a:off x="5360" y="2699"/>
              <a:ext cx="20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l</a:t>
              </a:r>
            </a:p>
          </p:txBody>
        </p:sp>
        <p:sp useBgFill="1">
          <p:nvSpPr>
            <p:cNvPr id="305214" name="Rectangle 3134"/>
            <p:cNvSpPr>
              <a:spLocks noChangeArrowheads="1"/>
            </p:cNvSpPr>
            <p:nvPr/>
          </p:nvSpPr>
          <p:spPr bwMode="blackWhite">
            <a:xfrm>
              <a:off x="5663" y="2699"/>
              <a:ext cx="356"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m</a:t>
              </a:r>
            </a:p>
          </p:txBody>
        </p:sp>
        <p:sp>
          <p:nvSpPr>
            <p:cNvPr id="305195" name="Line 3115"/>
            <p:cNvSpPr>
              <a:spLocks noChangeShapeType="1"/>
            </p:cNvSpPr>
            <p:nvPr/>
          </p:nvSpPr>
          <p:spPr bwMode="auto">
            <a:xfrm>
              <a:off x="3910" y="2404"/>
              <a:ext cx="0" cy="3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7" name="Line 3117"/>
            <p:cNvSpPr>
              <a:spLocks noChangeShapeType="1"/>
            </p:cNvSpPr>
            <p:nvPr/>
          </p:nvSpPr>
          <p:spPr bwMode="auto">
            <a:xfrm flipH="1">
              <a:off x="3780" y="2850"/>
              <a:ext cx="118" cy="49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98" name="Line 3118"/>
            <p:cNvSpPr>
              <a:spLocks noChangeShapeType="1"/>
            </p:cNvSpPr>
            <p:nvPr/>
          </p:nvSpPr>
          <p:spPr bwMode="auto">
            <a:xfrm>
              <a:off x="3918" y="2839"/>
              <a:ext cx="363" cy="52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305205" name="Rectangle 3125"/>
            <p:cNvSpPr>
              <a:spLocks noChangeArrowheads="1"/>
            </p:cNvSpPr>
            <p:nvPr/>
          </p:nvSpPr>
          <p:spPr bwMode="blackWhite">
            <a:xfrm>
              <a:off x="3762" y="2152"/>
              <a:ext cx="278"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d</a:t>
              </a:r>
            </a:p>
          </p:txBody>
        </p:sp>
        <p:sp useBgFill="1">
          <p:nvSpPr>
            <p:cNvPr id="305210" name="Rectangle 3130"/>
            <p:cNvSpPr>
              <a:spLocks noChangeArrowheads="1"/>
            </p:cNvSpPr>
            <p:nvPr/>
          </p:nvSpPr>
          <p:spPr bwMode="blackWhite">
            <a:xfrm>
              <a:off x="3798" y="2699"/>
              <a:ext cx="207"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i</a:t>
              </a:r>
            </a:p>
          </p:txBody>
        </p:sp>
        <p:sp useBgFill="1">
          <p:nvSpPr>
            <p:cNvPr id="305215" name="Rectangle 3135"/>
            <p:cNvSpPr>
              <a:spLocks noChangeArrowheads="1"/>
            </p:cNvSpPr>
            <p:nvPr/>
          </p:nvSpPr>
          <p:spPr bwMode="blackWhite">
            <a:xfrm>
              <a:off x="3652" y="3296"/>
              <a:ext cx="282"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n</a:t>
              </a:r>
            </a:p>
          </p:txBody>
        </p:sp>
        <p:sp useBgFill="1">
          <p:nvSpPr>
            <p:cNvPr id="305216" name="Rectangle 3136"/>
            <p:cNvSpPr>
              <a:spLocks noChangeArrowheads="1"/>
            </p:cNvSpPr>
            <p:nvPr/>
          </p:nvSpPr>
          <p:spPr bwMode="blackWhite">
            <a:xfrm>
              <a:off x="4142" y="3296"/>
              <a:ext cx="273"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o</a:t>
              </a:r>
            </a:p>
          </p:txBody>
        </p:sp>
        <p:sp useBgFill="1">
          <p:nvSpPr>
            <p:cNvPr id="305209" name="Rectangle 3129"/>
            <p:cNvSpPr>
              <a:spLocks noChangeArrowheads="1"/>
            </p:cNvSpPr>
            <p:nvPr/>
          </p:nvSpPr>
          <p:spPr bwMode="blackWhite">
            <a:xfrm>
              <a:off x="3329" y="2699"/>
              <a:ext cx="282"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h</a:t>
              </a:r>
            </a:p>
          </p:txBody>
        </p:sp>
        <p:sp useBgFill="1">
          <p:nvSpPr>
            <p:cNvPr id="305211" name="Rectangle 3131"/>
            <p:cNvSpPr>
              <a:spLocks noChangeArrowheads="1"/>
            </p:cNvSpPr>
            <p:nvPr/>
          </p:nvSpPr>
          <p:spPr bwMode="blackWhite">
            <a:xfrm>
              <a:off x="4285" y="2699"/>
              <a:ext cx="203" cy="289"/>
            </a:xfrm>
            <a:prstGeom prst="rect">
              <a:avLst/>
            </a:prstGeom>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j</a:t>
              </a:r>
            </a:p>
          </p:txBody>
        </p:sp>
      </p:grpSp>
      <p:sp>
        <p:nvSpPr>
          <p:cNvPr id="305156" name="Rectangle 3076"/>
          <p:cNvSpPr>
            <a:spLocks noGrp="1" noChangeArrowheads="1"/>
          </p:cNvSpPr>
          <p:nvPr>
            <p:ph type="body" idx="1"/>
          </p:nvPr>
        </p:nvSpPr>
        <p:spPr/>
        <p:txBody>
          <a:bodyPr/>
          <a:lstStyle/>
          <a:p>
            <a:r>
              <a:rPr lang="en-GB" dirty="0"/>
              <a:t>Baselines:</a:t>
            </a:r>
          </a:p>
          <a:p>
            <a:pPr lvl="1">
              <a:spcBef>
                <a:spcPct val="0"/>
              </a:spcBef>
            </a:pPr>
            <a:r>
              <a:rPr lang="en-GB" dirty="0"/>
              <a:t>baseline 0: component n</a:t>
            </a:r>
          </a:p>
          <a:p>
            <a:pPr lvl="1">
              <a:spcBef>
                <a:spcPct val="0"/>
              </a:spcBef>
            </a:pPr>
            <a:r>
              <a:rPr lang="en-GB" dirty="0"/>
              <a:t>baseline 1: n + </a:t>
            </a:r>
            <a:r>
              <a:rPr lang="en-GB" dirty="0" err="1"/>
              <a:t>i</a:t>
            </a:r>
            <a:endParaRPr lang="en-GB" dirty="0"/>
          </a:p>
          <a:p>
            <a:pPr lvl="1">
              <a:spcBef>
                <a:spcPct val="0"/>
              </a:spcBef>
            </a:pPr>
            <a:r>
              <a:rPr lang="en-GB" dirty="0"/>
              <a:t>baseline 2: n + </a:t>
            </a:r>
            <a:r>
              <a:rPr lang="en-GB" dirty="0" err="1"/>
              <a:t>i</a:t>
            </a:r>
            <a:r>
              <a:rPr lang="en-GB" dirty="0"/>
              <a:t> + o</a:t>
            </a:r>
          </a:p>
          <a:p>
            <a:pPr lvl="1">
              <a:spcBef>
                <a:spcPct val="0"/>
              </a:spcBef>
            </a:pPr>
            <a:r>
              <a:rPr lang="en-GB" dirty="0">
                <a:solidFill>
                  <a:schemeClr val="hlink"/>
                </a:solidFill>
              </a:rPr>
              <a:t>baseline 3: n + </a:t>
            </a:r>
            <a:r>
              <a:rPr lang="en-GB" dirty="0" err="1">
                <a:solidFill>
                  <a:schemeClr val="hlink"/>
                </a:solidFill>
              </a:rPr>
              <a:t>i</a:t>
            </a:r>
            <a:r>
              <a:rPr lang="en-GB" dirty="0">
                <a:solidFill>
                  <a:schemeClr val="hlink"/>
                </a:solidFill>
              </a:rPr>
              <a:t> + o + d</a:t>
            </a:r>
            <a:endParaRPr lang="en-GB" dirty="0"/>
          </a:p>
          <a:p>
            <a:pPr lvl="1">
              <a:spcBef>
                <a:spcPct val="0"/>
              </a:spcBef>
            </a:pPr>
            <a:r>
              <a:rPr lang="en-GB" dirty="0"/>
              <a:t>etc.</a:t>
            </a:r>
          </a:p>
          <a:p>
            <a:r>
              <a:rPr lang="en-GB" dirty="0">
                <a:solidFill>
                  <a:schemeClr val="accent2"/>
                </a:solidFill>
              </a:rPr>
              <a:t>Also needs stubs </a:t>
            </a:r>
            <a:br>
              <a:rPr lang="en-GB" dirty="0">
                <a:solidFill>
                  <a:schemeClr val="accent2"/>
                </a:solidFill>
              </a:rPr>
            </a:br>
            <a:r>
              <a:rPr lang="en-GB" dirty="0">
                <a:solidFill>
                  <a:schemeClr val="accent2"/>
                </a:solidFill>
              </a:rPr>
              <a:t>for some baselines</a:t>
            </a:r>
          </a:p>
          <a:p>
            <a:r>
              <a:rPr lang="en-GB" dirty="0">
                <a:solidFill>
                  <a:srgbClr val="00B050"/>
                </a:solidFill>
              </a:rPr>
              <a:t>Needs drivers to call </a:t>
            </a:r>
            <a:br>
              <a:rPr lang="en-GB" dirty="0">
                <a:solidFill>
                  <a:srgbClr val="00B050"/>
                </a:solidFill>
              </a:rPr>
            </a:br>
            <a:r>
              <a:rPr lang="en-GB" dirty="0">
                <a:solidFill>
                  <a:srgbClr val="00B050"/>
                </a:solidFill>
              </a:rPr>
              <a:t>the baseline configuration</a:t>
            </a:r>
          </a:p>
        </p:txBody>
      </p:sp>
      <p:sp>
        <p:nvSpPr>
          <p:cNvPr id="305155" name="Rectangle 3075"/>
          <p:cNvSpPr>
            <a:spLocks noGrp="1" noChangeArrowheads="1"/>
          </p:cNvSpPr>
          <p:nvPr>
            <p:ph type="title"/>
          </p:nvPr>
        </p:nvSpPr>
        <p:spPr/>
        <p:txBody>
          <a:bodyPr>
            <a:normAutofit fontScale="90000"/>
          </a:bodyPr>
          <a:lstStyle/>
          <a:p>
            <a:r>
              <a:rPr lang="en-US" dirty="0"/>
              <a:t>3.3.	Test levels</a:t>
            </a:r>
            <a:br>
              <a:rPr lang="en-US" dirty="0"/>
            </a:br>
            <a:r>
              <a:rPr lang="en-US" dirty="0"/>
              <a:t>Integration test – </a:t>
            </a:r>
            <a:r>
              <a:rPr lang="en-GB" dirty="0"/>
              <a:t>Bottom-up </a:t>
            </a:r>
          </a:p>
        </p:txBody>
      </p:sp>
      <p:grpSp>
        <p:nvGrpSpPr>
          <p:cNvPr id="305248" name="Group 3168"/>
          <p:cNvGrpSpPr>
            <a:grpSpLocks/>
          </p:cNvGrpSpPr>
          <p:nvPr/>
        </p:nvGrpSpPr>
        <p:grpSpPr bwMode="auto">
          <a:xfrm>
            <a:off x="5663717" y="2547939"/>
            <a:ext cx="813289" cy="925513"/>
            <a:chOff x="3865" y="1605"/>
            <a:chExt cx="555" cy="583"/>
          </a:xfrm>
        </p:grpSpPr>
        <p:sp>
          <p:nvSpPr>
            <p:cNvPr id="305236" name="Line 3156"/>
            <p:cNvSpPr>
              <a:spLocks noChangeShapeType="1"/>
            </p:cNvSpPr>
            <p:nvPr/>
          </p:nvSpPr>
          <p:spPr bwMode="blackGray">
            <a:xfrm flipH="1">
              <a:off x="3865" y="1857"/>
              <a:ext cx="395" cy="331"/>
            </a:xfrm>
            <a:prstGeom prst="line">
              <a:avLst/>
            </a:prstGeom>
            <a:noFill/>
            <a:ln w="254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237" name="Rectangle 3157"/>
            <p:cNvSpPr>
              <a:spLocks noChangeArrowheads="1"/>
            </p:cNvSpPr>
            <p:nvPr/>
          </p:nvSpPr>
          <p:spPr bwMode="blackGray">
            <a:xfrm>
              <a:off x="4145" y="1605"/>
              <a:ext cx="275" cy="289"/>
            </a:xfrm>
            <a:prstGeom prst="rect">
              <a:avLst/>
            </a:prstGeom>
            <a:solidFill>
              <a:srgbClr val="00B05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b</a:t>
              </a:r>
            </a:p>
          </p:txBody>
        </p:sp>
      </p:grpSp>
      <p:grpSp>
        <p:nvGrpSpPr>
          <p:cNvPr id="305246" name="Group 3166"/>
          <p:cNvGrpSpPr>
            <a:grpSpLocks/>
          </p:cNvGrpSpPr>
          <p:nvPr/>
        </p:nvGrpSpPr>
        <p:grpSpPr bwMode="auto">
          <a:xfrm>
            <a:off x="5351585" y="3416302"/>
            <a:ext cx="1118088" cy="2274888"/>
            <a:chOff x="3652" y="2152"/>
            <a:chExt cx="763" cy="1433"/>
          </a:xfrm>
        </p:grpSpPr>
        <p:sp>
          <p:nvSpPr>
            <p:cNvPr id="305228" name="Rectangle 3148"/>
            <p:cNvSpPr>
              <a:spLocks noChangeArrowheads="1"/>
            </p:cNvSpPr>
            <p:nvPr/>
          </p:nvSpPr>
          <p:spPr bwMode="blackGray">
            <a:xfrm>
              <a:off x="3762" y="2152"/>
              <a:ext cx="278" cy="28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d</a:t>
              </a:r>
            </a:p>
          </p:txBody>
        </p:sp>
        <p:sp>
          <p:nvSpPr>
            <p:cNvPr id="305229" name="Rectangle 3149"/>
            <p:cNvSpPr>
              <a:spLocks noChangeArrowheads="1"/>
            </p:cNvSpPr>
            <p:nvPr/>
          </p:nvSpPr>
          <p:spPr bwMode="blackGray">
            <a:xfrm>
              <a:off x="3798" y="2699"/>
              <a:ext cx="207" cy="28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i</a:t>
              </a:r>
            </a:p>
          </p:txBody>
        </p:sp>
        <p:sp>
          <p:nvSpPr>
            <p:cNvPr id="305230" name="Rectangle 3150"/>
            <p:cNvSpPr>
              <a:spLocks noChangeArrowheads="1"/>
            </p:cNvSpPr>
            <p:nvPr/>
          </p:nvSpPr>
          <p:spPr bwMode="blackGray">
            <a:xfrm>
              <a:off x="3652" y="3296"/>
              <a:ext cx="282" cy="28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n</a:t>
              </a:r>
            </a:p>
          </p:txBody>
        </p:sp>
        <p:sp>
          <p:nvSpPr>
            <p:cNvPr id="305231" name="Rectangle 3151"/>
            <p:cNvSpPr>
              <a:spLocks noChangeArrowheads="1"/>
            </p:cNvSpPr>
            <p:nvPr/>
          </p:nvSpPr>
          <p:spPr bwMode="blackGray">
            <a:xfrm>
              <a:off x="4142" y="3296"/>
              <a:ext cx="273" cy="289"/>
            </a:xfrm>
            <a:prstGeom prst="rect">
              <a:avLst/>
            </a:prstGeom>
            <a:solidFill>
              <a:schemeClr va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solidFill>
                    <a:srgbClr val="000000"/>
                  </a:solidFill>
                </a:rPr>
                <a:t>o</a:t>
              </a:r>
            </a:p>
          </p:txBody>
        </p:sp>
      </p:grpSp>
      <p:grpSp>
        <p:nvGrpSpPr>
          <p:cNvPr id="305247" name="Group 3167"/>
          <p:cNvGrpSpPr>
            <a:grpSpLocks/>
          </p:cNvGrpSpPr>
          <p:nvPr/>
        </p:nvGrpSpPr>
        <p:grpSpPr bwMode="auto">
          <a:xfrm>
            <a:off x="4878265" y="4284664"/>
            <a:ext cx="1698381" cy="458788"/>
            <a:chOff x="3329" y="2699"/>
            <a:chExt cx="1159" cy="289"/>
          </a:xfrm>
        </p:grpSpPr>
        <p:sp>
          <p:nvSpPr>
            <p:cNvPr id="305241" name="Rectangle 3161"/>
            <p:cNvSpPr>
              <a:spLocks noChangeArrowheads="1"/>
            </p:cNvSpPr>
            <p:nvPr/>
          </p:nvSpPr>
          <p:spPr bwMode="gray">
            <a:xfrm>
              <a:off x="3329" y="2699"/>
              <a:ext cx="282" cy="28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h</a:t>
              </a:r>
            </a:p>
          </p:txBody>
        </p:sp>
        <p:sp>
          <p:nvSpPr>
            <p:cNvPr id="305242" name="Rectangle 3162"/>
            <p:cNvSpPr>
              <a:spLocks noChangeArrowheads="1"/>
            </p:cNvSpPr>
            <p:nvPr/>
          </p:nvSpPr>
          <p:spPr bwMode="gray">
            <a:xfrm>
              <a:off x="4285" y="2699"/>
              <a:ext cx="203" cy="289"/>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j</a:t>
              </a:r>
            </a:p>
          </p:txBody>
        </p:sp>
      </p:grpSp>
      <p:sp>
        <p:nvSpPr>
          <p:cNvPr id="47" name="Rectangle 3161"/>
          <p:cNvSpPr>
            <a:spLocks noChangeArrowheads="1"/>
          </p:cNvSpPr>
          <p:nvPr/>
        </p:nvSpPr>
        <p:spPr bwMode="gray">
          <a:xfrm>
            <a:off x="6396192" y="3425914"/>
            <a:ext cx="377026" cy="461793"/>
          </a:xfrm>
          <a:prstGeom prst="rect">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85000"/>
              </a:lnSpc>
            </a:pPr>
            <a:r>
              <a:rPr lang="en-GB" sz="2800" b="1"/>
              <a:t>e</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56</a:t>
            </a:fld>
            <a:endParaRPr lang="en-US"/>
          </a:p>
        </p:txBody>
      </p:sp>
    </p:spTree>
    <p:extLst>
      <p:ext uri="{BB962C8B-B14F-4D97-AF65-F5344CB8AC3E}">
        <p14:creationId xmlns:p14="http://schemas.microsoft.com/office/powerpoint/2010/main" val="40127408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05154"/>
                                        </p:tgtEl>
                                        <p:attrNameLst>
                                          <p:attrName>style.visibility</p:attrName>
                                        </p:attrNameLst>
                                      </p:cBhvr>
                                      <p:to>
                                        <p:strVal val="visible"/>
                                      </p:to>
                                    </p:set>
                                    <p:animEffect transition="in" filter="slide(fromBottom)">
                                      <p:cBhvr>
                                        <p:cTn id="7" dur="500"/>
                                        <p:tgtEl>
                                          <p:spTgt spid="305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5246"/>
                                        </p:tgtEl>
                                        <p:attrNameLst>
                                          <p:attrName>style.visibility</p:attrName>
                                        </p:attrNameLst>
                                      </p:cBhvr>
                                      <p:to>
                                        <p:strVal val="visible"/>
                                      </p:to>
                                    </p:set>
                                    <p:animEffect transition="in" filter="wipe(down)">
                                      <p:cBhvr>
                                        <p:cTn id="12" dur="500"/>
                                        <p:tgtEl>
                                          <p:spTgt spid="3052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5247"/>
                                        </p:tgtEl>
                                        <p:attrNameLst>
                                          <p:attrName>style.visibility</p:attrName>
                                        </p:attrNameLst>
                                      </p:cBhvr>
                                      <p:to>
                                        <p:strVal val="visible"/>
                                      </p:to>
                                    </p:set>
                                    <p:animEffect transition="in" filter="wipe(left)">
                                      <p:cBhvr>
                                        <p:cTn id="17" dur="500"/>
                                        <p:tgtEl>
                                          <p:spTgt spid="3052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5248"/>
                                        </p:tgtEl>
                                        <p:attrNameLst>
                                          <p:attrName>style.visibility</p:attrName>
                                        </p:attrNameLst>
                                      </p:cBhvr>
                                      <p:to>
                                        <p:strVal val="visible"/>
                                      </p:to>
                                    </p:set>
                                    <p:animEffect transition="in" filter="wipe(left)">
                                      <p:cBhvr>
                                        <p:cTn id="22" dur="500"/>
                                        <p:tgtEl>
                                          <p:spTgt spid="305248"/>
                                        </p:tgtEl>
                                      </p:cBhvr>
                                    </p:animEffect>
                                  </p:childTnLst>
                                </p:cTn>
                              </p:par>
                            </p:childTnLst>
                          </p:cTn>
                        </p:par>
                        <p:par>
                          <p:cTn id="23" fill="hold">
                            <p:stCondLst>
                              <p:cond delay="500"/>
                            </p:stCondLst>
                            <p:childTnLst>
                              <p:par>
                                <p:cTn id="24" presetID="22" presetClass="entr" presetSubtype="4" fill="hold" grpId="0" nodeType="after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wipe(down)">
                                      <p:cBhvr>
                                        <p:cTn id="2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4" grpId="0" animBg="1"/>
      <p:bldP spid="4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050"/>
          <p:cNvSpPr>
            <a:spLocks noGrp="1" noChangeArrowheads="1"/>
          </p:cNvSpPr>
          <p:nvPr>
            <p:ph type="title"/>
          </p:nvPr>
        </p:nvSpPr>
        <p:spPr/>
        <p:txBody>
          <a:bodyPr>
            <a:normAutofit fontScale="90000"/>
          </a:bodyPr>
          <a:lstStyle/>
          <a:p>
            <a:r>
              <a:rPr lang="en-US"/>
              <a:t>3.3.	Test levels</a:t>
            </a:r>
            <a:br>
              <a:rPr lang="en-US"/>
            </a:br>
            <a:r>
              <a:rPr lang="en-US"/>
              <a:t>Integration test – </a:t>
            </a:r>
            <a:r>
              <a:rPr lang="en-GB"/>
              <a:t>Bottom-up (cont.)</a:t>
            </a:r>
          </a:p>
        </p:txBody>
      </p:sp>
      <p:sp>
        <p:nvSpPr>
          <p:cNvPr id="311299" name="Rectangle 2051"/>
          <p:cNvSpPr>
            <a:spLocks noGrp="1" noChangeArrowheads="1"/>
          </p:cNvSpPr>
          <p:nvPr>
            <p:ph type="body" idx="1"/>
          </p:nvPr>
        </p:nvSpPr>
        <p:spPr/>
        <p:txBody>
          <a:bodyPr/>
          <a:lstStyle/>
          <a:p>
            <a:r>
              <a:rPr lang="en-GB" dirty="0"/>
              <a:t>Advantages:</a:t>
            </a:r>
          </a:p>
          <a:p>
            <a:pPr lvl="1"/>
            <a:r>
              <a:rPr lang="en-GB" dirty="0"/>
              <a:t>lowest levels tested first and most thoroughly</a:t>
            </a:r>
          </a:p>
          <a:p>
            <a:pPr lvl="1"/>
            <a:r>
              <a:rPr lang="en-GB" dirty="0"/>
              <a:t>visibility of detail</a:t>
            </a:r>
          </a:p>
          <a:p>
            <a:endParaRPr lang="en-GB" dirty="0"/>
          </a:p>
          <a:p>
            <a:r>
              <a:rPr lang="en-GB" dirty="0"/>
              <a:t>Disadvantages</a:t>
            </a:r>
          </a:p>
          <a:p>
            <a:pPr lvl="1"/>
            <a:r>
              <a:rPr lang="en-GB" dirty="0"/>
              <a:t>no working system until last baseline</a:t>
            </a:r>
          </a:p>
          <a:p>
            <a:pPr lvl="1"/>
            <a:r>
              <a:rPr lang="en-GB" dirty="0"/>
              <a:t>needs both drivers and stubs</a:t>
            </a:r>
          </a:p>
          <a:p>
            <a:pPr lvl="1"/>
            <a:r>
              <a:rPr lang="en-GB" dirty="0"/>
              <a:t>major control problems found last</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57</a:t>
            </a:fld>
            <a:endParaRPr lang="en-US"/>
          </a:p>
        </p:txBody>
      </p:sp>
    </p:spTree>
    <p:extLst>
      <p:ext uri="{BB962C8B-B14F-4D97-AF65-F5344CB8AC3E}">
        <p14:creationId xmlns:p14="http://schemas.microsoft.com/office/powerpoint/2010/main" val="320289973"/>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026"/>
          <p:cNvSpPr>
            <a:spLocks noGrp="1" noChangeArrowheads="1"/>
          </p:cNvSpPr>
          <p:nvPr>
            <p:ph type="title"/>
          </p:nvPr>
        </p:nvSpPr>
        <p:spPr/>
        <p:txBody>
          <a:bodyPr>
            <a:normAutofit fontScale="90000"/>
          </a:bodyPr>
          <a:lstStyle/>
          <a:p>
            <a:r>
              <a:rPr lang="en-US" dirty="0"/>
              <a:t>3.3.	Test levels</a:t>
            </a:r>
            <a:br>
              <a:rPr lang="en-US" dirty="0"/>
            </a:br>
            <a:r>
              <a:rPr lang="en-GB" dirty="0"/>
              <a:t>System test</a:t>
            </a:r>
          </a:p>
        </p:txBody>
      </p:sp>
      <p:sp>
        <p:nvSpPr>
          <p:cNvPr id="171011" name="Rectangle 1027"/>
          <p:cNvSpPr>
            <a:spLocks noGrp="1" noChangeArrowheads="1"/>
          </p:cNvSpPr>
          <p:nvPr>
            <p:ph idx="1"/>
          </p:nvPr>
        </p:nvSpPr>
        <p:spPr/>
        <p:txBody>
          <a:bodyPr>
            <a:normAutofit/>
          </a:bodyPr>
          <a:lstStyle/>
          <a:p>
            <a:r>
              <a:rPr lang="en-GB" dirty="0"/>
              <a:t>The process of testing an integrated system to </a:t>
            </a:r>
            <a:r>
              <a:rPr lang="en-GB" b="1" dirty="0"/>
              <a:t>verify </a:t>
            </a:r>
            <a:r>
              <a:rPr lang="en-GB" dirty="0"/>
              <a:t>that it meets specified requirements</a:t>
            </a:r>
          </a:p>
          <a:p>
            <a:r>
              <a:rPr lang="en-US" dirty="0"/>
              <a:t>Test basis:</a:t>
            </a:r>
          </a:p>
          <a:p>
            <a:pPr lvl="1"/>
            <a:r>
              <a:rPr lang="en-US" dirty="0"/>
              <a:t>requirements specification</a:t>
            </a:r>
          </a:p>
          <a:p>
            <a:pPr lvl="1"/>
            <a:r>
              <a:rPr lang="en-US" dirty="0"/>
              <a:t>business processes</a:t>
            </a:r>
          </a:p>
          <a:p>
            <a:pPr lvl="1"/>
            <a:r>
              <a:rPr lang="en-US" dirty="0"/>
              <a:t>use cases</a:t>
            </a:r>
          </a:p>
          <a:p>
            <a:pPr lvl="1"/>
            <a:r>
              <a:rPr lang="en-US" dirty="0"/>
              <a:t>risk analysis reports</a:t>
            </a:r>
            <a:endParaRPr lang="en-GB" dirty="0"/>
          </a:p>
          <a:p>
            <a:r>
              <a:rPr lang="en-GB" b="1" dirty="0"/>
              <a:t>The test environment should correspond to the final target environment as much as possible</a:t>
            </a:r>
            <a:endParaRPr lang="en-GB" dirty="0"/>
          </a:p>
          <a:p>
            <a:pPr lvl="0"/>
            <a:r>
              <a:rPr lang="en-GB" dirty="0"/>
              <a:t>Done by: </a:t>
            </a:r>
            <a:r>
              <a:rPr lang="en-US" dirty="0"/>
              <a:t>a third party team or by business analysts</a:t>
            </a:r>
            <a:endParaRPr lang="en-US" sz="2800" i="1"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58</a:t>
            </a:fld>
            <a:endParaRPr lang="en-US"/>
          </a:p>
        </p:txBody>
      </p:sp>
    </p:spTree>
    <p:extLst>
      <p:ext uri="{BB962C8B-B14F-4D97-AF65-F5344CB8AC3E}">
        <p14:creationId xmlns:p14="http://schemas.microsoft.com/office/powerpoint/2010/main" val="2300366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3.3.	Test levels</a:t>
            </a:r>
            <a:br>
              <a:rPr lang="en-US"/>
            </a:br>
            <a:r>
              <a:rPr lang="en-GB"/>
              <a:t>System test (cont.)</a:t>
            </a:r>
            <a:endParaRPr lang="en-US"/>
          </a:p>
        </p:txBody>
      </p:sp>
      <p:sp>
        <p:nvSpPr>
          <p:cNvPr id="3" name="Content Placeholder 2"/>
          <p:cNvSpPr>
            <a:spLocks noGrp="1"/>
          </p:cNvSpPr>
          <p:nvPr>
            <p:ph idx="1"/>
          </p:nvPr>
        </p:nvSpPr>
        <p:spPr/>
        <p:txBody>
          <a:bodyPr/>
          <a:lstStyle/>
          <a:p>
            <a:r>
              <a:rPr lang="en-GB" dirty="0"/>
              <a:t>Should investigate both </a:t>
            </a:r>
            <a:r>
              <a:rPr lang="en-GB" b="1" dirty="0"/>
              <a:t>functional</a:t>
            </a:r>
            <a:r>
              <a:rPr lang="en-GB" dirty="0"/>
              <a:t> and </a:t>
            </a:r>
            <a:r>
              <a:rPr lang="en-GB" b="1" dirty="0"/>
              <a:t>non-functional requirements</a:t>
            </a:r>
            <a:r>
              <a:rPr lang="en-GB" dirty="0"/>
              <a:t> of the system</a:t>
            </a:r>
          </a:p>
          <a:p>
            <a:pPr lvl="1"/>
            <a:r>
              <a:rPr lang="en-GB" dirty="0"/>
              <a:t>functional requirements</a:t>
            </a:r>
          </a:p>
          <a:p>
            <a:pPr lvl="2"/>
            <a:r>
              <a:rPr lang="en-GB" dirty="0"/>
              <a:t>using </a:t>
            </a:r>
            <a:r>
              <a:rPr lang="en-GB" b="1" dirty="0"/>
              <a:t>specification-based techniques</a:t>
            </a:r>
            <a:r>
              <a:rPr lang="en-GB" dirty="0"/>
              <a:t> (e.g. create decision table in business rules,…)</a:t>
            </a:r>
          </a:p>
          <a:p>
            <a:pPr lvl="2"/>
            <a:r>
              <a:rPr lang="en-GB" dirty="0"/>
              <a:t>using </a:t>
            </a:r>
            <a:r>
              <a:rPr lang="en-GB" b="1" dirty="0"/>
              <a:t>structure-based techniques</a:t>
            </a:r>
            <a:r>
              <a:rPr lang="en-GB" dirty="0"/>
              <a:t> (e.g. </a:t>
            </a:r>
            <a:r>
              <a:rPr lang="en-US" dirty="0"/>
              <a:t>the coverage of menu options, web page navigation,…)</a:t>
            </a:r>
            <a:endParaRPr lang="en-GB" dirty="0"/>
          </a:p>
          <a:p>
            <a:pPr lvl="1"/>
            <a:r>
              <a:rPr lang="en-GB" dirty="0"/>
              <a:t>non-functional requirements</a:t>
            </a:r>
          </a:p>
          <a:p>
            <a:pPr lvl="2"/>
            <a:r>
              <a:rPr lang="en-GB" dirty="0"/>
              <a:t>e.g. </a:t>
            </a:r>
            <a:r>
              <a:rPr lang="en-US" dirty="0"/>
              <a:t>performance, </a:t>
            </a:r>
            <a:r>
              <a:rPr lang="en-GB" dirty="0"/>
              <a:t>reliability, </a:t>
            </a:r>
            <a:r>
              <a:rPr lang="en-US" dirty="0"/>
              <a:t>usability</a:t>
            </a:r>
            <a:r>
              <a:rPr lang="vi-VN" dirty="0"/>
              <a:t>, </a:t>
            </a:r>
            <a:r>
              <a:rPr lang="en-GB" dirty="0"/>
              <a:t>configuration/installation, back-up/recovery...</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59</a:t>
            </a:fld>
            <a:endParaRPr lang="en-US"/>
          </a:p>
        </p:txBody>
      </p:sp>
    </p:spTree>
    <p:extLst>
      <p:ext uri="{BB962C8B-B14F-4D97-AF65-F5344CB8AC3E}">
        <p14:creationId xmlns:p14="http://schemas.microsoft.com/office/powerpoint/2010/main" val="41883736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3.3.	Test levels</a:t>
            </a:r>
            <a:br>
              <a:rPr lang="en-US" dirty="0"/>
            </a:br>
            <a:r>
              <a:rPr lang="en-US" dirty="0"/>
              <a:t>Acceptance test</a:t>
            </a:r>
          </a:p>
        </p:txBody>
      </p:sp>
      <p:sp>
        <p:nvSpPr>
          <p:cNvPr id="3" name="Content Placeholder 2"/>
          <p:cNvSpPr>
            <a:spLocks noGrp="1"/>
          </p:cNvSpPr>
          <p:nvPr>
            <p:ph idx="1"/>
          </p:nvPr>
        </p:nvSpPr>
        <p:spPr/>
        <p:txBody>
          <a:bodyPr>
            <a:normAutofit/>
          </a:bodyPr>
          <a:lstStyle/>
          <a:p>
            <a:r>
              <a:rPr lang="en-US" dirty="0"/>
              <a:t>Most often focused on a </a:t>
            </a:r>
            <a:r>
              <a:rPr lang="en-US" b="1" dirty="0"/>
              <a:t>validation</a:t>
            </a:r>
            <a:r>
              <a:rPr lang="en-US" dirty="0"/>
              <a:t> type of testing</a:t>
            </a:r>
          </a:p>
          <a:p>
            <a:r>
              <a:rPr lang="en-US" dirty="0"/>
              <a:t>Most often the responsibility of the </a:t>
            </a:r>
            <a:r>
              <a:rPr lang="en-US" b="1" dirty="0"/>
              <a:t>user</a:t>
            </a:r>
            <a:r>
              <a:rPr lang="en-US" dirty="0"/>
              <a:t> or </a:t>
            </a:r>
            <a:r>
              <a:rPr lang="en-US" b="1" dirty="0"/>
              <a:t>customer</a:t>
            </a:r>
            <a:endParaRPr lang="en-US" dirty="0"/>
          </a:p>
          <a:p>
            <a:r>
              <a:rPr lang="en-US" dirty="0"/>
              <a:t>Finding defects is not the main focus in acceptance testing</a:t>
            </a:r>
          </a:p>
          <a:p>
            <a:r>
              <a:rPr lang="en-US" dirty="0"/>
              <a:t>Test basis:</a:t>
            </a:r>
          </a:p>
          <a:p>
            <a:pPr lvl="1"/>
            <a:r>
              <a:rPr lang="en-US" dirty="0"/>
              <a:t>user requirements</a:t>
            </a:r>
          </a:p>
          <a:p>
            <a:pPr lvl="1"/>
            <a:r>
              <a:rPr lang="en-US" dirty="0"/>
              <a:t>system requirements</a:t>
            </a:r>
          </a:p>
          <a:p>
            <a:pPr lvl="1"/>
            <a:r>
              <a:rPr lang="en-US" dirty="0"/>
              <a:t>use cases</a:t>
            </a:r>
          </a:p>
          <a:p>
            <a:pPr lvl="1"/>
            <a:r>
              <a:rPr lang="en-US" dirty="0"/>
              <a:t>business processes</a:t>
            </a:r>
          </a:p>
          <a:p>
            <a:pPr lvl="1"/>
            <a:r>
              <a:rPr lang="en-US" dirty="0"/>
              <a:t>risk analysis reports</a:t>
            </a:r>
          </a:p>
          <a:p>
            <a:r>
              <a:rPr lang="en-US" dirty="0">
                <a:ea typeface="ＭＳ Ｐゴシック" panose="020B0600070205080204" pitchFamily="50" charset="-128"/>
              </a:rPr>
              <a:t>Done by: Customer/independent test team</a:t>
            </a:r>
            <a:endParaRPr lang="en-US" dirty="0"/>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60</a:t>
            </a:fld>
            <a:endParaRPr lang="en-US"/>
          </a:p>
        </p:txBody>
      </p:sp>
    </p:spTree>
    <p:extLst>
      <p:ext uri="{BB962C8B-B14F-4D97-AF65-F5344CB8AC3E}">
        <p14:creationId xmlns:p14="http://schemas.microsoft.com/office/powerpoint/2010/main" val="11133289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3.3.	Test levels</a:t>
            </a:r>
            <a:br>
              <a:rPr lang="en-US"/>
            </a:br>
            <a:r>
              <a:rPr lang="en-US"/>
              <a:t>Acceptance test (cont.)</a:t>
            </a:r>
          </a:p>
        </p:txBody>
      </p:sp>
      <p:sp>
        <p:nvSpPr>
          <p:cNvPr id="3" name="Content Placeholder 2"/>
          <p:cNvSpPr>
            <a:spLocks noGrp="1"/>
          </p:cNvSpPr>
          <p:nvPr>
            <p:ph idx="1"/>
          </p:nvPr>
        </p:nvSpPr>
        <p:spPr/>
        <p:txBody>
          <a:bodyPr/>
          <a:lstStyle/>
          <a:p>
            <a:r>
              <a:rPr lang="en-US" dirty="0"/>
              <a:t>Typical forms of acceptance testing:</a:t>
            </a:r>
          </a:p>
          <a:p>
            <a:pPr lvl="1"/>
            <a:r>
              <a:rPr lang="en-US" dirty="0"/>
              <a:t>user acceptance test</a:t>
            </a:r>
          </a:p>
          <a:p>
            <a:pPr lvl="1"/>
            <a:r>
              <a:rPr lang="en-US" dirty="0"/>
              <a:t>operational acceptance test</a:t>
            </a:r>
          </a:p>
          <a:p>
            <a:pPr lvl="1"/>
            <a:r>
              <a:rPr lang="vi-VN" dirty="0" err="1">
                <a:latin typeface="Calibri" pitchFamily="34" charset="0"/>
                <a:cs typeface="Calibri" pitchFamily="34" charset="0"/>
              </a:rPr>
              <a:t>contract</a:t>
            </a:r>
            <a:r>
              <a:rPr lang="vi-VN" dirty="0">
                <a:latin typeface="Calibri" pitchFamily="34" charset="0"/>
                <a:cs typeface="Calibri" pitchFamily="34" charset="0"/>
              </a:rPr>
              <a:t> </a:t>
            </a:r>
            <a:r>
              <a:rPr lang="vi-VN" dirty="0" err="1">
                <a:latin typeface="Calibri" pitchFamily="34" charset="0"/>
                <a:cs typeface="Calibri" pitchFamily="34" charset="0"/>
              </a:rPr>
              <a:t>and</a:t>
            </a:r>
            <a:r>
              <a:rPr lang="vi-VN" dirty="0">
                <a:latin typeface="Calibri" pitchFamily="34" charset="0"/>
                <a:cs typeface="Calibri" pitchFamily="34" charset="0"/>
              </a:rPr>
              <a:t> </a:t>
            </a:r>
            <a:r>
              <a:rPr lang="vi-VN" dirty="0" err="1">
                <a:latin typeface="Calibri" pitchFamily="34" charset="0"/>
                <a:cs typeface="Calibri" pitchFamily="34" charset="0"/>
              </a:rPr>
              <a:t>regulation</a:t>
            </a:r>
            <a:r>
              <a:rPr lang="vi-VN" dirty="0">
                <a:latin typeface="Calibri" pitchFamily="34" charset="0"/>
                <a:cs typeface="Calibri" pitchFamily="34" charset="0"/>
              </a:rPr>
              <a:t> </a:t>
            </a:r>
            <a:r>
              <a:rPr lang="vi-VN" dirty="0" err="1">
                <a:latin typeface="Calibri" pitchFamily="34" charset="0"/>
                <a:cs typeface="Calibri" pitchFamily="34" charset="0"/>
              </a:rPr>
              <a:t>acceptance</a:t>
            </a:r>
            <a:r>
              <a:rPr lang="vi-VN" dirty="0">
                <a:latin typeface="Calibri" pitchFamily="34" charset="0"/>
                <a:cs typeface="Calibri" pitchFamily="34" charset="0"/>
              </a:rPr>
              <a:t> </a:t>
            </a:r>
            <a:r>
              <a:rPr lang="vi-VN" dirty="0" err="1">
                <a:latin typeface="Calibri" pitchFamily="34" charset="0"/>
                <a:cs typeface="Calibri" pitchFamily="34" charset="0"/>
              </a:rPr>
              <a:t>test</a:t>
            </a:r>
            <a:endParaRPr lang="en-US" dirty="0">
              <a:latin typeface="Calibri" pitchFamily="34" charset="0"/>
              <a:cs typeface="Calibri" pitchFamily="34" charset="0"/>
            </a:endParaRPr>
          </a:p>
          <a:p>
            <a:pPr lvl="1"/>
            <a:r>
              <a:rPr lang="en-US" dirty="0"/>
              <a:t>alpha test/beta test</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61</a:t>
            </a:fld>
            <a:endParaRPr lang="en-US"/>
          </a:p>
        </p:txBody>
      </p:sp>
    </p:spTree>
    <p:extLst>
      <p:ext uri="{BB962C8B-B14F-4D97-AF65-F5344CB8AC3E}">
        <p14:creationId xmlns:p14="http://schemas.microsoft.com/office/powerpoint/2010/main" val="41814037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normAutofit fontScale="90000"/>
          </a:bodyPr>
          <a:lstStyle/>
          <a:p>
            <a:r>
              <a:rPr lang="en-US" dirty="0"/>
              <a:t>3.3.	Test levels</a:t>
            </a:r>
            <a:br>
              <a:rPr lang="en-US" dirty="0"/>
            </a:br>
            <a:r>
              <a:rPr lang="en-US" dirty="0"/>
              <a:t>Acceptance test – </a:t>
            </a:r>
            <a:r>
              <a:rPr lang="en-GB" dirty="0"/>
              <a:t>User acceptance test</a:t>
            </a:r>
          </a:p>
        </p:txBody>
      </p:sp>
      <p:sp>
        <p:nvSpPr>
          <p:cNvPr id="325635" name="Rectangle 3"/>
          <p:cNvSpPr>
            <a:spLocks noGrp="1" noChangeArrowheads="1"/>
          </p:cNvSpPr>
          <p:nvPr>
            <p:ph type="body" idx="1"/>
          </p:nvPr>
        </p:nvSpPr>
        <p:spPr/>
        <p:txBody>
          <a:bodyPr>
            <a:normAutofit lnSpcReduction="10000"/>
          </a:bodyPr>
          <a:lstStyle/>
          <a:p>
            <a:r>
              <a:rPr lang="en-US" dirty="0"/>
              <a:t>Typically verifies the </a:t>
            </a:r>
            <a:r>
              <a:rPr lang="en-US" b="1" dirty="0"/>
              <a:t>fitness for use </a:t>
            </a:r>
            <a:r>
              <a:rPr lang="en-US" dirty="0"/>
              <a:t>of the system by business users</a:t>
            </a:r>
            <a:endParaRPr lang="en-GB" dirty="0"/>
          </a:p>
          <a:p>
            <a:pPr lvl="1"/>
            <a:r>
              <a:rPr lang="en-GB" dirty="0"/>
              <a:t>customer (user) should perform or be closely involved</a:t>
            </a:r>
          </a:p>
          <a:p>
            <a:pPr lvl="1"/>
            <a:r>
              <a:rPr lang="en-GB" dirty="0"/>
              <a:t>customer can perform any test they wish, usually based on their business processes</a:t>
            </a:r>
          </a:p>
          <a:p>
            <a:r>
              <a:rPr lang="en-GB" dirty="0"/>
              <a:t>Why customer/user involvement</a:t>
            </a:r>
          </a:p>
          <a:p>
            <a:pPr lvl="1"/>
            <a:r>
              <a:rPr lang="en-GB" dirty="0"/>
              <a:t>Users know:</a:t>
            </a:r>
          </a:p>
          <a:p>
            <a:pPr lvl="2"/>
            <a:r>
              <a:rPr lang="en-GB" dirty="0"/>
              <a:t>what really happens in business situations</a:t>
            </a:r>
          </a:p>
          <a:p>
            <a:pPr lvl="2"/>
            <a:r>
              <a:rPr lang="en-GB" dirty="0"/>
              <a:t>complexity of business relationships</a:t>
            </a:r>
          </a:p>
          <a:p>
            <a:pPr lvl="2"/>
            <a:r>
              <a:rPr lang="en-GB" dirty="0"/>
              <a:t>how users would do their work using the system</a:t>
            </a:r>
          </a:p>
          <a:p>
            <a:pPr lvl="2"/>
            <a:r>
              <a:rPr lang="en-GB" dirty="0"/>
              <a:t>examples of real cases</a:t>
            </a:r>
          </a:p>
          <a:p>
            <a:pPr lvl="2"/>
            <a:r>
              <a:rPr lang="en-GB" dirty="0"/>
              <a:t>how to identify sensible work-arounds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62</a:t>
            </a:fld>
            <a:endParaRPr lang="en-US"/>
          </a:p>
        </p:txBody>
      </p:sp>
    </p:spTree>
    <p:extLst>
      <p:ext uri="{BB962C8B-B14F-4D97-AF65-F5344CB8AC3E}">
        <p14:creationId xmlns:p14="http://schemas.microsoft.com/office/powerpoint/2010/main" val="249775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563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563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563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563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563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56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3.3.	Test levels</a:t>
            </a:r>
            <a:br>
              <a:rPr lang="en-US" sz="3500" dirty="0"/>
            </a:br>
            <a:r>
              <a:rPr lang="en-US" sz="3500" dirty="0"/>
              <a:t>Acceptance test – Operational acceptance test</a:t>
            </a:r>
          </a:p>
        </p:txBody>
      </p:sp>
      <p:sp>
        <p:nvSpPr>
          <p:cNvPr id="3" name="Content Placeholder 2"/>
          <p:cNvSpPr>
            <a:spLocks noGrp="1"/>
          </p:cNvSpPr>
          <p:nvPr>
            <p:ph idx="1"/>
          </p:nvPr>
        </p:nvSpPr>
        <p:spPr/>
        <p:txBody>
          <a:bodyPr/>
          <a:lstStyle/>
          <a:p>
            <a:r>
              <a:rPr lang="en-US" dirty="0"/>
              <a:t>Also called production acceptance test</a:t>
            </a:r>
          </a:p>
          <a:p>
            <a:r>
              <a:rPr lang="en-US" dirty="0"/>
              <a:t>Validates</a:t>
            </a:r>
            <a:r>
              <a:rPr lang="en-US" b="1" dirty="0"/>
              <a:t> </a:t>
            </a:r>
            <a:r>
              <a:rPr lang="en-US" dirty="0"/>
              <a:t>whether the system meets the requirements for operation, often performed by the </a:t>
            </a:r>
            <a:r>
              <a:rPr lang="en-US" b="1" dirty="0"/>
              <a:t>system administrators</a:t>
            </a:r>
          </a:p>
          <a:p>
            <a:r>
              <a:rPr lang="en-US" dirty="0"/>
              <a:t>May be included:</a:t>
            </a:r>
          </a:p>
          <a:p>
            <a:pPr lvl="1"/>
            <a:r>
              <a:rPr lang="en-US" dirty="0"/>
              <a:t>testing of backup/restore</a:t>
            </a:r>
          </a:p>
          <a:p>
            <a:pPr lvl="1"/>
            <a:r>
              <a:rPr lang="en-US" dirty="0"/>
              <a:t>disaster recovery</a:t>
            </a:r>
          </a:p>
          <a:p>
            <a:pPr lvl="1"/>
            <a:r>
              <a:rPr lang="en-US" dirty="0"/>
              <a:t>user management</a:t>
            </a:r>
          </a:p>
          <a:p>
            <a:pPr lvl="1"/>
            <a:r>
              <a:rPr lang="en-US" dirty="0"/>
              <a:t>maintenance tasks</a:t>
            </a:r>
          </a:p>
          <a:p>
            <a:pPr lvl="1"/>
            <a:r>
              <a:rPr lang="en-US" dirty="0"/>
              <a:t>data load and migration tasks</a:t>
            </a:r>
          </a:p>
          <a:p>
            <a:pPr lvl="1"/>
            <a:r>
              <a:rPr lang="en-US" dirty="0"/>
              <a:t>periodic checks of security vulnerabilities</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63</a:t>
            </a:fld>
            <a:endParaRPr lang="en-US"/>
          </a:p>
        </p:txBody>
      </p:sp>
    </p:spTree>
    <p:extLst>
      <p:ext uri="{BB962C8B-B14F-4D97-AF65-F5344CB8AC3E}">
        <p14:creationId xmlns:p14="http://schemas.microsoft.com/office/powerpoint/2010/main" val="10125165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p:txBody>
          <a:bodyPr>
            <a:normAutofit fontScale="90000"/>
          </a:bodyPr>
          <a:lstStyle/>
          <a:p>
            <a:r>
              <a:rPr lang="en-US" dirty="0"/>
              <a:t>3.3.	Test levels</a:t>
            </a:r>
            <a:br>
              <a:rPr lang="en-US" dirty="0"/>
            </a:br>
            <a:r>
              <a:rPr lang="en-US" sz="3200" dirty="0"/>
              <a:t>Acceptance test – </a:t>
            </a:r>
            <a:r>
              <a:rPr lang="en-GB" sz="3200" dirty="0"/>
              <a:t>Contract/</a:t>
            </a:r>
            <a:r>
              <a:rPr lang="vi-VN" sz="3200" dirty="0" err="1">
                <a:latin typeface="Calibri" pitchFamily="34" charset="0"/>
                <a:cs typeface="Calibri" pitchFamily="34" charset="0"/>
              </a:rPr>
              <a:t>regulation</a:t>
            </a:r>
            <a:r>
              <a:rPr lang="vi-VN" sz="3200" dirty="0"/>
              <a:t> </a:t>
            </a:r>
            <a:r>
              <a:rPr lang="en-GB" sz="3200" dirty="0"/>
              <a:t>acceptance test</a:t>
            </a:r>
          </a:p>
        </p:txBody>
      </p:sp>
      <p:sp>
        <p:nvSpPr>
          <p:cNvPr id="327683" name="Rectangle 3"/>
          <p:cNvSpPr>
            <a:spLocks noGrp="1" noChangeArrowheads="1"/>
          </p:cNvSpPr>
          <p:nvPr>
            <p:ph type="body" idx="1"/>
          </p:nvPr>
        </p:nvSpPr>
        <p:spPr/>
        <p:txBody>
          <a:bodyPr/>
          <a:lstStyle/>
          <a:p>
            <a:r>
              <a:rPr lang="en-GB" dirty="0"/>
              <a:t>Contract acceptance testing is </a:t>
            </a:r>
            <a:r>
              <a:rPr lang="en-GB" b="1" dirty="0"/>
              <a:t>performed against a contract's acceptance criteria</a:t>
            </a:r>
            <a:r>
              <a:rPr lang="en-GB" dirty="0"/>
              <a:t> and any documented agreed changes</a:t>
            </a:r>
          </a:p>
          <a:p>
            <a:endParaRPr lang="en-GB" dirty="0"/>
          </a:p>
          <a:p>
            <a:r>
              <a:rPr lang="en-GB" dirty="0"/>
              <a:t>Regulation acceptance testing (compliance acceptance testing) is </a:t>
            </a:r>
            <a:r>
              <a:rPr lang="en-GB" b="1" dirty="0"/>
              <a:t>performed against the regulations which must be adhered to</a:t>
            </a:r>
            <a:r>
              <a:rPr lang="en-GB" dirty="0"/>
              <a:t>, such as governmental, legal or safety regulations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64</a:t>
            </a:fld>
            <a:endParaRPr lang="en-US"/>
          </a:p>
        </p:txBody>
      </p:sp>
    </p:spTree>
    <p:extLst>
      <p:ext uri="{BB962C8B-B14F-4D97-AF65-F5344CB8AC3E}">
        <p14:creationId xmlns:p14="http://schemas.microsoft.com/office/powerpoint/2010/main" val="24422675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normAutofit fontScale="90000"/>
          </a:bodyPr>
          <a:lstStyle/>
          <a:p>
            <a:r>
              <a:rPr lang="en-US" dirty="0"/>
              <a:t>3.3.	Test levels</a:t>
            </a:r>
            <a:br>
              <a:rPr lang="en-US" dirty="0"/>
            </a:br>
            <a:r>
              <a:rPr lang="en-US" dirty="0"/>
              <a:t>Acceptance test – </a:t>
            </a:r>
            <a:r>
              <a:rPr lang="en-GB" dirty="0"/>
              <a:t>Alpha and Beta test</a:t>
            </a:r>
          </a:p>
        </p:txBody>
      </p:sp>
      <p:sp>
        <p:nvSpPr>
          <p:cNvPr id="328707" name="Rectangle 3"/>
          <p:cNvSpPr>
            <a:spLocks noGrp="1" noChangeArrowheads="1"/>
          </p:cNvSpPr>
          <p:nvPr>
            <p:ph type="body" idx="1"/>
          </p:nvPr>
        </p:nvSpPr>
        <p:spPr/>
        <p:txBody>
          <a:bodyPr/>
          <a:lstStyle/>
          <a:p>
            <a:r>
              <a:rPr lang="en-GB" dirty="0"/>
              <a:t>Similarities:</a:t>
            </a:r>
          </a:p>
          <a:p>
            <a:pPr lvl="1"/>
            <a:r>
              <a:rPr lang="vi-VN" dirty="0" err="1">
                <a:latin typeface="Calibri" pitchFamily="34" charset="0"/>
              </a:rPr>
              <a:t>Use</a:t>
            </a:r>
            <a:r>
              <a:rPr lang="vi-VN" dirty="0">
                <a:latin typeface="Calibri" pitchFamily="34" charset="0"/>
              </a:rPr>
              <a:t> </a:t>
            </a:r>
            <a:r>
              <a:rPr lang="vi-VN" dirty="0" err="1">
                <a:latin typeface="Calibri" pitchFamily="34" charset="0"/>
              </a:rPr>
              <a:t>for</a:t>
            </a:r>
            <a:r>
              <a:rPr lang="vi-VN" dirty="0">
                <a:latin typeface="Calibri" pitchFamily="34" charset="0"/>
              </a:rPr>
              <a:t> </a:t>
            </a:r>
            <a:r>
              <a:rPr lang="en-US" dirty="0">
                <a:latin typeface="Calibri" pitchFamily="34" charset="0"/>
              </a:rPr>
              <a:t>the</a:t>
            </a:r>
            <a:r>
              <a:rPr lang="vi-VN" dirty="0">
                <a:latin typeface="Calibri" pitchFamily="34" charset="0"/>
              </a:rPr>
              <a:t> </a:t>
            </a:r>
            <a:r>
              <a:rPr lang="en-US" dirty="0">
                <a:latin typeface="Calibri" pitchFamily="34" charset="0"/>
              </a:rPr>
              <a:t>system</a:t>
            </a:r>
            <a:r>
              <a:rPr lang="vi-VN" dirty="0">
                <a:latin typeface="Calibri" pitchFamily="34" charset="0"/>
              </a:rPr>
              <a:t>s </a:t>
            </a:r>
            <a:r>
              <a:rPr lang="vi-VN" dirty="0" err="1">
                <a:latin typeface="Calibri" pitchFamily="34" charset="0"/>
              </a:rPr>
              <a:t>that</a:t>
            </a:r>
            <a:r>
              <a:rPr lang="en-US" dirty="0">
                <a:latin typeface="Calibri" pitchFamily="34" charset="0"/>
              </a:rPr>
              <a:t> has been developed for the mass market, e.g. commercial off-the-shelf software (COTS)</a:t>
            </a:r>
            <a:endParaRPr lang="en-GB" dirty="0">
              <a:latin typeface="Calibri" pitchFamily="34" charset="0"/>
            </a:endParaRPr>
          </a:p>
          <a:p>
            <a:pPr lvl="1"/>
            <a:r>
              <a:rPr lang="en-GB" dirty="0"/>
              <a:t>When software is stable</a:t>
            </a:r>
          </a:p>
          <a:p>
            <a:pPr lvl="1"/>
            <a:r>
              <a:rPr lang="en-GB" dirty="0"/>
              <a:t>Use the product in a realistic way in its operational environment</a:t>
            </a:r>
          </a:p>
          <a:p>
            <a:pPr lvl="1"/>
            <a:r>
              <a:rPr lang="en-GB" dirty="0"/>
              <a:t>Give comments back on the product</a:t>
            </a:r>
          </a:p>
          <a:p>
            <a:pPr lvl="2"/>
            <a:r>
              <a:rPr lang="en-GB" dirty="0"/>
              <a:t>faults found</a:t>
            </a:r>
          </a:p>
          <a:p>
            <a:pPr lvl="2"/>
            <a:r>
              <a:rPr lang="en-GB" dirty="0"/>
              <a:t>how the product meets their expectations</a:t>
            </a:r>
          </a:p>
          <a:p>
            <a:pPr lvl="2"/>
            <a:r>
              <a:rPr lang="en-GB" dirty="0"/>
              <a:t>improvement/enhancement suggestions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65</a:t>
            </a:fld>
            <a:endParaRPr lang="en-US"/>
          </a:p>
        </p:txBody>
      </p:sp>
    </p:spTree>
    <p:extLst>
      <p:ext uri="{BB962C8B-B14F-4D97-AF65-F5344CB8AC3E}">
        <p14:creationId xmlns:p14="http://schemas.microsoft.com/office/powerpoint/2010/main" val="15327657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a:normAutofit fontScale="90000"/>
          </a:bodyPr>
          <a:lstStyle/>
          <a:p>
            <a:r>
              <a:rPr lang="en-US"/>
              <a:t>3.3.	Test levels</a:t>
            </a:r>
            <a:br>
              <a:rPr lang="en-US"/>
            </a:br>
            <a:r>
              <a:rPr lang="en-US"/>
              <a:t>Acceptance test – </a:t>
            </a:r>
            <a:r>
              <a:rPr lang="en-GB"/>
              <a:t>Alpha and Beta test</a:t>
            </a:r>
          </a:p>
        </p:txBody>
      </p:sp>
      <p:sp>
        <p:nvSpPr>
          <p:cNvPr id="329731" name="Rectangle 3"/>
          <p:cNvSpPr>
            <a:spLocks noGrp="1" noChangeArrowheads="1"/>
          </p:cNvSpPr>
          <p:nvPr>
            <p:ph type="body" idx="1"/>
          </p:nvPr>
        </p:nvSpPr>
        <p:spPr/>
        <p:txBody>
          <a:bodyPr/>
          <a:lstStyle/>
          <a:p>
            <a:r>
              <a:rPr lang="en-GB" dirty="0"/>
              <a:t>Differences:</a:t>
            </a:r>
          </a:p>
          <a:p>
            <a:pPr lvl="1"/>
            <a:r>
              <a:rPr lang="en-GB" dirty="0"/>
              <a:t>Alpha testing</a:t>
            </a:r>
          </a:p>
          <a:p>
            <a:pPr lvl="2"/>
            <a:r>
              <a:rPr lang="en-GB" dirty="0"/>
              <a:t>simulated or actual operational testing performed</a:t>
            </a:r>
            <a:r>
              <a:rPr lang="en-US" dirty="0"/>
              <a:t> </a:t>
            </a:r>
            <a:r>
              <a:rPr lang="en-US" b="1" dirty="0"/>
              <a:t>at the developer's site</a:t>
            </a:r>
          </a:p>
          <a:p>
            <a:pPr lvl="2"/>
            <a:r>
              <a:rPr lang="en-US" dirty="0"/>
              <a:t>potential users and members of the developer's organization are invited to use the system</a:t>
            </a:r>
            <a:endParaRPr lang="en-GB" dirty="0"/>
          </a:p>
          <a:p>
            <a:pPr lvl="1"/>
            <a:r>
              <a:rPr lang="en-GB" dirty="0"/>
              <a:t>Beta testing (field testing)</a:t>
            </a:r>
          </a:p>
          <a:p>
            <a:pPr lvl="2"/>
            <a:r>
              <a:rPr lang="en-US" dirty="0"/>
              <a:t>performed by customers or potential customers </a:t>
            </a:r>
            <a:r>
              <a:rPr lang="en-US" b="1" dirty="0"/>
              <a:t>at their own locations</a:t>
            </a:r>
            <a:endParaRPr lang="en-GB" b="1"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66</a:t>
            </a:fld>
            <a:endParaRPr lang="en-US"/>
          </a:p>
        </p:txBody>
      </p:sp>
    </p:spTree>
    <p:extLst>
      <p:ext uri="{BB962C8B-B14F-4D97-AF65-F5344CB8AC3E}">
        <p14:creationId xmlns:p14="http://schemas.microsoft.com/office/powerpoint/2010/main" val="40542493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4. Test types</a:t>
            </a:r>
          </a:p>
        </p:txBody>
      </p:sp>
      <p:sp>
        <p:nvSpPr>
          <p:cNvPr id="13" name="Content Placeholder 12"/>
          <p:cNvSpPr>
            <a:spLocks noGrp="1"/>
          </p:cNvSpPr>
          <p:nvPr>
            <p:ph idx="1"/>
          </p:nvPr>
        </p:nvSpPr>
        <p:spPr/>
        <p:txBody>
          <a:bodyPr/>
          <a:lstStyle/>
          <a:p>
            <a:r>
              <a:rPr lang="en-US" dirty="0"/>
              <a:t>A test type is focused on a particular test objective:</a:t>
            </a:r>
          </a:p>
          <a:p>
            <a:pPr lvl="1"/>
            <a:r>
              <a:rPr lang="en-US" dirty="0"/>
              <a:t>functional test</a:t>
            </a:r>
          </a:p>
          <a:p>
            <a:pPr lvl="1"/>
            <a:r>
              <a:rPr lang="en-US" dirty="0"/>
              <a:t>non-functional test</a:t>
            </a:r>
          </a:p>
          <a:p>
            <a:pPr lvl="1"/>
            <a:r>
              <a:rPr lang="en-US" dirty="0"/>
              <a:t>structural test</a:t>
            </a:r>
          </a:p>
          <a:p>
            <a:pPr lvl="1"/>
            <a:r>
              <a:rPr lang="en-US" dirty="0"/>
              <a:t>testing related to changes (i.e. confirmation test, regression test)</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67</a:t>
            </a:fld>
            <a:endParaRPr lang="en-US"/>
          </a:p>
        </p:txBody>
      </p:sp>
    </p:spTree>
    <p:extLst>
      <p:ext uri="{BB962C8B-B14F-4D97-AF65-F5344CB8AC3E}">
        <p14:creationId xmlns:p14="http://schemas.microsoft.com/office/powerpoint/2010/main" val="35660745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4. Test types</a:t>
            </a:r>
            <a:br>
              <a:rPr lang="en-US"/>
            </a:br>
            <a:r>
              <a:rPr lang="en-US"/>
              <a:t>Functional test</a:t>
            </a:r>
          </a:p>
        </p:txBody>
      </p:sp>
      <p:sp>
        <p:nvSpPr>
          <p:cNvPr id="3" name="Content Placeholder 2"/>
          <p:cNvSpPr>
            <a:spLocks noGrp="1"/>
          </p:cNvSpPr>
          <p:nvPr>
            <p:ph idx="1"/>
          </p:nvPr>
        </p:nvSpPr>
        <p:spPr/>
        <p:txBody>
          <a:bodyPr/>
          <a:lstStyle/>
          <a:p>
            <a:r>
              <a:rPr lang="en-US" dirty="0"/>
              <a:t>Testing </a:t>
            </a:r>
            <a:r>
              <a:rPr lang="en-US" b="1" dirty="0"/>
              <a:t>functions</a:t>
            </a:r>
            <a:r>
              <a:rPr lang="en-US" dirty="0"/>
              <a:t> of a system or component</a:t>
            </a:r>
          </a:p>
          <a:p>
            <a:pPr lvl="1"/>
            <a:r>
              <a:rPr lang="en-US" b="1" dirty="0"/>
              <a:t>'what</a:t>
            </a:r>
            <a:r>
              <a:rPr lang="en-US" dirty="0"/>
              <a:t>' the system does</a:t>
            </a:r>
          </a:p>
          <a:p>
            <a:r>
              <a:rPr lang="en-US" dirty="0"/>
              <a:t>The functions typically </a:t>
            </a:r>
            <a:r>
              <a:rPr lang="en-US" b="1" dirty="0"/>
              <a:t>described in work products</a:t>
            </a:r>
            <a:r>
              <a:rPr lang="en-US" dirty="0"/>
              <a:t> (</a:t>
            </a:r>
            <a:r>
              <a:rPr lang="en-US" i="1" dirty="0"/>
              <a:t>requirements specification, functional specification, use cases</a:t>
            </a:r>
            <a:r>
              <a:rPr lang="en-US" dirty="0"/>
              <a:t>) or they may be undocumented</a:t>
            </a:r>
          </a:p>
          <a:p>
            <a:r>
              <a:rPr lang="en-US" dirty="0"/>
              <a:t>May be performed at all test levels</a:t>
            </a:r>
          </a:p>
          <a:p>
            <a:r>
              <a:rPr lang="en-US" dirty="0"/>
              <a:t>Testing functionality can be done from two perspectives: </a:t>
            </a:r>
          </a:p>
          <a:p>
            <a:pPr lvl="1"/>
            <a:r>
              <a:rPr lang="en-US" dirty="0"/>
              <a:t>requirements-based </a:t>
            </a:r>
          </a:p>
          <a:p>
            <a:pPr lvl="1"/>
            <a:r>
              <a:rPr lang="en-US" dirty="0"/>
              <a:t>business process-based</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68</a:t>
            </a:fld>
            <a:endParaRPr lang="en-US"/>
          </a:p>
        </p:txBody>
      </p:sp>
    </p:spTree>
    <p:extLst>
      <p:ext uri="{BB962C8B-B14F-4D97-AF65-F5344CB8AC3E}">
        <p14:creationId xmlns:p14="http://schemas.microsoft.com/office/powerpoint/2010/main" val="28414373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normAutofit fontScale="90000"/>
          </a:bodyPr>
          <a:lstStyle/>
          <a:p>
            <a:r>
              <a:rPr lang="en-US" dirty="0"/>
              <a:t>4. Test types</a:t>
            </a:r>
            <a:br>
              <a:rPr lang="en-US" dirty="0"/>
            </a:br>
            <a:r>
              <a:rPr lang="en-US" dirty="0"/>
              <a:t>Functional test – </a:t>
            </a:r>
            <a:r>
              <a:rPr lang="en-GB" dirty="0"/>
              <a:t>Requirements-based</a:t>
            </a:r>
          </a:p>
        </p:txBody>
      </p:sp>
      <p:sp>
        <p:nvSpPr>
          <p:cNvPr id="345091" name="Rectangle 3"/>
          <p:cNvSpPr>
            <a:spLocks noGrp="1" noChangeArrowheads="1"/>
          </p:cNvSpPr>
          <p:nvPr>
            <p:ph type="body" idx="1"/>
          </p:nvPr>
        </p:nvSpPr>
        <p:spPr/>
        <p:txBody>
          <a:bodyPr/>
          <a:lstStyle/>
          <a:p>
            <a:r>
              <a:rPr lang="en-GB" dirty="0"/>
              <a:t>The basis for designing tests: </a:t>
            </a:r>
            <a:r>
              <a:rPr lang="en-GB" b="1" dirty="0"/>
              <a:t>specification of the functional requirements</a:t>
            </a:r>
            <a:r>
              <a:rPr lang="en-GB" dirty="0"/>
              <a:t> for the system</a:t>
            </a:r>
          </a:p>
          <a:p>
            <a:pPr lvl="1"/>
            <a:r>
              <a:rPr lang="en-GB" dirty="0"/>
              <a:t>use </a:t>
            </a:r>
            <a:r>
              <a:rPr lang="en-GB" b="1" dirty="0"/>
              <a:t>table of contents of the requirements specification </a:t>
            </a:r>
            <a:r>
              <a:rPr lang="en-US" dirty="0"/>
              <a:t>as an initial list of items to test (or not to test)</a:t>
            </a:r>
            <a:endParaRPr lang="en-GB" dirty="0"/>
          </a:p>
          <a:p>
            <a:pPr lvl="1"/>
            <a:r>
              <a:rPr lang="en-GB" b="1" dirty="0"/>
              <a:t>prioritize the tests based on prioritized requirements in the specification</a:t>
            </a:r>
            <a:r>
              <a:rPr lang="en-GB" dirty="0"/>
              <a:t> (</a:t>
            </a:r>
            <a:r>
              <a:rPr lang="en-US" dirty="0"/>
              <a:t>also prioritize the requirements based on risk criteria if not already done) to ensure that the most important and most critical tests are included in the testing effort</a:t>
            </a:r>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69</a:t>
            </a:fld>
            <a:endParaRPr lang="en-US"/>
          </a:p>
        </p:txBody>
      </p:sp>
    </p:spTree>
    <p:extLst>
      <p:ext uri="{BB962C8B-B14F-4D97-AF65-F5344CB8AC3E}">
        <p14:creationId xmlns:p14="http://schemas.microsoft.com/office/powerpoint/2010/main" val="6968715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normAutofit fontScale="90000"/>
          </a:bodyPr>
          <a:lstStyle/>
          <a:p>
            <a:r>
              <a:rPr lang="en-US" dirty="0"/>
              <a:t>4. Test types</a:t>
            </a:r>
            <a:br>
              <a:rPr lang="en-US" dirty="0"/>
            </a:br>
            <a:r>
              <a:rPr lang="en-US" dirty="0"/>
              <a:t>Functional test – </a:t>
            </a:r>
            <a:r>
              <a:rPr lang="en-GB" dirty="0"/>
              <a:t>Business process-based</a:t>
            </a:r>
          </a:p>
        </p:txBody>
      </p:sp>
      <p:sp>
        <p:nvSpPr>
          <p:cNvPr id="346115" name="Rectangle 3"/>
          <p:cNvSpPr>
            <a:spLocks noGrp="1" noChangeArrowheads="1"/>
          </p:cNvSpPr>
          <p:nvPr>
            <p:ph idx="1"/>
          </p:nvPr>
        </p:nvSpPr>
        <p:spPr/>
        <p:txBody>
          <a:bodyPr/>
          <a:lstStyle/>
          <a:p>
            <a:r>
              <a:rPr lang="en-US" dirty="0"/>
              <a:t>Uses knowledge of the business processes</a:t>
            </a:r>
            <a:endParaRPr lang="en-GB" dirty="0"/>
          </a:p>
          <a:p>
            <a:pPr lvl="1"/>
            <a:r>
              <a:rPr lang="en-GB" dirty="0"/>
              <a:t>Business scenarios</a:t>
            </a:r>
          </a:p>
          <a:p>
            <a:pPr lvl="2"/>
            <a:r>
              <a:rPr lang="en-US" dirty="0"/>
              <a:t>involved in the day-to-day business use of the system</a:t>
            </a:r>
          </a:p>
          <a:p>
            <a:pPr lvl="1"/>
            <a:r>
              <a:rPr lang="en-GB" dirty="0"/>
              <a:t>Use cases</a:t>
            </a:r>
          </a:p>
          <a:p>
            <a:pPr lvl="2"/>
            <a:r>
              <a:rPr lang="en-GB" dirty="0"/>
              <a:t>prepared cases based on real situations</a:t>
            </a:r>
          </a:p>
          <a:p>
            <a:endParaRPr lang="en-GB"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70</a:t>
            </a:fld>
            <a:endParaRPr lang="en-US"/>
          </a:p>
        </p:txBody>
      </p:sp>
    </p:spTree>
    <p:extLst>
      <p:ext uri="{BB962C8B-B14F-4D97-AF65-F5344CB8AC3E}">
        <p14:creationId xmlns:p14="http://schemas.microsoft.com/office/powerpoint/2010/main" val="24247706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fontScale="90000"/>
          </a:bodyPr>
          <a:lstStyle/>
          <a:p>
            <a:r>
              <a:rPr lang="en-US" dirty="0"/>
              <a:t>4. Test types</a:t>
            </a:r>
            <a:br>
              <a:rPr lang="en-US" dirty="0"/>
            </a:br>
            <a:r>
              <a:rPr lang="en-GB" dirty="0"/>
              <a:t>Non-functional test</a:t>
            </a:r>
          </a:p>
        </p:txBody>
      </p:sp>
      <p:sp>
        <p:nvSpPr>
          <p:cNvPr id="58371" name="Rectangle 3"/>
          <p:cNvSpPr>
            <a:spLocks noGrp="1" noChangeArrowheads="1"/>
          </p:cNvSpPr>
          <p:nvPr>
            <p:ph type="body" idx="1"/>
          </p:nvPr>
        </p:nvSpPr>
        <p:spPr/>
        <p:txBody>
          <a:bodyPr>
            <a:normAutofit/>
          </a:bodyPr>
          <a:lstStyle/>
          <a:p>
            <a:r>
              <a:rPr lang="en-US" dirty="0"/>
              <a:t>The testing of a </a:t>
            </a:r>
            <a:r>
              <a:rPr lang="en-US" b="1" dirty="0"/>
              <a:t>non-functional quality characteristic</a:t>
            </a:r>
            <a:endParaRPr lang="en-GB" b="1" dirty="0"/>
          </a:p>
          <a:p>
            <a:pPr lvl="1"/>
            <a:r>
              <a:rPr lang="en-US" b="1" dirty="0"/>
              <a:t>'how well' </a:t>
            </a:r>
            <a:r>
              <a:rPr lang="en-US" dirty="0"/>
              <a:t>the system works</a:t>
            </a:r>
            <a:r>
              <a:rPr lang="vi-VN" dirty="0"/>
              <a:t>, </a:t>
            </a:r>
            <a:r>
              <a:rPr lang="en-US" dirty="0"/>
              <a:t>measure on a scale of measurement, e.g. time to respond</a:t>
            </a:r>
          </a:p>
          <a:p>
            <a:r>
              <a:rPr lang="en-US" dirty="0"/>
              <a:t>May be performed at all test levels</a:t>
            </a:r>
          </a:p>
          <a:p>
            <a:pPr marL="274292" lvl="1" indent="-274292">
              <a:buClr>
                <a:schemeClr val="accent3"/>
              </a:buClr>
              <a:buSzPct val="95000"/>
            </a:pPr>
            <a:r>
              <a:rPr lang="en-US" sz="2600" dirty="0"/>
              <a:t>Non-functional testing includes: performance testing, load testing, stress testing, usability testing, maintainability testing, reliability testing, portability testing…</a:t>
            </a:r>
            <a:endParaRPr lang="en-GB" sz="2600"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71</a:t>
            </a:fld>
            <a:endParaRPr lang="en-US"/>
          </a:p>
        </p:txBody>
      </p:sp>
    </p:spTree>
    <p:extLst>
      <p:ext uri="{BB962C8B-B14F-4D97-AF65-F5344CB8AC3E}">
        <p14:creationId xmlns:p14="http://schemas.microsoft.com/office/powerpoint/2010/main" val="607302555"/>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Test types </a:t>
            </a:r>
            <a:br>
              <a:rPr lang="en-US" dirty="0"/>
            </a:br>
            <a:r>
              <a:rPr lang="en-US" dirty="0"/>
              <a:t>Structural test</a:t>
            </a:r>
          </a:p>
        </p:txBody>
      </p:sp>
      <p:sp>
        <p:nvSpPr>
          <p:cNvPr id="3" name="Content Placeholder 2"/>
          <p:cNvSpPr>
            <a:spLocks noGrp="1"/>
          </p:cNvSpPr>
          <p:nvPr>
            <p:ph idx="1"/>
          </p:nvPr>
        </p:nvSpPr>
        <p:spPr/>
        <p:txBody>
          <a:bodyPr>
            <a:normAutofit/>
          </a:bodyPr>
          <a:lstStyle/>
          <a:p>
            <a:r>
              <a:rPr lang="en-US" dirty="0"/>
              <a:t>Referred to as 'white-box' or 'glass-box‘</a:t>
            </a:r>
          </a:p>
          <a:p>
            <a:r>
              <a:rPr lang="en-US" dirty="0"/>
              <a:t>May be performed at all test levels</a:t>
            </a:r>
          </a:p>
          <a:p>
            <a:pPr lvl="1"/>
            <a:r>
              <a:rPr lang="en-GB" dirty="0"/>
              <a:t>it tends to be </a:t>
            </a:r>
            <a:r>
              <a:rPr lang="en-GB" u="sng" dirty="0"/>
              <a:t>mostly</a:t>
            </a:r>
            <a:r>
              <a:rPr lang="en-GB" dirty="0"/>
              <a:t> applied at</a:t>
            </a:r>
            <a:r>
              <a:rPr lang="en-GB" b="1" dirty="0"/>
              <a:t> component </a:t>
            </a:r>
            <a:r>
              <a:rPr lang="en-GB" dirty="0"/>
              <a:t>and</a:t>
            </a:r>
            <a:r>
              <a:rPr lang="en-GB" b="1" dirty="0"/>
              <a:t> integration</a:t>
            </a:r>
          </a:p>
          <a:p>
            <a:pPr lvl="1"/>
            <a:r>
              <a:rPr lang="en-US" dirty="0"/>
              <a:t>can also be applied at </a:t>
            </a:r>
            <a:r>
              <a:rPr lang="en-US" b="1" dirty="0"/>
              <a:t>system </a:t>
            </a:r>
            <a:r>
              <a:rPr lang="en-US" dirty="0"/>
              <a:t>or</a:t>
            </a:r>
            <a:r>
              <a:rPr lang="en-US" b="1" dirty="0"/>
              <a:t> acceptance testing </a:t>
            </a:r>
            <a:r>
              <a:rPr lang="en-US" dirty="0"/>
              <a:t>levels (e.g. business models or menu structures)</a:t>
            </a:r>
          </a:p>
          <a:p>
            <a:endParaRPr lang="en-US" dirty="0"/>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72</a:t>
            </a:fld>
            <a:endParaRPr lang="en-US"/>
          </a:p>
        </p:txBody>
      </p:sp>
    </p:spTree>
    <p:extLst>
      <p:ext uri="{BB962C8B-B14F-4D97-AF65-F5344CB8AC3E}">
        <p14:creationId xmlns:p14="http://schemas.microsoft.com/office/powerpoint/2010/main" val="12590933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Test types </a:t>
            </a:r>
            <a:br>
              <a:rPr lang="en-US" dirty="0"/>
            </a:br>
            <a:r>
              <a:rPr lang="en-US" dirty="0"/>
              <a:t>Testing related to changes</a:t>
            </a:r>
          </a:p>
        </p:txBody>
      </p:sp>
      <p:sp>
        <p:nvSpPr>
          <p:cNvPr id="3" name="Content Placeholder 2"/>
          <p:cNvSpPr>
            <a:spLocks noGrp="1"/>
          </p:cNvSpPr>
          <p:nvPr>
            <p:ph idx="1"/>
          </p:nvPr>
        </p:nvSpPr>
        <p:spPr/>
        <p:txBody>
          <a:bodyPr/>
          <a:lstStyle/>
          <a:p>
            <a:r>
              <a:rPr lang="en-GB" dirty="0"/>
              <a:t>If you have made a change to the software, you will have changed the way it functions, the way it performs (or both) and its structure</a:t>
            </a:r>
          </a:p>
          <a:p>
            <a:r>
              <a:rPr lang="en-GB" dirty="0"/>
              <a:t>The specific types of tests relating to changes may be </a:t>
            </a:r>
            <a:r>
              <a:rPr lang="en-GB" b="1" dirty="0"/>
              <a:t>included all of the other test types</a:t>
            </a:r>
          </a:p>
          <a:p>
            <a:pPr lvl="1"/>
            <a:r>
              <a:rPr lang="en-GB" dirty="0"/>
              <a:t>confirmation testing (re-testing)</a:t>
            </a:r>
          </a:p>
          <a:p>
            <a:pPr lvl="1"/>
            <a:r>
              <a:rPr lang="en-GB" dirty="0"/>
              <a:t>regression testing</a:t>
            </a:r>
            <a:endParaRPr lang="en-US" dirty="0"/>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73</a:t>
            </a:fld>
            <a:endParaRPr lang="en-US"/>
          </a:p>
        </p:txBody>
      </p:sp>
    </p:spTree>
    <p:extLst>
      <p:ext uri="{BB962C8B-B14F-4D97-AF65-F5344CB8AC3E}">
        <p14:creationId xmlns:p14="http://schemas.microsoft.com/office/powerpoint/2010/main" val="11500772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Test types – Testing related to changes</a:t>
            </a:r>
            <a:br>
              <a:rPr lang="vi-VN" dirty="0"/>
            </a:br>
            <a:r>
              <a:rPr lang="en-GB" dirty="0"/>
              <a:t>Confirmation testing (Re-testing)</a:t>
            </a:r>
            <a:endParaRPr lang="en-US" dirty="0"/>
          </a:p>
        </p:txBody>
      </p:sp>
      <p:sp>
        <p:nvSpPr>
          <p:cNvPr id="7" name="Content Placeholder 6"/>
          <p:cNvSpPr>
            <a:spLocks noGrp="1"/>
          </p:cNvSpPr>
          <p:nvPr>
            <p:ph idx="1"/>
          </p:nvPr>
        </p:nvSpPr>
        <p:spPr/>
        <p:txBody>
          <a:bodyPr>
            <a:normAutofit lnSpcReduction="10000"/>
          </a:bodyPr>
          <a:lstStyle/>
          <a:p>
            <a:r>
              <a:rPr lang="en-GB" dirty="0"/>
              <a:t>Re-execute test after faults are fixed</a:t>
            </a:r>
          </a:p>
          <a:p>
            <a:pPr lvl="1"/>
            <a:r>
              <a:rPr lang="en-GB" dirty="0"/>
              <a:t>run a test, it fails, the defect is reported</a:t>
            </a:r>
          </a:p>
          <a:p>
            <a:pPr lvl="1"/>
            <a:r>
              <a:rPr lang="en-GB" dirty="0"/>
              <a:t>new version of software with defect fixed</a:t>
            </a:r>
          </a:p>
          <a:p>
            <a:pPr lvl="1"/>
            <a:r>
              <a:rPr lang="en-GB" u="sng" dirty="0"/>
              <a:t>re-run</a:t>
            </a:r>
            <a:r>
              <a:rPr lang="en-GB" dirty="0"/>
              <a:t> the test to </a:t>
            </a:r>
            <a:r>
              <a:rPr lang="en-GB" b="1" dirty="0"/>
              <a:t>confirm that the defect has indeed been fixed</a:t>
            </a:r>
          </a:p>
          <a:p>
            <a:r>
              <a:rPr lang="en-GB" dirty="0"/>
              <a:t>Re-run the same test</a:t>
            </a:r>
          </a:p>
          <a:p>
            <a:pPr lvl="1"/>
            <a:r>
              <a:rPr lang="en-GB" dirty="0"/>
              <a:t>must be exactly repeatable</a:t>
            </a:r>
          </a:p>
          <a:p>
            <a:pPr lvl="1"/>
            <a:r>
              <a:rPr lang="en-GB" dirty="0"/>
              <a:t>same environment, inputs and preconditions</a:t>
            </a:r>
          </a:p>
          <a:p>
            <a:r>
              <a:rPr lang="en-US" dirty="0"/>
              <a:t>If the test now passes, this mean that</a:t>
            </a:r>
          </a:p>
          <a:p>
            <a:pPr lvl="1"/>
            <a:r>
              <a:rPr lang="en-US" b="1" dirty="0"/>
              <a:t>the software is correct?</a:t>
            </a:r>
          </a:p>
          <a:p>
            <a:pPr lvl="1"/>
            <a:r>
              <a:rPr lang="en-US" b="1" dirty="0"/>
              <a:t>introduced a different defect elsewhere</a:t>
            </a:r>
            <a:r>
              <a:rPr lang="en-US" dirty="0"/>
              <a:t>?</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74</a:t>
            </a:fld>
            <a:endParaRPr lang="en-US"/>
          </a:p>
        </p:txBody>
      </p:sp>
    </p:spTree>
    <p:extLst>
      <p:ext uri="{BB962C8B-B14F-4D97-AF65-F5344CB8AC3E}">
        <p14:creationId xmlns:p14="http://schemas.microsoft.com/office/powerpoint/2010/main" val="2657961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Test types – Testing related to changes </a:t>
            </a:r>
            <a:r>
              <a:rPr lang="en-GB" dirty="0"/>
              <a:t>Regression testing</a:t>
            </a:r>
            <a:endParaRPr lang="en-US" dirty="0"/>
          </a:p>
        </p:txBody>
      </p:sp>
      <p:sp>
        <p:nvSpPr>
          <p:cNvPr id="3" name="Content Placeholder 2"/>
          <p:cNvSpPr>
            <a:spLocks noGrp="1"/>
          </p:cNvSpPr>
          <p:nvPr>
            <p:ph idx="1"/>
          </p:nvPr>
        </p:nvSpPr>
        <p:spPr/>
        <p:txBody>
          <a:bodyPr>
            <a:normAutofit/>
          </a:bodyPr>
          <a:lstStyle/>
          <a:p>
            <a:r>
              <a:rPr lang="en-US" dirty="0"/>
              <a:t>Executing </a:t>
            </a:r>
            <a:r>
              <a:rPr lang="en-GB" dirty="0"/>
              <a:t>test cases </a:t>
            </a:r>
            <a:r>
              <a:rPr lang="en-US" dirty="0"/>
              <a:t>that have been executed before</a:t>
            </a:r>
            <a:endParaRPr lang="en-GB" dirty="0"/>
          </a:p>
          <a:p>
            <a:pPr lvl="1"/>
            <a:r>
              <a:rPr lang="en-US" dirty="0"/>
              <a:t>include the tests that probably passed the last time executed</a:t>
            </a:r>
            <a:endParaRPr lang="en-GB" dirty="0"/>
          </a:p>
          <a:p>
            <a:r>
              <a:rPr lang="en-GB" dirty="0"/>
              <a:t>Regression testing are performed</a:t>
            </a:r>
          </a:p>
          <a:p>
            <a:pPr lvl="1"/>
            <a:r>
              <a:rPr lang="en-GB" dirty="0"/>
              <a:t>whenever </a:t>
            </a:r>
            <a:r>
              <a:rPr lang="en-GB" b="1" dirty="0"/>
              <a:t>the</a:t>
            </a:r>
            <a:r>
              <a:rPr lang="en-GB" dirty="0"/>
              <a:t> </a:t>
            </a:r>
            <a:r>
              <a:rPr lang="en-GB" b="1" dirty="0"/>
              <a:t>software changes</a:t>
            </a:r>
            <a:r>
              <a:rPr lang="en-GB" dirty="0"/>
              <a:t>, either as a result of fixes or new or changed functionality</a:t>
            </a:r>
          </a:p>
          <a:p>
            <a:pPr lvl="1"/>
            <a:r>
              <a:rPr lang="en-GB" dirty="0"/>
              <a:t>when </a:t>
            </a:r>
            <a:r>
              <a:rPr lang="en-GB" b="1" dirty="0"/>
              <a:t>the environment changes</a:t>
            </a:r>
            <a:r>
              <a:rPr lang="en-GB" dirty="0"/>
              <a:t>, even if application functionality stays the same, e.g. new version of DBMS</a:t>
            </a:r>
          </a:p>
          <a:p>
            <a:pPr lvl="1"/>
            <a:r>
              <a:rPr lang="en-GB" dirty="0"/>
              <a:t>for </a:t>
            </a:r>
            <a:r>
              <a:rPr lang="en-GB" b="1" dirty="0"/>
              <a:t>emergency fixes </a:t>
            </a:r>
            <a:r>
              <a:rPr lang="en-GB" dirty="0"/>
              <a:t>(possibly a subset)</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75</a:t>
            </a:fld>
            <a:endParaRPr lang="en-US"/>
          </a:p>
        </p:txBody>
      </p:sp>
    </p:spTree>
    <p:extLst>
      <p:ext uri="{BB962C8B-B14F-4D97-AF65-F5344CB8AC3E}">
        <p14:creationId xmlns:p14="http://schemas.microsoft.com/office/powerpoint/2010/main" val="40977583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 concepts</a:t>
            </a:r>
            <a:br>
              <a:rPr lang="en-US" dirty="0"/>
            </a:br>
            <a:r>
              <a:rPr lang="en-US" dirty="0"/>
              <a:t>Test basis, test condition</a:t>
            </a:r>
          </a:p>
        </p:txBody>
      </p:sp>
      <p:sp>
        <p:nvSpPr>
          <p:cNvPr id="3" name="Content Placeholder 2"/>
          <p:cNvSpPr>
            <a:spLocks noGrp="1"/>
          </p:cNvSpPr>
          <p:nvPr>
            <p:ph idx="1"/>
          </p:nvPr>
        </p:nvSpPr>
        <p:spPr/>
        <p:txBody>
          <a:bodyPr/>
          <a:lstStyle/>
          <a:p>
            <a:r>
              <a:rPr lang="en-US" dirty="0"/>
              <a:t>Test basis</a:t>
            </a:r>
          </a:p>
          <a:p>
            <a:pPr lvl="1"/>
            <a:r>
              <a:rPr lang="en-US" dirty="0"/>
              <a:t>all documents from which the requirements of a component or system can be inferred</a:t>
            </a:r>
          </a:p>
          <a:p>
            <a:pPr lvl="1"/>
            <a:r>
              <a:rPr lang="en-US" dirty="0"/>
              <a:t>e.g. requirements, architecture, design, interfaces</a:t>
            </a:r>
          </a:p>
          <a:p>
            <a:endParaRPr lang="en-US" dirty="0"/>
          </a:p>
          <a:p>
            <a:r>
              <a:rPr lang="en-US" dirty="0"/>
              <a:t>Test condition</a:t>
            </a:r>
          </a:p>
          <a:p>
            <a:pPr lvl="1"/>
            <a:r>
              <a:rPr lang="en-US" dirty="0"/>
              <a:t>an item or event of a component or system that could be verified by one or more test cases</a:t>
            </a:r>
          </a:p>
          <a:p>
            <a:pPr lvl="1"/>
            <a:r>
              <a:rPr lang="en-US" dirty="0"/>
              <a:t>e.g. function, transaction, quality attribute</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76</a:t>
            </a:fld>
            <a:endParaRPr lang="en-US"/>
          </a:p>
        </p:txBody>
      </p:sp>
    </p:spTree>
    <p:extLst>
      <p:ext uri="{BB962C8B-B14F-4D97-AF65-F5344CB8AC3E}">
        <p14:creationId xmlns:p14="http://schemas.microsoft.com/office/powerpoint/2010/main" val="28346318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 concepts</a:t>
            </a:r>
            <a:br>
              <a:rPr lang="en-US" dirty="0"/>
            </a:br>
            <a:r>
              <a:rPr lang="en-US" dirty="0"/>
              <a:t>Test case, test suite</a:t>
            </a:r>
          </a:p>
        </p:txBody>
      </p:sp>
      <p:sp>
        <p:nvSpPr>
          <p:cNvPr id="3" name="Content Placeholder 2"/>
          <p:cNvSpPr>
            <a:spLocks noGrp="1"/>
          </p:cNvSpPr>
          <p:nvPr>
            <p:ph idx="1"/>
          </p:nvPr>
        </p:nvSpPr>
        <p:spPr/>
        <p:txBody>
          <a:bodyPr/>
          <a:lstStyle/>
          <a:p>
            <a:r>
              <a:rPr lang="en-US" dirty="0"/>
              <a:t>Test case: </a:t>
            </a:r>
          </a:p>
          <a:p>
            <a:pPr lvl="1"/>
            <a:r>
              <a:rPr lang="en-US" dirty="0"/>
              <a:t>a set of input values, execution preconditions, expected results and execution postconditions, developed for a particular objective or test condition</a:t>
            </a:r>
          </a:p>
          <a:p>
            <a:pPr lvl="1"/>
            <a:endParaRPr lang="en-US" dirty="0"/>
          </a:p>
          <a:p>
            <a:r>
              <a:rPr lang="en-US" dirty="0"/>
              <a:t>Test suite: </a:t>
            </a:r>
          </a:p>
          <a:p>
            <a:pPr lvl="1"/>
            <a:r>
              <a:rPr lang="en-US" dirty="0"/>
              <a:t>a set of several test cases for a component or system under test, where the post condition of one test is often used as the precondition for the next one</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77</a:t>
            </a:fld>
            <a:endParaRPr lang="en-US"/>
          </a:p>
        </p:txBody>
      </p:sp>
    </p:spTree>
    <p:extLst>
      <p:ext uri="{BB962C8B-B14F-4D97-AF65-F5344CB8AC3E}">
        <p14:creationId xmlns:p14="http://schemas.microsoft.com/office/powerpoint/2010/main" val="13545482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 concepts</a:t>
            </a:r>
            <a:br>
              <a:rPr lang="en-US" dirty="0"/>
            </a:br>
            <a:r>
              <a:rPr lang="en-US" dirty="0"/>
              <a:t>Verification, validation</a:t>
            </a:r>
          </a:p>
        </p:txBody>
      </p:sp>
      <p:sp>
        <p:nvSpPr>
          <p:cNvPr id="3" name="Content Placeholder 2"/>
          <p:cNvSpPr>
            <a:spLocks noGrp="1"/>
          </p:cNvSpPr>
          <p:nvPr>
            <p:ph idx="1"/>
          </p:nvPr>
        </p:nvSpPr>
        <p:spPr/>
        <p:txBody>
          <a:bodyPr/>
          <a:lstStyle/>
          <a:p>
            <a:r>
              <a:rPr lang="en-US" dirty="0"/>
              <a:t>Verification: </a:t>
            </a:r>
          </a:p>
          <a:p>
            <a:pPr lvl="1"/>
            <a:r>
              <a:rPr lang="en-US" dirty="0"/>
              <a:t>verify whether the product </a:t>
            </a:r>
            <a:r>
              <a:rPr lang="en-US" b="1" dirty="0"/>
              <a:t>meets the requirements set</a:t>
            </a:r>
          </a:p>
          <a:p>
            <a:pPr lvl="1"/>
            <a:r>
              <a:rPr lang="en-US" dirty="0"/>
              <a:t>focuses on the question 'Is the deliverable built according to the specification?'</a:t>
            </a:r>
          </a:p>
          <a:p>
            <a:r>
              <a:rPr lang="en-US" dirty="0"/>
              <a:t>Validation: </a:t>
            </a:r>
          </a:p>
          <a:p>
            <a:pPr lvl="1"/>
            <a:r>
              <a:rPr lang="en-US" dirty="0"/>
              <a:t>checks whether the product </a:t>
            </a:r>
            <a:r>
              <a:rPr lang="en-US" b="1" dirty="0"/>
              <a:t>meets the user needs and requirements</a:t>
            </a:r>
          </a:p>
          <a:p>
            <a:pPr lvl="1"/>
            <a:r>
              <a:rPr lang="en-US" dirty="0"/>
              <a:t>focuses on the question  'Is the deliverable fit for purpose, e.g. does it provide a solution to the problem?'</a:t>
            </a:r>
          </a:p>
        </p:txBody>
      </p:sp>
      <p:grpSp>
        <p:nvGrpSpPr>
          <p:cNvPr id="10" name="Group 9"/>
          <p:cNvGrpSpPr/>
          <p:nvPr/>
        </p:nvGrpSpPr>
        <p:grpSpPr>
          <a:xfrm>
            <a:off x="1272517" y="5786734"/>
            <a:ext cx="5780901" cy="461666"/>
            <a:chOff x="5115113" y="1110733"/>
            <a:chExt cx="3692068" cy="461666"/>
          </a:xfrm>
        </p:grpSpPr>
        <p:sp>
          <p:nvSpPr>
            <p:cNvPr id="6" name="Rectangle 5"/>
            <p:cNvSpPr/>
            <p:nvPr/>
          </p:nvSpPr>
          <p:spPr>
            <a:xfrm>
              <a:off x="5115113" y="1110734"/>
              <a:ext cx="1417918" cy="461665"/>
            </a:xfrm>
            <a:prstGeom prst="rect">
              <a:avLst/>
            </a:prstGeom>
            <a:ln>
              <a:solidFill>
                <a:srgbClr val="0070C0"/>
              </a:solidFill>
            </a:ln>
          </p:spPr>
          <p:txBody>
            <a:bodyPr wrap="none">
              <a:spAutoFit/>
            </a:bodyPr>
            <a:lstStyle/>
            <a:p>
              <a:pPr algn="ctr"/>
              <a:r>
                <a:rPr lang="en-US" sz="2400"/>
                <a:t>Verification</a:t>
              </a:r>
            </a:p>
          </p:txBody>
        </p:sp>
        <p:sp>
          <p:nvSpPr>
            <p:cNvPr id="7" name="Rectangle 6"/>
            <p:cNvSpPr/>
            <p:nvPr/>
          </p:nvSpPr>
          <p:spPr>
            <a:xfrm>
              <a:off x="7541545" y="1110733"/>
              <a:ext cx="1265636" cy="461665"/>
            </a:xfrm>
            <a:prstGeom prst="rect">
              <a:avLst/>
            </a:prstGeom>
            <a:ln>
              <a:solidFill>
                <a:srgbClr val="0070C0"/>
              </a:solidFill>
            </a:ln>
          </p:spPr>
          <p:txBody>
            <a:bodyPr wrap="none">
              <a:spAutoFit/>
            </a:bodyPr>
            <a:lstStyle/>
            <a:p>
              <a:pPr algn="ctr"/>
              <a:r>
                <a:rPr lang="en-US" sz="2400"/>
                <a:t>Validation</a:t>
              </a:r>
            </a:p>
          </p:txBody>
        </p:sp>
        <p:cxnSp>
          <p:nvCxnSpPr>
            <p:cNvPr id="9" name="Straight Arrow Connector 8"/>
            <p:cNvCxnSpPr>
              <a:stCxn id="6" idx="3"/>
              <a:endCxn id="7" idx="1"/>
            </p:cNvCxnSpPr>
            <p:nvPr/>
          </p:nvCxnSpPr>
          <p:spPr>
            <a:xfrm flipV="1">
              <a:off x="6533031" y="1341566"/>
              <a:ext cx="1008514" cy="1"/>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78</a:t>
            </a:fld>
            <a:endParaRPr lang="en-US"/>
          </a:p>
        </p:txBody>
      </p:sp>
    </p:spTree>
    <p:extLst>
      <p:ext uri="{BB962C8B-B14F-4D97-AF65-F5344CB8AC3E}">
        <p14:creationId xmlns:p14="http://schemas.microsoft.com/office/powerpoint/2010/main" val="5346742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 concepts</a:t>
            </a:r>
            <a:br>
              <a:rPr lang="en-US" dirty="0"/>
            </a:br>
            <a:r>
              <a:rPr lang="en-US" dirty="0"/>
              <a:t>Static testing, dynamic testing</a:t>
            </a:r>
          </a:p>
        </p:txBody>
      </p:sp>
      <p:sp>
        <p:nvSpPr>
          <p:cNvPr id="3" name="Content Placeholder 2"/>
          <p:cNvSpPr>
            <a:spLocks noGrp="1"/>
          </p:cNvSpPr>
          <p:nvPr>
            <p:ph idx="1"/>
          </p:nvPr>
        </p:nvSpPr>
        <p:spPr/>
        <p:txBody>
          <a:bodyPr/>
          <a:lstStyle/>
          <a:p>
            <a:r>
              <a:rPr lang="en-US" dirty="0"/>
              <a:t>Static testing: testing without running the code</a:t>
            </a:r>
          </a:p>
          <a:p>
            <a:pPr lvl="1"/>
            <a:r>
              <a:rPr lang="en-US" dirty="0"/>
              <a:t>static testing is performed using the software documentation (e.g. specification)</a:t>
            </a:r>
          </a:p>
          <a:p>
            <a:pPr lvl="1"/>
            <a:r>
              <a:rPr lang="en-US" dirty="0"/>
              <a:t>most verification techniques are static tests (e.g. feasibility reviews, requirements reviews)</a:t>
            </a:r>
          </a:p>
          <a:p>
            <a:endParaRPr lang="en-US" dirty="0"/>
          </a:p>
          <a:p>
            <a:r>
              <a:rPr lang="en-US" dirty="0"/>
              <a:t>Dynamic testing: requires the code to be executed to perform the tests</a:t>
            </a:r>
          </a:p>
          <a:p>
            <a:pPr lvl="1"/>
            <a:r>
              <a:rPr lang="en-US" dirty="0"/>
              <a:t>most validation tests are dynamic tests (e.g. unit testing, integrated testing,...)</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79</a:t>
            </a:fld>
            <a:endParaRPr lang="en-US"/>
          </a:p>
        </p:txBody>
      </p:sp>
    </p:spTree>
    <p:extLst>
      <p:ext uri="{BB962C8B-B14F-4D97-AF65-F5344CB8AC3E}">
        <p14:creationId xmlns:p14="http://schemas.microsoft.com/office/powerpoint/2010/main" val="42401885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pPr marL="347663" indent="-347663">
              <a:buFont typeface="+mj-lt"/>
              <a:buAutoNum type="arabicPeriod"/>
            </a:pPr>
            <a:r>
              <a:rPr lang="en-US"/>
              <a:t>Integrating quality activities in the project life cycle </a:t>
            </a:r>
          </a:p>
          <a:p>
            <a:pPr marL="347663" indent="-347663">
              <a:buFont typeface="+mj-lt"/>
              <a:buAutoNum type="arabicPeriod"/>
            </a:pPr>
            <a:r>
              <a:rPr lang="en-US"/>
              <a:t>Reviews</a:t>
            </a:r>
          </a:p>
          <a:p>
            <a:pPr marL="347663" indent="-347663">
              <a:buFont typeface="+mj-lt"/>
              <a:buAutoNum type="arabicPeriod"/>
            </a:pPr>
            <a:r>
              <a:rPr lang="en-US"/>
              <a:t>Software testing</a:t>
            </a:r>
          </a:p>
          <a:p>
            <a:pPr marL="347663" indent="-347663">
              <a:buFont typeface="+mj-lt"/>
              <a:buAutoNum type="arabicPeriod"/>
            </a:pPr>
            <a:r>
              <a:rPr lang="en-US" b="1"/>
              <a:t>Assuring the quality of software maintenance components </a:t>
            </a:r>
          </a:p>
          <a:p>
            <a:pPr marL="347663" indent="-347663">
              <a:buFont typeface="+mj-lt"/>
              <a:buAutoNum type="arabicPeriod"/>
            </a:pPr>
            <a:r>
              <a:rPr lang="en-US"/>
              <a:t>Assuring the quality of external participants’ contributions </a:t>
            </a:r>
          </a:p>
        </p:txBody>
      </p:sp>
      <p:sp>
        <p:nvSpPr>
          <p:cNvPr id="14"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5" name="Rectangle 15"/>
          <p:cNvSpPr>
            <a:spLocks noChangeArrowheads="1"/>
          </p:cNvSpPr>
          <p:nvPr/>
        </p:nvSpPr>
        <p:spPr bwMode="auto">
          <a:xfrm>
            <a:off x="6647903"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2</a:t>
            </a:r>
          </a:p>
        </p:txBody>
      </p:sp>
      <p:sp>
        <p:nvSpPr>
          <p:cNvPr id="16"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17"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8"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9"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0"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1"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22"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3"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80</a:t>
            </a:fld>
            <a:endParaRPr lang="en-US"/>
          </a:p>
        </p:txBody>
      </p:sp>
    </p:spTree>
    <p:extLst>
      <p:ext uri="{BB962C8B-B14F-4D97-AF65-F5344CB8AC3E}">
        <p14:creationId xmlns:p14="http://schemas.microsoft.com/office/powerpoint/2010/main" val="23637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Software maintenance components</a:t>
            </a:r>
          </a:p>
        </p:txBody>
      </p:sp>
      <p:sp>
        <p:nvSpPr>
          <p:cNvPr id="3" name="Content Placeholder 2"/>
          <p:cNvSpPr>
            <a:spLocks noGrp="1"/>
          </p:cNvSpPr>
          <p:nvPr>
            <p:ph idx="1"/>
          </p:nvPr>
        </p:nvSpPr>
        <p:spPr/>
        <p:txBody>
          <a:bodyPr/>
          <a:lstStyle/>
          <a:p>
            <a:r>
              <a:rPr lang="en-US" dirty="0"/>
              <a:t>Corrective maintenance</a:t>
            </a:r>
          </a:p>
          <a:p>
            <a:pPr lvl="1"/>
            <a:r>
              <a:rPr lang="en-US" dirty="0"/>
              <a:t>for software corrections and user support services</a:t>
            </a:r>
          </a:p>
          <a:p>
            <a:r>
              <a:rPr lang="en-US" dirty="0"/>
              <a:t>Adaptive maintenance</a:t>
            </a:r>
          </a:p>
          <a:p>
            <a:pPr lvl="1"/>
            <a:r>
              <a:rPr lang="en-US" dirty="0"/>
              <a:t>adjusts the software package to the requirements of new customers and changing environmental conditions</a:t>
            </a:r>
          </a:p>
          <a:p>
            <a:r>
              <a:rPr lang="en-US" dirty="0"/>
              <a:t>Functionality improvement maintenance</a:t>
            </a:r>
          </a:p>
          <a:p>
            <a:pPr lvl="1"/>
            <a:r>
              <a:rPr lang="fr-FR" dirty="0"/>
              <a:t>combines perfective maintenance and </a:t>
            </a:r>
            <a:r>
              <a:rPr lang="fr-FR" dirty="0" err="1"/>
              <a:t>preventive</a:t>
            </a:r>
            <a:r>
              <a:rPr lang="fr-FR" dirty="0"/>
              <a:t> maintenance</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81</a:t>
            </a:fld>
            <a:endParaRPr lang="en-US"/>
          </a:p>
        </p:txBody>
      </p:sp>
    </p:spTree>
    <p:extLst>
      <p:ext uri="{BB962C8B-B14F-4D97-AF65-F5344CB8AC3E}">
        <p14:creationId xmlns:p14="http://schemas.microsoft.com/office/powerpoint/2010/main" val="19566793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normAutofit fontScale="90000"/>
          </a:bodyPr>
          <a:lstStyle/>
          <a:p>
            <a:r>
              <a:rPr lang="en-US" dirty="0"/>
              <a:t>4. Software maintenance components</a:t>
            </a:r>
            <a:br>
              <a:rPr lang="en-US" dirty="0"/>
            </a:br>
            <a:r>
              <a:rPr lang="en-US" dirty="0"/>
              <a:t>The foundation of high quality</a:t>
            </a:r>
          </a:p>
        </p:txBody>
      </p:sp>
      <p:sp>
        <p:nvSpPr>
          <p:cNvPr id="140291" name="Rectangle 3"/>
          <p:cNvSpPr>
            <a:spLocks noGrp="1" noChangeArrowheads="1"/>
          </p:cNvSpPr>
          <p:nvPr>
            <p:ph idx="1"/>
          </p:nvPr>
        </p:nvSpPr>
        <p:spPr/>
        <p:txBody>
          <a:bodyPr/>
          <a:lstStyle/>
          <a:p>
            <a:pPr>
              <a:lnSpc>
                <a:spcPct val="200000"/>
              </a:lnSpc>
            </a:pPr>
            <a:r>
              <a:rPr lang="en-US" dirty="0"/>
              <a:t>Foundation 1: Software package quality</a:t>
            </a:r>
          </a:p>
          <a:p>
            <a:pPr>
              <a:lnSpc>
                <a:spcPct val="200000"/>
              </a:lnSpc>
            </a:pPr>
            <a:r>
              <a:rPr lang="en-US" dirty="0"/>
              <a:t>Foundation 2: Maintenance policy</a:t>
            </a:r>
          </a:p>
          <a:p>
            <a:pPr>
              <a:lnSpc>
                <a:spcPct val="200000"/>
              </a:lnSpc>
            </a:pPr>
            <a:endParaRPr lang="en-US" dirty="0"/>
          </a:p>
        </p:txBody>
      </p:sp>
    </p:spTree>
    <p:extLst>
      <p:ext uri="{BB962C8B-B14F-4D97-AF65-F5344CB8AC3E}">
        <p14:creationId xmlns:p14="http://schemas.microsoft.com/office/powerpoint/2010/main" val="42691780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Software maintenance components</a:t>
            </a:r>
            <a:br>
              <a:rPr lang="en-US" dirty="0"/>
            </a:br>
            <a:r>
              <a:rPr lang="en-US" dirty="0"/>
              <a:t>Foundation 1: Software package quality</a:t>
            </a:r>
          </a:p>
        </p:txBody>
      </p:sp>
      <p:sp>
        <p:nvSpPr>
          <p:cNvPr id="10" name="Content Placeholder 9"/>
          <p:cNvSpPr>
            <a:spLocks noGrp="1"/>
          </p:cNvSpPr>
          <p:nvPr>
            <p:ph idx="1"/>
          </p:nvPr>
        </p:nvSpPr>
        <p:spPr/>
        <p:txBody>
          <a:bodyPr/>
          <a:lstStyle/>
          <a:p>
            <a:r>
              <a:rPr lang="en-US" dirty="0"/>
              <a:t>Making code readable and maintainable is as important, or more important than making it work correctly</a:t>
            </a:r>
          </a:p>
          <a:p>
            <a:pPr lvl="1"/>
            <a:r>
              <a:rPr lang="en-US" dirty="0"/>
              <a:t>if it doesn't work, it can be fixed. If it can't be maintained, it's scrap</a:t>
            </a:r>
          </a:p>
          <a:p>
            <a:r>
              <a:rPr lang="en-US" dirty="0"/>
              <a:t>From McCall quality factor, factors that have direct impact on software maintenance:</a:t>
            </a:r>
          </a:p>
          <a:p>
            <a:pPr lvl="1"/>
            <a:r>
              <a:rPr lang="en-US" dirty="0"/>
              <a:t>product operation factors: Correctness, Reliability</a:t>
            </a:r>
          </a:p>
          <a:p>
            <a:pPr lvl="1"/>
            <a:r>
              <a:rPr lang="en-US" dirty="0"/>
              <a:t>product revision factors: Maintainability, Flexibility, Testability</a:t>
            </a:r>
          </a:p>
          <a:p>
            <a:pPr lvl="1"/>
            <a:r>
              <a:rPr lang="en-US" dirty="0"/>
              <a:t>product transition factors: Portability, Interoperability</a:t>
            </a:r>
          </a:p>
          <a:p>
            <a:pPr lvl="1"/>
            <a:endParaRPr lang="en-US" dirty="0"/>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83</a:t>
            </a:fld>
            <a:endParaRPr lang="en-US"/>
          </a:p>
        </p:txBody>
      </p:sp>
    </p:spTree>
    <p:extLst>
      <p:ext uri="{BB962C8B-B14F-4D97-AF65-F5344CB8AC3E}">
        <p14:creationId xmlns:p14="http://schemas.microsoft.com/office/powerpoint/2010/main" val="19559838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normAutofit fontScale="90000"/>
          </a:bodyPr>
          <a:lstStyle/>
          <a:p>
            <a:r>
              <a:rPr lang="en-US"/>
              <a:t>4. Software maintenance components</a:t>
            </a:r>
            <a:br>
              <a:rPr lang="en-US"/>
            </a:br>
            <a:r>
              <a:rPr lang="en-US"/>
              <a:t>Foundation 1: Software package quality</a:t>
            </a:r>
          </a:p>
        </p:txBody>
      </p:sp>
      <p:sp>
        <p:nvSpPr>
          <p:cNvPr id="144387" name="Rectangle 3"/>
          <p:cNvSpPr>
            <a:spLocks noGrp="1" noChangeArrowheads="1"/>
          </p:cNvSpPr>
          <p:nvPr>
            <p:ph idx="1"/>
          </p:nvPr>
        </p:nvSpPr>
        <p:spPr/>
        <p:txBody>
          <a:bodyPr>
            <a:normAutofit lnSpcReduction="10000"/>
          </a:bodyPr>
          <a:lstStyle/>
          <a:p>
            <a:r>
              <a:rPr lang="en-US" dirty="0"/>
              <a:t>Correctness</a:t>
            </a:r>
          </a:p>
          <a:p>
            <a:pPr lvl="1"/>
            <a:r>
              <a:rPr lang="en-US" dirty="0"/>
              <a:t>output correctness</a:t>
            </a:r>
          </a:p>
          <a:p>
            <a:pPr lvl="2"/>
            <a:r>
              <a:rPr lang="en-US" dirty="0"/>
              <a:t>accuracy, completeness of required output</a:t>
            </a:r>
          </a:p>
          <a:p>
            <a:pPr lvl="2"/>
            <a:r>
              <a:rPr lang="en-US" dirty="0"/>
              <a:t>up­-to-­</a:t>
            </a:r>
            <a:r>
              <a:rPr lang="en-US" dirty="0" err="1"/>
              <a:t>dateness</a:t>
            </a:r>
            <a:r>
              <a:rPr lang="en-US" dirty="0"/>
              <a:t>, availability of the information</a:t>
            </a:r>
          </a:p>
          <a:p>
            <a:pPr lvl="1"/>
            <a:r>
              <a:rPr lang="en-US" dirty="0"/>
              <a:t>documentation correctness</a:t>
            </a:r>
          </a:p>
          <a:p>
            <a:pPr lvl="2"/>
            <a:r>
              <a:rPr lang="en-US" dirty="0"/>
              <a:t>the quality of documentation: completeness, accuracy, documentation style and structure</a:t>
            </a:r>
          </a:p>
          <a:p>
            <a:pPr lvl="1"/>
            <a:r>
              <a:rPr lang="en-US" dirty="0"/>
              <a:t>coding qualification</a:t>
            </a:r>
          </a:p>
          <a:p>
            <a:pPr lvl="2"/>
            <a:r>
              <a:rPr lang="en-US" dirty="0"/>
              <a:t>compliance with coding instructions, especially those that limit and reduce code complexity and define standard coding style</a:t>
            </a:r>
          </a:p>
          <a:p>
            <a:r>
              <a:rPr lang="en-US" dirty="0"/>
              <a:t>Reliability</a:t>
            </a:r>
          </a:p>
          <a:p>
            <a:pPr lvl="1"/>
            <a:r>
              <a:rPr lang="en-US" dirty="0"/>
              <a:t>the frequency of system failures as well as recovery times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84</a:t>
            </a:fld>
            <a:endParaRPr lang="en-US"/>
          </a:p>
        </p:txBody>
      </p:sp>
    </p:spTree>
    <p:extLst>
      <p:ext uri="{BB962C8B-B14F-4D97-AF65-F5344CB8AC3E}">
        <p14:creationId xmlns:p14="http://schemas.microsoft.com/office/powerpoint/2010/main" val="25174888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normAutofit fontScale="90000"/>
          </a:bodyPr>
          <a:lstStyle/>
          <a:p>
            <a:r>
              <a:rPr lang="en-US"/>
              <a:t>4. Software maintenance components</a:t>
            </a:r>
            <a:br>
              <a:rPr lang="en-US"/>
            </a:br>
            <a:r>
              <a:rPr lang="en-US"/>
              <a:t>Foundation 1: Software package quality</a:t>
            </a:r>
          </a:p>
        </p:txBody>
      </p:sp>
      <p:sp>
        <p:nvSpPr>
          <p:cNvPr id="147459" name="Rectangle 3"/>
          <p:cNvSpPr>
            <a:spLocks noGrp="1" noChangeArrowheads="1"/>
          </p:cNvSpPr>
          <p:nvPr>
            <p:ph type="body" idx="1"/>
          </p:nvPr>
        </p:nvSpPr>
        <p:spPr/>
        <p:txBody>
          <a:bodyPr/>
          <a:lstStyle/>
          <a:p>
            <a:r>
              <a:rPr lang="en-US" dirty="0"/>
              <a:t>Maintainability</a:t>
            </a:r>
          </a:p>
          <a:p>
            <a:pPr lvl="1"/>
            <a:r>
              <a:rPr lang="en-US" dirty="0"/>
              <a:t>by following the software structure and style requirements</a:t>
            </a:r>
          </a:p>
          <a:p>
            <a:pPr lvl="1"/>
            <a:r>
              <a:rPr lang="en-US" dirty="0"/>
              <a:t>by implementing programmer documentation requirement</a:t>
            </a:r>
          </a:p>
          <a:p>
            <a:r>
              <a:rPr lang="en-US" dirty="0"/>
              <a:t>Flexibility</a:t>
            </a:r>
          </a:p>
          <a:p>
            <a:pPr lvl="1"/>
            <a:r>
              <a:rPr lang="en-US" dirty="0"/>
              <a:t>there’s more space for future functional improvement</a:t>
            </a:r>
          </a:p>
          <a:p>
            <a:r>
              <a:rPr lang="en-US" dirty="0"/>
              <a:t>Testability</a:t>
            </a:r>
          </a:p>
          <a:p>
            <a:pPr lvl="1"/>
            <a:r>
              <a:rPr lang="en-US" dirty="0"/>
              <a:t>includes the availability of system diagnostics to be applied by the user as well as failure diagnostics to be applied by the support center or the maintenance staff at the user’s site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85</a:t>
            </a:fld>
            <a:endParaRPr lang="en-US"/>
          </a:p>
        </p:txBody>
      </p:sp>
    </p:spTree>
    <p:extLst>
      <p:ext uri="{BB962C8B-B14F-4D97-AF65-F5344CB8AC3E}">
        <p14:creationId xmlns:p14="http://schemas.microsoft.com/office/powerpoint/2010/main" val="25730446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normAutofit fontScale="90000"/>
          </a:bodyPr>
          <a:lstStyle/>
          <a:p>
            <a:r>
              <a:rPr lang="en-US"/>
              <a:t>4. Software maintenance components</a:t>
            </a:r>
            <a:br>
              <a:rPr lang="en-US"/>
            </a:br>
            <a:r>
              <a:rPr lang="en-US"/>
              <a:t>Foundation 1: Software package quality</a:t>
            </a:r>
          </a:p>
        </p:txBody>
      </p:sp>
      <p:sp>
        <p:nvSpPr>
          <p:cNvPr id="149507" name="Rectangle 3"/>
          <p:cNvSpPr>
            <a:spLocks noGrp="1" noChangeArrowheads="1"/>
          </p:cNvSpPr>
          <p:nvPr>
            <p:ph type="body" idx="1"/>
          </p:nvPr>
        </p:nvSpPr>
        <p:spPr/>
        <p:txBody>
          <a:bodyPr/>
          <a:lstStyle/>
          <a:p>
            <a:r>
              <a:rPr lang="en-US" dirty="0"/>
              <a:t>Portability</a:t>
            </a:r>
          </a:p>
          <a:p>
            <a:pPr lvl="1"/>
            <a:r>
              <a:rPr lang="en-US" dirty="0"/>
              <a:t>the software’s potential application in different hardware and operating system environments, including the activities that enable those applications</a:t>
            </a:r>
          </a:p>
          <a:p>
            <a:r>
              <a:rPr lang="en-US" dirty="0"/>
              <a:t>Interoperability</a:t>
            </a:r>
          </a:p>
          <a:p>
            <a:pPr lvl="1"/>
            <a:r>
              <a:rPr lang="en-US" dirty="0"/>
              <a:t>capacity to operate with other packages and computerized equipment</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86</a:t>
            </a:fld>
            <a:endParaRPr lang="en-US"/>
          </a:p>
        </p:txBody>
      </p:sp>
    </p:spTree>
    <p:extLst>
      <p:ext uri="{BB962C8B-B14F-4D97-AF65-F5344CB8AC3E}">
        <p14:creationId xmlns:p14="http://schemas.microsoft.com/office/powerpoint/2010/main" val="29791986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4. Software maintenance components</a:t>
            </a:r>
            <a:br>
              <a:rPr lang="en-US"/>
            </a:br>
            <a:r>
              <a:rPr lang="en-US"/>
              <a:t>Foundation 1: Software package quality</a:t>
            </a:r>
          </a:p>
        </p:txBody>
      </p:sp>
      <p:sp>
        <p:nvSpPr>
          <p:cNvPr id="7" name="Content Placeholder 6"/>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0" y="2165350"/>
            <a:ext cx="872017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87</a:t>
            </a:fld>
            <a:endParaRPr lang="en-US"/>
          </a:p>
        </p:txBody>
      </p:sp>
    </p:spTree>
    <p:extLst>
      <p:ext uri="{BB962C8B-B14F-4D97-AF65-F5344CB8AC3E}">
        <p14:creationId xmlns:p14="http://schemas.microsoft.com/office/powerpoint/2010/main" val="7954914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Software maintenance components</a:t>
            </a:r>
            <a:br>
              <a:rPr lang="en-US" dirty="0"/>
            </a:br>
            <a:r>
              <a:rPr lang="en-US" dirty="0"/>
              <a:t>Topic for discussion</a:t>
            </a:r>
          </a:p>
        </p:txBody>
      </p:sp>
      <p:sp>
        <p:nvSpPr>
          <p:cNvPr id="3" name="Content Placeholder 2"/>
          <p:cNvSpPr>
            <a:spLocks noGrp="1"/>
          </p:cNvSpPr>
          <p:nvPr>
            <p:ph idx="1"/>
          </p:nvPr>
        </p:nvSpPr>
        <p:spPr/>
        <p:txBody>
          <a:bodyPr>
            <a:normAutofit fontScale="92500" lnSpcReduction="20000"/>
          </a:bodyPr>
          <a:lstStyle/>
          <a:p>
            <a:r>
              <a:rPr lang="en-US" dirty="0"/>
              <a:t>Suggest reasons for each of the maintenance team’s failures:</a:t>
            </a:r>
          </a:p>
          <a:p>
            <a:pPr lvl="1"/>
            <a:r>
              <a:rPr lang="en-US" dirty="0"/>
              <a:t>A complaint repeated by several customers: the software maintenance technician, who was unable to solve the problem on site at the scheduled time, claimed that he was unaware that he was required to carry the software programmers’ manual with him at all times;  therefore, he could not solve the problem on time.</a:t>
            </a:r>
          </a:p>
          <a:p>
            <a:pPr lvl="1"/>
            <a:r>
              <a:rPr lang="en-US" dirty="0"/>
              <a:t>A complaint by the Operations Manager of a supermarket chain: the software maintenance team had unsuccessfully tried to correct the software three times; as a result, several crucial functions could not be activated for four days.</a:t>
            </a:r>
          </a:p>
          <a:p>
            <a:pPr lvl="1"/>
            <a:r>
              <a:rPr lang="en-US" dirty="0"/>
              <a:t>A customer’s angry letter complaining  about an unfair cost estimate for a requested minor improvement: 60 man-days. He quoted the head of the Software Functional Improvement Team, who had said that the high estimate was the outcome of missing documentation and non-standard coding of the original package.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88</a:t>
            </a:fld>
            <a:endParaRPr lang="en-US"/>
          </a:p>
        </p:txBody>
      </p:sp>
    </p:spTree>
    <p:extLst>
      <p:ext uri="{BB962C8B-B14F-4D97-AF65-F5344CB8AC3E}">
        <p14:creationId xmlns:p14="http://schemas.microsoft.com/office/powerpoint/2010/main" val="25389307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Software maintenance components</a:t>
            </a:r>
            <a:br>
              <a:rPr lang="en-US" dirty="0"/>
            </a:br>
            <a:r>
              <a:rPr lang="en-US" dirty="0"/>
              <a:t>Foundation 2: Maintenance policy</a:t>
            </a:r>
          </a:p>
        </p:txBody>
      </p:sp>
      <p:sp>
        <p:nvSpPr>
          <p:cNvPr id="3" name="Content Placeholder 2"/>
          <p:cNvSpPr>
            <a:spLocks noGrp="1"/>
          </p:cNvSpPr>
          <p:nvPr>
            <p:ph idx="1"/>
          </p:nvPr>
        </p:nvSpPr>
        <p:spPr/>
        <p:txBody>
          <a:bodyPr>
            <a:normAutofit/>
          </a:bodyPr>
          <a:lstStyle/>
          <a:p>
            <a:r>
              <a:rPr lang="en-US" dirty="0"/>
              <a:t>Version development policy</a:t>
            </a:r>
          </a:p>
          <a:p>
            <a:pPr lvl="1"/>
            <a:r>
              <a:rPr lang="en-US" dirty="0"/>
              <a:t>sequential version policy</a:t>
            </a:r>
          </a:p>
          <a:p>
            <a:pPr lvl="2"/>
            <a:r>
              <a:rPr lang="en-US" dirty="0"/>
              <a:t>only one version is made available to the entire customer population, serve the needs of all customers</a:t>
            </a:r>
          </a:p>
          <a:p>
            <a:pPr lvl="2"/>
            <a:r>
              <a:rPr lang="en-US" dirty="0"/>
              <a:t>the new version replaces  the current version</a:t>
            </a:r>
          </a:p>
          <a:p>
            <a:pPr lvl="1"/>
            <a:r>
              <a:rPr lang="en-US" dirty="0"/>
              <a:t>tree version policy</a:t>
            </a:r>
          </a:p>
          <a:p>
            <a:pPr lvl="2"/>
            <a:r>
              <a:rPr lang="en-US" dirty="0"/>
              <a:t>develop a specialized, targeted version for groups of customers or a major customer</a:t>
            </a:r>
          </a:p>
          <a:p>
            <a:r>
              <a:rPr lang="en-US" dirty="0"/>
              <a:t>Change policy</a:t>
            </a:r>
          </a:p>
          <a:p>
            <a:pPr lvl="1"/>
            <a:r>
              <a:rPr lang="en-US" dirty="0"/>
              <a:t>the method of examining each change request and the criteria used for its approval</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89</a:t>
            </a:fld>
            <a:endParaRPr lang="en-US"/>
          </a:p>
        </p:txBody>
      </p:sp>
    </p:spTree>
    <p:extLst>
      <p:ext uri="{BB962C8B-B14F-4D97-AF65-F5344CB8AC3E}">
        <p14:creationId xmlns:p14="http://schemas.microsoft.com/office/powerpoint/2010/main" val="552118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Software maintenance components</a:t>
            </a:r>
            <a:br>
              <a:rPr lang="en-US" dirty="0"/>
            </a:br>
            <a:r>
              <a:rPr lang="en-US" dirty="0"/>
              <a:t>Pre-maintenance quality components</a:t>
            </a:r>
          </a:p>
        </p:txBody>
      </p:sp>
      <p:sp>
        <p:nvSpPr>
          <p:cNvPr id="3" name="Content Placeholder 2"/>
          <p:cNvSpPr>
            <a:spLocks noGrp="1"/>
          </p:cNvSpPr>
          <p:nvPr>
            <p:ph idx="1"/>
          </p:nvPr>
        </p:nvSpPr>
        <p:spPr/>
        <p:txBody>
          <a:bodyPr/>
          <a:lstStyle/>
          <a:p>
            <a:r>
              <a:rPr lang="fr-FR" dirty="0"/>
              <a:t>Maintenance </a:t>
            </a:r>
            <a:r>
              <a:rPr lang="fr-FR" dirty="0" err="1"/>
              <a:t>contract</a:t>
            </a:r>
            <a:r>
              <a:rPr lang="fr-FR" dirty="0"/>
              <a:t> </a:t>
            </a:r>
            <a:r>
              <a:rPr lang="fr-FR" dirty="0" err="1"/>
              <a:t>review</a:t>
            </a:r>
            <a:endParaRPr lang="fr-FR" dirty="0"/>
          </a:p>
          <a:p>
            <a:pPr lvl="1"/>
            <a:r>
              <a:rPr lang="en-US" dirty="0"/>
              <a:t>activities:</a:t>
            </a:r>
          </a:p>
          <a:p>
            <a:pPr lvl="2"/>
            <a:r>
              <a:rPr lang="en-US" dirty="0"/>
              <a:t>proposal draft reviews</a:t>
            </a:r>
          </a:p>
          <a:p>
            <a:pPr lvl="2"/>
            <a:r>
              <a:rPr lang="en-US" dirty="0"/>
              <a:t>contract draft reviews</a:t>
            </a:r>
          </a:p>
          <a:p>
            <a:pPr lvl="1"/>
            <a:r>
              <a:rPr lang="fr-FR" dirty="0"/>
              <a:t>objectives</a:t>
            </a:r>
          </a:p>
          <a:p>
            <a:pPr lvl="2"/>
            <a:r>
              <a:rPr lang="fr-FR" dirty="0" err="1"/>
              <a:t>customer</a:t>
            </a:r>
            <a:r>
              <a:rPr lang="fr-FR" dirty="0"/>
              <a:t> </a:t>
            </a:r>
            <a:r>
              <a:rPr lang="fr-FR" dirty="0" err="1"/>
              <a:t>requirements</a:t>
            </a:r>
            <a:r>
              <a:rPr lang="fr-FR" dirty="0"/>
              <a:t> clarification</a:t>
            </a:r>
          </a:p>
          <a:p>
            <a:pPr lvl="2"/>
            <a:r>
              <a:rPr lang="en-US" dirty="0"/>
              <a:t>review of alternative approaches to maintenance provision</a:t>
            </a:r>
          </a:p>
          <a:p>
            <a:pPr lvl="2"/>
            <a:r>
              <a:rPr lang="en-US" dirty="0"/>
              <a:t>review of estimates of required maintenance resources</a:t>
            </a:r>
          </a:p>
          <a:p>
            <a:pPr lvl="2"/>
            <a:r>
              <a:rPr lang="en-US" dirty="0"/>
              <a:t>review of maintenance services to be provided by subcontractors and/or the customer</a:t>
            </a:r>
          </a:p>
          <a:p>
            <a:pPr lvl="2"/>
            <a:r>
              <a:rPr lang="en-US" dirty="0"/>
              <a:t>review of maintenance costs estimates</a:t>
            </a:r>
          </a:p>
          <a:p>
            <a:pPr lvl="1"/>
            <a:endParaRPr lang="fr-FR" dirty="0"/>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90</a:t>
            </a:fld>
            <a:endParaRPr lang="en-US"/>
          </a:p>
        </p:txBody>
      </p:sp>
    </p:spTree>
    <p:extLst>
      <p:ext uri="{BB962C8B-B14F-4D97-AF65-F5344CB8AC3E}">
        <p14:creationId xmlns:p14="http://schemas.microsoft.com/office/powerpoint/2010/main" val="34077090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Software maintenance components</a:t>
            </a:r>
            <a:br>
              <a:rPr lang="en-US" dirty="0"/>
            </a:br>
            <a:r>
              <a:rPr lang="en-US" dirty="0"/>
              <a:t>Pre-maintenance quality components</a:t>
            </a:r>
          </a:p>
        </p:txBody>
      </p:sp>
      <p:sp>
        <p:nvSpPr>
          <p:cNvPr id="3" name="Content Placeholder 2"/>
          <p:cNvSpPr>
            <a:spLocks noGrp="1"/>
          </p:cNvSpPr>
          <p:nvPr>
            <p:ph idx="1"/>
          </p:nvPr>
        </p:nvSpPr>
        <p:spPr/>
        <p:txBody>
          <a:bodyPr>
            <a:normAutofit/>
          </a:bodyPr>
          <a:lstStyle/>
          <a:p>
            <a:r>
              <a:rPr lang="fr-FR" dirty="0"/>
              <a:t>Maintenance plan construction</a:t>
            </a:r>
            <a:endParaRPr lang="en-US" dirty="0"/>
          </a:p>
          <a:p>
            <a:pPr lvl="1"/>
            <a:r>
              <a:rPr lang="en-US" dirty="0"/>
              <a:t>should be prepared for all customers, external and internal</a:t>
            </a:r>
          </a:p>
          <a:p>
            <a:pPr lvl="1"/>
            <a:r>
              <a:rPr lang="en-US" dirty="0"/>
              <a:t>the plan includes </a:t>
            </a:r>
          </a:p>
          <a:p>
            <a:pPr lvl="2"/>
            <a:r>
              <a:rPr lang="en-US" dirty="0"/>
              <a:t>a list of the contracted maintenance services</a:t>
            </a:r>
          </a:p>
          <a:p>
            <a:pPr lvl="2"/>
            <a:r>
              <a:rPr lang="en-US" dirty="0"/>
              <a:t>a description of the maintenance team’s organization</a:t>
            </a:r>
          </a:p>
          <a:p>
            <a:pPr lvl="2"/>
            <a:r>
              <a:rPr lang="en-US" dirty="0"/>
              <a:t>a list of maintenance facilities</a:t>
            </a:r>
          </a:p>
          <a:p>
            <a:pPr lvl="2"/>
            <a:r>
              <a:rPr lang="en-US" dirty="0"/>
              <a:t>a list of identified maintenance service risks</a:t>
            </a:r>
          </a:p>
          <a:p>
            <a:pPr lvl="2"/>
            <a:r>
              <a:rPr lang="en-US" dirty="0"/>
              <a:t>a list of required software maintenance procedures and controls </a:t>
            </a:r>
          </a:p>
          <a:p>
            <a:pPr lvl="2"/>
            <a:r>
              <a:rPr lang="en-US" dirty="0"/>
              <a:t>the software maintenance budget</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91</a:t>
            </a:fld>
            <a:endParaRPr lang="en-US"/>
          </a:p>
        </p:txBody>
      </p:sp>
    </p:spTree>
    <p:extLst>
      <p:ext uri="{BB962C8B-B14F-4D97-AF65-F5344CB8AC3E}">
        <p14:creationId xmlns:p14="http://schemas.microsoft.com/office/powerpoint/2010/main" val="27218945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pPr marL="514350" indent="-514350">
              <a:buFont typeface="+mj-lt"/>
              <a:buAutoNum type="arabicPeriod"/>
            </a:pPr>
            <a:r>
              <a:rPr lang="en-US" dirty="0"/>
              <a:t>Integrating quality activities in the project life cycle </a:t>
            </a:r>
          </a:p>
          <a:p>
            <a:pPr marL="514350" indent="-514350">
              <a:buFont typeface="+mj-lt"/>
              <a:buAutoNum type="arabicPeriod"/>
            </a:pPr>
            <a:r>
              <a:rPr lang="en-US" dirty="0"/>
              <a:t>Reviews</a:t>
            </a:r>
          </a:p>
          <a:p>
            <a:pPr marL="514350" indent="-514350">
              <a:buFont typeface="+mj-lt"/>
              <a:buAutoNum type="arabicPeriod"/>
            </a:pPr>
            <a:r>
              <a:rPr lang="en-US" dirty="0"/>
              <a:t>Software testing</a:t>
            </a:r>
          </a:p>
          <a:p>
            <a:pPr marL="514350" indent="-514350">
              <a:buFont typeface="+mj-lt"/>
              <a:buAutoNum type="arabicPeriod"/>
            </a:pPr>
            <a:r>
              <a:rPr lang="en-US" dirty="0"/>
              <a:t>Assuring the quality of software maintenance components </a:t>
            </a:r>
          </a:p>
          <a:p>
            <a:pPr marL="514350" indent="-514350">
              <a:buFont typeface="+mj-lt"/>
              <a:buAutoNum type="arabicPeriod"/>
            </a:pPr>
            <a:r>
              <a:rPr lang="en-US" b="1" dirty="0"/>
              <a:t>Assuring the quality of external participants’ contributions </a:t>
            </a:r>
          </a:p>
        </p:txBody>
      </p:sp>
      <p:sp>
        <p:nvSpPr>
          <p:cNvPr id="14"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5" name="Rectangle 15"/>
          <p:cNvSpPr>
            <a:spLocks noChangeArrowheads="1"/>
          </p:cNvSpPr>
          <p:nvPr/>
        </p:nvSpPr>
        <p:spPr bwMode="auto">
          <a:xfrm>
            <a:off x="6647903"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2</a:t>
            </a:r>
          </a:p>
        </p:txBody>
      </p:sp>
      <p:sp>
        <p:nvSpPr>
          <p:cNvPr id="16"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3</a:t>
            </a:r>
          </a:p>
        </p:txBody>
      </p:sp>
      <p:sp>
        <p:nvSpPr>
          <p:cNvPr id="17"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8"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9"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0"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1"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22"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3"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92</a:t>
            </a:fld>
            <a:endParaRPr lang="en-US"/>
          </a:p>
        </p:txBody>
      </p:sp>
    </p:spTree>
    <p:extLst>
      <p:ext uri="{BB962C8B-B14F-4D97-AF65-F5344CB8AC3E}">
        <p14:creationId xmlns:p14="http://schemas.microsoft.com/office/powerpoint/2010/main" val="241771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3" end="3"/>
                                            </p:txEl>
                                          </p:spTgt>
                                        </p:tgtEl>
                                        <p:attrNameLst>
                                          <p:attrName>style.opacity</p:attrName>
                                        </p:attrNameLst>
                                      </p:cBhvr>
                                      <p:to>
                                        <p:strVal val="0.5"/>
                                      </p:to>
                                    </p:set>
                                    <p:animEffect filter="image" prLst="opacity: 0.5">
                                      <p:cBhvr rctx="IE">
                                        <p:cTn id="16" dur="indefinite"/>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a:t>5. External participants </a:t>
            </a:r>
            <a:br>
              <a:rPr lang="en-US" dirty="0"/>
            </a:br>
            <a:r>
              <a:rPr lang="en-US" dirty="0"/>
              <a:t>Types</a:t>
            </a:r>
          </a:p>
        </p:txBody>
      </p:sp>
      <p:sp>
        <p:nvSpPr>
          <p:cNvPr id="10" name="Content Placeholder 9"/>
          <p:cNvSpPr>
            <a:spLocks noGrp="1"/>
          </p:cNvSpPr>
          <p:nvPr>
            <p:ph idx="1"/>
          </p:nvPr>
        </p:nvSpPr>
        <p:spPr/>
        <p:txBody>
          <a:bodyPr/>
          <a:lstStyle/>
          <a:p>
            <a:r>
              <a:rPr lang="en-US" dirty="0"/>
              <a:t>Subcontractors</a:t>
            </a:r>
          </a:p>
          <a:p>
            <a:pPr lvl="1"/>
            <a:r>
              <a:rPr lang="en-US" dirty="0"/>
              <a:t>currently called “outsourcing” organizations</a:t>
            </a:r>
          </a:p>
          <a:p>
            <a:pPr lvl="1"/>
            <a:r>
              <a:rPr lang="en-US" dirty="0"/>
              <a:t>benefits: staff availability, special expertise or low prices</a:t>
            </a:r>
          </a:p>
          <a:p>
            <a:endParaRPr lang="en-US" dirty="0"/>
          </a:p>
          <a:p>
            <a:r>
              <a:rPr lang="en-US" dirty="0"/>
              <a:t>Suppliers of COTS software and reused software modules</a:t>
            </a:r>
          </a:p>
          <a:p>
            <a:pPr lvl="1"/>
            <a:r>
              <a:rPr lang="en-US" dirty="0"/>
              <a:t>benefits: reduce time and cost, increase quality</a:t>
            </a:r>
          </a:p>
          <a:p>
            <a:endParaRPr lang="en-US" dirty="0"/>
          </a:p>
          <a:p>
            <a:r>
              <a:rPr lang="en-US" dirty="0"/>
              <a:t>The customer themselves</a:t>
            </a:r>
          </a:p>
          <a:p>
            <a:pPr lvl="1"/>
            <a:r>
              <a:rPr lang="en-US" dirty="0"/>
              <a:t>to apply the customers’ special </a:t>
            </a:r>
            <a:r>
              <a:rPr lang="en-US" dirty="0" err="1"/>
              <a:t>expertises</a:t>
            </a:r>
            <a:endParaRPr lang="en-US"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93</a:t>
            </a:fld>
            <a:endParaRPr lang="en-US"/>
          </a:p>
        </p:txBody>
      </p:sp>
    </p:spTree>
    <p:extLst>
      <p:ext uri="{BB962C8B-B14F-4D97-AF65-F5344CB8AC3E}">
        <p14:creationId xmlns:p14="http://schemas.microsoft.com/office/powerpoint/2010/main" val="14565881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5. External participants </a:t>
            </a:r>
            <a:br>
              <a:rPr lang="en-US" dirty="0"/>
            </a:br>
            <a:r>
              <a:rPr lang="en-US" dirty="0"/>
              <a:t>Typical contracting structures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94</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24" y="1772448"/>
            <a:ext cx="2590800" cy="449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6578" y="1869921"/>
            <a:ext cx="5657850" cy="429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0641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5. External participants </a:t>
            </a:r>
            <a:br>
              <a:rPr lang="en-US" dirty="0"/>
            </a:br>
            <a:r>
              <a:rPr lang="en-US" dirty="0"/>
              <a:t>Benefits</a:t>
            </a:r>
          </a:p>
        </p:txBody>
      </p:sp>
      <p:sp>
        <p:nvSpPr>
          <p:cNvPr id="3" name="Content Placeholder 2"/>
          <p:cNvSpPr>
            <a:spLocks noGrp="1"/>
          </p:cNvSpPr>
          <p:nvPr>
            <p:ph idx="1"/>
          </p:nvPr>
        </p:nvSpPr>
        <p:spPr/>
        <p:txBody>
          <a:bodyPr>
            <a:normAutofit/>
          </a:bodyPr>
          <a:lstStyle/>
          <a:p>
            <a:r>
              <a:rPr lang="en-US" dirty="0"/>
              <a:t>For the contractor</a:t>
            </a:r>
          </a:p>
          <a:p>
            <a:pPr lvl="1"/>
            <a:r>
              <a:rPr lang="en-US" b="1" dirty="0"/>
              <a:t>budget reductions</a:t>
            </a:r>
          </a:p>
          <a:p>
            <a:pPr lvl="1"/>
            <a:r>
              <a:rPr lang="en-US" b="1" dirty="0"/>
              <a:t>shorter</a:t>
            </a:r>
            <a:r>
              <a:rPr lang="en-US" dirty="0"/>
              <a:t> project </a:t>
            </a:r>
            <a:r>
              <a:rPr lang="en-US" b="1" dirty="0"/>
              <a:t>schedule</a:t>
            </a:r>
          </a:p>
          <a:p>
            <a:pPr lvl="1"/>
            <a:r>
              <a:rPr lang="en-US" dirty="0"/>
              <a:t>overcoming </a:t>
            </a:r>
            <a:r>
              <a:rPr lang="en-US" b="1" dirty="0"/>
              <a:t>shortages of professional staff</a:t>
            </a:r>
          </a:p>
          <a:p>
            <a:pPr lvl="1"/>
            <a:r>
              <a:rPr lang="en-US" b="1" dirty="0"/>
              <a:t>expertise</a:t>
            </a:r>
            <a:r>
              <a:rPr lang="en-US" dirty="0"/>
              <a:t> </a:t>
            </a:r>
            <a:r>
              <a:rPr lang="en-US" b="1" dirty="0"/>
              <a:t>acquired</a:t>
            </a:r>
            <a:r>
              <a:rPr lang="en-US" dirty="0"/>
              <a:t> in areas that need </a:t>
            </a:r>
            <a:r>
              <a:rPr lang="en-US" dirty="0" err="1"/>
              <a:t>specialisation</a:t>
            </a:r>
            <a:endParaRPr lang="en-US" dirty="0"/>
          </a:p>
          <a:p>
            <a:r>
              <a:rPr lang="en-US" dirty="0"/>
              <a:t>For the customer</a:t>
            </a:r>
          </a:p>
          <a:p>
            <a:pPr lvl="1"/>
            <a:r>
              <a:rPr lang="en-US" dirty="0"/>
              <a:t>project </a:t>
            </a:r>
            <a:r>
              <a:rPr lang="en-US" b="1" dirty="0"/>
              <a:t>cost reductions</a:t>
            </a:r>
          </a:p>
          <a:p>
            <a:pPr lvl="1"/>
            <a:r>
              <a:rPr lang="en-US" b="1" dirty="0"/>
              <a:t>protection</a:t>
            </a:r>
            <a:r>
              <a:rPr lang="en-US" dirty="0"/>
              <a:t> of commercial secrets</a:t>
            </a:r>
          </a:p>
          <a:p>
            <a:pPr lvl="1"/>
            <a:r>
              <a:rPr lang="en-US" b="1" dirty="0"/>
              <a:t>provision of employment </a:t>
            </a:r>
            <a:r>
              <a:rPr lang="en-US" dirty="0"/>
              <a:t>to internal software development department</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95</a:t>
            </a:fld>
            <a:endParaRPr lang="en-US"/>
          </a:p>
        </p:txBody>
      </p:sp>
    </p:spTree>
    <p:extLst>
      <p:ext uri="{BB962C8B-B14F-4D97-AF65-F5344CB8AC3E}">
        <p14:creationId xmlns:p14="http://schemas.microsoft.com/office/powerpoint/2010/main" val="2369294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p:nvPr>
        </p:nvSpPr>
        <p:spPr/>
        <p:txBody>
          <a:bodyPr>
            <a:normAutofit fontScale="90000"/>
          </a:bodyPr>
          <a:lstStyle/>
          <a:p>
            <a:r>
              <a:rPr lang="en-US" dirty="0"/>
              <a:t>5. External participants </a:t>
            </a:r>
            <a:br>
              <a:rPr lang="en-US" dirty="0"/>
            </a:br>
            <a:r>
              <a:rPr lang="en-US" dirty="0"/>
              <a:t>Risks</a:t>
            </a:r>
          </a:p>
        </p:txBody>
      </p:sp>
      <p:sp>
        <p:nvSpPr>
          <p:cNvPr id="26626" name="Rectangle 2"/>
          <p:cNvSpPr>
            <a:spLocks noGrp="1" noChangeArrowheads="1"/>
          </p:cNvSpPr>
          <p:nvPr>
            <p:ph type="body" idx="1"/>
          </p:nvPr>
        </p:nvSpPr>
        <p:spPr/>
        <p:txBody>
          <a:bodyPr>
            <a:normAutofit lnSpcReduction="10000"/>
          </a:bodyPr>
          <a:lstStyle/>
          <a:p>
            <a:r>
              <a:rPr lang="en-US" b="1" dirty="0"/>
              <a:t>Delayed</a:t>
            </a:r>
            <a:r>
              <a:rPr lang="en-US" dirty="0"/>
              <a:t> completion of the project parts</a:t>
            </a:r>
          </a:p>
          <a:p>
            <a:pPr lvl="1"/>
            <a:r>
              <a:rPr lang="en-US" dirty="0">
                <a:sym typeface="Lucida Grande" charset="0"/>
              </a:rPr>
              <a:t>when external participants parts are late  </a:t>
            </a:r>
            <a:r>
              <a:rPr lang="en-US" dirty="0">
                <a:sym typeface="Wingdings" pitchFamily="2" charset="2"/>
              </a:rPr>
              <a:t></a:t>
            </a:r>
            <a:r>
              <a:rPr lang="en-US" dirty="0">
                <a:sym typeface="Lucida Grande" charset="0"/>
              </a:rPr>
              <a:t> whole project delayed</a:t>
            </a:r>
          </a:p>
          <a:p>
            <a:r>
              <a:rPr lang="en-US" b="1" dirty="0"/>
              <a:t>Low quality </a:t>
            </a:r>
            <a:r>
              <a:rPr lang="en-US" dirty="0"/>
              <a:t>of parts</a:t>
            </a:r>
          </a:p>
          <a:p>
            <a:pPr lvl="1"/>
            <a:r>
              <a:rPr lang="en-US" dirty="0"/>
              <a:t>(a) </a:t>
            </a:r>
            <a:r>
              <a:rPr lang="en-US" dirty="0">
                <a:sym typeface="Lucida Grande" charset="0"/>
              </a:rPr>
              <a:t>more defects or more severe</a:t>
            </a:r>
            <a:endParaRPr lang="en-US" dirty="0"/>
          </a:p>
          <a:p>
            <a:pPr lvl="1"/>
            <a:r>
              <a:rPr lang="en-US" dirty="0"/>
              <a:t>(b) </a:t>
            </a:r>
            <a:r>
              <a:rPr lang="en-US" dirty="0">
                <a:sym typeface="Lucida Grande" charset="0"/>
              </a:rPr>
              <a:t>non-standard coding of documentation </a:t>
            </a:r>
            <a:r>
              <a:rPr lang="en-US" dirty="0">
                <a:sym typeface="Wingdings" pitchFamily="2" charset="2"/>
              </a:rPr>
              <a:t></a:t>
            </a:r>
            <a:r>
              <a:rPr lang="en-US" dirty="0">
                <a:sym typeface="Lucida Grande" charset="0"/>
              </a:rPr>
              <a:t> cause difficulty in testing and in maintenance</a:t>
            </a:r>
          </a:p>
          <a:p>
            <a:r>
              <a:rPr lang="en-US" dirty="0"/>
              <a:t>Increased probability of </a:t>
            </a:r>
            <a:r>
              <a:rPr lang="en-US" b="1" dirty="0"/>
              <a:t>difficulties in maintenance</a:t>
            </a:r>
          </a:p>
          <a:p>
            <a:r>
              <a:rPr lang="en-US" b="1" dirty="0"/>
              <a:t>Loss of control </a:t>
            </a:r>
            <a:r>
              <a:rPr lang="en-US" dirty="0"/>
              <a:t>over development</a:t>
            </a:r>
          </a:p>
          <a:p>
            <a:pPr lvl="1"/>
            <a:r>
              <a:rPr lang="en-US" dirty="0"/>
              <a:t>communication with external participants’ teams may be interrupted </a:t>
            </a:r>
            <a:r>
              <a:rPr lang="en-US" dirty="0">
                <a:sym typeface="Wingdings" pitchFamily="2" charset="2"/>
              </a:rPr>
              <a:t> prevents assessment of the project’s progress</a:t>
            </a:r>
            <a:endParaRPr lang="en-US"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96</a:t>
            </a:fld>
            <a:endParaRPr lang="en-US"/>
          </a:p>
        </p:txBody>
      </p:sp>
    </p:spTree>
    <p:extLst>
      <p:ext uri="{BB962C8B-B14F-4D97-AF65-F5344CB8AC3E}">
        <p14:creationId xmlns:p14="http://schemas.microsoft.com/office/powerpoint/2010/main" val="7863265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p:nvPr>
        </p:nvSpPr>
        <p:spPr/>
        <p:txBody>
          <a:bodyPr>
            <a:normAutofit fontScale="90000"/>
          </a:bodyPr>
          <a:lstStyle/>
          <a:p>
            <a:r>
              <a:rPr lang="en-US" dirty="0"/>
              <a:t>5. External participants </a:t>
            </a:r>
            <a:br>
              <a:rPr lang="en-US" dirty="0"/>
            </a:br>
            <a:r>
              <a:rPr lang="en-US" dirty="0"/>
              <a:t>Assuring the quality</a:t>
            </a:r>
          </a:p>
        </p:txBody>
      </p:sp>
      <p:sp>
        <p:nvSpPr>
          <p:cNvPr id="28674" name="Rectangle 2"/>
          <p:cNvSpPr>
            <a:spLocks noGrp="1" noChangeArrowheads="1"/>
          </p:cNvSpPr>
          <p:nvPr>
            <p:ph type="body" idx="1"/>
          </p:nvPr>
        </p:nvSpPr>
        <p:spPr/>
        <p:txBody>
          <a:bodyPr/>
          <a:lstStyle/>
          <a:p>
            <a:r>
              <a:rPr lang="en-US" dirty="0"/>
              <a:t>Objectives:</a:t>
            </a:r>
          </a:p>
          <a:p>
            <a:pPr lvl="1"/>
            <a:r>
              <a:rPr lang="en-US" dirty="0"/>
              <a:t>Prevent late completion</a:t>
            </a:r>
          </a:p>
          <a:p>
            <a:pPr lvl="1"/>
            <a:r>
              <a:rPr lang="en-US" dirty="0"/>
              <a:t>Assure the quality of work</a:t>
            </a:r>
          </a:p>
          <a:p>
            <a:pPr lvl="1"/>
            <a:r>
              <a:rPr lang="en-US" dirty="0"/>
              <a:t>Assure enough documentation</a:t>
            </a:r>
          </a:p>
          <a:p>
            <a:pPr lvl="1"/>
            <a:r>
              <a:rPr lang="en-US" dirty="0"/>
              <a:t>Assure complete control</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97</a:t>
            </a:fld>
            <a:endParaRPr lang="en-US"/>
          </a:p>
        </p:txBody>
      </p:sp>
    </p:spTree>
    <p:extLst>
      <p:ext uri="{BB962C8B-B14F-4D97-AF65-F5344CB8AC3E}">
        <p14:creationId xmlns:p14="http://schemas.microsoft.com/office/powerpoint/2010/main" val="35916780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Grp="1" noChangeArrowheads="1"/>
          </p:cNvSpPr>
          <p:nvPr>
            <p:ph type="title"/>
          </p:nvPr>
        </p:nvSpPr>
        <p:spPr/>
        <p:txBody>
          <a:bodyPr>
            <a:normAutofit fontScale="90000"/>
          </a:bodyPr>
          <a:lstStyle/>
          <a:p>
            <a:r>
              <a:rPr lang="en-US" dirty="0"/>
              <a:t>5. External participants </a:t>
            </a:r>
            <a:br>
              <a:rPr lang="en-US" dirty="0"/>
            </a:br>
            <a:r>
              <a:rPr lang="en-US" dirty="0"/>
              <a:t>SQA tools </a:t>
            </a:r>
            <a:r>
              <a:rPr lang="en-US" dirty="0" err="1"/>
              <a:t>utilised</a:t>
            </a:r>
            <a:endParaRPr lang="en-US" dirty="0"/>
          </a:p>
        </p:txBody>
      </p:sp>
      <p:sp>
        <p:nvSpPr>
          <p:cNvPr id="30722" name="Rectangle 2"/>
          <p:cNvSpPr>
            <a:spLocks noGrp="1" noChangeArrowheads="1"/>
          </p:cNvSpPr>
          <p:nvPr>
            <p:ph type="body" idx="1"/>
          </p:nvPr>
        </p:nvSpPr>
        <p:spPr/>
        <p:txBody>
          <a:bodyPr>
            <a:normAutofit lnSpcReduction="10000"/>
          </a:bodyPr>
          <a:lstStyle/>
          <a:p>
            <a:r>
              <a:rPr lang="en-US" dirty="0"/>
              <a:t>Requirements documents reviews</a:t>
            </a:r>
          </a:p>
          <a:p>
            <a:pPr lvl="1"/>
            <a:r>
              <a:rPr lang="en-US" dirty="0">
                <a:sym typeface="Lucida Grande" charset="0"/>
              </a:rPr>
              <a:t>assures a list of the requirements is correct and complete - reduces delays and low quality</a:t>
            </a:r>
          </a:p>
          <a:p>
            <a:r>
              <a:rPr lang="en-US" dirty="0"/>
              <a:t>Choice of external participant</a:t>
            </a:r>
          </a:p>
          <a:p>
            <a:r>
              <a:rPr lang="en-US" dirty="0"/>
              <a:t>Project co-ordination and joint control committee</a:t>
            </a:r>
          </a:p>
          <a:p>
            <a:r>
              <a:rPr lang="en-US" dirty="0"/>
              <a:t>Participation in design reviews</a:t>
            </a:r>
          </a:p>
          <a:p>
            <a:pPr lvl="1"/>
            <a:r>
              <a:rPr lang="en-US" dirty="0"/>
              <a:t>contractor acts as a full member of the review</a:t>
            </a:r>
          </a:p>
          <a:p>
            <a:r>
              <a:rPr lang="en-US" dirty="0"/>
              <a:t>Participation in software testing</a:t>
            </a:r>
          </a:p>
          <a:p>
            <a:pPr lvl="1"/>
            <a:r>
              <a:rPr lang="en-US" dirty="0"/>
              <a:t>design reviews of the planning and design of the tests, reviews of the test results, follow-up meetings for the corrections and regression testing</a:t>
            </a:r>
          </a:p>
          <a:p>
            <a:endParaRPr lang="en-US"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98</a:t>
            </a:fld>
            <a:endParaRPr lang="en-US"/>
          </a:p>
        </p:txBody>
      </p:sp>
    </p:spTree>
    <p:extLst>
      <p:ext uri="{BB962C8B-B14F-4D97-AF65-F5344CB8AC3E}">
        <p14:creationId xmlns:p14="http://schemas.microsoft.com/office/powerpoint/2010/main" val="4824186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5. External participants </a:t>
            </a:r>
            <a:br>
              <a:rPr lang="en-US" dirty="0"/>
            </a:br>
            <a:r>
              <a:rPr lang="en-US" dirty="0"/>
              <a:t>SQA tools </a:t>
            </a:r>
            <a:r>
              <a:rPr lang="en-US" dirty="0" err="1"/>
              <a:t>utilised</a:t>
            </a:r>
            <a:r>
              <a:rPr lang="en-US" dirty="0"/>
              <a:t> (cont.)</a:t>
            </a:r>
          </a:p>
        </p:txBody>
      </p:sp>
      <p:sp>
        <p:nvSpPr>
          <p:cNvPr id="3" name="Content Placeholder 2"/>
          <p:cNvSpPr>
            <a:spLocks noGrp="1"/>
          </p:cNvSpPr>
          <p:nvPr>
            <p:ph idx="1"/>
          </p:nvPr>
        </p:nvSpPr>
        <p:spPr/>
        <p:txBody>
          <a:bodyPr/>
          <a:lstStyle/>
          <a:p>
            <a:r>
              <a:rPr lang="en-US" dirty="0"/>
              <a:t>Certification of external participants’ team leaders and other staff</a:t>
            </a:r>
          </a:p>
          <a:p>
            <a:pPr lvl="1"/>
            <a:r>
              <a:rPr lang="en-US" dirty="0">
                <a:sym typeface="Lucida Grande" charset="0"/>
              </a:rPr>
              <a:t>to ensure an professional capacities of project teams - </a:t>
            </a:r>
            <a:r>
              <a:rPr lang="en-US" dirty="0" err="1">
                <a:sym typeface="Lucida Grande" charset="0"/>
              </a:rPr>
              <a:t>minimise</a:t>
            </a:r>
            <a:r>
              <a:rPr lang="en-US" dirty="0">
                <a:sym typeface="Lucida Grande" charset="0"/>
              </a:rPr>
              <a:t> risk of low quality</a:t>
            </a:r>
          </a:p>
          <a:p>
            <a:r>
              <a:rPr lang="en-US" dirty="0"/>
              <a:t>Progress reports</a:t>
            </a:r>
          </a:p>
          <a:p>
            <a:pPr lvl="1"/>
            <a:r>
              <a:rPr lang="en-US" dirty="0"/>
              <a:t>the follow-up of the usage of resources </a:t>
            </a:r>
          </a:p>
          <a:p>
            <a:pPr lvl="1"/>
            <a:r>
              <a:rPr lang="en-US" dirty="0"/>
              <a:t>the follow-up of the project budget</a:t>
            </a:r>
          </a:p>
          <a:p>
            <a:r>
              <a:rPr lang="en-US" dirty="0"/>
              <a:t>Review of deliverables and acceptance tests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99</a:t>
            </a:fld>
            <a:endParaRPr lang="en-US"/>
          </a:p>
        </p:txBody>
      </p:sp>
    </p:spTree>
    <p:extLst>
      <p:ext uri="{BB962C8B-B14F-4D97-AF65-F5344CB8AC3E}">
        <p14:creationId xmlns:p14="http://schemas.microsoft.com/office/powerpoint/2010/main" val="8503976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Câu</a:t>
            </a:r>
            <a:r>
              <a:rPr lang="en-US" dirty="0"/>
              <a:t> </a:t>
            </a:r>
            <a:r>
              <a:rPr lang="en-US" dirty="0" err="1"/>
              <a:t>hỏi</a:t>
            </a:r>
            <a:r>
              <a:rPr lang="en-US" dirty="0"/>
              <a:t> </a:t>
            </a:r>
            <a:r>
              <a:rPr lang="en-US" dirty="0" err="1"/>
              <a:t>hiểu</a:t>
            </a:r>
            <a:r>
              <a:rPr lang="en-US" dirty="0"/>
              <a:t> </a:t>
            </a:r>
            <a:r>
              <a:rPr lang="en-US" dirty="0" err="1"/>
              <a:t>bài</a:t>
            </a:r>
            <a:br>
              <a:rPr lang="en-US" dirty="0"/>
            </a:br>
            <a:r>
              <a:rPr lang="en-US" dirty="0"/>
              <a:t>(SV </a:t>
            </a:r>
            <a:r>
              <a:rPr lang="en-US" dirty="0" err="1"/>
              <a:t>xem</a:t>
            </a:r>
            <a:r>
              <a:rPr lang="en-US" dirty="0"/>
              <a:t> </a:t>
            </a:r>
            <a:r>
              <a:rPr lang="en-US" dirty="0" err="1"/>
              <a:t>lại</a:t>
            </a:r>
            <a:r>
              <a:rPr lang="en-US" dirty="0"/>
              <a:t> </a:t>
            </a:r>
            <a:r>
              <a:rPr lang="en-US" dirty="0" err="1"/>
              <a:t>bài</a:t>
            </a:r>
            <a:r>
              <a:rPr lang="en-US" dirty="0"/>
              <a:t> </a:t>
            </a:r>
            <a:r>
              <a:rPr lang="en-US" dirty="0" err="1"/>
              <a:t>học</a:t>
            </a:r>
            <a:r>
              <a:rPr lang="en-US" dirty="0"/>
              <a:t>, </a:t>
            </a:r>
            <a:r>
              <a:rPr lang="en-US" dirty="0" err="1"/>
              <a:t>cô</a:t>
            </a:r>
            <a:r>
              <a:rPr lang="en-US" dirty="0"/>
              <a:t> </a:t>
            </a:r>
            <a:r>
              <a:rPr lang="en-US" dirty="0" err="1"/>
              <a:t>sẽ</a:t>
            </a:r>
            <a:r>
              <a:rPr lang="en-US" dirty="0"/>
              <a:t> </a:t>
            </a:r>
            <a:r>
              <a:rPr lang="en-US" dirty="0" err="1"/>
              <a:t>gọi</a:t>
            </a:r>
            <a:r>
              <a:rPr lang="en-US" dirty="0"/>
              <a:t> </a:t>
            </a:r>
            <a:r>
              <a:rPr lang="en-US" dirty="0" err="1"/>
              <a:t>trả</a:t>
            </a:r>
            <a:r>
              <a:rPr lang="en-US" dirty="0"/>
              <a:t> </a:t>
            </a:r>
            <a:r>
              <a:rPr lang="en-US" dirty="0" err="1"/>
              <a:t>lời</a:t>
            </a:r>
            <a:r>
              <a:rPr lang="en-US" dirty="0"/>
              <a:t>)</a:t>
            </a:r>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arabicPeriod"/>
            </a:pPr>
            <a:r>
              <a:rPr lang="en-US" b="1" dirty="0" err="1"/>
              <a:t>Liệt</a:t>
            </a:r>
            <a:r>
              <a:rPr lang="en-US" b="1" dirty="0"/>
              <a:t> </a:t>
            </a:r>
            <a:r>
              <a:rPr lang="en-US" b="1" dirty="0" err="1"/>
              <a:t>kê</a:t>
            </a:r>
            <a:r>
              <a:rPr lang="en-US" b="1" dirty="0"/>
              <a:t> </a:t>
            </a:r>
            <a:r>
              <a:rPr lang="en-US" b="1" dirty="0" err="1"/>
              <a:t>các</a:t>
            </a:r>
            <a:r>
              <a:rPr lang="en-US" b="1" dirty="0"/>
              <a:t> </a:t>
            </a:r>
            <a:r>
              <a:rPr lang="en-US" b="1" dirty="0" err="1"/>
              <a:t>thành</a:t>
            </a:r>
            <a:r>
              <a:rPr lang="en-US" b="1" dirty="0"/>
              <a:t> </a:t>
            </a:r>
            <a:r>
              <a:rPr lang="en-US" b="1" dirty="0" err="1"/>
              <a:t>phần</a:t>
            </a:r>
            <a:r>
              <a:rPr lang="en-US" b="1" dirty="0"/>
              <a:t> </a:t>
            </a:r>
            <a:r>
              <a:rPr lang="en-US" b="1" dirty="0" err="1"/>
              <a:t>của</a:t>
            </a:r>
            <a:r>
              <a:rPr lang="en-US" b="1" dirty="0"/>
              <a:t> </a:t>
            </a:r>
            <a:r>
              <a:rPr lang="en-US" b="1" dirty="0" err="1"/>
              <a:t>hệ</a:t>
            </a:r>
            <a:r>
              <a:rPr lang="en-US" b="1" dirty="0"/>
              <a:t> </a:t>
            </a:r>
            <a:r>
              <a:rPr lang="en-US" b="1" dirty="0" err="1"/>
              <a:t>thống</a:t>
            </a:r>
            <a:r>
              <a:rPr lang="en-US" b="1" dirty="0"/>
              <a:t> </a:t>
            </a:r>
            <a:r>
              <a:rPr lang="en-US" b="1" dirty="0" err="1"/>
              <a:t>đảm</a:t>
            </a:r>
            <a:r>
              <a:rPr lang="en-US" b="1" dirty="0"/>
              <a:t> </a:t>
            </a:r>
            <a:r>
              <a:rPr lang="en-US" b="1" dirty="0" err="1"/>
              <a:t>bảo</a:t>
            </a:r>
            <a:r>
              <a:rPr lang="en-US" b="1" dirty="0"/>
              <a:t> </a:t>
            </a:r>
            <a:r>
              <a:rPr lang="en-US" b="1" dirty="0" err="1"/>
              <a:t>chất</a:t>
            </a:r>
            <a:r>
              <a:rPr lang="en-US" b="1" dirty="0"/>
              <a:t> </a:t>
            </a:r>
            <a:r>
              <a:rPr lang="en-US" b="1" dirty="0" err="1"/>
              <a:t>lượng</a:t>
            </a:r>
            <a:r>
              <a:rPr lang="en-US" b="1" dirty="0"/>
              <a:t> </a:t>
            </a:r>
            <a:r>
              <a:rPr lang="en-US" b="1" dirty="0" err="1"/>
              <a:t>phần</a:t>
            </a:r>
            <a:r>
              <a:rPr lang="en-US" b="1" dirty="0"/>
              <a:t> </a:t>
            </a:r>
            <a:r>
              <a:rPr lang="en-US" b="1" dirty="0" err="1"/>
              <a:t>mềm</a:t>
            </a:r>
            <a:r>
              <a:rPr lang="en-US" b="1" dirty="0"/>
              <a:t>.</a:t>
            </a:r>
          </a:p>
          <a:p>
            <a:pPr marL="514350" indent="-514350">
              <a:buFont typeface="+mj-lt"/>
              <a:buAutoNum type="arabicPeriod"/>
            </a:pPr>
            <a:r>
              <a:rPr lang="en-US" b="1" dirty="0" err="1"/>
              <a:t>Nêu</a:t>
            </a:r>
            <a:r>
              <a:rPr lang="en-US" b="1" dirty="0"/>
              <a:t> </a:t>
            </a:r>
            <a:r>
              <a:rPr lang="en-US" b="1" dirty="0" err="1"/>
              <a:t>các</a:t>
            </a:r>
            <a:r>
              <a:rPr lang="en-US" b="1" dirty="0"/>
              <a:t> </a:t>
            </a:r>
            <a:r>
              <a:rPr lang="en-US" b="1" dirty="0" err="1"/>
              <a:t>thành</a:t>
            </a:r>
            <a:r>
              <a:rPr lang="en-US" b="1" dirty="0"/>
              <a:t> </a:t>
            </a:r>
            <a:r>
              <a:rPr lang="en-US" b="1" dirty="0" err="1"/>
              <a:t>phần</a:t>
            </a:r>
            <a:r>
              <a:rPr lang="en-US" b="1" dirty="0"/>
              <a:t> </a:t>
            </a:r>
            <a:r>
              <a:rPr lang="en-US" b="1" dirty="0" err="1"/>
              <a:t>cơ</a:t>
            </a:r>
            <a:r>
              <a:rPr lang="en-US" b="1" dirty="0"/>
              <a:t> </a:t>
            </a:r>
            <a:r>
              <a:rPr lang="en-US" b="1" dirty="0" err="1"/>
              <a:t>bản</a:t>
            </a:r>
            <a:r>
              <a:rPr lang="en-US" b="1" dirty="0"/>
              <a:t> (</a:t>
            </a:r>
            <a:r>
              <a:rPr lang="en-US" b="1" dirty="0" err="1"/>
              <a:t>cơ</a:t>
            </a:r>
            <a:r>
              <a:rPr lang="en-US" b="1" dirty="0"/>
              <a:t> </a:t>
            </a:r>
            <a:r>
              <a:rPr lang="en-US" b="1" dirty="0" err="1"/>
              <a:t>sở</a:t>
            </a:r>
            <a:r>
              <a:rPr lang="en-US" b="1" dirty="0"/>
              <a:t> </a:t>
            </a:r>
            <a:r>
              <a:rPr lang="en-US" b="1" dirty="0" err="1"/>
              <a:t>hạ</a:t>
            </a:r>
            <a:r>
              <a:rPr lang="en-US" b="1" dirty="0"/>
              <a:t> </a:t>
            </a:r>
            <a:r>
              <a:rPr lang="en-US" b="1" dirty="0" err="1"/>
              <a:t>tầng</a:t>
            </a:r>
            <a:r>
              <a:rPr lang="en-US" b="1" dirty="0"/>
              <a:t>) </a:t>
            </a:r>
            <a:r>
              <a:rPr lang="en-US" b="1" dirty="0" err="1"/>
              <a:t>của</a:t>
            </a:r>
            <a:r>
              <a:rPr lang="en-US" b="1" dirty="0"/>
              <a:t> </a:t>
            </a:r>
            <a:r>
              <a:rPr lang="en-US" b="1" dirty="0" err="1"/>
              <a:t>chất</a:t>
            </a:r>
            <a:r>
              <a:rPr lang="en-US" b="1" dirty="0"/>
              <a:t> </a:t>
            </a:r>
            <a:r>
              <a:rPr lang="en-US" b="1" dirty="0" err="1"/>
              <a:t>lượng</a:t>
            </a:r>
            <a:r>
              <a:rPr lang="en-US" b="1" dirty="0"/>
              <a:t> </a:t>
            </a:r>
            <a:r>
              <a:rPr lang="en-US" b="1" dirty="0" err="1"/>
              <a:t>phần</a:t>
            </a:r>
            <a:r>
              <a:rPr lang="en-US" b="1" dirty="0"/>
              <a:t> </a:t>
            </a:r>
            <a:r>
              <a:rPr lang="en-US" b="1" dirty="0" err="1"/>
              <a:t>mềm</a:t>
            </a:r>
            <a:r>
              <a:rPr lang="en-US" b="1" dirty="0"/>
              <a:t>.</a:t>
            </a:r>
          </a:p>
          <a:p>
            <a:pPr marL="514350" indent="-514350">
              <a:buFont typeface="+mj-lt"/>
              <a:buAutoNum type="arabicPeriod"/>
            </a:pPr>
            <a:r>
              <a:rPr lang="en-US" b="1" dirty="0" err="1"/>
              <a:t>Giải</a:t>
            </a:r>
            <a:r>
              <a:rPr lang="en-US" b="1" dirty="0"/>
              <a:t> </a:t>
            </a:r>
            <a:r>
              <a:rPr lang="en-US" b="1" dirty="0" err="1"/>
              <a:t>thích</a:t>
            </a:r>
            <a:r>
              <a:rPr lang="en-US" b="1" dirty="0"/>
              <a:t> 2 </a:t>
            </a:r>
            <a:r>
              <a:rPr lang="en-US" b="1" dirty="0" err="1"/>
              <a:t>nguyên</a:t>
            </a:r>
            <a:r>
              <a:rPr lang="en-US" b="1" dirty="0"/>
              <a:t> </a:t>
            </a:r>
            <a:r>
              <a:rPr lang="en-US" b="1" dirty="0" err="1"/>
              <a:t>tắc</a:t>
            </a:r>
            <a:r>
              <a:rPr lang="en-US" b="1" dirty="0"/>
              <a:t> </a:t>
            </a:r>
            <a:r>
              <a:rPr lang="en-US" b="1" dirty="0" err="1"/>
              <a:t>kiểm</a:t>
            </a:r>
            <a:r>
              <a:rPr lang="en-US" b="1" dirty="0"/>
              <a:t> </a:t>
            </a:r>
            <a:r>
              <a:rPr lang="en-US" b="1" dirty="0" err="1"/>
              <a:t>thử</a:t>
            </a:r>
            <a:r>
              <a:rPr lang="en-US" b="1" dirty="0"/>
              <a:t> </a:t>
            </a:r>
            <a:r>
              <a:rPr lang="en-US" b="1" dirty="0" err="1"/>
              <a:t>phần</a:t>
            </a:r>
            <a:r>
              <a:rPr lang="en-US" b="1" dirty="0"/>
              <a:t> </a:t>
            </a:r>
            <a:r>
              <a:rPr lang="en-US" b="1" dirty="0" err="1"/>
              <a:t>mềm</a:t>
            </a:r>
            <a:r>
              <a:rPr lang="en-US" b="1" dirty="0"/>
              <a:t>: “Defect clustering”, “The pesticide paradox”</a:t>
            </a:r>
          </a:p>
          <a:p>
            <a:pPr marL="514350" indent="-514350">
              <a:buFont typeface="+mj-lt"/>
              <a:buAutoNum type="arabicPeriod"/>
            </a:pPr>
            <a:r>
              <a:rPr lang="en-US" b="1" dirty="0" err="1"/>
              <a:t>Quy</a:t>
            </a:r>
            <a:r>
              <a:rPr lang="en-US" b="1" dirty="0"/>
              <a:t> </a:t>
            </a:r>
            <a:r>
              <a:rPr lang="en-US" b="1" dirty="0" err="1"/>
              <a:t>trình</a:t>
            </a:r>
            <a:r>
              <a:rPr lang="en-US" b="1" dirty="0"/>
              <a:t> </a:t>
            </a:r>
            <a:r>
              <a:rPr lang="en-US" b="1" dirty="0" err="1"/>
              <a:t>kiểm</a:t>
            </a:r>
            <a:r>
              <a:rPr lang="en-US" b="1" dirty="0"/>
              <a:t> </a:t>
            </a:r>
            <a:r>
              <a:rPr lang="en-US" b="1" dirty="0" err="1"/>
              <a:t>thử</a:t>
            </a:r>
            <a:r>
              <a:rPr lang="en-US" b="1" dirty="0"/>
              <a:t> </a:t>
            </a:r>
            <a:r>
              <a:rPr lang="en-US" b="1" dirty="0" err="1"/>
              <a:t>phần</a:t>
            </a:r>
            <a:r>
              <a:rPr lang="en-US" b="1" dirty="0"/>
              <a:t> </a:t>
            </a:r>
            <a:r>
              <a:rPr lang="en-US" b="1" dirty="0" err="1"/>
              <a:t>mềm</a:t>
            </a:r>
            <a:r>
              <a:rPr lang="en-US" b="1" dirty="0"/>
              <a:t>?</a:t>
            </a:r>
          </a:p>
          <a:p>
            <a:pPr marL="514350" indent="-514350">
              <a:buFont typeface="+mj-lt"/>
              <a:buAutoNum type="arabicPeriod"/>
            </a:pPr>
            <a:r>
              <a:rPr lang="en-US" b="1" dirty="0" err="1"/>
              <a:t>Có</a:t>
            </a:r>
            <a:r>
              <a:rPr lang="en-US" b="1" dirty="0"/>
              <a:t> </a:t>
            </a:r>
            <a:r>
              <a:rPr lang="en-US" b="1" dirty="0" err="1"/>
              <a:t>những</a:t>
            </a:r>
            <a:r>
              <a:rPr lang="en-US" b="1" dirty="0"/>
              <a:t> </a:t>
            </a:r>
            <a:r>
              <a:rPr lang="en-US" b="1" dirty="0" err="1"/>
              <a:t>mức</a:t>
            </a:r>
            <a:r>
              <a:rPr lang="en-US" b="1" dirty="0"/>
              <a:t> </a:t>
            </a:r>
            <a:r>
              <a:rPr lang="en-US" b="1" dirty="0" err="1"/>
              <a:t>kiểm</a:t>
            </a:r>
            <a:r>
              <a:rPr lang="en-US" b="1" dirty="0"/>
              <a:t> </a:t>
            </a:r>
            <a:r>
              <a:rPr lang="en-US" b="1" dirty="0" err="1"/>
              <a:t>thử</a:t>
            </a:r>
            <a:r>
              <a:rPr lang="en-US" b="1" dirty="0"/>
              <a:t> </a:t>
            </a:r>
            <a:r>
              <a:rPr lang="en-US" b="1" dirty="0" err="1"/>
              <a:t>nào</a:t>
            </a:r>
            <a:r>
              <a:rPr lang="en-US" b="1" dirty="0"/>
              <a:t>? </a:t>
            </a:r>
            <a:r>
              <a:rPr lang="en-US" b="1" dirty="0" err="1"/>
              <a:t>Phân</a:t>
            </a:r>
            <a:r>
              <a:rPr lang="en-US" b="1" dirty="0"/>
              <a:t> </a:t>
            </a:r>
            <a:r>
              <a:rPr lang="en-US" b="1" dirty="0" err="1"/>
              <a:t>biệt</a:t>
            </a:r>
            <a:r>
              <a:rPr lang="en-US" b="1" dirty="0"/>
              <a:t> </a:t>
            </a:r>
            <a:r>
              <a:rPr lang="en-US" b="1" dirty="0" err="1"/>
              <a:t>các</a:t>
            </a:r>
            <a:r>
              <a:rPr lang="en-US" b="1" dirty="0"/>
              <a:t> </a:t>
            </a:r>
            <a:r>
              <a:rPr lang="en-US" b="1" dirty="0" err="1"/>
              <a:t>mức</a:t>
            </a:r>
            <a:r>
              <a:rPr lang="en-US" b="1" dirty="0"/>
              <a:t> </a:t>
            </a:r>
            <a:r>
              <a:rPr lang="en-US" b="1" dirty="0" err="1"/>
              <a:t>này</a:t>
            </a:r>
            <a:r>
              <a:rPr lang="en-US" b="1" dirty="0"/>
              <a:t> qua: </a:t>
            </a:r>
            <a:r>
              <a:rPr lang="en-US" b="1" dirty="0" err="1"/>
              <a:t>mục</a:t>
            </a:r>
            <a:r>
              <a:rPr lang="en-US" b="1" dirty="0"/>
              <a:t> </a:t>
            </a:r>
            <a:r>
              <a:rPr lang="en-US" b="1" dirty="0" err="1"/>
              <a:t>đích</a:t>
            </a:r>
            <a:r>
              <a:rPr lang="en-US" b="1" dirty="0"/>
              <a:t> (verification, validation), </a:t>
            </a:r>
            <a:r>
              <a:rPr lang="en-US" b="1" dirty="0" err="1"/>
              <a:t>thời</a:t>
            </a:r>
            <a:r>
              <a:rPr lang="en-US" b="1" dirty="0"/>
              <a:t> </a:t>
            </a:r>
            <a:r>
              <a:rPr lang="en-US" b="1" dirty="0" err="1"/>
              <a:t>điểm</a:t>
            </a:r>
            <a:r>
              <a:rPr lang="en-US" b="1" dirty="0"/>
              <a:t> </a:t>
            </a:r>
            <a:r>
              <a:rPr lang="en-US" b="1" dirty="0" err="1"/>
              <a:t>thực</a:t>
            </a:r>
            <a:r>
              <a:rPr lang="en-US" b="1" dirty="0"/>
              <a:t> </a:t>
            </a:r>
            <a:r>
              <a:rPr lang="en-US" b="1" dirty="0" err="1"/>
              <a:t>hiện</a:t>
            </a:r>
            <a:r>
              <a:rPr lang="en-US" b="1" dirty="0"/>
              <a:t>, </a:t>
            </a:r>
            <a:r>
              <a:rPr lang="en-US" b="1" dirty="0" err="1"/>
              <a:t>người</a:t>
            </a:r>
            <a:r>
              <a:rPr lang="en-US" b="1" dirty="0"/>
              <a:t> </a:t>
            </a:r>
            <a:r>
              <a:rPr lang="en-US" b="1" dirty="0" err="1"/>
              <a:t>thực</a:t>
            </a:r>
            <a:r>
              <a:rPr lang="en-US" b="1" dirty="0"/>
              <a:t> </a:t>
            </a:r>
            <a:r>
              <a:rPr lang="en-US" b="1" dirty="0" err="1"/>
              <a:t>hiện</a:t>
            </a:r>
            <a:endParaRPr lang="en-US" b="1" dirty="0"/>
          </a:p>
          <a:p>
            <a:pPr marL="514350" indent="-514350">
              <a:buFont typeface="+mj-lt"/>
              <a:buAutoNum type="arabicPeriod"/>
            </a:pPr>
            <a:r>
              <a:rPr lang="en-US" b="1" dirty="0" err="1"/>
              <a:t>Kiểm</a:t>
            </a:r>
            <a:r>
              <a:rPr lang="en-US" b="1" dirty="0"/>
              <a:t> </a:t>
            </a:r>
            <a:r>
              <a:rPr lang="en-US" b="1" dirty="0" err="1"/>
              <a:t>thử</a:t>
            </a:r>
            <a:r>
              <a:rPr lang="en-US" b="1" dirty="0"/>
              <a:t> phi </a:t>
            </a:r>
            <a:r>
              <a:rPr lang="en-US" b="1" dirty="0" err="1"/>
              <a:t>chức</a:t>
            </a:r>
            <a:r>
              <a:rPr lang="en-US" b="1" dirty="0"/>
              <a:t> </a:t>
            </a:r>
            <a:r>
              <a:rPr lang="en-US" b="1" dirty="0" err="1"/>
              <a:t>năng</a:t>
            </a:r>
            <a:r>
              <a:rPr lang="en-US" b="1" dirty="0"/>
              <a:t> (non-functional test) </a:t>
            </a:r>
            <a:r>
              <a:rPr lang="en-US" b="1" dirty="0" err="1"/>
              <a:t>là</a:t>
            </a:r>
            <a:r>
              <a:rPr lang="en-US" b="1" dirty="0"/>
              <a:t> </a:t>
            </a:r>
            <a:r>
              <a:rPr lang="en-US" b="1" dirty="0" err="1"/>
              <a:t>gì</a:t>
            </a:r>
            <a:r>
              <a:rPr lang="en-US" b="1" dirty="0"/>
              <a:t>? Cho </a:t>
            </a:r>
            <a:r>
              <a:rPr lang="en-US" b="1" dirty="0" err="1"/>
              <a:t>ví</a:t>
            </a:r>
            <a:r>
              <a:rPr lang="en-US" b="1" dirty="0"/>
              <a:t> </a:t>
            </a:r>
            <a:r>
              <a:rPr lang="en-US" b="1" dirty="0" err="1"/>
              <a:t>dụ</a:t>
            </a:r>
            <a:r>
              <a:rPr lang="en-US" b="1" dirty="0"/>
              <a:t> </a:t>
            </a:r>
            <a:r>
              <a:rPr lang="en-US" b="1" dirty="0" err="1"/>
              <a:t>ít</a:t>
            </a:r>
            <a:r>
              <a:rPr lang="en-US" b="1" dirty="0"/>
              <a:t> </a:t>
            </a:r>
            <a:r>
              <a:rPr lang="en-US" b="1" dirty="0" err="1"/>
              <a:t>nhất</a:t>
            </a:r>
            <a:r>
              <a:rPr lang="en-US" b="1" dirty="0"/>
              <a:t> 2 </a:t>
            </a:r>
            <a:r>
              <a:rPr lang="en-US" b="1" dirty="0" err="1"/>
              <a:t>loại</a:t>
            </a:r>
            <a:r>
              <a:rPr lang="en-US" b="1" dirty="0"/>
              <a:t> </a:t>
            </a:r>
            <a:r>
              <a:rPr lang="en-US" b="1" dirty="0" err="1"/>
              <a:t>thuộc</a:t>
            </a:r>
            <a:r>
              <a:rPr lang="en-US" b="1" dirty="0"/>
              <a:t> </a:t>
            </a:r>
            <a:r>
              <a:rPr lang="en-US" b="1" dirty="0" err="1"/>
              <a:t>kiểm</a:t>
            </a:r>
            <a:r>
              <a:rPr lang="en-US" b="1" dirty="0"/>
              <a:t> </a:t>
            </a:r>
            <a:r>
              <a:rPr lang="en-US" b="1" dirty="0" err="1"/>
              <a:t>thử</a:t>
            </a:r>
            <a:r>
              <a:rPr lang="en-US" b="1" dirty="0"/>
              <a:t> </a:t>
            </a:r>
            <a:r>
              <a:rPr lang="en-US" b="1" dirty="0" err="1"/>
              <a:t>này</a:t>
            </a:r>
            <a:r>
              <a:rPr lang="en-US" b="1" dirty="0"/>
              <a:t>.</a:t>
            </a:r>
          </a:p>
          <a:p>
            <a:pPr marL="514350" indent="-514350">
              <a:buFont typeface="+mj-lt"/>
              <a:buAutoNum type="arabicPeriod"/>
            </a:pPr>
            <a:r>
              <a:rPr lang="en-US" b="1" dirty="0" err="1"/>
              <a:t>Phân</a:t>
            </a:r>
            <a:r>
              <a:rPr lang="en-US" b="1" dirty="0"/>
              <a:t> </a:t>
            </a:r>
            <a:r>
              <a:rPr lang="en-US" b="1" dirty="0" err="1"/>
              <a:t>biệt</a:t>
            </a:r>
            <a:r>
              <a:rPr lang="en-US" b="1" dirty="0"/>
              <a:t> </a:t>
            </a:r>
            <a:r>
              <a:rPr lang="en-US" b="1" dirty="0" err="1"/>
              <a:t>kiểm</a:t>
            </a:r>
            <a:r>
              <a:rPr lang="en-US" b="1" dirty="0"/>
              <a:t> </a:t>
            </a:r>
            <a:r>
              <a:rPr lang="en-US" b="1" dirty="0" err="1"/>
              <a:t>thử</a:t>
            </a:r>
            <a:r>
              <a:rPr lang="en-US" b="1" dirty="0"/>
              <a:t> </a:t>
            </a:r>
            <a:r>
              <a:rPr lang="en-US" b="1" dirty="0" err="1"/>
              <a:t>xác</a:t>
            </a:r>
            <a:r>
              <a:rPr lang="en-US" b="1" dirty="0"/>
              <a:t> </a:t>
            </a:r>
            <a:r>
              <a:rPr lang="en-US" b="1" dirty="0" err="1"/>
              <a:t>nhận</a:t>
            </a:r>
            <a:r>
              <a:rPr lang="en-US" b="1" dirty="0"/>
              <a:t> (re-testing) </a:t>
            </a:r>
            <a:r>
              <a:rPr lang="en-US" b="1" dirty="0" err="1"/>
              <a:t>và</a:t>
            </a:r>
            <a:r>
              <a:rPr lang="en-US" b="1" dirty="0"/>
              <a:t> </a:t>
            </a:r>
            <a:r>
              <a:rPr lang="en-US" b="1" dirty="0" err="1"/>
              <a:t>kiểm</a:t>
            </a:r>
            <a:r>
              <a:rPr lang="en-US" b="1" dirty="0"/>
              <a:t> </a:t>
            </a:r>
            <a:r>
              <a:rPr lang="en-US" b="1" dirty="0" err="1"/>
              <a:t>thử</a:t>
            </a:r>
            <a:r>
              <a:rPr lang="en-US" b="1" dirty="0"/>
              <a:t> </a:t>
            </a:r>
            <a:r>
              <a:rPr lang="en-US" b="1" dirty="0" err="1"/>
              <a:t>hồi</a:t>
            </a:r>
            <a:r>
              <a:rPr lang="en-US" b="1" dirty="0"/>
              <a:t> </a:t>
            </a:r>
            <a:r>
              <a:rPr lang="en-US" b="1" dirty="0" err="1"/>
              <a:t>quy</a:t>
            </a:r>
            <a:r>
              <a:rPr lang="en-US" b="1" dirty="0"/>
              <a:t> (regression testing).</a:t>
            </a:r>
          </a:p>
          <a:p>
            <a:pPr marL="514350" indent="-514350">
              <a:buFont typeface="+mj-lt"/>
              <a:buAutoNum type="arabicPeriod"/>
            </a:pPr>
            <a:r>
              <a:rPr lang="en-US" b="1" dirty="0"/>
              <a:t>Review </a:t>
            </a:r>
            <a:r>
              <a:rPr lang="en-US" b="1" dirty="0" err="1"/>
              <a:t>là</a:t>
            </a:r>
            <a:r>
              <a:rPr lang="en-US" b="1" dirty="0"/>
              <a:t> </a:t>
            </a:r>
            <a:r>
              <a:rPr lang="en-US" b="1" dirty="0" err="1"/>
              <a:t>gì</a:t>
            </a:r>
            <a:r>
              <a:rPr lang="en-US" b="1" dirty="0"/>
              <a:t>? </a:t>
            </a:r>
            <a:r>
              <a:rPr lang="en-US" b="1" dirty="0" err="1"/>
              <a:t>Có</a:t>
            </a:r>
            <a:r>
              <a:rPr lang="en-US" b="1" dirty="0"/>
              <a:t> </a:t>
            </a:r>
            <a:r>
              <a:rPr lang="en-US" b="1" dirty="0" err="1"/>
              <a:t>thể</a:t>
            </a:r>
            <a:r>
              <a:rPr lang="en-US" b="1" dirty="0"/>
              <a:t> review </a:t>
            </a:r>
            <a:r>
              <a:rPr lang="en-US" b="1" dirty="0" err="1"/>
              <a:t>những</a:t>
            </a:r>
            <a:r>
              <a:rPr lang="en-US" b="1" dirty="0"/>
              <a:t> </a:t>
            </a:r>
            <a:r>
              <a:rPr lang="en-US" b="1" dirty="0" err="1"/>
              <a:t>gì</a:t>
            </a:r>
            <a:r>
              <a:rPr lang="en-US" b="1" dirty="0"/>
              <a:t>? </a:t>
            </a:r>
            <a:r>
              <a:rPr lang="en-US" b="1" dirty="0" err="1"/>
              <a:t>Phân</a:t>
            </a:r>
            <a:r>
              <a:rPr lang="en-US" b="1" dirty="0"/>
              <a:t> </a:t>
            </a:r>
            <a:r>
              <a:rPr lang="en-US" b="1" dirty="0" err="1"/>
              <a:t>biệt</a:t>
            </a:r>
            <a:r>
              <a:rPr lang="en-US" b="1" dirty="0"/>
              <a:t> walkthrough </a:t>
            </a:r>
            <a:r>
              <a:rPr lang="en-US" b="1" dirty="0" err="1"/>
              <a:t>và</a:t>
            </a:r>
            <a:r>
              <a:rPr lang="en-US" b="1" dirty="0"/>
              <a:t> inspection.</a:t>
            </a:r>
          </a:p>
          <a:p>
            <a:pPr marL="514350" indent="-514350">
              <a:buFont typeface="+mj-lt"/>
              <a:buAutoNum type="arabicPeriod"/>
            </a:pPr>
            <a:r>
              <a:rPr lang="en-US" dirty="0" err="1"/>
              <a:t>Có</a:t>
            </a:r>
            <a:r>
              <a:rPr lang="en-US" dirty="0"/>
              <a:t> </a:t>
            </a:r>
            <a:r>
              <a:rPr lang="en-US" dirty="0" err="1"/>
              <a:t>các</a:t>
            </a:r>
            <a:r>
              <a:rPr lang="en-US" dirty="0"/>
              <a:t> </a:t>
            </a:r>
            <a:r>
              <a:rPr lang="en-US" dirty="0" err="1"/>
              <a:t>loại</a:t>
            </a:r>
            <a:r>
              <a:rPr lang="en-US" dirty="0"/>
              <a:t> </a:t>
            </a:r>
            <a:r>
              <a:rPr lang="en-US" dirty="0" err="1"/>
              <a:t>bảo</a:t>
            </a:r>
            <a:r>
              <a:rPr lang="en-US" dirty="0"/>
              <a:t> </a:t>
            </a:r>
            <a:r>
              <a:rPr lang="en-US" dirty="0" err="1"/>
              <a:t>trì</a:t>
            </a:r>
            <a:r>
              <a:rPr lang="en-US" dirty="0"/>
              <a:t> </a:t>
            </a:r>
            <a:r>
              <a:rPr lang="en-US" dirty="0" err="1"/>
              <a:t>phần</a:t>
            </a:r>
            <a:r>
              <a:rPr lang="en-US" dirty="0"/>
              <a:t> </a:t>
            </a:r>
            <a:r>
              <a:rPr lang="en-US" dirty="0" err="1"/>
              <a:t>mềm</a:t>
            </a:r>
            <a:r>
              <a:rPr lang="en-US" dirty="0"/>
              <a:t> </a:t>
            </a:r>
            <a:r>
              <a:rPr lang="en-US" dirty="0" err="1"/>
              <a:t>nào</a:t>
            </a:r>
            <a:r>
              <a:rPr lang="en-US" dirty="0"/>
              <a:t>? </a:t>
            </a:r>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việc</a:t>
            </a:r>
            <a:r>
              <a:rPr lang="en-US" dirty="0"/>
              <a:t> </a:t>
            </a:r>
            <a:r>
              <a:rPr lang="en-US" dirty="0" err="1"/>
              <a:t>bảo</a:t>
            </a:r>
            <a:r>
              <a:rPr lang="en-US" dirty="0"/>
              <a:t> </a:t>
            </a:r>
            <a:r>
              <a:rPr lang="en-US" dirty="0" err="1"/>
              <a:t>trì</a:t>
            </a:r>
            <a:r>
              <a:rPr lang="en-US" dirty="0"/>
              <a:t> </a:t>
            </a:r>
            <a:r>
              <a:rPr lang="en-US" dirty="0" err="1"/>
              <a:t>được</a:t>
            </a:r>
            <a:r>
              <a:rPr lang="en-US" dirty="0"/>
              <a:t> </a:t>
            </a:r>
            <a:r>
              <a:rPr lang="en-US" dirty="0" err="1"/>
              <a:t>thuận</a:t>
            </a:r>
            <a:r>
              <a:rPr lang="en-US" dirty="0"/>
              <a:t> </a:t>
            </a:r>
            <a:r>
              <a:rPr lang="en-US" dirty="0" err="1"/>
              <a:t>lợi</a:t>
            </a:r>
            <a:r>
              <a:rPr lang="en-US" dirty="0"/>
              <a:t>.</a:t>
            </a:r>
          </a:p>
          <a:p>
            <a:pPr marL="514350" indent="-514350">
              <a:buFont typeface="+mj-lt"/>
              <a:buAutoNum type="arabicPeriod"/>
            </a:pPr>
            <a:r>
              <a:rPr lang="en-US" dirty="0" err="1"/>
              <a:t>Các</a:t>
            </a:r>
            <a:r>
              <a:rPr lang="en-US" dirty="0"/>
              <a:t> </a:t>
            </a:r>
            <a:r>
              <a:rPr lang="en-US" dirty="0" err="1"/>
              <a:t>câu</a:t>
            </a:r>
            <a:r>
              <a:rPr lang="en-US" dirty="0"/>
              <a:t> </a:t>
            </a:r>
            <a:r>
              <a:rPr lang="en-US" dirty="0" err="1"/>
              <a:t>hỏi</a:t>
            </a:r>
            <a:r>
              <a:rPr lang="en-US" dirty="0"/>
              <a:t> </a:t>
            </a:r>
            <a:r>
              <a:rPr lang="en-US" dirty="0" err="1"/>
              <a:t>phần</a:t>
            </a:r>
            <a:r>
              <a:rPr lang="en-US" dirty="0"/>
              <a:t> </a:t>
            </a:r>
            <a:r>
              <a:rPr lang="en-US" dirty="0" err="1"/>
              <a:t>Kiểm</a:t>
            </a:r>
            <a:r>
              <a:rPr lang="en-US" dirty="0"/>
              <a:t> </a:t>
            </a:r>
            <a:r>
              <a:rPr lang="en-US" dirty="0" err="1"/>
              <a:t>tra</a:t>
            </a:r>
            <a:r>
              <a:rPr lang="en-US" dirty="0"/>
              <a:t> </a:t>
            </a:r>
            <a:r>
              <a:rPr lang="en-US" dirty="0" err="1"/>
              <a:t>hiểu</a:t>
            </a:r>
            <a:r>
              <a:rPr lang="en-US" dirty="0"/>
              <a:t> </a:t>
            </a:r>
            <a:r>
              <a:rPr lang="en-US" dirty="0" err="1"/>
              <a:t>bài</a:t>
            </a:r>
            <a:r>
              <a:rPr lang="en-US" dirty="0"/>
              <a:t> </a:t>
            </a:r>
            <a:r>
              <a:rPr lang="en-US" dirty="0" err="1"/>
              <a:t>về</a:t>
            </a:r>
            <a:r>
              <a:rPr lang="en-US" dirty="0"/>
              <a:t> </a:t>
            </a:r>
            <a:r>
              <a:rPr lang="en-US" dirty="0" err="1"/>
              <a:t>Quy</a:t>
            </a:r>
            <a:r>
              <a:rPr lang="en-US" dirty="0"/>
              <a:t> </a:t>
            </a:r>
            <a:r>
              <a:rPr lang="en-US" dirty="0" err="1"/>
              <a:t>trình</a:t>
            </a:r>
            <a:r>
              <a:rPr lang="en-US" dirty="0"/>
              <a:t> </a:t>
            </a:r>
            <a:r>
              <a:rPr lang="en-US" dirty="0" err="1"/>
              <a:t>kiểm</a:t>
            </a:r>
            <a:r>
              <a:rPr lang="en-US" dirty="0"/>
              <a:t> </a:t>
            </a:r>
            <a:r>
              <a:rPr lang="en-US" dirty="0" err="1"/>
              <a:t>thử</a:t>
            </a:r>
            <a:r>
              <a:rPr lang="en-US" dirty="0"/>
              <a:t> (slide 42)</a:t>
            </a:r>
          </a:p>
          <a:p>
            <a:endParaRPr lang="en-US" dirty="0"/>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100</a:t>
            </a:fld>
            <a:endParaRPr lang="en-US"/>
          </a:p>
        </p:txBody>
      </p:sp>
    </p:spTree>
    <p:extLst>
      <p:ext uri="{BB962C8B-B14F-4D97-AF65-F5344CB8AC3E}">
        <p14:creationId xmlns:p14="http://schemas.microsoft.com/office/powerpoint/2010/main" val="11987486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Kiểm tra 20 phút - DHKTPM14ATT</a:t>
            </a:r>
          </a:p>
        </p:txBody>
      </p:sp>
      <p:sp>
        <p:nvSpPr>
          <p:cNvPr id="3" name="Content Placeholder 2"/>
          <p:cNvSpPr>
            <a:spLocks noGrp="1"/>
          </p:cNvSpPr>
          <p:nvPr>
            <p:ph idx="1"/>
          </p:nvPr>
        </p:nvSpPr>
        <p:spPr/>
        <p:txBody>
          <a:bodyPr/>
          <a:lstStyle/>
          <a:p>
            <a:pPr marL="514350" indent="-514350">
              <a:buFont typeface="+mj-lt"/>
              <a:buAutoNum type="arabicPeriod"/>
            </a:pPr>
            <a:r>
              <a:rPr lang="en-US"/>
              <a:t>Liệt kê các thành phần của hệ thống đảm bảo chất lượng phần mềm.</a:t>
            </a:r>
          </a:p>
          <a:p>
            <a:pPr marL="514350" indent="-514350">
              <a:buFont typeface="+mj-lt"/>
              <a:buAutoNum type="arabicPeriod"/>
            </a:pPr>
            <a:r>
              <a:rPr lang="en-US"/>
              <a:t>Kiểm thử phi chức năng (non-functional test) là gì? Cho ví dụ ít nhất 2 loại thuộc kiểm thử này.</a:t>
            </a:r>
          </a:p>
          <a:p>
            <a:pPr marL="514350" indent="-514350">
              <a:buFont typeface="+mj-lt"/>
              <a:buAutoNum type="arabicPeriod"/>
            </a:pPr>
            <a:endParaRPr lang="en-US"/>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101</a:t>
            </a:fld>
            <a:endParaRPr lang="en-US"/>
          </a:p>
        </p:txBody>
      </p:sp>
    </p:spTree>
    <p:extLst>
      <p:ext uri="{BB962C8B-B14F-4D97-AF65-F5344CB8AC3E}">
        <p14:creationId xmlns:p14="http://schemas.microsoft.com/office/powerpoint/2010/main" val="107050587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Kiểm tra 20 phút – DHKTPM14CTT</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a:t>Liệt kê các thành phần của hệ thống đảm bảo chất lượng phần mềm.</a:t>
            </a:r>
          </a:p>
          <a:p>
            <a:pPr marL="514350" indent="-514350">
              <a:buFont typeface="+mj-lt"/>
              <a:buAutoNum type="arabicPeriod"/>
            </a:pPr>
            <a:r>
              <a:rPr lang="en-US"/>
              <a:t>Phân biệt kiểm thử xác nhận và kiểm thử hồi quy.</a:t>
            </a:r>
          </a:p>
          <a:p>
            <a:pPr marL="514350" indent="-514350">
              <a:buFont typeface="+mj-lt"/>
              <a:buAutoNum type="arabicPeriod"/>
            </a:pP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102</a:t>
            </a:fld>
            <a:endParaRPr lang="en-US"/>
          </a:p>
        </p:txBody>
      </p:sp>
    </p:spTree>
    <p:extLst>
      <p:ext uri="{BB962C8B-B14F-4D97-AF65-F5344CB8AC3E}">
        <p14:creationId xmlns:p14="http://schemas.microsoft.com/office/powerpoint/2010/main" val="14082999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1. Which of the following MAIN activity is part of the fundamental test process?</a:t>
            </a:r>
          </a:p>
          <a:p>
            <a:pPr marL="514350" lvl="0" indent="-514350">
              <a:buFont typeface="+mj-lt"/>
              <a:buAutoNum type="alphaUcPeriod"/>
            </a:pPr>
            <a:r>
              <a:rPr lang="en-US"/>
              <a:t>Initiating and planning </a:t>
            </a:r>
          </a:p>
          <a:p>
            <a:pPr marL="514350" lvl="0" indent="-514350">
              <a:buFont typeface="+mj-lt"/>
              <a:buAutoNum type="alphaUcPeriod"/>
            </a:pPr>
            <a:r>
              <a:rPr lang="en-US"/>
              <a:t>Documenting root-causes </a:t>
            </a:r>
          </a:p>
          <a:p>
            <a:pPr marL="514350" lvl="0" indent="-514350">
              <a:buFont typeface="+mj-lt"/>
              <a:buAutoNum type="alphaUcPeriod"/>
            </a:pPr>
            <a:r>
              <a:rPr lang="en-US"/>
              <a:t>Capturing lessons learned </a:t>
            </a:r>
          </a:p>
          <a:p>
            <a:pPr marL="514350" lvl="0" indent="-514350">
              <a:buFont typeface="+mj-lt"/>
              <a:buAutoNum type="alphaUcPeriod"/>
            </a:pPr>
            <a:r>
              <a:rPr lang="en-US"/>
              <a:t>Planning and control </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103</a:t>
            </a:fld>
            <a:endParaRPr lang="en-US"/>
          </a:p>
        </p:txBody>
      </p:sp>
    </p:spTree>
    <p:extLst>
      <p:ext uri="{BB962C8B-B14F-4D97-AF65-F5344CB8AC3E}">
        <p14:creationId xmlns:p14="http://schemas.microsoft.com/office/powerpoint/2010/main" val="250248814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2. Which is not the fundamental test process?</a:t>
            </a:r>
          </a:p>
          <a:p>
            <a:pPr marL="514350" indent="-514350">
              <a:buFont typeface="+mj-lt"/>
              <a:buAutoNum type="alphaUcPeriod"/>
            </a:pPr>
            <a:r>
              <a:rPr lang="en-US"/>
              <a:t>Planning and control </a:t>
            </a:r>
          </a:p>
          <a:p>
            <a:pPr marL="514350" indent="-514350">
              <a:buFont typeface="+mj-lt"/>
              <a:buAutoNum type="alphaUcPeriod"/>
            </a:pPr>
            <a:r>
              <a:rPr lang="en-US"/>
              <a:t>Test closure activities </a:t>
            </a:r>
          </a:p>
          <a:p>
            <a:pPr marL="514350" indent="-514350">
              <a:buFont typeface="+mj-lt"/>
              <a:buAutoNum type="alphaUcPeriod"/>
            </a:pPr>
            <a:r>
              <a:rPr lang="en-US"/>
              <a:t>Analysis and design </a:t>
            </a:r>
          </a:p>
          <a:p>
            <a:pPr marL="514350" indent="-514350">
              <a:buFont typeface="+mj-lt"/>
              <a:buAutoNum type="alphaUcPeriod"/>
            </a:pPr>
            <a:r>
              <a:rPr lang="en-US"/>
              <a:t>None of the above</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104</a:t>
            </a:fld>
            <a:endParaRPr lang="en-US"/>
          </a:p>
        </p:txBody>
      </p:sp>
    </p:spTree>
    <p:extLst>
      <p:ext uri="{BB962C8B-B14F-4D97-AF65-F5344CB8AC3E}">
        <p14:creationId xmlns:p14="http://schemas.microsoft.com/office/powerpoint/2010/main" val="3111460742"/>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3. Which of the following is a major task of test planning?</a:t>
            </a:r>
          </a:p>
          <a:p>
            <a:pPr marL="514350" indent="-514350">
              <a:buFont typeface="+mj-lt"/>
              <a:buAutoNum type="alphaUcPeriod"/>
            </a:pPr>
            <a:r>
              <a:rPr lang="en-US"/>
              <a:t>Determining the test approach</a:t>
            </a:r>
          </a:p>
          <a:p>
            <a:pPr marL="514350" indent="-514350">
              <a:buFont typeface="+mj-lt"/>
              <a:buAutoNum type="alphaUcPeriod"/>
            </a:pPr>
            <a:r>
              <a:rPr lang="en-US"/>
              <a:t>Preparing test specifications</a:t>
            </a:r>
          </a:p>
          <a:p>
            <a:pPr marL="514350" indent="-514350">
              <a:buFont typeface="+mj-lt"/>
              <a:buAutoNum type="alphaUcPeriod"/>
            </a:pPr>
            <a:r>
              <a:rPr lang="en-US"/>
              <a:t>Evaluating exit criteria and reporting</a:t>
            </a:r>
          </a:p>
          <a:p>
            <a:pPr marL="514350" indent="-514350">
              <a:buFont typeface="+mj-lt"/>
              <a:buAutoNum type="alphaUcPeriod"/>
            </a:pPr>
            <a:r>
              <a:rPr lang="en-US"/>
              <a:t>Measuring and analyzing results</a:t>
            </a:r>
          </a:p>
          <a:p>
            <a:pPr marL="0" indent="0">
              <a:buNone/>
            </a:pP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105</a:t>
            </a:fld>
            <a:endParaRPr lang="en-US"/>
          </a:p>
        </p:txBody>
      </p:sp>
    </p:spTree>
    <p:extLst>
      <p:ext uri="{BB962C8B-B14F-4D97-AF65-F5344CB8AC3E}">
        <p14:creationId xmlns:p14="http://schemas.microsoft.com/office/powerpoint/2010/main" val="1032765910"/>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4. Which of the following is not a part of the test implementation and execution phase?</a:t>
            </a:r>
          </a:p>
          <a:p>
            <a:pPr marL="514350" indent="-514350">
              <a:buFont typeface="+mj-lt"/>
              <a:buAutoNum type="alphaUcPeriod"/>
            </a:pPr>
            <a:r>
              <a:rPr lang="en-US"/>
              <a:t>Creating test suites from the test cases</a:t>
            </a:r>
          </a:p>
          <a:p>
            <a:pPr marL="514350" indent="-514350">
              <a:buFont typeface="+mj-lt"/>
              <a:buAutoNum type="alphaUcPeriod"/>
            </a:pPr>
            <a:r>
              <a:rPr lang="en-US"/>
              <a:t>Executing test cases either manually or by using test execution tools</a:t>
            </a:r>
          </a:p>
          <a:p>
            <a:pPr marL="514350" indent="-514350">
              <a:buFont typeface="+mj-lt"/>
              <a:buAutoNum type="alphaUcPeriod"/>
            </a:pPr>
            <a:r>
              <a:rPr lang="en-US"/>
              <a:t>Comparing actual results</a:t>
            </a:r>
          </a:p>
          <a:p>
            <a:pPr marL="514350" indent="-514350">
              <a:buFont typeface="+mj-lt"/>
              <a:buAutoNum type="alphaUcPeriod"/>
            </a:pPr>
            <a:r>
              <a:rPr lang="en-US"/>
              <a:t>Designing the tests</a:t>
            </a:r>
          </a:p>
          <a:p>
            <a:pPr marL="0" indent="0">
              <a:buNone/>
            </a:pP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106</a:t>
            </a:fld>
            <a:endParaRPr lang="en-US"/>
          </a:p>
        </p:txBody>
      </p:sp>
    </p:spTree>
    <p:extLst>
      <p:ext uri="{BB962C8B-B14F-4D97-AF65-F5344CB8AC3E}">
        <p14:creationId xmlns:p14="http://schemas.microsoft.com/office/powerpoint/2010/main" val="3502128212"/>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5. Reviewing the test basis is a part of which phase</a:t>
            </a:r>
          </a:p>
          <a:p>
            <a:pPr marL="514350" indent="-514350">
              <a:buFont typeface="+mj-lt"/>
              <a:buAutoNum type="alphaUcPeriod"/>
            </a:pPr>
            <a:r>
              <a:rPr lang="en-US"/>
              <a:t>Test analysis and design</a:t>
            </a:r>
          </a:p>
          <a:p>
            <a:pPr marL="514350" indent="-514350">
              <a:buFont typeface="+mj-lt"/>
              <a:buAutoNum type="alphaUcPeriod"/>
            </a:pPr>
            <a:r>
              <a:rPr lang="en-US"/>
              <a:t>Test implementation and execution</a:t>
            </a:r>
          </a:p>
          <a:p>
            <a:pPr marL="514350" indent="-514350">
              <a:buFont typeface="+mj-lt"/>
              <a:buAutoNum type="alphaUcPeriod"/>
            </a:pPr>
            <a:r>
              <a:rPr lang="en-US"/>
              <a:t>Test closure activities</a:t>
            </a:r>
          </a:p>
          <a:p>
            <a:pPr marL="514350" indent="-514350">
              <a:buFont typeface="+mj-lt"/>
              <a:buAutoNum type="alphaUcPeriod"/>
            </a:pPr>
            <a:r>
              <a:rPr lang="en-US"/>
              <a:t>Evaluating exit criteria and reporting</a:t>
            </a:r>
          </a:p>
          <a:p>
            <a:pPr marL="0" indent="0">
              <a:buNone/>
            </a:pP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107</a:t>
            </a:fld>
            <a:endParaRPr lang="en-US"/>
          </a:p>
        </p:txBody>
      </p:sp>
    </p:spTree>
    <p:extLst>
      <p:ext uri="{BB962C8B-B14F-4D97-AF65-F5344CB8AC3E}">
        <p14:creationId xmlns:p14="http://schemas.microsoft.com/office/powerpoint/2010/main" val="154355292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6. Which of the following requirements is testable?</a:t>
            </a:r>
          </a:p>
          <a:p>
            <a:pPr marL="514350" indent="-514350">
              <a:buFont typeface="+mj-lt"/>
              <a:buAutoNum type="alphaUcPeriod"/>
            </a:pPr>
            <a:r>
              <a:rPr lang="en-US"/>
              <a:t>The system shall be user friendly</a:t>
            </a:r>
          </a:p>
          <a:p>
            <a:pPr marL="514350" indent="-514350">
              <a:buFont typeface="+mj-lt"/>
              <a:buAutoNum type="alphaUcPeriod"/>
            </a:pPr>
            <a:r>
              <a:rPr lang="en-US"/>
              <a:t>The safety-critical parts of the system contain 0 faults</a:t>
            </a:r>
          </a:p>
          <a:p>
            <a:pPr marL="514350" indent="-514350">
              <a:buFont typeface="+mj-lt"/>
              <a:buAutoNum type="alphaUcPeriod"/>
            </a:pPr>
            <a:r>
              <a:rPr lang="en-US"/>
              <a:t>The response time shall be less than one second for the specified design load</a:t>
            </a:r>
          </a:p>
          <a:p>
            <a:pPr marL="514350" indent="-514350">
              <a:buFont typeface="+mj-lt"/>
              <a:buAutoNum type="alphaUcPeriod"/>
            </a:pPr>
            <a:r>
              <a:rPr lang="en-US"/>
              <a:t>The system shall be built to be portable</a:t>
            </a:r>
          </a:p>
          <a:p>
            <a:pPr marL="0" indent="0">
              <a:buNone/>
            </a:pP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108</a:t>
            </a:fld>
            <a:endParaRPr lang="en-US"/>
          </a:p>
        </p:txBody>
      </p:sp>
    </p:spTree>
    <p:extLst>
      <p:ext uri="{BB962C8B-B14F-4D97-AF65-F5344CB8AC3E}">
        <p14:creationId xmlns:p14="http://schemas.microsoft.com/office/powerpoint/2010/main" val="591220154"/>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7. Designing the test environment set-up and identifying any required infrastructure and tools are a part of which phase</a:t>
            </a:r>
          </a:p>
          <a:p>
            <a:pPr marL="514350" indent="-514350">
              <a:buFont typeface="+mj-lt"/>
              <a:buAutoNum type="alphaUcPeriod"/>
            </a:pPr>
            <a:r>
              <a:rPr lang="en-US"/>
              <a:t>Test implementation and execution</a:t>
            </a:r>
          </a:p>
          <a:p>
            <a:pPr marL="514350" indent="-514350">
              <a:buFont typeface="+mj-lt"/>
              <a:buAutoNum type="alphaUcPeriod"/>
            </a:pPr>
            <a:r>
              <a:rPr lang="en-US"/>
              <a:t>Test analysis and design</a:t>
            </a:r>
          </a:p>
          <a:p>
            <a:pPr marL="514350" indent="-514350">
              <a:buFont typeface="+mj-lt"/>
              <a:buAutoNum type="alphaUcPeriod"/>
            </a:pPr>
            <a:r>
              <a:rPr lang="en-US"/>
              <a:t>Evaluating the exit criteria and reporting</a:t>
            </a:r>
          </a:p>
          <a:p>
            <a:pPr marL="514350" indent="-514350">
              <a:buFont typeface="+mj-lt"/>
              <a:buAutoNum type="alphaUcPeriod"/>
            </a:pPr>
            <a:r>
              <a:rPr lang="en-US"/>
              <a:t>Test closure activities</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109</a:t>
            </a:fld>
            <a:endParaRPr lang="en-US"/>
          </a:p>
        </p:txBody>
      </p:sp>
    </p:spTree>
    <p:extLst>
      <p:ext uri="{BB962C8B-B14F-4D97-AF65-F5344CB8AC3E}">
        <p14:creationId xmlns:p14="http://schemas.microsoft.com/office/powerpoint/2010/main" val="370522818"/>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8. Reporting discrepancies as incidents is a part of which phase:</a:t>
            </a:r>
          </a:p>
          <a:p>
            <a:pPr marL="514350" indent="-514350">
              <a:buFont typeface="+mj-lt"/>
              <a:buAutoNum type="alphaUcPeriod"/>
            </a:pPr>
            <a:r>
              <a:rPr lang="en-US"/>
              <a:t>Test analysis and design</a:t>
            </a:r>
          </a:p>
          <a:p>
            <a:pPr marL="514350" indent="-514350">
              <a:buFont typeface="+mj-lt"/>
              <a:buAutoNum type="alphaUcPeriod"/>
            </a:pPr>
            <a:r>
              <a:rPr lang="en-US"/>
              <a:t>Test implementation and execution</a:t>
            </a:r>
          </a:p>
          <a:p>
            <a:pPr marL="514350" indent="-514350">
              <a:buFont typeface="+mj-lt"/>
              <a:buAutoNum type="alphaUcPeriod"/>
            </a:pPr>
            <a:r>
              <a:rPr lang="en-US"/>
              <a:t>Test closure activities</a:t>
            </a:r>
          </a:p>
          <a:p>
            <a:pPr marL="514350" indent="-514350">
              <a:buFont typeface="+mj-lt"/>
              <a:buAutoNum type="alphaUcPeriod"/>
            </a:pPr>
            <a:r>
              <a:rPr lang="en-US"/>
              <a:t>Evaluating exit criteria and reporting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110</a:t>
            </a:fld>
            <a:endParaRPr lang="en-US"/>
          </a:p>
        </p:txBody>
      </p:sp>
    </p:spTree>
    <p:extLst>
      <p:ext uri="{BB962C8B-B14F-4D97-AF65-F5344CB8AC3E}">
        <p14:creationId xmlns:p14="http://schemas.microsoft.com/office/powerpoint/2010/main" val="315038465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9. Beta testing is: </a:t>
            </a:r>
          </a:p>
          <a:p>
            <a:pPr marL="514350" indent="-514350">
              <a:buFont typeface="+mj-lt"/>
              <a:buAutoNum type="alphaUcPeriod"/>
            </a:pPr>
            <a:r>
              <a:rPr lang="en-US"/>
              <a:t>Performed by customers at their own site</a:t>
            </a:r>
          </a:p>
          <a:p>
            <a:pPr marL="514350" indent="-514350">
              <a:buFont typeface="+mj-lt"/>
              <a:buAutoNum type="alphaUcPeriod"/>
            </a:pPr>
            <a:r>
              <a:rPr lang="en-US"/>
              <a:t>Performed by customers at the software devel oper's site</a:t>
            </a:r>
          </a:p>
          <a:p>
            <a:pPr marL="514350" indent="-514350">
              <a:buFont typeface="+mj-lt"/>
              <a:buAutoNum type="alphaUcPeriod"/>
            </a:pPr>
            <a:r>
              <a:rPr lang="en-US"/>
              <a:t>Performed by an independent test team</a:t>
            </a:r>
          </a:p>
          <a:p>
            <a:pPr marL="514350" indent="-514350">
              <a:buFont typeface="+mj-lt"/>
              <a:buAutoNum type="alphaUcPeriod"/>
            </a:pPr>
            <a:r>
              <a:rPr lang="en-US"/>
              <a:t>Useful to test software developed for a specific customer or user</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111</a:t>
            </a:fld>
            <a:endParaRPr lang="en-US"/>
          </a:p>
        </p:txBody>
      </p:sp>
    </p:spTree>
    <p:extLst>
      <p:ext uri="{BB962C8B-B14F-4D97-AF65-F5344CB8AC3E}">
        <p14:creationId xmlns:p14="http://schemas.microsoft.com/office/powerpoint/2010/main" val="3669616612"/>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pPr marL="0" indent="0">
              <a:buNone/>
            </a:pPr>
            <a:r>
              <a:rPr lang="en-US"/>
              <a:t>10. Which is not the testing objectives</a:t>
            </a:r>
          </a:p>
          <a:p>
            <a:pPr marL="514350" lvl="0" indent="-514350">
              <a:buFont typeface="+mj-lt"/>
              <a:buAutoNum type="alphaUcPeriod"/>
            </a:pPr>
            <a:r>
              <a:rPr lang="en-US"/>
              <a:t>Finding defects</a:t>
            </a:r>
          </a:p>
          <a:p>
            <a:pPr marL="514350" lvl="0" indent="-514350">
              <a:buFont typeface="+mj-lt"/>
              <a:buAutoNum type="alphaUcPeriod"/>
            </a:pPr>
            <a:r>
              <a:rPr lang="en-US"/>
              <a:t>Gaining confidence about the level of quality and providing information</a:t>
            </a:r>
          </a:p>
          <a:p>
            <a:pPr marL="514350" lvl="0" indent="-514350">
              <a:buFont typeface="+mj-lt"/>
              <a:buAutoNum type="alphaUcPeriod"/>
            </a:pPr>
            <a:r>
              <a:rPr lang="en-US"/>
              <a:t>Preventing defects</a:t>
            </a:r>
          </a:p>
          <a:p>
            <a:pPr marL="514350" lvl="0" indent="-514350">
              <a:buFont typeface="+mj-lt"/>
              <a:buAutoNum type="alphaUcPeriod"/>
            </a:pPr>
            <a:r>
              <a:rPr lang="en-US"/>
              <a:t>Debugging defects</a:t>
            </a:r>
          </a:p>
          <a:p>
            <a:pPr marL="0" indent="0">
              <a:buNone/>
            </a:pP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112</a:t>
            </a:fld>
            <a:endParaRPr lang="en-US"/>
          </a:p>
        </p:txBody>
      </p:sp>
    </p:spTree>
    <p:extLst>
      <p:ext uri="{BB962C8B-B14F-4D97-AF65-F5344CB8AC3E}">
        <p14:creationId xmlns:p14="http://schemas.microsoft.com/office/powerpoint/2010/main" val="289870898"/>
      </p:ext>
    </p:extLst>
  </p:cSld>
  <p:clrMapOvr>
    <a:masterClrMapping/>
  </p:clrMapOvr>
  <mc:AlternateContent xmlns:mc="http://schemas.openxmlformats.org/markup-compatibility/2006" xmlns:p14="http://schemas.microsoft.com/office/powerpoint/2010/main">
    <mc:Choice Requires="p14">
      <p:transition spd="slow" p14:dur="2000" advTm="60000"/>
    </mc:Choice>
    <mc:Fallback xmlns="">
      <p:transition spd="slow" advTm="60000"/>
    </mc:Fallback>
  </mc:AlternateContent>
</p:sld>
</file>

<file path=ppt/theme/_rels/theme1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Flow">
  <a:themeElements>
    <a:clrScheme name="Custom 2">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2060"/>
      </a:hlink>
      <a:folHlink>
        <a:srgbClr val="C0000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TS010338266</Template>
  <TotalTime>82827</TotalTime>
  <Words>18699</Words>
  <Application>Microsoft Office PowerPoint</Application>
  <PresentationFormat>On-screen Show (4:3)</PresentationFormat>
  <Paragraphs>1697</Paragraphs>
  <Slides>112</Slides>
  <Notes>109</Notes>
  <HiddenSlides>13</HiddenSlides>
  <MMClips>0</MMClips>
  <ScaleCrop>false</ScaleCrop>
  <HeadingPairs>
    <vt:vector size="6" baseType="variant">
      <vt:variant>
        <vt:lpstr>Fonts Used</vt:lpstr>
      </vt:variant>
      <vt:variant>
        <vt:i4>8</vt:i4>
      </vt:variant>
      <vt:variant>
        <vt:lpstr>Theme</vt:lpstr>
      </vt:variant>
      <vt:variant>
        <vt:i4>15</vt:i4>
      </vt:variant>
      <vt:variant>
        <vt:lpstr>Slide Titles</vt:lpstr>
      </vt:variant>
      <vt:variant>
        <vt:i4>112</vt:i4>
      </vt:variant>
    </vt:vector>
  </HeadingPairs>
  <TitlesOfParts>
    <vt:vector size="135" baseType="lpstr">
      <vt:lpstr>ＭＳ Ｐゴシック</vt:lpstr>
      <vt:lpstr>Arial</vt:lpstr>
      <vt:lpstr>Calibri</vt:lpstr>
      <vt:lpstr>Constantia</vt:lpstr>
      <vt:lpstr>Lucida Grande</vt:lpstr>
      <vt:lpstr>Times New Roman</vt:lpstr>
      <vt:lpstr>Wingdings</vt:lpstr>
      <vt:lpstr>Wingdings 2</vt:lpstr>
      <vt:lpstr>1_Office Theme</vt:lpstr>
      <vt:lpstr>Office Theme</vt:lpstr>
      <vt:lpstr>2_Office Theme</vt:lpstr>
      <vt:lpstr>3_Office Theme</vt:lpstr>
      <vt:lpstr>4_Office Theme</vt:lpstr>
      <vt:lpstr>5_Office Theme</vt:lpstr>
      <vt:lpstr>6_Office Theme</vt:lpstr>
      <vt:lpstr>7_Office Theme</vt:lpstr>
      <vt:lpstr>8_Office Theme</vt:lpstr>
      <vt:lpstr>9_Office Theme</vt:lpstr>
      <vt:lpstr>10_Office Theme</vt:lpstr>
      <vt:lpstr>11_Office Theme</vt:lpstr>
      <vt:lpstr>12_Office Theme</vt:lpstr>
      <vt:lpstr>13_Office Theme</vt:lpstr>
      <vt:lpstr>Flow</vt:lpstr>
      <vt:lpstr>SQA components in the project life cycle</vt:lpstr>
      <vt:lpstr>Learning objectives</vt:lpstr>
      <vt:lpstr>SQA Architecture</vt:lpstr>
      <vt:lpstr>References</vt:lpstr>
      <vt:lpstr>Contents</vt:lpstr>
      <vt:lpstr>1. Quality activities in the project life cycle Waterfall model</vt:lpstr>
      <vt:lpstr>1. Quality activities in the project life cycle  V-model</vt:lpstr>
      <vt:lpstr>1. Quality activities in the project life cycle Iterative development model</vt:lpstr>
      <vt:lpstr>1. Quality activities in the project life cycle Testing within a life cycle model</vt:lpstr>
      <vt:lpstr>Contents</vt:lpstr>
      <vt:lpstr>2. Review</vt:lpstr>
      <vt:lpstr>2. Review Objectives</vt:lpstr>
      <vt:lpstr>2. Review Types of reviews</vt:lpstr>
      <vt:lpstr>2. Review Walkthrough</vt:lpstr>
      <vt:lpstr>2. Review Inspection</vt:lpstr>
      <vt:lpstr>2. Review Inspection (cont’d)</vt:lpstr>
      <vt:lpstr>2. Review Technical review/Peer review</vt:lpstr>
      <vt:lpstr>Contents</vt:lpstr>
      <vt:lpstr>3. Software testing</vt:lpstr>
      <vt:lpstr>3.1. Testing objectives</vt:lpstr>
      <vt:lpstr>3.2. Test process</vt:lpstr>
      <vt:lpstr>3.2. Test process Test planning and control </vt:lpstr>
      <vt:lpstr>3.2. Test process Test planning and control (cont’d)</vt:lpstr>
      <vt:lpstr>3.2. Test process</vt:lpstr>
      <vt:lpstr>3.2. Test process Test analysis and design </vt:lpstr>
      <vt:lpstr>3.2. Test process Test analysis and design </vt:lpstr>
      <vt:lpstr>3.2. Test process Test analysis and design </vt:lpstr>
      <vt:lpstr>3.2. Test process Test analysis and design </vt:lpstr>
      <vt:lpstr>3.2. Test process Test analysis and design </vt:lpstr>
      <vt:lpstr>3.2. Test process  Test analysis and design </vt:lpstr>
      <vt:lpstr>3.2. Test process</vt:lpstr>
      <vt:lpstr>3.2. Test process  Test implementation and execution</vt:lpstr>
      <vt:lpstr>3.2. Test process  Test implementation and execution</vt:lpstr>
      <vt:lpstr>3.2. Test process  Test implementation and execution</vt:lpstr>
      <vt:lpstr>3.2. Test process  Test implementation and execution</vt:lpstr>
      <vt:lpstr>3.2. Test process</vt:lpstr>
      <vt:lpstr>3.2. Test process  Evaluating exit criteria and reporting </vt:lpstr>
      <vt:lpstr>3.2. Test process</vt:lpstr>
      <vt:lpstr>3.2. Test process  Test closure activities</vt:lpstr>
      <vt:lpstr>3.2. Test process  Test closure activities</vt:lpstr>
      <vt:lpstr>3.2.  Test process Inputs &amp; Outputs</vt:lpstr>
      <vt:lpstr>Kiểm tra hiểu bài Quy trình kiểm thử</vt:lpstr>
      <vt:lpstr>Kiểm tra hiểu bài Quy trình kiểm thử</vt:lpstr>
      <vt:lpstr>3.3. Test levels</vt:lpstr>
      <vt:lpstr>3.3. Test levels Component test  [1/3]</vt:lpstr>
      <vt:lpstr>3.3. Test levels Component test [2/3]</vt:lpstr>
      <vt:lpstr>3.3. Test levels Integration test</vt:lpstr>
      <vt:lpstr>3.3. Test levels Integration test (cont.)</vt:lpstr>
      <vt:lpstr>3.3. Test levels Integration test – Big-bang </vt:lpstr>
      <vt:lpstr>3.3. Test levels Integration test – Incremental </vt:lpstr>
      <vt:lpstr>3.3. Test levels Integration test – Incremental (cont.)</vt:lpstr>
      <vt:lpstr>3.3. Test levels Integration test – Incremental (cont.)</vt:lpstr>
      <vt:lpstr>3.3. Test levels Integration test – Incremental (cont.)</vt:lpstr>
      <vt:lpstr>3.3. Test levels Integration test – Top-down  </vt:lpstr>
      <vt:lpstr>3.3. Test levels Integration test – Top-down (cont.)</vt:lpstr>
      <vt:lpstr>3.3. Test levels Integration test – Bottom-up </vt:lpstr>
      <vt:lpstr>3.3. Test levels Integration test – Bottom-up (cont.)</vt:lpstr>
      <vt:lpstr>3.3. Test levels System test</vt:lpstr>
      <vt:lpstr>3.3. Test levels System test (cont.)</vt:lpstr>
      <vt:lpstr>3.3. Test levels Acceptance test</vt:lpstr>
      <vt:lpstr>3.3. Test levels Acceptance test (cont.)</vt:lpstr>
      <vt:lpstr>3.3. Test levels Acceptance test – User acceptance test</vt:lpstr>
      <vt:lpstr>3.3. Test levels Acceptance test – Operational acceptance test</vt:lpstr>
      <vt:lpstr>3.3. Test levels Acceptance test – Contract/regulation acceptance test</vt:lpstr>
      <vt:lpstr>3.3. Test levels Acceptance test – Alpha and Beta test</vt:lpstr>
      <vt:lpstr>3.3. Test levels Acceptance test – Alpha and Beta test</vt:lpstr>
      <vt:lpstr>4. Test types</vt:lpstr>
      <vt:lpstr>4. Test types Functional test</vt:lpstr>
      <vt:lpstr>4. Test types Functional test – Requirements-based</vt:lpstr>
      <vt:lpstr>4. Test types Functional test – Business process-based</vt:lpstr>
      <vt:lpstr>4. Test types Non-functional test</vt:lpstr>
      <vt:lpstr>4. Test types  Structural test</vt:lpstr>
      <vt:lpstr>4. Test types  Testing related to changes</vt:lpstr>
      <vt:lpstr>4. Test types – Testing related to changes Confirmation testing (Re-testing)</vt:lpstr>
      <vt:lpstr>4. Test types – Testing related to changes Regression testing</vt:lpstr>
      <vt:lpstr>*Basic concepts Test basis, test condition</vt:lpstr>
      <vt:lpstr>*Basic concepts Test case, test suite</vt:lpstr>
      <vt:lpstr>*Basic concepts Verification, validation</vt:lpstr>
      <vt:lpstr>*Basic concepts Static testing, dynamic testing</vt:lpstr>
      <vt:lpstr>Contents</vt:lpstr>
      <vt:lpstr>4. Software maintenance components</vt:lpstr>
      <vt:lpstr>4. Software maintenance components The foundation of high quality</vt:lpstr>
      <vt:lpstr>4. Software maintenance components Foundation 1: Software package quality</vt:lpstr>
      <vt:lpstr>4. Software maintenance components Foundation 1: Software package quality</vt:lpstr>
      <vt:lpstr>4. Software maintenance components Foundation 1: Software package quality</vt:lpstr>
      <vt:lpstr>4. Software maintenance components Foundation 1: Software package quality</vt:lpstr>
      <vt:lpstr>4. Software maintenance components Foundation 1: Software package quality</vt:lpstr>
      <vt:lpstr>4. Software maintenance components Topic for discussion</vt:lpstr>
      <vt:lpstr>4. Software maintenance components Foundation 2: Maintenance policy</vt:lpstr>
      <vt:lpstr>4. Software maintenance components Pre-maintenance quality components</vt:lpstr>
      <vt:lpstr>4. Software maintenance components Pre-maintenance quality components</vt:lpstr>
      <vt:lpstr>Contents</vt:lpstr>
      <vt:lpstr>5. External participants  Types</vt:lpstr>
      <vt:lpstr>5. External participants  Typical contracting structures</vt:lpstr>
      <vt:lpstr>5. External participants  Benefits</vt:lpstr>
      <vt:lpstr>5. External participants  Risks</vt:lpstr>
      <vt:lpstr>5. External participants  Assuring the quality</vt:lpstr>
      <vt:lpstr>5. External participants  SQA tools utilised</vt:lpstr>
      <vt:lpstr>5. External participants  SQA tools utilised (cont.)</vt:lpstr>
      <vt:lpstr>Câu hỏi hiểu bài (SV xem lại bài học, cô sẽ gọi trả lời)</vt:lpstr>
      <vt:lpstr>Kiểm tra 20 phút - DHKTPM14ATT</vt:lpstr>
      <vt:lpstr>Kiểm tra 20 phút – DHKTPM14CTT</vt:lpstr>
      <vt:lpstr>Test</vt:lpstr>
      <vt:lpstr>Test</vt:lpstr>
      <vt:lpstr>Test</vt:lpstr>
      <vt:lpstr>Test</vt:lpstr>
      <vt:lpstr>Test</vt:lpstr>
      <vt:lpstr>Test</vt:lpstr>
      <vt:lpstr>Test</vt:lpstr>
      <vt:lpstr>Test</vt:lpstr>
      <vt:lpstr>Test</vt:lpstr>
      <vt:lpstr>Test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CHAUHAI</dc:creator>
  <cp:lastModifiedBy>Sang Nguyễn</cp:lastModifiedBy>
  <cp:revision>2134</cp:revision>
  <dcterms:created xsi:type="dcterms:W3CDTF">2011-10-06T02:30:27Z</dcterms:created>
  <dcterms:modified xsi:type="dcterms:W3CDTF">2025-11-09T14:28:06Z</dcterms:modified>
</cp:coreProperties>
</file>