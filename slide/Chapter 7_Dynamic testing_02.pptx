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theme/theme5.xml" ContentType="application/vnd.openxmlformats-officedocument.theme+xml"/>
  <Override PartName="/ppt/slideLayouts/slideLayout18.xml" ContentType="application/vnd.openxmlformats-officedocument.presentationml.slideLayout+xml"/>
  <Override PartName="/ppt/theme/theme6.xml" ContentType="application/vnd.openxmlformats-officedocument.theme+xml"/>
  <Override PartName="/ppt/slideLayouts/slideLayout19.xml" ContentType="application/vnd.openxmlformats-officedocument.presentationml.slideLayout+xml"/>
  <Override PartName="/ppt/theme/theme7.xml" ContentType="application/vnd.openxmlformats-officedocument.theme+xml"/>
  <Override PartName="/ppt/slideLayouts/slideLayout20.xml" ContentType="application/vnd.openxmlformats-officedocument.presentationml.slideLayout+xml"/>
  <Override PartName="/ppt/theme/theme8.xml" ContentType="application/vnd.openxmlformats-officedocument.theme+xml"/>
  <Override PartName="/ppt/slideLayouts/slideLayout21.xml" ContentType="application/vnd.openxmlformats-officedocument.presentationml.slideLayout+xml"/>
  <Override PartName="/ppt/theme/theme9.xml" ContentType="application/vnd.openxmlformats-officedocument.theme+xml"/>
  <Override PartName="/ppt/slideLayouts/slideLayout22.xml" ContentType="application/vnd.openxmlformats-officedocument.presentationml.slideLayout+xml"/>
  <Override PartName="/ppt/theme/theme10.xml" ContentType="application/vnd.openxmlformats-officedocument.theme+xml"/>
  <Override PartName="/ppt/slideLayouts/slideLayout23.xml" ContentType="application/vnd.openxmlformats-officedocument.presentationml.slideLayout+xml"/>
  <Override PartName="/ppt/theme/theme11.xml" ContentType="application/vnd.openxmlformats-officedocument.theme+xml"/>
  <Override PartName="/ppt/slideLayouts/slideLayout24.xml" ContentType="application/vnd.openxmlformats-officedocument.presentationml.slideLayout+xml"/>
  <Override PartName="/ppt/theme/theme12.xml" ContentType="application/vnd.openxmlformats-officedocument.theme+xml"/>
  <Override PartName="/ppt/slideLayouts/slideLayout25.xml" ContentType="application/vnd.openxmlformats-officedocument.presentationml.slideLayout+xml"/>
  <Override PartName="/ppt/theme/theme13.xml" ContentType="application/vnd.openxmlformats-officedocument.theme+xml"/>
  <Override PartName="/ppt/slideLayouts/slideLayout26.xml" ContentType="application/vnd.openxmlformats-officedocument.presentationml.slideLayout+xml"/>
  <Override PartName="/ppt/theme/theme1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15.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16.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 id="2147483700" r:id="rId2"/>
    <p:sldMasterId id="2147483712" r:id="rId3"/>
    <p:sldMasterId id="2147483714" r:id="rId4"/>
    <p:sldMasterId id="2147483716" r:id="rId5"/>
    <p:sldMasterId id="2147483718" r:id="rId6"/>
    <p:sldMasterId id="2147483720" r:id="rId7"/>
    <p:sldMasterId id="2147483722" r:id="rId8"/>
    <p:sldMasterId id="2147483724" r:id="rId9"/>
    <p:sldMasterId id="2147483726" r:id="rId10"/>
    <p:sldMasterId id="2147483728" r:id="rId11"/>
    <p:sldMasterId id="2147483730" r:id="rId12"/>
    <p:sldMasterId id="2147483732" r:id="rId13"/>
    <p:sldMasterId id="2147483734" r:id="rId14"/>
    <p:sldMasterId id="2147483790" r:id="rId15"/>
    <p:sldMasterId id="2147483802" r:id="rId16"/>
    <p:sldMasterId id="2147483814" r:id="rId17"/>
  </p:sldMasterIdLst>
  <p:notesMasterIdLst>
    <p:notesMasterId r:id="rId114"/>
  </p:notesMasterIdLst>
  <p:handoutMasterIdLst>
    <p:handoutMasterId r:id="rId115"/>
  </p:handoutMasterIdLst>
  <p:sldIdLst>
    <p:sldId id="424" r:id="rId18"/>
    <p:sldId id="641" r:id="rId19"/>
    <p:sldId id="539" r:id="rId20"/>
    <p:sldId id="301" r:id="rId21"/>
    <p:sldId id="553" r:id="rId22"/>
    <p:sldId id="682" r:id="rId23"/>
    <p:sldId id="677" r:id="rId24"/>
    <p:sldId id="332" r:id="rId25"/>
    <p:sldId id="554" r:id="rId26"/>
    <p:sldId id="670" r:id="rId27"/>
    <p:sldId id="673" r:id="rId28"/>
    <p:sldId id="672" r:id="rId29"/>
    <p:sldId id="314" r:id="rId30"/>
    <p:sldId id="676" r:id="rId31"/>
    <p:sldId id="330" r:id="rId32"/>
    <p:sldId id="316" r:id="rId33"/>
    <p:sldId id="557" r:id="rId34"/>
    <p:sldId id="561" r:id="rId35"/>
    <p:sldId id="562" r:id="rId36"/>
    <p:sldId id="423" r:id="rId37"/>
    <p:sldId id="572" r:id="rId38"/>
    <p:sldId id="320" r:id="rId39"/>
    <p:sldId id="679" r:id="rId40"/>
    <p:sldId id="337" r:id="rId41"/>
    <p:sldId id="680" r:id="rId42"/>
    <p:sldId id="681" r:id="rId43"/>
    <p:sldId id="329" r:id="rId44"/>
    <p:sldId id="587" r:id="rId45"/>
    <p:sldId id="650" r:id="rId46"/>
    <p:sldId id="651" r:id="rId47"/>
    <p:sldId id="596" r:id="rId48"/>
    <p:sldId id="597" r:id="rId49"/>
    <p:sldId id="598" r:id="rId50"/>
    <p:sldId id="662" r:id="rId51"/>
    <p:sldId id="663" r:id="rId52"/>
    <p:sldId id="577" r:id="rId53"/>
    <p:sldId id="574" r:id="rId54"/>
    <p:sldId id="575" r:id="rId55"/>
    <p:sldId id="639" r:id="rId56"/>
    <p:sldId id="578" r:id="rId57"/>
    <p:sldId id="340" r:id="rId58"/>
    <p:sldId id="341" r:id="rId59"/>
    <p:sldId id="604" r:id="rId60"/>
    <p:sldId id="678" r:id="rId61"/>
    <p:sldId id="675" r:id="rId62"/>
    <p:sldId id="674" r:id="rId63"/>
    <p:sldId id="667" r:id="rId64"/>
    <p:sldId id="665" r:id="rId65"/>
    <p:sldId id="666" r:id="rId66"/>
    <p:sldId id="658" r:id="rId67"/>
    <p:sldId id="659" r:id="rId68"/>
    <p:sldId id="455" r:id="rId69"/>
    <p:sldId id="456" r:id="rId70"/>
    <p:sldId id="457" r:id="rId71"/>
    <p:sldId id="470" r:id="rId72"/>
    <p:sldId id="471" r:id="rId73"/>
    <p:sldId id="472" r:id="rId74"/>
    <p:sldId id="473" r:id="rId75"/>
    <p:sldId id="474" r:id="rId76"/>
    <p:sldId id="479" r:id="rId77"/>
    <p:sldId id="480" r:id="rId78"/>
    <p:sldId id="481" r:id="rId79"/>
    <p:sldId id="482" r:id="rId80"/>
    <p:sldId id="483" r:id="rId81"/>
    <p:sldId id="484" r:id="rId82"/>
    <p:sldId id="487" r:id="rId83"/>
    <p:sldId id="488" r:id="rId84"/>
    <p:sldId id="489" r:id="rId85"/>
    <p:sldId id="490" r:id="rId86"/>
    <p:sldId id="491" r:id="rId87"/>
    <p:sldId id="492" r:id="rId88"/>
    <p:sldId id="493" r:id="rId89"/>
    <p:sldId id="494" r:id="rId90"/>
    <p:sldId id="495" r:id="rId91"/>
    <p:sldId id="496" r:id="rId92"/>
    <p:sldId id="497" r:id="rId93"/>
    <p:sldId id="498" r:id="rId94"/>
    <p:sldId id="499" r:id="rId95"/>
    <p:sldId id="547" r:id="rId96"/>
    <p:sldId id="548" r:id="rId97"/>
    <p:sldId id="563" r:id="rId98"/>
    <p:sldId id="564" r:id="rId99"/>
    <p:sldId id="606" r:id="rId100"/>
    <p:sldId id="607" r:id="rId101"/>
    <p:sldId id="609" r:id="rId102"/>
    <p:sldId id="610" r:id="rId103"/>
    <p:sldId id="611" r:id="rId104"/>
    <p:sldId id="612" r:id="rId105"/>
    <p:sldId id="613" r:id="rId106"/>
    <p:sldId id="614" r:id="rId107"/>
    <p:sldId id="615" r:id="rId108"/>
    <p:sldId id="616" r:id="rId109"/>
    <p:sldId id="617" r:id="rId110"/>
    <p:sldId id="618" r:id="rId111"/>
    <p:sldId id="660" r:id="rId112"/>
    <p:sldId id="661" r:id="rId1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CCD5EA"/>
    <a:srgbClr val="EAEAEA"/>
    <a:srgbClr val="000099"/>
    <a:srgbClr val="00CC00"/>
    <a:srgbClr val="E7EBF5"/>
    <a:srgbClr val="0000FF"/>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39" autoAdjust="0"/>
    <p:restoredTop sz="63291" autoAdjust="0"/>
  </p:normalViewPr>
  <p:slideViewPr>
    <p:cSldViewPr>
      <p:cViewPr varScale="1">
        <p:scale>
          <a:sx n="43" d="100"/>
          <a:sy n="43" d="100"/>
        </p:scale>
        <p:origin x="2256" y="48"/>
      </p:cViewPr>
      <p:guideLst>
        <p:guide orient="horz" pos="2160"/>
        <p:guide pos="2880"/>
      </p:guideLst>
    </p:cSldViewPr>
  </p:slideViewPr>
  <p:notesTextViewPr>
    <p:cViewPr>
      <p:scale>
        <a:sx n="150" d="100"/>
        <a:sy n="1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9.xml"/><Relationship Id="rId117" Type="http://schemas.openxmlformats.org/officeDocument/2006/relationships/viewProps" Target="viewProps.xml"/><Relationship Id="rId21" Type="http://schemas.openxmlformats.org/officeDocument/2006/relationships/slide" Target="slides/slide4.xml"/><Relationship Id="rId42" Type="http://schemas.openxmlformats.org/officeDocument/2006/relationships/slide" Target="slides/slide25.xml"/><Relationship Id="rId47" Type="http://schemas.openxmlformats.org/officeDocument/2006/relationships/slide" Target="slides/slide30.xml"/><Relationship Id="rId63" Type="http://schemas.openxmlformats.org/officeDocument/2006/relationships/slide" Target="slides/slide46.xml"/><Relationship Id="rId68" Type="http://schemas.openxmlformats.org/officeDocument/2006/relationships/slide" Target="slides/slide51.xml"/><Relationship Id="rId84" Type="http://schemas.openxmlformats.org/officeDocument/2006/relationships/slide" Target="slides/slide67.xml"/><Relationship Id="rId89" Type="http://schemas.openxmlformats.org/officeDocument/2006/relationships/slide" Target="slides/slide72.xml"/><Relationship Id="rId112" Type="http://schemas.openxmlformats.org/officeDocument/2006/relationships/slide" Target="slides/slide95.xml"/><Relationship Id="rId16" Type="http://schemas.openxmlformats.org/officeDocument/2006/relationships/slideMaster" Target="slideMasters/slideMaster16.xml"/><Relationship Id="rId107" Type="http://schemas.openxmlformats.org/officeDocument/2006/relationships/slide" Target="slides/slide90.xml"/><Relationship Id="rId11" Type="http://schemas.openxmlformats.org/officeDocument/2006/relationships/slideMaster" Target="slideMasters/slideMaster11.xml"/><Relationship Id="rId24" Type="http://schemas.openxmlformats.org/officeDocument/2006/relationships/slide" Target="slides/slide7.xml"/><Relationship Id="rId32" Type="http://schemas.openxmlformats.org/officeDocument/2006/relationships/slide" Target="slides/slide15.xml"/><Relationship Id="rId37" Type="http://schemas.openxmlformats.org/officeDocument/2006/relationships/slide" Target="slides/slide20.xml"/><Relationship Id="rId40" Type="http://schemas.openxmlformats.org/officeDocument/2006/relationships/slide" Target="slides/slide23.xml"/><Relationship Id="rId45" Type="http://schemas.openxmlformats.org/officeDocument/2006/relationships/slide" Target="slides/slide28.xml"/><Relationship Id="rId53" Type="http://schemas.openxmlformats.org/officeDocument/2006/relationships/slide" Target="slides/slide36.xml"/><Relationship Id="rId58" Type="http://schemas.openxmlformats.org/officeDocument/2006/relationships/slide" Target="slides/slide41.xml"/><Relationship Id="rId66" Type="http://schemas.openxmlformats.org/officeDocument/2006/relationships/slide" Target="slides/slide49.xml"/><Relationship Id="rId74" Type="http://schemas.openxmlformats.org/officeDocument/2006/relationships/slide" Target="slides/slide57.xml"/><Relationship Id="rId79" Type="http://schemas.openxmlformats.org/officeDocument/2006/relationships/slide" Target="slides/slide62.xml"/><Relationship Id="rId87" Type="http://schemas.openxmlformats.org/officeDocument/2006/relationships/slide" Target="slides/slide70.xml"/><Relationship Id="rId102" Type="http://schemas.openxmlformats.org/officeDocument/2006/relationships/slide" Target="slides/slide85.xml"/><Relationship Id="rId110" Type="http://schemas.openxmlformats.org/officeDocument/2006/relationships/slide" Target="slides/slide93.xml"/><Relationship Id="rId115" Type="http://schemas.openxmlformats.org/officeDocument/2006/relationships/handoutMaster" Target="handoutMasters/handoutMaster1.xml"/><Relationship Id="rId5" Type="http://schemas.openxmlformats.org/officeDocument/2006/relationships/slideMaster" Target="slideMasters/slideMaster5.xml"/><Relationship Id="rId61" Type="http://schemas.openxmlformats.org/officeDocument/2006/relationships/slide" Target="slides/slide44.xml"/><Relationship Id="rId82" Type="http://schemas.openxmlformats.org/officeDocument/2006/relationships/slide" Target="slides/slide65.xml"/><Relationship Id="rId90" Type="http://schemas.openxmlformats.org/officeDocument/2006/relationships/slide" Target="slides/slide73.xml"/><Relationship Id="rId95" Type="http://schemas.openxmlformats.org/officeDocument/2006/relationships/slide" Target="slides/slide78.xml"/><Relationship Id="rId19" Type="http://schemas.openxmlformats.org/officeDocument/2006/relationships/slide" Target="slides/slide2.xml"/><Relationship Id="rId14" Type="http://schemas.openxmlformats.org/officeDocument/2006/relationships/slideMaster" Target="slideMasters/slideMaster14.xml"/><Relationship Id="rId22" Type="http://schemas.openxmlformats.org/officeDocument/2006/relationships/slide" Target="slides/slide5.xml"/><Relationship Id="rId27" Type="http://schemas.openxmlformats.org/officeDocument/2006/relationships/slide" Target="slides/slide10.xml"/><Relationship Id="rId30" Type="http://schemas.openxmlformats.org/officeDocument/2006/relationships/slide" Target="slides/slide13.xml"/><Relationship Id="rId35" Type="http://schemas.openxmlformats.org/officeDocument/2006/relationships/slide" Target="slides/slide18.xml"/><Relationship Id="rId43" Type="http://schemas.openxmlformats.org/officeDocument/2006/relationships/slide" Target="slides/slide26.xml"/><Relationship Id="rId48" Type="http://schemas.openxmlformats.org/officeDocument/2006/relationships/slide" Target="slides/slide31.xml"/><Relationship Id="rId56" Type="http://schemas.openxmlformats.org/officeDocument/2006/relationships/slide" Target="slides/slide39.xml"/><Relationship Id="rId64" Type="http://schemas.openxmlformats.org/officeDocument/2006/relationships/slide" Target="slides/slide47.xml"/><Relationship Id="rId69" Type="http://schemas.openxmlformats.org/officeDocument/2006/relationships/slide" Target="slides/slide52.xml"/><Relationship Id="rId77" Type="http://schemas.openxmlformats.org/officeDocument/2006/relationships/slide" Target="slides/slide60.xml"/><Relationship Id="rId100" Type="http://schemas.openxmlformats.org/officeDocument/2006/relationships/slide" Target="slides/slide83.xml"/><Relationship Id="rId105" Type="http://schemas.openxmlformats.org/officeDocument/2006/relationships/slide" Target="slides/slide88.xml"/><Relationship Id="rId113" Type="http://schemas.openxmlformats.org/officeDocument/2006/relationships/slide" Target="slides/slide96.xml"/><Relationship Id="rId118" Type="http://schemas.openxmlformats.org/officeDocument/2006/relationships/theme" Target="theme/theme1.xml"/><Relationship Id="rId8" Type="http://schemas.openxmlformats.org/officeDocument/2006/relationships/slideMaster" Target="slideMasters/slideMaster8.xml"/><Relationship Id="rId51" Type="http://schemas.openxmlformats.org/officeDocument/2006/relationships/slide" Target="slides/slide34.xml"/><Relationship Id="rId72" Type="http://schemas.openxmlformats.org/officeDocument/2006/relationships/slide" Target="slides/slide55.xml"/><Relationship Id="rId80" Type="http://schemas.openxmlformats.org/officeDocument/2006/relationships/slide" Target="slides/slide63.xml"/><Relationship Id="rId85" Type="http://schemas.openxmlformats.org/officeDocument/2006/relationships/slide" Target="slides/slide68.xml"/><Relationship Id="rId93" Type="http://schemas.openxmlformats.org/officeDocument/2006/relationships/slide" Target="slides/slide76.xml"/><Relationship Id="rId98" Type="http://schemas.openxmlformats.org/officeDocument/2006/relationships/slide" Target="slides/slide81.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8.xml"/><Relationship Id="rId33" Type="http://schemas.openxmlformats.org/officeDocument/2006/relationships/slide" Target="slides/slide16.xml"/><Relationship Id="rId38" Type="http://schemas.openxmlformats.org/officeDocument/2006/relationships/slide" Target="slides/slide21.xml"/><Relationship Id="rId46" Type="http://schemas.openxmlformats.org/officeDocument/2006/relationships/slide" Target="slides/slide29.xml"/><Relationship Id="rId59" Type="http://schemas.openxmlformats.org/officeDocument/2006/relationships/slide" Target="slides/slide42.xml"/><Relationship Id="rId67" Type="http://schemas.openxmlformats.org/officeDocument/2006/relationships/slide" Target="slides/slide50.xml"/><Relationship Id="rId103" Type="http://schemas.openxmlformats.org/officeDocument/2006/relationships/slide" Target="slides/slide86.xml"/><Relationship Id="rId108" Type="http://schemas.openxmlformats.org/officeDocument/2006/relationships/slide" Target="slides/slide91.xml"/><Relationship Id="rId116" Type="http://schemas.openxmlformats.org/officeDocument/2006/relationships/presProps" Target="presProps.xml"/><Relationship Id="rId20" Type="http://schemas.openxmlformats.org/officeDocument/2006/relationships/slide" Target="slides/slide3.xml"/><Relationship Id="rId41" Type="http://schemas.openxmlformats.org/officeDocument/2006/relationships/slide" Target="slides/slide24.xml"/><Relationship Id="rId54" Type="http://schemas.openxmlformats.org/officeDocument/2006/relationships/slide" Target="slides/slide37.xml"/><Relationship Id="rId62" Type="http://schemas.openxmlformats.org/officeDocument/2006/relationships/slide" Target="slides/slide45.xml"/><Relationship Id="rId70" Type="http://schemas.openxmlformats.org/officeDocument/2006/relationships/slide" Target="slides/slide53.xml"/><Relationship Id="rId75" Type="http://schemas.openxmlformats.org/officeDocument/2006/relationships/slide" Target="slides/slide58.xml"/><Relationship Id="rId83" Type="http://schemas.openxmlformats.org/officeDocument/2006/relationships/slide" Target="slides/slide66.xml"/><Relationship Id="rId88" Type="http://schemas.openxmlformats.org/officeDocument/2006/relationships/slide" Target="slides/slide71.xml"/><Relationship Id="rId91" Type="http://schemas.openxmlformats.org/officeDocument/2006/relationships/slide" Target="slides/slide74.xml"/><Relationship Id="rId96" Type="http://schemas.openxmlformats.org/officeDocument/2006/relationships/slide" Target="slides/slide79.xml"/><Relationship Id="rId111"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slide" Target="slides/slide19.xml"/><Relationship Id="rId49" Type="http://schemas.openxmlformats.org/officeDocument/2006/relationships/slide" Target="slides/slide32.xml"/><Relationship Id="rId57" Type="http://schemas.openxmlformats.org/officeDocument/2006/relationships/slide" Target="slides/slide40.xml"/><Relationship Id="rId106" Type="http://schemas.openxmlformats.org/officeDocument/2006/relationships/slide" Target="slides/slide89.xml"/><Relationship Id="rId114" Type="http://schemas.openxmlformats.org/officeDocument/2006/relationships/notesMaster" Target="notesMasters/notesMaster1.xml"/><Relationship Id="rId119" Type="http://schemas.openxmlformats.org/officeDocument/2006/relationships/tableStyles" Target="tableStyles.xml"/><Relationship Id="rId10" Type="http://schemas.openxmlformats.org/officeDocument/2006/relationships/slideMaster" Target="slideMasters/slideMaster10.xml"/><Relationship Id="rId31" Type="http://schemas.openxmlformats.org/officeDocument/2006/relationships/slide" Target="slides/slide14.xml"/><Relationship Id="rId44" Type="http://schemas.openxmlformats.org/officeDocument/2006/relationships/slide" Target="slides/slide27.xml"/><Relationship Id="rId52" Type="http://schemas.openxmlformats.org/officeDocument/2006/relationships/slide" Target="slides/slide35.xml"/><Relationship Id="rId60" Type="http://schemas.openxmlformats.org/officeDocument/2006/relationships/slide" Target="slides/slide43.xml"/><Relationship Id="rId65" Type="http://schemas.openxmlformats.org/officeDocument/2006/relationships/slide" Target="slides/slide48.xml"/><Relationship Id="rId73" Type="http://schemas.openxmlformats.org/officeDocument/2006/relationships/slide" Target="slides/slide56.xml"/><Relationship Id="rId78" Type="http://schemas.openxmlformats.org/officeDocument/2006/relationships/slide" Target="slides/slide61.xml"/><Relationship Id="rId81" Type="http://schemas.openxmlformats.org/officeDocument/2006/relationships/slide" Target="slides/slide64.xml"/><Relationship Id="rId86" Type="http://schemas.openxmlformats.org/officeDocument/2006/relationships/slide" Target="slides/slide69.xml"/><Relationship Id="rId94" Type="http://schemas.openxmlformats.org/officeDocument/2006/relationships/slide" Target="slides/slide77.xml"/><Relationship Id="rId99" Type="http://schemas.openxmlformats.org/officeDocument/2006/relationships/slide" Target="slides/slide82.xml"/><Relationship Id="rId101" Type="http://schemas.openxmlformats.org/officeDocument/2006/relationships/slide" Target="slides/slide84.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 Target="slides/slide1.xml"/><Relationship Id="rId39" Type="http://schemas.openxmlformats.org/officeDocument/2006/relationships/slide" Target="slides/slide22.xml"/><Relationship Id="rId109" Type="http://schemas.openxmlformats.org/officeDocument/2006/relationships/slide" Target="slides/slide92.xml"/><Relationship Id="rId34" Type="http://schemas.openxmlformats.org/officeDocument/2006/relationships/slide" Target="slides/slide17.xml"/><Relationship Id="rId50" Type="http://schemas.openxmlformats.org/officeDocument/2006/relationships/slide" Target="slides/slide33.xml"/><Relationship Id="rId55" Type="http://schemas.openxmlformats.org/officeDocument/2006/relationships/slide" Target="slides/slide38.xml"/><Relationship Id="rId76" Type="http://schemas.openxmlformats.org/officeDocument/2006/relationships/slide" Target="slides/slide59.xml"/><Relationship Id="rId97" Type="http://schemas.openxmlformats.org/officeDocument/2006/relationships/slide" Target="slides/slide80.xml"/><Relationship Id="rId104" Type="http://schemas.openxmlformats.org/officeDocument/2006/relationships/slide" Target="slides/slide87.xml"/><Relationship Id="rId7" Type="http://schemas.openxmlformats.org/officeDocument/2006/relationships/slideMaster" Target="slideMasters/slideMaster7.xml"/><Relationship Id="rId71" Type="http://schemas.openxmlformats.org/officeDocument/2006/relationships/slide" Target="slides/slide54.xml"/><Relationship Id="rId92" Type="http://schemas.openxmlformats.org/officeDocument/2006/relationships/slide" Target="slides/slide75.xml"/><Relationship Id="rId2" Type="http://schemas.openxmlformats.org/officeDocument/2006/relationships/slideMaster" Target="slideMasters/slideMaster2.xml"/><Relationship Id="rId29"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0194B2A-E2F8-4A25-B0C9-75B342ED9B0C}" type="datetimeFigureOut">
              <a:rPr lang="en-US" smtClean="0"/>
              <a:t>23/06/2024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1A6AFA9-7CFD-4FD2-AD5C-E160CB8E9D3A}" type="slidenum">
              <a:rPr lang="en-US" smtClean="0"/>
              <a:t>‹#›</a:t>
            </a:fld>
            <a:endParaRPr lang="en-US"/>
          </a:p>
        </p:txBody>
      </p:sp>
    </p:spTree>
    <p:extLst>
      <p:ext uri="{BB962C8B-B14F-4D97-AF65-F5344CB8AC3E}">
        <p14:creationId xmlns:p14="http://schemas.microsoft.com/office/powerpoint/2010/main" val="294691983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8D8DC3-02CE-4FB4-A488-930D9354F57B}" type="datetimeFigureOut">
              <a:rPr lang="en-US" smtClean="0"/>
              <a:t>23/06/2024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3B9007-0201-49BE-A587-7F882848EC05}" type="slidenum">
              <a:rPr lang="en-US" smtClean="0"/>
              <a:t>‹#›</a:t>
            </a:fld>
            <a:endParaRPr lang="en-US"/>
          </a:p>
        </p:txBody>
      </p:sp>
    </p:spTree>
    <p:extLst>
      <p:ext uri="{BB962C8B-B14F-4D97-AF65-F5344CB8AC3E}">
        <p14:creationId xmlns:p14="http://schemas.microsoft.com/office/powerpoint/2010/main" val="55436363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mk:@MSITStore:D:\DHCN_Khoa%20KHKTMT\Chuong%20trinh%20LT%20DH\Software%20Testing\Tai%20lieu%20Testing%20-%20Anh\0672327988_Software%20Testing_Ron%20Patton.chm::/0672327988/ch03.html#ch03" TargetMode="External"/><Relationship Id="rId2" Type="http://schemas.openxmlformats.org/officeDocument/2006/relationships/slide" Target="../slides/slide59.xml"/><Relationship Id="rId1" Type="http://schemas.openxmlformats.org/officeDocument/2006/relationships/notesMaster" Target="../notesMasters/notesMaster1.xml"/><Relationship Id="rId4" Type="http://schemas.openxmlformats.org/officeDocument/2006/relationships/hyperlink" Target="#ch05fig03"/></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124875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63B9007-0201-49BE-A587-7F882848EC05}" type="slidenum">
              <a:rPr lang="en-US" smtClean="0">
                <a:solidFill>
                  <a:prstClr val="black"/>
                </a:solidFill>
              </a:rPr>
              <a:pPr/>
              <a:t>3</a:t>
            </a:fld>
            <a:endParaRPr lang="en-US">
              <a:solidFill>
                <a:prstClr val="black"/>
              </a:solidFill>
            </a:endParaRPr>
          </a:p>
        </p:txBody>
      </p:sp>
    </p:spTree>
    <p:extLst>
      <p:ext uri="{BB962C8B-B14F-4D97-AF65-F5344CB8AC3E}">
        <p14:creationId xmlns:p14="http://schemas.microsoft.com/office/powerpoint/2010/main" val="1729114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Tx/>
              <a:buNone/>
            </a:pPr>
            <a:r>
              <a:rPr lang="en-US" b="0"/>
              <a:t>[Pol  et al,  2001] describes a structure-based approach </a:t>
            </a:r>
            <a:r>
              <a:rPr lang="en-US" b="1"/>
              <a:t>called an algorithm test</a:t>
            </a:r>
            <a:r>
              <a:rPr lang="en-US" b="0"/>
              <a:t>. </a:t>
            </a:r>
          </a:p>
          <a:p>
            <a:pPr marL="628650" lvl="1" indent="-171450">
              <a:buFontTx/>
              <a:buChar char="-"/>
            </a:pPr>
            <a:endParaRPr lang="en-US" b="0"/>
          </a:p>
          <a:p>
            <a:pPr marL="628650" lvl="1" indent="-171450">
              <a:buFontTx/>
              <a:buChar char="-"/>
            </a:pPr>
            <a:endParaRPr lang="en-US" b="0"/>
          </a:p>
          <a:p>
            <a:pPr marL="628650" lvl="1" indent="-171450">
              <a:buFontTx/>
              <a:buChar char="-"/>
            </a:pPr>
            <a:endParaRPr lang="en-US" b="0"/>
          </a:p>
          <a:p>
            <a:pPr marL="628650" lvl="1" indent="-171450">
              <a:buFontTx/>
              <a:buChar char="-"/>
            </a:pPr>
            <a:endParaRPr lang="en-US" b="0"/>
          </a:p>
          <a:p>
            <a:pPr marL="628650" lvl="1" indent="-171450">
              <a:buFontTx/>
              <a:buChar char="-"/>
            </a:pPr>
            <a:endParaRPr lang="en-US" b="0"/>
          </a:p>
          <a:p>
            <a:pPr marL="171450" indent="-171450">
              <a:buFontTx/>
              <a:buChar char="-"/>
            </a:pPr>
            <a:r>
              <a:rPr lang="en-US" b="0"/>
              <a:t>One drawback of code coverage measurement is that it measures coverage of </a:t>
            </a:r>
            <a:r>
              <a:rPr lang="en-US" b="1"/>
              <a:t>what has been written</a:t>
            </a:r>
            <a:r>
              <a:rPr lang="en-US" b="0"/>
              <a:t>, i.e. the code itself; it cannot say anything about the software that has not been written.</a:t>
            </a:r>
          </a:p>
          <a:p>
            <a:pPr marL="628650" lvl="1" indent="-171450">
              <a:buFontTx/>
              <a:buChar char="-"/>
            </a:pPr>
            <a:r>
              <a:rPr lang="en-US" b="0"/>
              <a:t>If a specified function has not been implemented, specification-based testing techniques will reveal this. If a function was omitted from the specification, then experience-based techniques may find it. But structure-based techniques can only look at a structure which is already there.</a:t>
            </a:r>
          </a:p>
          <a:p>
            <a:pPr marL="171450" indent="-171450">
              <a:buFontTx/>
              <a:buChar char="-"/>
            </a:pPr>
            <a:r>
              <a:rPr lang="en-US" b="1"/>
              <a:t>Tham khảo</a:t>
            </a:r>
            <a:r>
              <a:rPr lang="en-US" b="1" baseline="0"/>
              <a:t> CSTE trang 141</a:t>
            </a:r>
            <a:endParaRPr lang="en-US" b="1"/>
          </a:p>
          <a:p>
            <a:pPr marL="171450" indent="-171450">
              <a:buFontTx/>
              <a:buChar char="-"/>
            </a:pPr>
            <a:r>
              <a:rPr lang="en-US"/>
              <a:t>KT hộp</a:t>
            </a:r>
            <a:r>
              <a:rPr lang="en-US" baseline="0"/>
              <a:t> trắng </a:t>
            </a:r>
            <a:r>
              <a:rPr lang="vi-VN"/>
              <a:t>(</a:t>
            </a:r>
            <a:r>
              <a:rPr lang="en-US"/>
              <a:t>hay </a:t>
            </a:r>
            <a:r>
              <a:rPr lang="vi-VN"/>
              <a:t>structural</a:t>
            </a:r>
            <a:r>
              <a:rPr lang="en-US"/>
              <a:t> </a:t>
            </a:r>
            <a:r>
              <a:rPr lang="vi-VN"/>
              <a:t>testing) là </a:t>
            </a:r>
            <a:r>
              <a:rPr lang="en-US"/>
              <a:t>KT </a:t>
            </a:r>
            <a:r>
              <a:rPr lang="vi-VN"/>
              <a:t>dựa  trên phân tích </a:t>
            </a:r>
            <a:r>
              <a:rPr lang="en-US"/>
              <a:t>mã</a:t>
            </a:r>
            <a:r>
              <a:rPr lang="en-US" baseline="0"/>
              <a:t> nguồn và logic bên trong của </a:t>
            </a:r>
            <a:r>
              <a:rPr lang="vi-VN"/>
              <a:t>chương trình</a:t>
            </a:r>
            <a:r>
              <a:rPr lang="en-US"/>
              <a:t>, hay cũng</a:t>
            </a:r>
            <a:r>
              <a:rPr lang="en-US" baseline="0"/>
              <a:t> có khi là cấu trúc của menu</a:t>
            </a:r>
            <a:endParaRPr lang="en-US" b="1" baseline="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a:t>In white-box testing (sometimes called clear-box testing), the software tester has access to the program's code and can examine it for clues to help him with his testing he can see inside the box. Based on what he sees, the tester may determine that certain numbers are more or less likely to fail and can tailor his testing based on that information.</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a:t>There is a risk to white-box testing. It's very easy to become biased and fail to objectively test the software because you might tailor the tests to match the code's operation.</a:t>
            </a:r>
          </a:p>
          <a:p>
            <a:pPr marL="171450" indent="-171450">
              <a:buFontTx/>
              <a:buChar char="-"/>
            </a:pPr>
            <a:r>
              <a:rPr lang="vi-VN" b="0"/>
              <a:t>Kỹ thuật chính ở đây là xác định đường đi (path) của chương trình (điều khiển) từ input đến output. Mục đích của thử nghiệm cấu trúc là kiểm tra tất cả các đường đi có thể. Tức là đảm bảo mọi lệnh đều được thực hiện ít nhất một lần trong một ca thử nghiệm nào đó. Thử nghiệm cấu trúc chú trọng vào phân tích các cấu trúc rẽ nhánh và các vòng lặp. </a:t>
            </a:r>
            <a:endParaRPr lang="en-US" b="0"/>
          </a:p>
          <a:p>
            <a:pPr marL="171450" indent="-171450">
              <a:buFontTx/>
              <a:buChar char="-"/>
            </a:pPr>
            <a:r>
              <a:rPr lang="vi-VN"/>
              <a:t>Thử nghiệm cấu trúc xem xét chương trình ở mức độ chi tiết và phù hợp khi kiểm tra các mô đun nhỏ. Tuy nhiên thử nghiệm cấu trúc có thể không đầy đủ vì kiểm thử hết các lệnh không chứng tỏ là chúng ta đã kiểm thử hết các trường hợp có thể. Có khả năng tồn tại các tổ hợp lệnh khác nhau gây lỗi. Ngoài ra, chúng ta không thể kiểm thử hết các đường đi đối với các vòng lặp lớn. </a:t>
            </a:r>
            <a:endParaRPr lang="en-US"/>
          </a:p>
          <a:p>
            <a:pPr marL="171450" indent="-171450">
              <a:buFontTx/>
              <a:buChar char="-"/>
            </a:pPr>
            <a:r>
              <a:rPr lang="en-US"/>
              <a:t>(Nhắc</a:t>
            </a:r>
            <a:r>
              <a:rPr lang="en-US" baseline="0"/>
              <a:t> lại lưu đồ)</a:t>
            </a:r>
            <a:endParaRPr lang="en-US"/>
          </a:p>
          <a:p>
            <a:pPr marL="171450" indent="-171450">
              <a:buFontTx/>
              <a:buChar char="-"/>
            </a:pPr>
            <a:r>
              <a:rPr lang="en-US" b="1"/>
              <a:t>Không</a:t>
            </a:r>
            <a:r>
              <a:rPr lang="en-US" b="1" baseline="0"/>
              <a:t> sử dụng </a:t>
            </a:r>
            <a:r>
              <a:rPr lang="en-US" b="1"/>
              <a:t>Flow charts (lưu đồ)</a:t>
            </a:r>
            <a:r>
              <a:rPr lang="en-US" b="1" baseline="0"/>
              <a:t> và </a:t>
            </a:r>
            <a:r>
              <a:rPr lang="en-US" b="1"/>
              <a:t>Control flow graph vì</a:t>
            </a:r>
            <a:r>
              <a:rPr lang="en-US" b="1" baseline="0"/>
              <a:t> ký hiệu lộn xộn, mà sd 1 phiên bản khác của flow graph cho phép xác định độ bao phủ lệnh (là kết hợp của </a:t>
            </a:r>
            <a:r>
              <a:rPr lang="en-US" b="1"/>
              <a:t>Flow charts </a:t>
            </a:r>
            <a:r>
              <a:rPr lang="en-US" b="1" baseline="0"/>
              <a:t>và </a:t>
            </a:r>
            <a:r>
              <a:rPr lang="en-US" b="1"/>
              <a:t>Control flow graph </a:t>
            </a:r>
            <a:r>
              <a:rPr lang="en-US" b="1" baseline="0"/>
              <a:t>). Để làm ra nó, cta thực hiển vẽ </a:t>
            </a:r>
            <a:r>
              <a:rPr lang="en-US" b="1"/>
              <a:t>Control flow graph bình</a:t>
            </a:r>
            <a:r>
              <a:rPr lang="en-US" b="1" baseline="0"/>
              <a:t> thường nhưng sẽ thêm nút vào những nhánh có 1 hay nhiều lệnh thực thi.</a:t>
            </a:r>
            <a:endParaRPr lang="en-US" b="1"/>
          </a:p>
          <a:p>
            <a:pPr marL="171450" indent="-171450">
              <a:buFontTx/>
              <a:buChar char="-"/>
            </a:pPr>
            <a:r>
              <a:rPr lang="en-US"/>
              <a:t>Không</a:t>
            </a:r>
            <a:r>
              <a:rPr lang="en-US" baseline="0"/>
              <a:t> phải tất cả các path dc thi hành là có nghĩa ct đã dc kiểm tra hết các TH lỗi. Ví dụ đơn giản phép chia A/B, nếu B=0 thì sao? </a:t>
            </a:r>
            <a:r>
              <a:rPr lang="en-US" baseline="0">
                <a:sym typeface="Wingdings" pitchFamily="2" charset="2"/>
              </a:rPr>
              <a:t> TH này trở thành kiểm định data chứ k phải path nữa.</a:t>
            </a:r>
            <a:endParaRPr lang="en-US"/>
          </a:p>
        </p:txBody>
      </p:sp>
    </p:spTree>
    <p:extLst>
      <p:ext uri="{BB962C8B-B14F-4D97-AF65-F5344CB8AC3E}">
        <p14:creationId xmlns:p14="http://schemas.microsoft.com/office/powerpoint/2010/main" val="923763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1" i="0" kern="1200" baseline="0">
                <a:solidFill>
                  <a:schemeClr val="tx1"/>
                </a:solidFill>
                <a:effectLst/>
                <a:latin typeface="+mn-lt"/>
                <a:ea typeface="+mn-ea"/>
                <a:cs typeface="+mn-cs"/>
              </a:rPr>
              <a:t>ISTQB QUAN TÂM 2 LOẠI COVERAGE ĐẦU</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mn-lt"/>
                <a:ea typeface="+mn-ea"/>
                <a:cs typeface="+mn-cs"/>
              </a:rPr>
              <a:t> </a:t>
            </a:r>
            <a:r>
              <a:rPr lang="en-US"/>
              <a:t> </a:t>
            </a:r>
            <a:endParaRPr lang="en-US" baseline="0"/>
          </a:p>
        </p:txBody>
      </p:sp>
    </p:spTree>
    <p:extLst>
      <p:ext uri="{BB962C8B-B14F-4D97-AF65-F5344CB8AC3E}">
        <p14:creationId xmlns:p14="http://schemas.microsoft.com/office/powerpoint/2010/main" val="3358885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Có</a:t>
            </a:r>
            <a:r>
              <a:rPr lang="en-US" baseline="0"/>
              <a:t> thể dùng ký hiệu khác (hình thoi, hình vuông), có thể được gán nhãn</a:t>
            </a:r>
            <a:endParaRPr lang="en-US"/>
          </a:p>
          <a:p>
            <a:endParaRPr lang="en-US"/>
          </a:p>
        </p:txBody>
      </p:sp>
    </p:spTree>
    <p:extLst>
      <p:ext uri="{BB962C8B-B14F-4D97-AF65-F5344CB8AC3E}">
        <p14:creationId xmlns:p14="http://schemas.microsoft.com/office/powerpoint/2010/main" val="3484680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441053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baseline="0"/>
              <a:t>- ĐỂ BIẾT BAO NHIÊU CÂU LỆNH ĐC THI HÀNH CHO 1 BỘ TEST, TA THƯỜNG TÍNH </a:t>
            </a:r>
            <a:r>
              <a:rPr lang="en-US" baseline="0"/>
              <a:t>Độ bao phủ lệnh</a:t>
            </a:r>
            <a:endParaRPr lang="en-US"/>
          </a:p>
          <a:p>
            <a:pPr marL="914400" lvl="2" indent="0">
              <a:buFontTx/>
              <a:buNone/>
            </a:pPr>
            <a:r>
              <a:rPr lang="en-GB"/>
              <a:t>* example:</a:t>
            </a:r>
          </a:p>
          <a:p>
            <a:pPr lvl="1"/>
            <a:r>
              <a:rPr lang="en-GB"/>
              <a:t>		program has 100 statements</a:t>
            </a:r>
          </a:p>
          <a:p>
            <a:pPr lvl="1"/>
            <a:r>
              <a:rPr lang="en-GB"/>
              <a:t>		tests exercise 87 statements</a:t>
            </a:r>
          </a:p>
          <a:p>
            <a:pPr lvl="1"/>
            <a:r>
              <a:rPr lang="en-GB"/>
              <a:t>		statement coverage = 87%</a:t>
            </a:r>
            <a:endParaRPr lang="en-US" baseline="0"/>
          </a:p>
          <a:p>
            <a:pPr marL="914400" marR="0" lvl="2" indent="0" algn="l" defTabSz="914400" rtl="0" eaLnBrk="1" fontAlgn="auto" latinLnBrk="0" hangingPunct="1">
              <a:lnSpc>
                <a:spcPct val="100000"/>
              </a:lnSpc>
              <a:spcBef>
                <a:spcPts val="0"/>
              </a:spcBef>
              <a:spcAft>
                <a:spcPts val="0"/>
              </a:spcAft>
              <a:buClrTx/>
              <a:buSzTx/>
              <a:buFontTx/>
              <a:buNone/>
              <a:tabLst/>
              <a:defRPr/>
            </a:pPr>
            <a:endParaRPr lang="en-US" sz="1200" b="1" i="0" kern="1200" baseline="0">
              <a:solidFill>
                <a:schemeClr val="tx1"/>
              </a:solidFill>
              <a:effectLst/>
              <a:latin typeface="+mn-lt"/>
              <a:ea typeface="+mn-ea"/>
              <a:cs typeface="+mn-cs"/>
            </a:endParaRPr>
          </a:p>
          <a:p>
            <a:pPr marL="628650" lvl="1" indent="-171450">
              <a:buFontTx/>
              <a:buChar char="-"/>
            </a:pPr>
            <a:endParaRPr lang="en-US" sz="1200" b="1" i="0" kern="1200" baseline="0">
              <a:solidFill>
                <a:schemeClr val="tx1"/>
              </a:solidFill>
              <a:effectLst/>
              <a:latin typeface="+mn-lt"/>
              <a:ea typeface="+mn-ea"/>
              <a:cs typeface="+mn-cs"/>
            </a:endParaRPr>
          </a:p>
          <a:p>
            <a:pPr marL="0" lvl="0" indent="0">
              <a:buFontTx/>
              <a:buNone/>
            </a:pPr>
            <a:r>
              <a:rPr lang="en-US" sz="1200" b="1" i="0" kern="1200" baseline="0">
                <a:solidFill>
                  <a:schemeClr val="tx1"/>
                </a:solidFill>
                <a:effectLst/>
                <a:latin typeface="+mn-lt"/>
                <a:ea typeface="+mn-ea"/>
                <a:cs typeface="+mn-cs"/>
              </a:rPr>
              <a:t>Cyclomatic Complexity  is  software metric. </a:t>
            </a:r>
          </a:p>
          <a:p>
            <a:pPr marL="0" lvl="0" indent="0">
              <a:buFontTx/>
              <a:buNone/>
            </a:pPr>
            <a:r>
              <a:rPr lang="en-US" sz="1200" b="1" i="0" kern="1200" baseline="0">
                <a:solidFill>
                  <a:schemeClr val="tx1"/>
                </a:solidFill>
                <a:effectLst/>
                <a:latin typeface="+mn-lt"/>
                <a:ea typeface="+mn-ea"/>
                <a:cs typeface="+mn-cs"/>
              </a:rPr>
              <a:t>The value evaluated for cyclomatic complexity </a:t>
            </a:r>
          </a:p>
          <a:p>
            <a:pPr marL="0" lvl="0" indent="0">
              <a:buFontTx/>
              <a:buNone/>
            </a:pPr>
            <a:r>
              <a:rPr lang="en-US" sz="1200" b="1" i="0" kern="1200" baseline="0">
                <a:solidFill>
                  <a:schemeClr val="tx1"/>
                </a:solidFill>
                <a:effectLst/>
                <a:latin typeface="+mn-lt"/>
                <a:ea typeface="+mn-ea"/>
                <a:cs typeface="+mn-cs"/>
              </a:rPr>
              <a:t>defines the number of independent paths in the </a:t>
            </a:r>
          </a:p>
          <a:p>
            <a:pPr marL="0" lvl="0" indent="0">
              <a:buFontTx/>
              <a:buNone/>
            </a:pPr>
            <a:r>
              <a:rPr lang="en-US" sz="1200" b="1" i="0" kern="1200" baseline="0">
                <a:solidFill>
                  <a:schemeClr val="tx1"/>
                </a:solidFill>
                <a:effectLst/>
                <a:latin typeface="+mn-lt"/>
                <a:ea typeface="+mn-ea"/>
                <a:cs typeface="+mn-cs"/>
              </a:rPr>
              <a:t>basis set of a program.  </a:t>
            </a:r>
          </a:p>
          <a:p>
            <a:pPr marL="0" lvl="0" indent="0">
              <a:buFontTx/>
              <a:buNone/>
            </a:pPr>
            <a:r>
              <a:rPr lang="en-US" sz="1200" b="1" i="0" kern="1200" baseline="0">
                <a:solidFill>
                  <a:schemeClr val="tx1"/>
                </a:solidFill>
                <a:effectLst/>
                <a:latin typeface="+mn-lt"/>
                <a:ea typeface="+mn-ea"/>
                <a:cs typeface="+mn-cs"/>
              </a:rPr>
              <a:t>Independent path  is any path through a </a:t>
            </a:r>
          </a:p>
          <a:p>
            <a:pPr marL="0" lvl="0" indent="0">
              <a:buFontTx/>
              <a:buNone/>
            </a:pPr>
            <a:r>
              <a:rPr lang="en-US" sz="1200" b="1" i="0" kern="1200" baseline="0">
                <a:solidFill>
                  <a:schemeClr val="tx1"/>
                </a:solidFill>
                <a:effectLst/>
                <a:latin typeface="+mn-lt"/>
                <a:ea typeface="+mn-ea"/>
                <a:cs typeface="+mn-cs"/>
              </a:rPr>
              <a:t>program that introduces at least one new set of </a:t>
            </a:r>
          </a:p>
          <a:p>
            <a:pPr marL="0" lvl="0" indent="0">
              <a:buFontTx/>
              <a:buNone/>
            </a:pPr>
            <a:r>
              <a:rPr lang="en-US" sz="1200" b="1" i="0" kern="1200" baseline="0">
                <a:solidFill>
                  <a:schemeClr val="tx1"/>
                </a:solidFill>
                <a:effectLst/>
                <a:latin typeface="+mn-lt"/>
                <a:ea typeface="+mn-ea"/>
                <a:cs typeface="+mn-cs"/>
              </a:rPr>
              <a:t>processing statements.</a:t>
            </a:r>
          </a:p>
          <a:p>
            <a:pPr marL="0" lvl="0" indent="0">
              <a:buFontTx/>
              <a:buNone/>
            </a:pPr>
            <a:r>
              <a:rPr lang="en-US" sz="1200" b="1" i="0" kern="1200" baseline="0">
                <a:solidFill>
                  <a:schemeClr val="tx1"/>
                </a:solidFill>
                <a:effectLst/>
                <a:latin typeface="+mn-lt"/>
                <a:ea typeface="+mn-ea"/>
                <a:cs typeface="+mn-cs"/>
              </a:rPr>
              <a:t> For the given graph G, cyclomatic complexity </a:t>
            </a:r>
          </a:p>
          <a:p>
            <a:pPr marL="0" lvl="0" indent="0">
              <a:buFontTx/>
              <a:buNone/>
            </a:pPr>
            <a:r>
              <a:rPr lang="en-US" sz="1200" b="1" i="0" kern="1200" baseline="0">
                <a:solidFill>
                  <a:schemeClr val="tx1"/>
                </a:solidFill>
                <a:effectLst/>
                <a:latin typeface="+mn-lt"/>
                <a:ea typeface="+mn-ea"/>
                <a:cs typeface="+mn-cs"/>
              </a:rPr>
              <a:t>V(G) is equal to: </a:t>
            </a:r>
          </a:p>
          <a:p>
            <a:pPr marL="0" lvl="0" indent="0">
              <a:buFontTx/>
              <a:buNone/>
            </a:pPr>
            <a:r>
              <a:rPr lang="en-US" sz="1200" b="1" i="0" kern="1200" baseline="0">
                <a:solidFill>
                  <a:schemeClr val="tx1"/>
                </a:solidFill>
                <a:effectLst/>
                <a:latin typeface="+mn-lt"/>
                <a:ea typeface="+mn-ea"/>
                <a:cs typeface="+mn-cs"/>
              </a:rPr>
              <a:t>1.  The number of regions in the flow graph; </a:t>
            </a:r>
          </a:p>
          <a:p>
            <a:pPr marL="0" lvl="0" indent="0">
              <a:buFontTx/>
              <a:buNone/>
            </a:pPr>
            <a:r>
              <a:rPr lang="en-US" sz="1200" b="1" i="0" kern="1200" baseline="0">
                <a:solidFill>
                  <a:schemeClr val="tx1"/>
                </a:solidFill>
                <a:effectLst/>
                <a:latin typeface="+mn-lt"/>
                <a:ea typeface="+mn-ea"/>
                <a:cs typeface="+mn-cs"/>
              </a:rPr>
              <a:t>2.  V(G) = E - N + 2, where E is the number </a:t>
            </a:r>
          </a:p>
          <a:p>
            <a:pPr marL="0" lvl="0" indent="0">
              <a:buFontTx/>
              <a:buNone/>
            </a:pPr>
            <a:r>
              <a:rPr lang="en-US" sz="1200" b="1" i="0" kern="1200" baseline="0">
                <a:solidFill>
                  <a:schemeClr val="tx1"/>
                </a:solidFill>
                <a:effectLst/>
                <a:latin typeface="+mn-lt"/>
                <a:ea typeface="+mn-ea"/>
                <a:cs typeface="+mn-cs"/>
              </a:rPr>
              <a:t>of edges, and N is the number of nodes; </a:t>
            </a:r>
          </a:p>
          <a:p>
            <a:pPr marL="0" lvl="0" indent="0">
              <a:buFontTx/>
              <a:buNone/>
            </a:pPr>
            <a:r>
              <a:rPr lang="en-US" sz="1200" b="1" i="0" kern="1200" baseline="0">
                <a:solidFill>
                  <a:schemeClr val="tx1"/>
                </a:solidFill>
                <a:effectLst/>
                <a:latin typeface="+mn-lt"/>
                <a:ea typeface="+mn-ea"/>
                <a:cs typeface="+mn-cs"/>
              </a:rPr>
              <a:t>V(G) = P + 1, where P is the number of </a:t>
            </a:r>
          </a:p>
          <a:p>
            <a:pPr marL="0" lvl="0" indent="0">
              <a:buFontTx/>
              <a:buNone/>
            </a:pPr>
            <a:r>
              <a:rPr lang="en-US" sz="1200" b="1" i="0" kern="1200" baseline="0">
                <a:solidFill>
                  <a:schemeClr val="tx1"/>
                </a:solidFill>
                <a:effectLst/>
                <a:latin typeface="+mn-lt"/>
                <a:ea typeface="+mn-ea"/>
                <a:cs typeface="+mn-cs"/>
              </a:rPr>
              <a:t>predicate nodes. </a:t>
            </a:r>
          </a:p>
          <a:p>
            <a:pPr marL="0" lvl="0" indent="0">
              <a:buFontTx/>
              <a:buNone/>
            </a:pPr>
            <a:r>
              <a:rPr lang="en-US" sz="1200" b="1" i="0" kern="1200" baseline="0">
                <a:solidFill>
                  <a:schemeClr val="tx1"/>
                </a:solidFill>
                <a:effectLst/>
                <a:latin typeface="+mn-lt"/>
                <a:ea typeface="+mn-ea"/>
                <a:cs typeface="+mn-cs"/>
              </a:rPr>
              <a:t>So, the core of this technique is: one  draws </a:t>
            </a:r>
          </a:p>
          <a:p>
            <a:pPr marL="0" lvl="0" indent="0">
              <a:buFontTx/>
              <a:buNone/>
            </a:pPr>
            <a:r>
              <a:rPr lang="en-US" sz="1200" b="1" i="0" kern="1200" baseline="0">
                <a:solidFill>
                  <a:schemeClr val="tx1"/>
                </a:solidFill>
                <a:effectLst/>
                <a:latin typeface="+mn-lt"/>
                <a:ea typeface="+mn-ea"/>
                <a:cs typeface="+mn-cs"/>
              </a:rPr>
              <a:t>the flow graph according to the design or code </a:t>
            </a:r>
          </a:p>
          <a:p>
            <a:pPr marL="0" lvl="0" indent="0">
              <a:buFontTx/>
              <a:buNone/>
            </a:pPr>
            <a:r>
              <a:rPr lang="en-US" sz="1200" b="1" i="0" kern="1200" baseline="0">
                <a:solidFill>
                  <a:schemeClr val="tx1"/>
                </a:solidFill>
                <a:effectLst/>
                <a:latin typeface="+mn-lt"/>
                <a:ea typeface="+mn-ea"/>
                <a:cs typeface="+mn-cs"/>
              </a:rPr>
              <a:t>like the basis ⇒ one determines  its cyclomatic </a:t>
            </a:r>
          </a:p>
          <a:p>
            <a:pPr marL="0" lvl="0" indent="0">
              <a:buFontTx/>
              <a:buNone/>
            </a:pPr>
            <a:r>
              <a:rPr lang="en-US" sz="1200" b="1" i="0" kern="1200" baseline="0">
                <a:solidFill>
                  <a:schemeClr val="tx1"/>
                </a:solidFill>
                <a:effectLst/>
                <a:latin typeface="+mn-lt"/>
                <a:ea typeface="+mn-ea"/>
                <a:cs typeface="+mn-cs"/>
              </a:rPr>
              <a:t>complexity; cyclomatic complexity can be </a:t>
            </a:r>
          </a:p>
          <a:p>
            <a:pPr marL="0" lvl="0" indent="0">
              <a:buFontTx/>
              <a:buNone/>
            </a:pPr>
            <a:r>
              <a:rPr lang="en-US" sz="1200" b="1" i="0" kern="1200" baseline="0">
                <a:solidFill>
                  <a:schemeClr val="tx1"/>
                </a:solidFill>
                <a:effectLst/>
                <a:latin typeface="+mn-lt"/>
                <a:ea typeface="+mn-ea"/>
                <a:cs typeface="+mn-cs"/>
              </a:rPr>
              <a:t>determined without a flow graph  →  in  that case </a:t>
            </a:r>
          </a:p>
          <a:p>
            <a:pPr marL="0" lvl="0" indent="0">
              <a:buFontTx/>
              <a:buNone/>
            </a:pPr>
            <a:r>
              <a:rPr lang="en-US" sz="1200" b="1" i="0" kern="1200" baseline="0">
                <a:solidFill>
                  <a:schemeClr val="tx1"/>
                </a:solidFill>
                <a:effectLst/>
                <a:latin typeface="+mn-lt"/>
                <a:ea typeface="+mn-ea"/>
                <a:cs typeface="+mn-cs"/>
              </a:rPr>
              <a:t>one  computes  the number of conditional </a:t>
            </a:r>
          </a:p>
          <a:p>
            <a:pPr marL="0" lvl="0" indent="0">
              <a:buFontTx/>
              <a:buNone/>
            </a:pPr>
            <a:r>
              <a:rPr lang="en-US" sz="1200" b="1" i="0" kern="1200" baseline="0">
                <a:solidFill>
                  <a:schemeClr val="tx1"/>
                </a:solidFill>
                <a:effectLst/>
                <a:latin typeface="+mn-lt"/>
                <a:ea typeface="+mn-ea"/>
                <a:cs typeface="+mn-cs"/>
              </a:rPr>
              <a:t>statements in the code   ⇒  after that, one </a:t>
            </a:r>
          </a:p>
          <a:p>
            <a:pPr marL="0" lvl="0" indent="0">
              <a:buFontTx/>
              <a:buNone/>
            </a:pPr>
            <a:r>
              <a:rPr lang="en-US" sz="1200" b="1" i="0" kern="1200" baseline="0">
                <a:solidFill>
                  <a:schemeClr val="tx1"/>
                </a:solidFill>
                <a:effectLst/>
                <a:latin typeface="+mn-lt"/>
                <a:ea typeface="+mn-ea"/>
                <a:cs typeface="+mn-cs"/>
              </a:rPr>
              <a:t>determines  a basis set of the linearly </a:t>
            </a:r>
          </a:p>
          <a:p>
            <a:pPr marL="0" lvl="0" indent="0">
              <a:buFontTx/>
              <a:buNone/>
            </a:pPr>
            <a:r>
              <a:rPr lang="en-US" sz="1200" b="1" i="0" kern="1200" baseline="0">
                <a:solidFill>
                  <a:schemeClr val="tx1"/>
                </a:solidFill>
                <a:effectLst/>
                <a:latin typeface="+mn-lt"/>
                <a:ea typeface="+mn-ea"/>
                <a:cs typeface="+mn-cs"/>
              </a:rPr>
              <a:t>independent paths; the predicate nodes are </a:t>
            </a:r>
          </a:p>
          <a:p>
            <a:pPr marL="0" lvl="0" indent="0">
              <a:buFontTx/>
              <a:buNone/>
            </a:pPr>
            <a:r>
              <a:rPr lang="en-US" sz="1200" b="1" i="0" kern="1200" baseline="0">
                <a:solidFill>
                  <a:schemeClr val="tx1"/>
                </a:solidFill>
                <a:effectLst/>
                <a:latin typeface="+mn-lt"/>
                <a:ea typeface="+mn-ea"/>
                <a:cs typeface="+mn-cs"/>
              </a:rPr>
              <a:t>useful when necessary paths must be </a:t>
            </a:r>
          </a:p>
          <a:p>
            <a:pPr marL="0" lvl="0" indent="0">
              <a:buFontTx/>
              <a:buNone/>
            </a:pPr>
            <a:r>
              <a:rPr lang="en-US" sz="1200" b="1" i="0" kern="1200" baseline="0">
                <a:solidFill>
                  <a:schemeClr val="tx1"/>
                </a:solidFill>
                <a:effectLst/>
                <a:latin typeface="+mn-lt"/>
                <a:ea typeface="+mn-ea"/>
                <a:cs typeface="+mn-cs"/>
              </a:rPr>
              <a:t>determined  ⇒  at the end, one  prepares  test </a:t>
            </a:r>
          </a:p>
          <a:p>
            <a:pPr marL="0" lvl="0" indent="0">
              <a:buFontTx/>
              <a:buNone/>
            </a:pPr>
            <a:r>
              <a:rPr lang="en-US" sz="1200" b="1" i="0" kern="1200" baseline="0">
                <a:solidFill>
                  <a:schemeClr val="tx1"/>
                </a:solidFill>
                <a:effectLst/>
                <a:latin typeface="+mn-lt"/>
                <a:ea typeface="+mn-ea"/>
                <a:cs typeface="+mn-cs"/>
              </a:rPr>
              <a:t>cases by which each path in the basis set will be </a:t>
            </a:r>
          </a:p>
          <a:p>
            <a:pPr marL="0" lvl="0" indent="0">
              <a:buFontTx/>
              <a:buNone/>
            </a:pPr>
            <a:r>
              <a:rPr lang="en-US" sz="1200" b="1" i="0" kern="1200" baseline="0">
                <a:solidFill>
                  <a:schemeClr val="tx1"/>
                </a:solidFill>
                <a:effectLst/>
                <a:latin typeface="+mn-lt"/>
                <a:ea typeface="+mn-ea"/>
                <a:cs typeface="+mn-cs"/>
              </a:rPr>
              <a:t>executed. Each test case will be executed and </a:t>
            </a:r>
          </a:p>
          <a:p>
            <a:pPr marL="0" lvl="0" indent="0">
              <a:buFontTx/>
              <a:buNone/>
            </a:pPr>
            <a:r>
              <a:rPr lang="en-US" sz="1200" b="1" i="0" kern="1200" baseline="0">
                <a:solidFill>
                  <a:schemeClr val="tx1"/>
                </a:solidFill>
                <a:effectLst/>
                <a:latin typeface="+mn-lt"/>
                <a:ea typeface="+mn-ea"/>
                <a:cs typeface="+mn-cs"/>
              </a:rPr>
              <a:t>compared to the expected results.</a:t>
            </a:r>
          </a:p>
        </p:txBody>
      </p:sp>
    </p:spTree>
    <p:extLst>
      <p:ext uri="{BB962C8B-B14F-4D97-AF65-F5344CB8AC3E}">
        <p14:creationId xmlns:p14="http://schemas.microsoft.com/office/powerpoint/2010/main" val="3668381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92522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a:solidFill>
                  <a:schemeClr val="tx1"/>
                </a:solidFill>
                <a:effectLst/>
                <a:latin typeface="+mn-lt"/>
                <a:ea typeface="+mn-ea"/>
                <a:cs typeface="+mn-cs"/>
              </a:rPr>
              <a:t>CÓ</a:t>
            </a:r>
            <a:r>
              <a:rPr lang="en-US" sz="1200" kern="1200" baseline="0">
                <a:solidFill>
                  <a:schemeClr val="tx1"/>
                </a:solidFill>
                <a:effectLst/>
                <a:latin typeface="+mn-lt"/>
                <a:ea typeface="+mn-ea"/>
                <a:cs typeface="+mn-cs"/>
              </a:rPr>
              <a:t> THỂ HD THỰC THI BÀI NÀY</a:t>
            </a:r>
            <a:endParaRPr lang="en-US" sz="1200" kern="120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public int MaxAndMean(int A, int B, int C, out double Mean)</a:t>
            </a:r>
          </a:p>
          <a:p>
            <a:pPr lvl="0"/>
            <a:r>
              <a:rPr lang="en-US" sz="1200" kern="1200">
                <a:solidFill>
                  <a:schemeClr val="tx1"/>
                </a:solidFill>
                <a:effectLst/>
                <a:latin typeface="+mn-lt"/>
                <a:ea typeface="+mn-ea"/>
                <a:cs typeface="+mn-cs"/>
              </a:rPr>
              <a:t>{</a:t>
            </a:r>
          </a:p>
          <a:p>
            <a:pPr lvl="0"/>
            <a:r>
              <a:rPr lang="en-US" sz="1200" kern="1200">
                <a:solidFill>
                  <a:schemeClr val="tx1"/>
                </a:solidFill>
                <a:effectLst/>
                <a:latin typeface="+mn-lt"/>
                <a:ea typeface="+mn-ea"/>
                <a:cs typeface="+mn-cs"/>
              </a:rPr>
              <a:t>   Mean = (A + B + C) / 3.0;</a:t>
            </a:r>
          </a:p>
          <a:p>
            <a:pPr lvl="0"/>
            <a:r>
              <a:rPr lang="en-US" sz="1200" kern="1200">
                <a:solidFill>
                  <a:schemeClr val="tx1"/>
                </a:solidFill>
                <a:effectLst/>
                <a:latin typeface="+mn-lt"/>
                <a:ea typeface="+mn-ea"/>
                <a:cs typeface="+mn-cs"/>
              </a:rPr>
              <a:t>   int Maximum;</a:t>
            </a:r>
          </a:p>
          <a:p>
            <a:pPr lvl="0"/>
            <a:r>
              <a:rPr lang="en-US" sz="1200" kern="1200">
                <a:solidFill>
                  <a:schemeClr val="tx1"/>
                </a:solidFill>
                <a:effectLst/>
                <a:latin typeface="+mn-lt"/>
                <a:ea typeface="+mn-ea"/>
                <a:cs typeface="+mn-cs"/>
              </a:rPr>
              <a:t>   if (A &gt; B)</a:t>
            </a:r>
          </a:p>
          <a:p>
            <a:pPr lvl="0"/>
            <a:r>
              <a:rPr lang="en-US" sz="1200" kern="1200">
                <a:solidFill>
                  <a:schemeClr val="tx1"/>
                </a:solidFill>
                <a:effectLst/>
                <a:latin typeface="+mn-lt"/>
                <a:ea typeface="+mn-ea"/>
                <a:cs typeface="+mn-cs"/>
              </a:rPr>
              <a:t>      if (A &gt; C)</a:t>
            </a:r>
          </a:p>
          <a:p>
            <a:pPr lvl="0"/>
            <a:r>
              <a:rPr lang="en-US" sz="1200" kern="1200">
                <a:solidFill>
                  <a:schemeClr val="tx1"/>
                </a:solidFill>
                <a:effectLst/>
                <a:latin typeface="+mn-lt"/>
                <a:ea typeface="+mn-ea"/>
                <a:cs typeface="+mn-cs"/>
              </a:rPr>
              <a:t>         Maximum = A;</a:t>
            </a:r>
          </a:p>
          <a:p>
            <a:pPr lvl="0"/>
            <a:r>
              <a:rPr lang="en-US" sz="1200" kern="1200">
                <a:solidFill>
                  <a:schemeClr val="tx1"/>
                </a:solidFill>
                <a:effectLst/>
                <a:latin typeface="+mn-lt"/>
                <a:ea typeface="+mn-ea"/>
                <a:cs typeface="+mn-cs"/>
              </a:rPr>
              <a:t>      else</a:t>
            </a:r>
          </a:p>
          <a:p>
            <a:pPr lvl="0"/>
            <a:r>
              <a:rPr lang="en-US" sz="1200" kern="1200">
                <a:solidFill>
                  <a:schemeClr val="tx1"/>
                </a:solidFill>
                <a:effectLst/>
                <a:latin typeface="+mn-lt"/>
                <a:ea typeface="+mn-ea"/>
                <a:cs typeface="+mn-cs"/>
              </a:rPr>
              <a:t>         Maximum = B;</a:t>
            </a:r>
          </a:p>
          <a:p>
            <a:pPr lvl="0"/>
            <a:r>
              <a:rPr lang="en-US" sz="1200" kern="1200">
                <a:solidFill>
                  <a:schemeClr val="tx1"/>
                </a:solidFill>
                <a:effectLst/>
                <a:latin typeface="+mn-lt"/>
                <a:ea typeface="+mn-ea"/>
                <a:cs typeface="+mn-cs"/>
              </a:rPr>
              <a:t>   else</a:t>
            </a:r>
            <a:endParaRPr lang="en-US">
              <a:effectLst/>
            </a:endParaRPr>
          </a:p>
          <a:p>
            <a:pPr lvl="0"/>
            <a:r>
              <a:rPr lang="en-US" sz="1200" kern="1200">
                <a:solidFill>
                  <a:schemeClr val="tx1"/>
                </a:solidFill>
                <a:effectLst/>
                <a:latin typeface="+mn-lt"/>
                <a:ea typeface="+mn-ea"/>
                <a:cs typeface="+mn-cs"/>
              </a:rPr>
              <a:t>      if (B &gt; C)</a:t>
            </a:r>
          </a:p>
          <a:p>
            <a:pPr lvl="0"/>
            <a:r>
              <a:rPr lang="en-US" sz="1200" kern="1200">
                <a:solidFill>
                  <a:schemeClr val="tx1"/>
                </a:solidFill>
                <a:effectLst/>
                <a:latin typeface="+mn-lt"/>
                <a:ea typeface="+mn-ea"/>
                <a:cs typeface="+mn-cs"/>
              </a:rPr>
              <a:t>         Maximum = B;</a:t>
            </a:r>
          </a:p>
          <a:p>
            <a:pPr lvl="0"/>
            <a:r>
              <a:rPr lang="en-US" sz="1200" kern="1200">
                <a:solidFill>
                  <a:schemeClr val="tx1"/>
                </a:solidFill>
                <a:effectLst/>
                <a:latin typeface="+mn-lt"/>
                <a:ea typeface="+mn-ea"/>
                <a:cs typeface="+mn-cs"/>
              </a:rPr>
              <a:t>      else</a:t>
            </a:r>
          </a:p>
          <a:p>
            <a:pPr lvl="0"/>
            <a:r>
              <a:rPr lang="en-US" sz="1200" kern="1200">
                <a:solidFill>
                  <a:schemeClr val="tx1"/>
                </a:solidFill>
                <a:effectLst/>
                <a:latin typeface="+mn-lt"/>
                <a:ea typeface="+mn-ea"/>
                <a:cs typeface="+mn-cs"/>
              </a:rPr>
              <a:t>         Maximum = C;</a:t>
            </a:r>
          </a:p>
          <a:p>
            <a:pPr lvl="0"/>
            <a:endParaRPr lang="en-US" sz="1200" kern="120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    return Maximum;</a:t>
            </a:r>
          </a:p>
          <a:p>
            <a:r>
              <a:rPr lang="en-US" sz="1200" kern="1200">
                <a:solidFill>
                  <a:schemeClr val="tx1"/>
                </a:solidFill>
                <a:effectLst/>
                <a:latin typeface="+mn-lt"/>
                <a:ea typeface="+mn-ea"/>
                <a:cs typeface="+mn-cs"/>
              </a:rPr>
              <a:t>}</a:t>
            </a:r>
            <a:endParaRPr lang="en-US"/>
          </a:p>
        </p:txBody>
      </p:sp>
    </p:spTree>
    <p:extLst>
      <p:ext uri="{BB962C8B-B14F-4D97-AF65-F5344CB8AC3E}">
        <p14:creationId xmlns:p14="http://schemas.microsoft.com/office/powerpoint/2010/main" val="20943918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eaLnBrk="1" fontAlgn="t" latinLnBrk="0" hangingPunct="1"/>
            <a:r>
              <a:rPr lang="en-US" dirty="0" err="1"/>
              <a:t>Hướng</a:t>
            </a:r>
            <a:r>
              <a:rPr lang="en-US" baseline="0" dirty="0"/>
              <a:t> </a:t>
            </a:r>
            <a:r>
              <a:rPr lang="en-US" baseline="0" dirty="0" err="1"/>
              <a:t>dẫn</a:t>
            </a:r>
            <a:r>
              <a:rPr lang="en-US" baseline="0" dirty="0"/>
              <a:t> SV </a:t>
            </a:r>
            <a:r>
              <a:rPr lang="en-US" baseline="0" dirty="0" err="1"/>
              <a:t>cách</a:t>
            </a:r>
            <a:r>
              <a:rPr lang="en-US" baseline="0" dirty="0"/>
              <a:t> </a:t>
            </a:r>
            <a:r>
              <a:rPr lang="en-US" baseline="0" dirty="0" err="1"/>
              <a:t>trình</a:t>
            </a:r>
            <a:r>
              <a:rPr lang="en-US" baseline="0" dirty="0"/>
              <a:t> </a:t>
            </a:r>
            <a:r>
              <a:rPr lang="en-US" baseline="0" dirty="0" err="1"/>
              <a:t>bày</a:t>
            </a:r>
            <a:r>
              <a:rPr lang="en-US" baseline="0" dirty="0"/>
              <a:t> </a:t>
            </a:r>
            <a:r>
              <a:rPr lang="en-US" baseline="0" dirty="0" err="1"/>
              <a:t>bảng</a:t>
            </a:r>
            <a:r>
              <a:rPr lang="en-US" baseline="0" dirty="0"/>
              <a:t> test case: </a:t>
            </a:r>
            <a:r>
              <a:rPr lang="en-US" baseline="0" dirty="0" err="1"/>
              <a:t>gồm</a:t>
            </a:r>
            <a:r>
              <a:rPr lang="en-US" baseline="0" dirty="0"/>
              <a:t> </a:t>
            </a:r>
          </a:p>
          <a:p>
            <a:pPr rtl="0" eaLnBrk="1" fontAlgn="t" latinLnBrk="0" hangingPunct="1"/>
            <a:r>
              <a:rPr lang="en-US" sz="1200" b="1" i="0" u="none" strike="noStrike" kern="1200" dirty="0">
                <a:solidFill>
                  <a:schemeClr val="tx1"/>
                </a:solidFill>
                <a:effectLst/>
                <a:latin typeface="+mn-lt"/>
                <a:ea typeface="+mn-ea"/>
                <a:cs typeface="+mn-cs"/>
              </a:rPr>
              <a:t>#</a:t>
            </a:r>
            <a:endParaRPr lang="en-US" sz="1200" b="0" i="0" u="none" strike="noStrike" kern="1200" dirty="0">
              <a:solidFill>
                <a:schemeClr val="tx1"/>
              </a:solidFill>
              <a:effectLst/>
              <a:latin typeface="+mn-lt"/>
              <a:ea typeface="+mn-ea"/>
              <a:cs typeface="+mn-cs"/>
            </a:endParaRPr>
          </a:p>
          <a:p>
            <a:pPr rtl="0" eaLnBrk="1" fontAlgn="t" latinLnBrk="0" hangingPunct="1"/>
            <a:r>
              <a:rPr lang="en-US" sz="1200" b="1" i="0" u="none" strike="noStrike" kern="1200" dirty="0">
                <a:solidFill>
                  <a:schemeClr val="tx1"/>
                </a:solidFill>
                <a:effectLst/>
                <a:latin typeface="+mn-lt"/>
                <a:ea typeface="+mn-ea"/>
                <a:cs typeface="+mn-cs"/>
              </a:rPr>
              <a:t>Test</a:t>
            </a:r>
            <a:r>
              <a:rPr lang="en-US" sz="1200" b="1" i="0" u="none" strike="noStrike" kern="1200" baseline="0" dirty="0">
                <a:solidFill>
                  <a:schemeClr val="tx1"/>
                </a:solidFill>
                <a:effectLst/>
                <a:latin typeface="+mn-lt"/>
                <a:ea typeface="+mn-ea"/>
                <a:cs typeface="+mn-cs"/>
              </a:rPr>
              <a:t> condition</a:t>
            </a:r>
            <a:endParaRPr lang="en-US" sz="1200" b="0" i="0" u="none" strike="noStrike" kern="1200" dirty="0">
              <a:solidFill>
                <a:schemeClr val="tx1"/>
              </a:solidFill>
              <a:effectLst/>
              <a:latin typeface="+mn-lt"/>
              <a:ea typeface="+mn-ea"/>
              <a:cs typeface="+mn-cs"/>
            </a:endParaRPr>
          </a:p>
          <a:p>
            <a:pPr rtl="0" eaLnBrk="1" fontAlgn="t" latinLnBrk="0" hangingPunct="1"/>
            <a:r>
              <a:rPr lang="en-US" sz="1200" b="1" i="0" u="none" strike="noStrike" kern="1200" dirty="0">
                <a:solidFill>
                  <a:schemeClr val="tx1"/>
                </a:solidFill>
                <a:effectLst/>
                <a:latin typeface="+mn-lt"/>
                <a:ea typeface="+mn-ea"/>
                <a:cs typeface="+mn-cs"/>
              </a:rPr>
              <a:t>Input</a:t>
            </a:r>
            <a:r>
              <a:rPr lang="en-US" sz="1200" b="0" i="0" u="none" strike="noStrike" kern="1200" baseline="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rPr>
              <a:t>(A,B,C)</a:t>
            </a:r>
            <a:endParaRPr lang="en-US" sz="1200" b="0" i="0" u="none" strike="noStrike" kern="1200" dirty="0">
              <a:solidFill>
                <a:schemeClr val="tx1"/>
              </a:solidFill>
              <a:effectLst/>
              <a:latin typeface="+mn-lt"/>
              <a:ea typeface="+mn-ea"/>
              <a:cs typeface="+mn-cs"/>
            </a:endParaRPr>
          </a:p>
          <a:p>
            <a:pPr rtl="0" eaLnBrk="1" fontAlgn="auto" latinLnBrk="0" hangingPunct="1"/>
            <a:r>
              <a:rPr lang="en-US" sz="1200" b="1" i="0" u="none" strike="noStrike" kern="1200" dirty="0">
                <a:solidFill>
                  <a:schemeClr val="tx1"/>
                </a:solidFill>
                <a:effectLst/>
                <a:latin typeface="+mn-lt"/>
                <a:ea typeface="+mn-ea"/>
                <a:cs typeface="+mn-cs"/>
              </a:rPr>
              <a:t>Line number executed</a:t>
            </a:r>
            <a:endParaRPr lang="en-US" sz="1200" b="0" i="0" u="none" strike="noStrike" kern="1200" dirty="0">
              <a:solidFill>
                <a:schemeClr val="tx1"/>
              </a:solidFill>
              <a:effectLst/>
              <a:latin typeface="+mn-lt"/>
              <a:ea typeface="+mn-ea"/>
              <a:cs typeface="+mn-cs"/>
            </a:endParaRPr>
          </a:p>
          <a:p>
            <a:pPr rtl="0" eaLnBrk="1" fontAlgn="t" latinLnBrk="0" hangingPunct="1"/>
            <a:r>
              <a:rPr lang="en-US" sz="1200" b="1" i="0" u="none" strike="noStrike" kern="1200" dirty="0">
                <a:solidFill>
                  <a:schemeClr val="tx1"/>
                </a:solidFill>
                <a:effectLst/>
                <a:latin typeface="+mn-lt"/>
                <a:ea typeface="+mn-ea"/>
                <a:cs typeface="+mn-cs"/>
              </a:rPr>
              <a:t>Expected result</a:t>
            </a:r>
            <a:endParaRPr lang="en-US" sz="1200" b="0" i="0" u="none" strike="noStrike"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096873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4.7+4.8</a:t>
            </a:r>
          </a:p>
          <a:p>
            <a:pPr marL="0" indent="0">
              <a:buNone/>
            </a:pPr>
            <a:r>
              <a:rPr lang="en-US" b="1" dirty="0"/>
              <a:t>a. The answer is 4 </a:t>
            </a:r>
            <a:r>
              <a:rPr lang="en-US" dirty="0"/>
              <a:t>because there are three decisions and every outcome has an executable statement in it.</a:t>
            </a:r>
          </a:p>
          <a:p>
            <a:pPr marL="0" indent="0">
              <a:buNone/>
            </a:pPr>
            <a:r>
              <a:rPr lang="en-US" dirty="0"/>
              <a:t>	</a:t>
            </a:r>
            <a:r>
              <a:rPr lang="en-US" b="1" dirty="0" err="1"/>
              <a:t>StudentScore</a:t>
            </a:r>
            <a:r>
              <a:rPr lang="en-US" b="1" dirty="0"/>
              <a:t>&gt;79</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a:t>	</a:t>
            </a:r>
            <a:r>
              <a:rPr lang="en-US" b="1" dirty="0" err="1"/>
              <a:t>StudentScore</a:t>
            </a:r>
            <a:r>
              <a:rPr lang="en-US" b="1" dirty="0"/>
              <a:t>&gt;59 and </a:t>
            </a:r>
            <a:r>
              <a:rPr lang="en-US" b="1" dirty="0" err="1"/>
              <a:t>StudentScore</a:t>
            </a:r>
            <a:r>
              <a:rPr lang="en-US" b="1" dirty="0"/>
              <a:t>&lt;=79</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a:t>	</a:t>
            </a:r>
            <a:r>
              <a:rPr lang="en-US" b="1" dirty="0" err="1"/>
              <a:t>StudentScore</a:t>
            </a:r>
            <a:r>
              <a:rPr lang="en-US" b="1" dirty="0"/>
              <a:t>&gt;39 and </a:t>
            </a:r>
            <a:r>
              <a:rPr lang="en-US" b="1" dirty="0" err="1"/>
              <a:t>StudentScore</a:t>
            </a:r>
            <a:r>
              <a:rPr lang="en-US" b="1" dirty="0"/>
              <a:t>&lt;=59</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a:t>	</a:t>
            </a:r>
            <a:r>
              <a:rPr lang="en-US" b="1" dirty="0" err="1"/>
              <a:t>StudentScore</a:t>
            </a:r>
            <a:r>
              <a:rPr lang="en-US" b="1" dirty="0"/>
              <a:t>&lt;=39</a:t>
            </a:r>
          </a:p>
          <a:p>
            <a:pPr marL="0" indent="0">
              <a:buFont typeface="+mj-lt"/>
              <a:buNone/>
            </a:pPr>
            <a:r>
              <a:rPr lang="en-US" dirty="0"/>
              <a:t>b. 100% statement coverage would not be achieved. </a:t>
            </a:r>
            <a:r>
              <a:rPr lang="en-US" i="1" dirty="0"/>
              <a:t>Statements </a:t>
            </a:r>
            <a:r>
              <a:rPr lang="en-US" b="1" i="1" dirty="0"/>
              <a:t>11</a:t>
            </a:r>
            <a:r>
              <a:rPr lang="en-US" i="1" dirty="0"/>
              <a:t> and </a:t>
            </a:r>
            <a:r>
              <a:rPr lang="en-US" b="1" i="1" dirty="0"/>
              <a:t>14</a:t>
            </a:r>
            <a:r>
              <a:rPr lang="en-US" i="1" dirty="0"/>
              <a:t> would not be exercised because they need inputs higher than 79 and 59 respectively.</a:t>
            </a:r>
          </a:p>
          <a:p>
            <a:pPr marL="0" indent="0">
              <a:buFont typeface="+mj-lt"/>
              <a:buNone/>
            </a:pPr>
            <a:endParaRPr lang="en-US" b="0" i="0" dirty="0"/>
          </a:p>
          <a:p>
            <a:pPr marL="0" indent="0">
              <a:buFont typeface="+mj-lt"/>
              <a:buNone/>
            </a:pPr>
            <a:r>
              <a:rPr lang="en-US" b="0" i="0" dirty="0"/>
              <a:t>Distinction: </a:t>
            </a:r>
            <a:r>
              <a:rPr lang="en-US" b="0" i="0" dirty="0" err="1"/>
              <a:t>xuất</a:t>
            </a:r>
            <a:r>
              <a:rPr lang="en-US" b="0" i="0" baseline="0" dirty="0"/>
              <a:t> </a:t>
            </a:r>
            <a:r>
              <a:rPr lang="en-US" b="0" i="0" baseline="0" dirty="0" err="1"/>
              <a:t>sắc</a:t>
            </a:r>
            <a:endParaRPr lang="en-US" b="0" i="0" baseline="0" dirty="0"/>
          </a:p>
          <a:p>
            <a:pPr marL="0" indent="0">
              <a:buFont typeface="+mj-lt"/>
              <a:buNone/>
            </a:pPr>
            <a:r>
              <a:rPr lang="en-US" sz="1000" b="0" i="0" kern="1200" dirty="0">
                <a:solidFill>
                  <a:srgbClr val="FF0000"/>
                </a:solidFill>
                <a:latin typeface="+mn-lt"/>
                <a:ea typeface="+mn-ea"/>
                <a:cs typeface="+mn-cs"/>
              </a:rPr>
              <a:t>Merit: </a:t>
            </a:r>
            <a:r>
              <a:rPr lang="en-US" sz="1000" b="0" i="0" kern="1200" dirty="0" err="1">
                <a:solidFill>
                  <a:srgbClr val="FF0000"/>
                </a:solidFill>
                <a:latin typeface="+mn-lt"/>
                <a:ea typeface="+mn-ea"/>
                <a:cs typeface="+mn-cs"/>
              </a:rPr>
              <a:t>giỏi</a:t>
            </a:r>
            <a:endParaRPr lang="en-US" b="0" i="0" baseline="0" dirty="0"/>
          </a:p>
          <a:p>
            <a:pPr marL="0" indent="0">
              <a:buFont typeface="+mj-lt"/>
              <a:buNone/>
            </a:pPr>
            <a:endParaRPr lang="en-US" i="1" dirty="0"/>
          </a:p>
        </p:txBody>
      </p:sp>
    </p:spTree>
    <p:extLst>
      <p:ext uri="{BB962C8B-B14F-4D97-AF65-F5344CB8AC3E}">
        <p14:creationId xmlns:p14="http://schemas.microsoft.com/office/powerpoint/2010/main" val="14749969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baseline="0" dirty="0">
                <a:solidFill>
                  <a:schemeClr val="tx1"/>
                </a:solidFill>
                <a:effectLst/>
                <a:latin typeface="+mn-lt"/>
                <a:ea typeface="+mn-ea"/>
                <a:cs typeface="+mn-cs"/>
              </a:rPr>
              <a:t>BAO PHỦ ĐK KO CẦN TÍNH ĐẾN CÁC NHÁNH, CHỈ TEST CHO 1 TH CỦA ĐK MÀ KO TEST CHO TH CÒN LẠI. DO ĐÓ NHIỀU TH QUAN TRỌNG CÓ THỂ BỊ BỎ QUA.</a:t>
            </a:r>
            <a:endParaRPr lang="en-US" sz="1200" b="1" i="0" kern="1200" dirty="0">
              <a:solidFill>
                <a:schemeClr val="tx1"/>
              </a:solidFill>
              <a:effectLst/>
              <a:latin typeface="+mn-lt"/>
              <a:ea typeface="+mn-ea"/>
              <a:cs typeface="+mn-cs"/>
            </a:endParaRP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b="0" i="0" kern="1200" baseline="0" dirty="0" err="1">
                <a:solidFill>
                  <a:schemeClr val="tx1"/>
                </a:solidFill>
                <a:effectLst/>
                <a:latin typeface="+mn-lt"/>
                <a:ea typeface="+mn-ea"/>
                <a:cs typeface="+mn-cs"/>
              </a:rPr>
              <a:t>Vòng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lặp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thể</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chỉ</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lặp</a:t>
            </a:r>
            <a:r>
              <a:rPr lang="en-US" sz="1200" b="0" i="0" kern="1200" baseline="0" dirty="0">
                <a:solidFill>
                  <a:schemeClr val="tx1"/>
                </a:solidFill>
                <a:effectLst/>
                <a:latin typeface="+mn-lt"/>
                <a:ea typeface="+mn-ea"/>
                <a:cs typeface="+mn-cs"/>
              </a:rPr>
              <a:t> 1 </a:t>
            </a:r>
            <a:r>
              <a:rPr lang="en-US" sz="1200" b="0" i="0" kern="1200" baseline="0" dirty="0" err="1">
                <a:solidFill>
                  <a:schemeClr val="tx1"/>
                </a:solidFill>
                <a:effectLst/>
                <a:latin typeface="+mn-lt"/>
                <a:ea typeface="+mn-ea"/>
                <a:cs typeface="+mn-cs"/>
              </a:rPr>
              <a:t>lần</a:t>
            </a:r>
            <a:endParaRPr lang="en-US" sz="1200" b="0" i="0" kern="1200" baseline="0" dirty="0">
              <a:solidFill>
                <a:schemeClr val="tx1"/>
              </a:solidFill>
              <a:effectLst/>
              <a:latin typeface="+mn-l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Loop bodies may only be iterated once</a:t>
            </a:r>
            <a:endParaRPr lang="en-US" sz="1200" b="0" i="0" kern="1200" baseline="0" dirty="0">
              <a:solidFill>
                <a:schemeClr val="tx1"/>
              </a:solidFill>
              <a:effectLst/>
              <a:latin typeface="+mn-lt"/>
              <a:ea typeface="+mn-ea"/>
              <a:cs typeface="+mn-cs"/>
            </a:endParaRPr>
          </a:p>
          <a:p>
            <a:pPr marL="171450" indent="-171450">
              <a:buFontTx/>
              <a:buChar char="-"/>
            </a:pPr>
            <a:r>
              <a:rPr lang="en-US" sz="1200" b="0" i="0" kern="1200" baseline="0" dirty="0" err="1">
                <a:solidFill>
                  <a:schemeClr val="tx1"/>
                </a:solidFill>
                <a:effectLst/>
                <a:latin typeface="+mn-lt"/>
                <a:ea typeface="+mn-ea"/>
                <a:cs typeface="+mn-cs"/>
              </a:rPr>
              <a:t>Vị</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từ</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điều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kiện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thể</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đc</a:t>
            </a:r>
            <a:r>
              <a:rPr lang="en-US" sz="1200" b="0" i="0" kern="1200" baseline="0" dirty="0">
                <a:solidFill>
                  <a:schemeClr val="tx1"/>
                </a:solidFill>
                <a:effectLst/>
                <a:latin typeface="+mn-lt"/>
                <a:ea typeface="+mn-ea"/>
                <a:cs typeface="+mn-cs"/>
              </a:rPr>
              <a:t> test </a:t>
            </a:r>
            <a:r>
              <a:rPr lang="en-US" sz="1200" b="0" i="0" kern="1200" baseline="0" dirty="0" err="1">
                <a:solidFill>
                  <a:schemeClr val="tx1"/>
                </a:solidFill>
                <a:effectLst/>
                <a:latin typeface="+mn-lt"/>
                <a:ea typeface="+mn-ea"/>
                <a:cs typeface="+mn-cs"/>
              </a:rPr>
              <a:t>chỉ</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cho</a:t>
            </a:r>
            <a:r>
              <a:rPr lang="en-US" sz="1200" b="0" i="0" kern="1200" baseline="0" dirty="0">
                <a:solidFill>
                  <a:schemeClr val="tx1"/>
                </a:solidFill>
                <a:effectLst/>
                <a:latin typeface="+mn-lt"/>
                <a:ea typeface="+mn-ea"/>
                <a:cs typeface="+mn-cs"/>
              </a:rPr>
              <a:t> 1 </a:t>
            </a:r>
            <a:r>
              <a:rPr lang="en-US" sz="1200" b="0" i="0" kern="1200" baseline="0" dirty="0" err="1">
                <a:solidFill>
                  <a:schemeClr val="tx1"/>
                </a:solidFill>
                <a:effectLst/>
                <a:latin typeface="+mn-lt"/>
                <a:ea typeface="+mn-ea"/>
                <a:cs typeface="+mn-cs"/>
              </a:rPr>
              <a:t>giá</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trị</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sẽ</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bỏ</a:t>
            </a:r>
            <a:r>
              <a:rPr lang="en-US" sz="1200" b="0" i="0" kern="1200" baseline="0" dirty="0">
                <a:solidFill>
                  <a:schemeClr val="tx1"/>
                </a:solidFill>
                <a:effectLst/>
                <a:latin typeface="+mn-lt"/>
                <a:ea typeface="+mn-ea"/>
                <a:cs typeface="+mn-cs"/>
              </a:rPr>
              <a:t> qua </a:t>
            </a:r>
            <a:r>
              <a:rPr lang="en-US" sz="1200" b="0" i="0" kern="1200" baseline="0" dirty="0" err="1">
                <a:solidFill>
                  <a:schemeClr val="tx1"/>
                </a:solidFill>
                <a:effectLst/>
                <a:latin typeface="+mn-lt"/>
                <a:ea typeface="+mn-ea"/>
                <a:cs typeface="+mn-cs"/>
              </a:rPr>
              <a:t>rất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nhiều</a:t>
            </a:r>
            <a:r>
              <a:rPr lang="en-US" sz="1200" b="0" i="0" kern="1200" baseline="0" dirty="0">
                <a:solidFill>
                  <a:schemeClr val="tx1"/>
                </a:solidFill>
                <a:effectLst/>
                <a:latin typeface="+mn-lt"/>
                <a:ea typeface="+mn-ea"/>
                <a:cs typeface="+mn-cs"/>
              </a:rPr>
              <a:t> bugs)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Predicate may be tested for only one value (misses many bugs)</a:t>
            </a:r>
          </a:p>
          <a:p>
            <a:r>
              <a:rPr lang="en-US" sz="1200" b="0" i="0" kern="1200" dirty="0">
                <a:solidFill>
                  <a:schemeClr val="tx1"/>
                </a:solidFill>
                <a:effectLst/>
                <a:latin typeface="+mn-lt"/>
                <a:ea typeface="+mn-ea"/>
                <a:cs typeface="+mn-cs"/>
              </a:rPr>
              <a:t>Statement coverage does not report whether loops reach their termination condition - only whether the loop body was executed. With C, C++, and Java, this limitation affects loops that contain break statements.</a:t>
            </a:r>
          </a:p>
          <a:p>
            <a:r>
              <a:rPr lang="en-US" sz="1200" b="0" i="0" kern="1200" dirty="0">
                <a:solidFill>
                  <a:schemeClr val="tx1"/>
                </a:solidFill>
                <a:effectLst/>
                <a:latin typeface="+mn-lt"/>
                <a:ea typeface="+mn-ea"/>
                <a:cs typeface="+mn-cs"/>
              </a:rPr>
              <a:t>Since do-while loops always execute at least once, statement coverage considers them the same rank as non-branching statements.</a:t>
            </a:r>
          </a:p>
          <a:p>
            <a:r>
              <a:rPr lang="en-US" sz="1200" b="0" i="0" kern="1200" dirty="0">
                <a:solidFill>
                  <a:schemeClr val="tx1"/>
                </a:solidFill>
                <a:effectLst/>
                <a:latin typeface="+mn-lt"/>
                <a:ea typeface="+mn-ea"/>
                <a:cs typeface="+mn-cs"/>
              </a:rPr>
              <a:t>Statement coverage is completely insensitive to the logical operators (|| and &amp;&amp;).</a:t>
            </a:r>
          </a:p>
          <a:p>
            <a:r>
              <a:rPr lang="en-US" sz="1200" b="0" i="0" kern="1200" dirty="0">
                <a:solidFill>
                  <a:schemeClr val="tx1"/>
                </a:solidFill>
                <a:effectLst/>
                <a:latin typeface="+mn-lt"/>
                <a:ea typeface="+mn-ea"/>
                <a:cs typeface="+mn-cs"/>
              </a:rPr>
              <a:t>Statement coverage cannot distinguish consecutive switch labels.</a:t>
            </a:r>
          </a:p>
        </p:txBody>
      </p:sp>
    </p:spTree>
    <p:extLst>
      <p:ext uri="{BB962C8B-B14F-4D97-AF65-F5344CB8AC3E}">
        <p14:creationId xmlns:p14="http://schemas.microsoft.com/office/powerpoint/2010/main" val="3566713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 Decision testing </a:t>
            </a:r>
            <a:r>
              <a:rPr lang="en-US" sz="1200" b="1" dirty="0" err="1"/>
              <a:t>là</a:t>
            </a:r>
            <a:r>
              <a:rPr lang="en-US" sz="1200" b="1" baseline="0" dirty="0"/>
              <a:t> </a:t>
            </a:r>
            <a:r>
              <a:rPr lang="en-US" sz="1200" b="1" baseline="0" dirty="0" err="1"/>
              <a:t>tk</a:t>
            </a:r>
            <a:r>
              <a:rPr lang="en-US" sz="1200" b="1" baseline="0" dirty="0"/>
              <a:t> test case </a:t>
            </a:r>
            <a:r>
              <a:rPr lang="en-US" sz="1200" b="1" baseline="0" dirty="0" err="1"/>
              <a:t>dựa</a:t>
            </a:r>
            <a:r>
              <a:rPr lang="en-US" sz="1200" b="1" baseline="0" dirty="0"/>
              <a:t> </a:t>
            </a:r>
            <a:r>
              <a:rPr lang="en-US" sz="1200" b="1" baseline="0" dirty="0" err="1"/>
              <a:t>vào</a:t>
            </a:r>
            <a:r>
              <a:rPr lang="en-US" sz="1200" b="1" baseline="0" dirty="0"/>
              <a:t> </a:t>
            </a:r>
            <a:r>
              <a:rPr lang="en-US" sz="1200" b="1" baseline="0" dirty="0" err="1"/>
              <a:t>kết</a:t>
            </a:r>
            <a:r>
              <a:rPr lang="en-US" sz="1200" b="1" baseline="0" dirty="0"/>
              <a:t> </a:t>
            </a:r>
            <a:r>
              <a:rPr lang="en-US" sz="1200" b="1" baseline="0" dirty="0" err="1"/>
              <a:t>quả</a:t>
            </a:r>
            <a:r>
              <a:rPr lang="en-US" sz="1200" b="1" baseline="0" dirty="0"/>
              <a:t> </a:t>
            </a:r>
            <a:r>
              <a:rPr lang="en-US" sz="1200" b="1" baseline="0" dirty="0" err="1"/>
              <a:t>của</a:t>
            </a:r>
            <a:r>
              <a:rPr lang="en-US" sz="1200" b="1" baseline="0" dirty="0"/>
              <a:t> decision</a:t>
            </a:r>
            <a:r>
              <a:rPr lang="en-US" sz="1200" baseline="0" dirty="0"/>
              <a:t> (</a:t>
            </a:r>
            <a:r>
              <a:rPr lang="en-US" sz="1200" b="0" dirty="0"/>
              <a:t>decision outcomes)</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dirty="0"/>
              <a:t>+ Decision: </a:t>
            </a:r>
            <a:r>
              <a:rPr lang="en-US" sz="1200" b="0" dirty="0" err="1"/>
              <a:t>là</a:t>
            </a:r>
            <a:r>
              <a:rPr lang="en-US" sz="1200" b="0" baseline="0" dirty="0"/>
              <a:t> 1 </a:t>
            </a:r>
            <a:r>
              <a:rPr lang="en-US" sz="1200" b="0" baseline="0" dirty="0" err="1"/>
              <a:t>phần</a:t>
            </a:r>
            <a:r>
              <a:rPr lang="en-US" sz="1200" b="0" baseline="0" dirty="0"/>
              <a:t> </a:t>
            </a:r>
            <a:r>
              <a:rPr lang="en-US" sz="1200" b="0" baseline="0" dirty="0" err="1"/>
              <a:t>của</a:t>
            </a:r>
            <a:r>
              <a:rPr lang="en-US" sz="1200" b="0" baseline="0" dirty="0"/>
              <a:t> </a:t>
            </a:r>
            <a:r>
              <a:rPr lang="en-US" sz="1200" b="0" baseline="0" dirty="0" err="1"/>
              <a:t>cấu</a:t>
            </a:r>
            <a:r>
              <a:rPr lang="en-US" sz="1200" b="0" baseline="0" dirty="0"/>
              <a:t> </a:t>
            </a:r>
            <a:r>
              <a:rPr lang="en-US" sz="1200" b="0" baseline="0" dirty="0" err="1"/>
              <a:t>trúc</a:t>
            </a:r>
            <a:r>
              <a:rPr lang="en-US" sz="1200" b="0" baseline="0" dirty="0"/>
              <a:t> </a:t>
            </a:r>
            <a:r>
              <a:rPr lang="en-US" sz="1200" b="0" baseline="0" dirty="0" err="1"/>
              <a:t>chọn</a:t>
            </a:r>
            <a:r>
              <a:rPr lang="en-US" sz="1200" b="0" baseline="0" dirty="0"/>
              <a:t> </a:t>
            </a:r>
            <a:r>
              <a:rPr lang="en-US" sz="1200" b="0" baseline="0" dirty="0" err="1"/>
              <a:t>và</a:t>
            </a:r>
            <a:r>
              <a:rPr lang="en-US" sz="1200" b="0" baseline="0" dirty="0"/>
              <a:t> </a:t>
            </a:r>
            <a:r>
              <a:rPr lang="en-US" sz="1200" b="0" baseline="0" dirty="0" err="1"/>
              <a:t>lặp</a:t>
            </a:r>
            <a:r>
              <a:rPr lang="en-US" sz="1200" b="0" baseline="0" dirty="0"/>
              <a:t>, i.e. </a:t>
            </a:r>
            <a:r>
              <a:rPr lang="en-US" sz="1200" b="0" baseline="0" dirty="0" err="1"/>
              <a:t>là</a:t>
            </a:r>
            <a:r>
              <a:rPr lang="en-US" sz="1200" b="0" baseline="0" dirty="0"/>
              <a:t> </a:t>
            </a:r>
            <a:r>
              <a:rPr lang="en-US" sz="1200" b="0" baseline="0" dirty="0" err="1"/>
              <a:t>toàn</a:t>
            </a:r>
            <a:r>
              <a:rPr lang="en-US" sz="1200" b="0" baseline="0" dirty="0"/>
              <a:t> </a:t>
            </a:r>
            <a:r>
              <a:rPr lang="en-US" sz="1200" b="0" baseline="0" dirty="0" err="1"/>
              <a:t>bộ</a:t>
            </a:r>
            <a:r>
              <a:rPr lang="en-US" sz="1200" b="0" baseline="0" dirty="0"/>
              <a:t> </a:t>
            </a:r>
            <a:r>
              <a:rPr lang="en-US" sz="1200" b="0" baseline="0" dirty="0" err="1"/>
              <a:t>điều</a:t>
            </a:r>
            <a:r>
              <a:rPr lang="en-US" sz="1200" b="0" baseline="0" dirty="0"/>
              <a:t> </a:t>
            </a:r>
            <a:r>
              <a:rPr lang="en-US" sz="1200" b="0" baseline="0" dirty="0" err="1"/>
              <a:t>kiện</a:t>
            </a:r>
            <a:r>
              <a:rPr lang="en-US" sz="1200" b="0" baseline="0" dirty="0"/>
              <a:t> </a:t>
            </a:r>
            <a:r>
              <a:rPr lang="en-US" sz="1200" b="0" baseline="0" dirty="0" err="1"/>
              <a:t>trong</a:t>
            </a:r>
            <a:r>
              <a:rPr lang="en-US" sz="1200" b="0" baseline="0" dirty="0"/>
              <a:t> </a:t>
            </a:r>
            <a:r>
              <a:rPr lang="en-US" sz="1200" b="0" baseline="0" dirty="0" err="1"/>
              <a:t>mỗi</a:t>
            </a:r>
            <a:r>
              <a:rPr lang="en-US" sz="1200" b="0" baseline="0" dirty="0"/>
              <a:t> </a:t>
            </a:r>
            <a:r>
              <a:rPr lang="en-US" sz="1200" b="0" baseline="0" dirty="0" err="1"/>
              <a:t>cấu</a:t>
            </a:r>
            <a:r>
              <a:rPr lang="en-US" sz="1200" b="0" baseline="0" dirty="0"/>
              <a:t> </a:t>
            </a:r>
            <a:r>
              <a:rPr lang="en-US" sz="1200" b="0" baseline="0" dirty="0" err="1"/>
              <a:t>trúc</a:t>
            </a:r>
            <a:r>
              <a:rPr lang="en-US" sz="1200" b="0" baseline="0" dirty="0"/>
              <a:t> </a:t>
            </a:r>
            <a:r>
              <a:rPr lang="en-US" sz="1200" b="1" baseline="0" dirty="0"/>
              <a:t>IF, SWITCH, WHILE, FOR. </a:t>
            </a:r>
            <a:r>
              <a:rPr lang="en-US" sz="1200" b="0" baseline="0" dirty="0" err="1"/>
              <a:t>Tìm</a:t>
            </a:r>
            <a:r>
              <a:rPr lang="en-US" sz="1200" b="0" baseline="0" dirty="0"/>
              <a:t> decision </a:t>
            </a:r>
            <a:r>
              <a:rPr lang="en-US" sz="1200" b="0" baseline="0" dirty="0" err="1"/>
              <a:t>cho</a:t>
            </a:r>
            <a:r>
              <a:rPr lang="en-US" sz="1200" b="0" baseline="0" dirty="0"/>
              <a:t> 2 </a:t>
            </a:r>
            <a:r>
              <a:rPr lang="en-US" sz="1200" b="0" baseline="0" dirty="0" err="1"/>
              <a:t>ví</a:t>
            </a:r>
            <a:r>
              <a:rPr lang="en-US" sz="1200" b="0" baseline="0" dirty="0"/>
              <a:t> </a:t>
            </a:r>
            <a:r>
              <a:rPr lang="en-US" sz="1200" b="0" baseline="0" dirty="0" err="1"/>
              <a:t>dụ</a:t>
            </a:r>
            <a:r>
              <a:rPr lang="en-US" sz="1200" b="0" baseline="0" dirty="0"/>
              <a:t> </a:t>
            </a:r>
            <a:r>
              <a:rPr lang="en-US" sz="1200" b="0" baseline="0" dirty="0" err="1"/>
              <a:t>sau</a:t>
            </a:r>
            <a:r>
              <a:rPr lang="en-US" sz="1200" b="0" baseline="0" dirty="0"/>
              <a:t>... (</a:t>
            </a:r>
            <a:r>
              <a:rPr lang="en-US" sz="1200" b="0" dirty="0" err="1">
                <a:solidFill>
                  <a:prstClr val="black"/>
                </a:solidFill>
                <a:latin typeface="+mn-lt"/>
              </a:rPr>
              <a:t>chú</a:t>
            </a:r>
            <a:r>
              <a:rPr lang="en-US" sz="1200" b="0" baseline="0" dirty="0">
                <a:solidFill>
                  <a:prstClr val="black"/>
                </a:solidFill>
                <a:latin typeface="+mn-lt"/>
              </a:rPr>
              <a:t> ý </a:t>
            </a:r>
            <a:r>
              <a:rPr lang="en-US" sz="1200" b="0" baseline="0" dirty="0" err="1">
                <a:solidFill>
                  <a:prstClr val="black"/>
                </a:solidFill>
                <a:latin typeface="+mn-lt"/>
              </a:rPr>
              <a:t>với</a:t>
            </a:r>
            <a:r>
              <a:rPr lang="en-US" sz="1200" b="0" baseline="0" dirty="0">
                <a:solidFill>
                  <a:prstClr val="black"/>
                </a:solidFill>
                <a:latin typeface="+mn-lt"/>
              </a:rPr>
              <a:t> Decision testing </a:t>
            </a:r>
            <a:r>
              <a:rPr lang="en-US" sz="1200" b="0" baseline="0" dirty="0" err="1">
                <a:solidFill>
                  <a:prstClr val="black"/>
                </a:solidFill>
                <a:latin typeface="+mn-lt"/>
              </a:rPr>
              <a:t>nếu</a:t>
            </a:r>
            <a:r>
              <a:rPr lang="en-US" sz="1200" b="0" baseline="0" dirty="0">
                <a:solidFill>
                  <a:prstClr val="black"/>
                </a:solidFill>
                <a:latin typeface="+mn-lt"/>
              </a:rPr>
              <a:t> </a:t>
            </a:r>
            <a:r>
              <a:rPr lang="en-US" sz="1200" b="0" baseline="0" dirty="0" err="1">
                <a:solidFill>
                  <a:prstClr val="black"/>
                </a:solidFill>
                <a:latin typeface="+mn-lt"/>
              </a:rPr>
              <a:t>có</a:t>
            </a:r>
            <a:r>
              <a:rPr lang="en-US" sz="1200" b="0" baseline="0" dirty="0">
                <a:solidFill>
                  <a:prstClr val="black"/>
                </a:solidFill>
                <a:latin typeface="+mn-lt"/>
              </a:rPr>
              <a:t> </a:t>
            </a:r>
            <a:r>
              <a:rPr lang="en-US" sz="1200" b="0" baseline="0" dirty="0" err="1">
                <a:solidFill>
                  <a:prstClr val="black"/>
                </a:solidFill>
                <a:latin typeface="+mn-lt"/>
              </a:rPr>
              <a:t>nhiều</a:t>
            </a:r>
            <a:r>
              <a:rPr lang="en-US" sz="1200" b="0" baseline="0" dirty="0">
                <a:solidFill>
                  <a:prstClr val="black"/>
                </a:solidFill>
                <a:latin typeface="+mn-lt"/>
              </a:rPr>
              <a:t> </a:t>
            </a:r>
            <a:r>
              <a:rPr lang="en-US" sz="1200" b="0" baseline="0" dirty="0" err="1">
                <a:solidFill>
                  <a:prstClr val="black"/>
                </a:solidFill>
                <a:latin typeface="+mn-lt"/>
              </a:rPr>
              <a:t>điều</a:t>
            </a:r>
            <a:r>
              <a:rPr lang="en-US" sz="1200" b="0" baseline="0" dirty="0">
                <a:solidFill>
                  <a:prstClr val="black"/>
                </a:solidFill>
                <a:latin typeface="+mn-lt"/>
              </a:rPr>
              <a:t> </a:t>
            </a:r>
            <a:r>
              <a:rPr lang="en-US" sz="1200" b="0" baseline="0" dirty="0" err="1">
                <a:solidFill>
                  <a:prstClr val="black"/>
                </a:solidFill>
                <a:latin typeface="+mn-lt"/>
              </a:rPr>
              <a:t>kiện</a:t>
            </a:r>
            <a:r>
              <a:rPr lang="en-US" sz="1200" b="0" baseline="0" dirty="0">
                <a:solidFill>
                  <a:prstClr val="black"/>
                </a:solidFill>
                <a:latin typeface="+mn-lt"/>
              </a:rPr>
              <a:t> (condition) </a:t>
            </a:r>
            <a:r>
              <a:rPr lang="en-US" sz="1200" b="0" baseline="0" dirty="0" err="1">
                <a:solidFill>
                  <a:prstClr val="black"/>
                </a:solidFill>
                <a:latin typeface="+mn-lt"/>
              </a:rPr>
              <a:t>trong</a:t>
            </a:r>
            <a:r>
              <a:rPr lang="en-US" sz="1200" b="0" baseline="0" dirty="0">
                <a:solidFill>
                  <a:prstClr val="black"/>
                </a:solidFill>
                <a:latin typeface="+mn-lt"/>
              </a:rPr>
              <a:t> 1 decision (i.e. </a:t>
            </a:r>
            <a:r>
              <a:rPr lang="en-US" sz="1200" b="0" baseline="0" dirty="0" err="1">
                <a:solidFill>
                  <a:prstClr val="black"/>
                </a:solidFill>
                <a:latin typeface="+mn-lt"/>
              </a:rPr>
              <a:t>chứa</a:t>
            </a:r>
            <a:r>
              <a:rPr lang="en-US" sz="1200" b="0" baseline="0" dirty="0">
                <a:solidFill>
                  <a:prstClr val="black"/>
                </a:solidFill>
                <a:latin typeface="+mn-lt"/>
              </a:rPr>
              <a:t> </a:t>
            </a:r>
            <a:r>
              <a:rPr lang="en-US" sz="1200" b="0" baseline="0" dirty="0" err="1">
                <a:solidFill>
                  <a:prstClr val="black"/>
                </a:solidFill>
                <a:latin typeface="+mn-lt"/>
              </a:rPr>
              <a:t>các</a:t>
            </a:r>
            <a:r>
              <a:rPr lang="en-US" sz="1200" b="0" baseline="0" dirty="0">
                <a:solidFill>
                  <a:prstClr val="black"/>
                </a:solidFill>
                <a:latin typeface="+mn-lt"/>
              </a:rPr>
              <a:t> </a:t>
            </a:r>
            <a:r>
              <a:rPr lang="en-US" sz="1200" b="0" baseline="0" dirty="0" err="1">
                <a:solidFill>
                  <a:prstClr val="black"/>
                </a:solidFill>
                <a:latin typeface="+mn-lt"/>
              </a:rPr>
              <a:t>toán</a:t>
            </a:r>
            <a:r>
              <a:rPr lang="en-US" sz="1200" b="0" baseline="0" dirty="0">
                <a:solidFill>
                  <a:prstClr val="black"/>
                </a:solidFill>
                <a:latin typeface="+mn-lt"/>
              </a:rPr>
              <a:t> </a:t>
            </a:r>
            <a:r>
              <a:rPr lang="en-US" sz="1200" b="0" baseline="0" dirty="0" err="1">
                <a:solidFill>
                  <a:prstClr val="black"/>
                </a:solidFill>
                <a:latin typeface="+mn-lt"/>
              </a:rPr>
              <a:t>tử</a:t>
            </a:r>
            <a:r>
              <a:rPr lang="en-US" sz="1200" b="0" baseline="0" dirty="0">
                <a:solidFill>
                  <a:prstClr val="black"/>
                </a:solidFill>
                <a:latin typeface="+mn-lt"/>
              </a:rPr>
              <a:t> logic &amp; ||) </a:t>
            </a:r>
            <a:r>
              <a:rPr lang="en-US" sz="1200" b="0" baseline="0" dirty="0" err="1">
                <a:solidFill>
                  <a:prstClr val="black"/>
                </a:solidFill>
                <a:latin typeface="+mn-lt"/>
              </a:rPr>
              <a:t>thì</a:t>
            </a:r>
            <a:r>
              <a:rPr lang="en-US" sz="1200" b="0" baseline="0" dirty="0">
                <a:solidFill>
                  <a:prstClr val="black"/>
                </a:solidFill>
                <a:latin typeface="+mn-lt"/>
              </a:rPr>
              <a:t> </a:t>
            </a:r>
            <a:r>
              <a:rPr lang="en-US" sz="1200" b="0" baseline="0" dirty="0" err="1">
                <a:solidFill>
                  <a:prstClr val="black"/>
                </a:solidFill>
                <a:latin typeface="+mn-lt"/>
              </a:rPr>
              <a:t>tính</a:t>
            </a:r>
            <a:r>
              <a:rPr lang="en-US" sz="1200" b="0" baseline="0" dirty="0">
                <a:solidFill>
                  <a:prstClr val="black"/>
                </a:solidFill>
                <a:latin typeface="+mn-lt"/>
              </a:rPr>
              <a:t> </a:t>
            </a:r>
            <a:r>
              <a:rPr lang="en-US" sz="1200" b="0" baseline="0" dirty="0" err="1">
                <a:solidFill>
                  <a:prstClr val="black"/>
                </a:solidFill>
                <a:latin typeface="+mn-lt"/>
              </a:rPr>
              <a:t>trên</a:t>
            </a:r>
            <a:r>
              <a:rPr lang="en-US" sz="1200" b="0" baseline="0" dirty="0">
                <a:solidFill>
                  <a:prstClr val="black"/>
                </a:solidFill>
                <a:latin typeface="+mn-lt"/>
              </a:rPr>
              <a:t> </a:t>
            </a:r>
            <a:r>
              <a:rPr lang="en-US" sz="1200" b="0" baseline="0" dirty="0" err="1">
                <a:solidFill>
                  <a:prstClr val="black"/>
                </a:solidFill>
                <a:latin typeface="+mn-lt"/>
              </a:rPr>
              <a:t>cả</a:t>
            </a:r>
            <a:r>
              <a:rPr lang="en-US" sz="1200" b="0" baseline="0" dirty="0">
                <a:solidFill>
                  <a:prstClr val="black"/>
                </a:solidFill>
                <a:latin typeface="+mn-lt"/>
              </a:rPr>
              <a:t> </a:t>
            </a:r>
            <a:r>
              <a:rPr lang="en-US" sz="1200" b="0" baseline="0" dirty="0" err="1">
                <a:solidFill>
                  <a:prstClr val="black"/>
                </a:solidFill>
                <a:latin typeface="+mn-lt"/>
              </a:rPr>
              <a:t>biểu</a:t>
            </a:r>
            <a:r>
              <a:rPr lang="en-US" sz="1200" b="0" baseline="0" dirty="0">
                <a:solidFill>
                  <a:prstClr val="black"/>
                </a:solidFill>
                <a:latin typeface="+mn-lt"/>
              </a:rPr>
              <a:t> </a:t>
            </a:r>
            <a:r>
              <a:rPr lang="en-US" sz="1200" b="0" baseline="0" dirty="0" err="1">
                <a:solidFill>
                  <a:prstClr val="black"/>
                </a:solidFill>
                <a:latin typeface="+mn-lt"/>
              </a:rPr>
              <a:t>thức</a:t>
            </a:r>
            <a:r>
              <a:rPr lang="en-US" sz="1200" b="0" baseline="0" dirty="0">
                <a:solidFill>
                  <a:prstClr val="black"/>
                </a:solidFill>
                <a:latin typeface="+mn-lt"/>
              </a:rPr>
              <a:t> </a:t>
            </a:r>
            <a:r>
              <a:rPr lang="en-US" sz="1200" b="0" baseline="0" dirty="0" err="1">
                <a:solidFill>
                  <a:prstClr val="black"/>
                </a:solidFill>
                <a:latin typeface="+mn-lt"/>
              </a:rPr>
              <a:t>lớn</a:t>
            </a:r>
            <a:r>
              <a:rPr lang="en-US" sz="1200" b="0" baseline="0" dirty="0">
                <a:solidFill>
                  <a:prstClr val="black"/>
                </a:solidFill>
                <a:latin typeface="+mn-lt"/>
              </a:rPr>
              <a:t>)</a:t>
            </a:r>
            <a:r>
              <a:rPr lang="en-US" sz="1200" b="0" i="0" kern="1200" dirty="0">
                <a:solidFill>
                  <a:schemeClr val="tx1"/>
                </a:solidFill>
                <a:effectLst/>
                <a:latin typeface="+mn-lt"/>
                <a:ea typeface="+mn-ea"/>
                <a:cs typeface="+mn-cs"/>
              </a:rPr>
              <a:t>.</a:t>
            </a:r>
            <a:endParaRPr lang="en-US" sz="1200" b="0" baseline="0" dirty="0"/>
          </a:p>
          <a:p>
            <a:pPr marL="457200" marR="0" lvl="1" indent="0" algn="l" defTabSz="914400" rtl="0" eaLnBrk="1" fontAlgn="auto" latinLnBrk="0" hangingPunct="1">
              <a:lnSpc>
                <a:spcPct val="100000"/>
              </a:lnSpc>
              <a:spcBef>
                <a:spcPts val="0"/>
              </a:spcBef>
              <a:spcAft>
                <a:spcPts val="0"/>
              </a:spcAft>
              <a:buClrTx/>
              <a:buSzTx/>
              <a:buFontTx/>
              <a:buNone/>
              <a:tabLst/>
              <a:defRPr/>
            </a:pPr>
            <a:r>
              <a:rPr lang="en-US" u="none" dirty="0"/>
              <a:t>+ Decision outcome: </a:t>
            </a:r>
            <a:r>
              <a:rPr lang="en-US" u="none" dirty="0" err="1"/>
              <a:t>mỗi</a:t>
            </a:r>
            <a:r>
              <a:rPr lang="en-US" u="none" baseline="0" dirty="0"/>
              <a:t> </a:t>
            </a:r>
            <a:r>
              <a:rPr lang="en-US" u="none" baseline="0" dirty="0" err="1"/>
              <a:t>đầu</a:t>
            </a:r>
            <a:r>
              <a:rPr lang="en-US" u="none" baseline="0" dirty="0"/>
              <a:t> </a:t>
            </a:r>
            <a:r>
              <a:rPr lang="en-US" u="none" baseline="0" dirty="0" err="1"/>
              <a:t>ra</a:t>
            </a:r>
            <a:r>
              <a:rPr lang="en-US" u="none" baseline="0" dirty="0"/>
              <a:t> </a:t>
            </a:r>
            <a:r>
              <a:rPr lang="en-US" u="none" baseline="0" dirty="0" err="1"/>
              <a:t>từ</a:t>
            </a:r>
            <a:r>
              <a:rPr lang="en-US" u="none" baseline="0" dirty="0"/>
              <a:t> 1 decision</a:t>
            </a:r>
            <a:endParaRPr lang="en-US" sz="1200" b="0" u="none" dirty="0"/>
          </a:p>
          <a:p>
            <a:pPr marL="914400" marR="0" lvl="2" indent="0" algn="l" defTabSz="914400" rtl="0" eaLnBrk="1" fontAlgn="auto" latinLnBrk="0" hangingPunct="1">
              <a:lnSpc>
                <a:spcPct val="100000"/>
              </a:lnSpc>
              <a:spcBef>
                <a:spcPts val="0"/>
              </a:spcBef>
              <a:spcAft>
                <a:spcPts val="0"/>
              </a:spcAft>
              <a:buClrTx/>
              <a:buSzTx/>
              <a:buFontTx/>
              <a:buNone/>
              <a:tabLst/>
              <a:defRPr/>
            </a:pPr>
            <a:r>
              <a:rPr lang="en-US" b="0" dirty="0"/>
              <a:t>* e.g. </a:t>
            </a:r>
            <a:r>
              <a:rPr lang="en-US" b="0" dirty="0" err="1"/>
              <a:t>Với</a:t>
            </a:r>
            <a:r>
              <a:rPr lang="en-US" b="0" baseline="0" dirty="0"/>
              <a:t> </a:t>
            </a:r>
            <a:r>
              <a:rPr lang="en-US" b="0" baseline="0" dirty="0" err="1"/>
              <a:t>câu</a:t>
            </a:r>
            <a:r>
              <a:rPr lang="en-US" b="0" baseline="0" dirty="0"/>
              <a:t> </a:t>
            </a:r>
            <a:r>
              <a:rPr lang="en-US" b="0" baseline="0" dirty="0" err="1"/>
              <a:t>lệnh</a:t>
            </a:r>
            <a:r>
              <a:rPr lang="en-US" b="0" baseline="0" dirty="0"/>
              <a:t> </a:t>
            </a:r>
            <a:r>
              <a:rPr lang="en-US" b="0" dirty="0"/>
              <a:t>IF, </a:t>
            </a:r>
            <a:r>
              <a:rPr lang="en-US" b="0" dirty="0" err="1"/>
              <a:t>đầu</a:t>
            </a:r>
            <a:r>
              <a:rPr lang="en-US" b="0" baseline="0" dirty="0"/>
              <a:t> </a:t>
            </a:r>
            <a:r>
              <a:rPr lang="en-US" b="0" baseline="0" dirty="0" err="1"/>
              <a:t>ra</a:t>
            </a:r>
            <a:r>
              <a:rPr lang="en-US" b="0" baseline="0" dirty="0"/>
              <a:t> (</a:t>
            </a:r>
            <a:r>
              <a:rPr lang="en-US" b="0" dirty="0"/>
              <a:t>exit)</a:t>
            </a:r>
            <a:r>
              <a:rPr lang="en-US" b="0" baseline="0" dirty="0"/>
              <a:t> </a:t>
            </a:r>
            <a:r>
              <a:rPr lang="en-US" b="0" baseline="0" dirty="0" err="1"/>
              <a:t>của</a:t>
            </a:r>
            <a:r>
              <a:rPr lang="en-US" b="0" baseline="0" dirty="0"/>
              <a:t> </a:t>
            </a:r>
            <a:r>
              <a:rPr lang="en-US" b="0" baseline="0" dirty="0" err="1"/>
              <a:t>điều</a:t>
            </a:r>
            <a:r>
              <a:rPr lang="en-US" b="0" baseline="0" dirty="0"/>
              <a:t> </a:t>
            </a:r>
            <a:r>
              <a:rPr lang="en-US" b="0" baseline="0" dirty="0" err="1"/>
              <a:t>kiện</a:t>
            </a:r>
            <a:r>
              <a:rPr lang="en-US" b="0" baseline="0" dirty="0"/>
              <a:t> </a:t>
            </a:r>
            <a:r>
              <a:rPr lang="en-US" b="0" baseline="0" dirty="0" err="1"/>
              <a:t>hoặc</a:t>
            </a:r>
            <a:r>
              <a:rPr lang="en-US" b="0" baseline="0" dirty="0"/>
              <a:t> </a:t>
            </a:r>
            <a:r>
              <a:rPr lang="en-US" b="0" baseline="0" dirty="0" err="1"/>
              <a:t>là</a:t>
            </a:r>
            <a:r>
              <a:rPr lang="en-US" b="0" dirty="0"/>
              <a:t> TRUE </a:t>
            </a:r>
            <a:r>
              <a:rPr lang="en-US" b="0" dirty="0" err="1"/>
              <a:t>hoặc</a:t>
            </a:r>
            <a:r>
              <a:rPr lang="en-US" b="0" baseline="0" dirty="0"/>
              <a:t> </a:t>
            </a:r>
            <a:r>
              <a:rPr lang="en-US" b="0" baseline="0" dirty="0" err="1"/>
              <a:t>là</a:t>
            </a:r>
            <a:r>
              <a:rPr lang="en-US" b="0" dirty="0"/>
              <a:t> FALSE, </a:t>
            </a:r>
            <a:r>
              <a:rPr lang="en-US" b="0" dirty="0" err="1"/>
              <a:t>như</a:t>
            </a:r>
            <a:r>
              <a:rPr lang="en-US" b="0" baseline="0" dirty="0"/>
              <a:t> </a:t>
            </a:r>
            <a:r>
              <a:rPr lang="en-US" b="0" baseline="0" dirty="0" err="1"/>
              <a:t>vậy</a:t>
            </a:r>
            <a:r>
              <a:rPr lang="en-US" b="0" baseline="0" dirty="0"/>
              <a:t> </a:t>
            </a:r>
            <a:r>
              <a:rPr lang="en-US" b="0" baseline="0" dirty="0" err="1"/>
              <a:t>mỗi</a:t>
            </a:r>
            <a:r>
              <a:rPr lang="en-US" b="0" dirty="0"/>
              <a:t> </a:t>
            </a:r>
            <a:r>
              <a:rPr lang="en-US" b="0" dirty="0" err="1"/>
              <a:t>đầu</a:t>
            </a:r>
            <a:r>
              <a:rPr lang="en-US" b="0" baseline="0" dirty="0"/>
              <a:t> </a:t>
            </a:r>
            <a:r>
              <a:rPr lang="en-US" b="0" baseline="0" dirty="0" err="1"/>
              <a:t>ra</a:t>
            </a:r>
            <a:r>
              <a:rPr lang="en-US" b="0" baseline="0" dirty="0"/>
              <a:t> </a:t>
            </a:r>
            <a:r>
              <a:rPr lang="en-US" b="0" baseline="0" dirty="0" err="1"/>
              <a:t>từ</a:t>
            </a:r>
            <a:r>
              <a:rPr lang="en-US" b="0" baseline="0" dirty="0"/>
              <a:t> 1 decision </a:t>
            </a:r>
            <a:r>
              <a:rPr lang="en-US" b="0" baseline="0" dirty="0" err="1"/>
              <a:t>đc</a:t>
            </a:r>
            <a:r>
              <a:rPr lang="en-US" b="0" baseline="0" dirty="0"/>
              <a:t> </a:t>
            </a:r>
            <a:r>
              <a:rPr lang="en-US" b="0" baseline="0" dirty="0" err="1"/>
              <a:t>xem</a:t>
            </a:r>
            <a:r>
              <a:rPr lang="en-US" b="0" baseline="0" dirty="0"/>
              <a:t> </a:t>
            </a:r>
            <a:r>
              <a:rPr lang="en-US" b="0" baseline="0" dirty="0" err="1"/>
              <a:t>là</a:t>
            </a:r>
            <a:r>
              <a:rPr lang="en-US" b="0" baseline="0" dirty="0"/>
              <a:t> </a:t>
            </a:r>
            <a:r>
              <a:rPr lang="en-US" b="0" baseline="0" dirty="0" err="1"/>
              <a:t>một</a:t>
            </a:r>
            <a:r>
              <a:rPr lang="en-US" b="0" dirty="0"/>
              <a:t> decision outcome. </a:t>
            </a:r>
            <a:r>
              <a:rPr lang="en-US" b="0" i="1" dirty="0" err="1"/>
              <a:t>Có</a:t>
            </a:r>
            <a:r>
              <a:rPr lang="en-US" b="0" i="1" baseline="0" dirty="0"/>
              <a:t> 2 test case </a:t>
            </a:r>
            <a:r>
              <a:rPr lang="en-US" b="0" i="1" baseline="0" dirty="0" err="1"/>
              <a:t>cho</a:t>
            </a:r>
            <a:r>
              <a:rPr lang="en-US" b="0" i="1" baseline="0" dirty="0"/>
              <a:t> vd1 </a:t>
            </a:r>
            <a:r>
              <a:rPr lang="en-US" b="0" i="1" baseline="0" dirty="0" err="1"/>
              <a:t>là</a:t>
            </a:r>
            <a:r>
              <a:rPr lang="en-US" b="0" i="1" baseline="0" dirty="0"/>
              <a:t>: A&gt;1=true </a:t>
            </a:r>
            <a:r>
              <a:rPr lang="en-US" b="0" i="1" baseline="0" dirty="0" err="1"/>
              <a:t>và</a:t>
            </a:r>
            <a:r>
              <a:rPr lang="en-US" b="0" i="1" baseline="0" dirty="0"/>
              <a:t> A&gt;1=false.</a:t>
            </a:r>
            <a:endParaRPr lang="en-US" b="0" i="1" dirty="0"/>
          </a:p>
          <a:p>
            <a:pPr marL="914400" marR="0" lvl="2" indent="0" algn="l" defTabSz="914400" rtl="0" eaLnBrk="1" fontAlgn="auto" latinLnBrk="0" hangingPunct="1">
              <a:lnSpc>
                <a:spcPct val="100000"/>
              </a:lnSpc>
              <a:spcBef>
                <a:spcPts val="0"/>
              </a:spcBef>
              <a:spcAft>
                <a:spcPts val="0"/>
              </a:spcAft>
              <a:buClrTx/>
              <a:buSzTx/>
              <a:buFontTx/>
              <a:buNone/>
              <a:tabLst/>
              <a:defRPr/>
            </a:pPr>
            <a:r>
              <a:rPr lang="en-US" b="0" dirty="0"/>
              <a:t>* </a:t>
            </a:r>
            <a:r>
              <a:rPr lang="en-US" b="0" dirty="0" err="1"/>
              <a:t>có</a:t>
            </a:r>
            <a:r>
              <a:rPr lang="en-US" b="0" baseline="0" dirty="0"/>
              <a:t> </a:t>
            </a:r>
            <a:r>
              <a:rPr lang="en-US" b="0" baseline="0" dirty="0" err="1"/>
              <a:t>thể</a:t>
            </a:r>
            <a:r>
              <a:rPr lang="en-US" b="0" baseline="0" dirty="0"/>
              <a:t> </a:t>
            </a:r>
            <a:r>
              <a:rPr lang="en-US" b="0" baseline="0" dirty="0" err="1"/>
              <a:t>có</a:t>
            </a:r>
            <a:r>
              <a:rPr lang="en-US" b="0" baseline="0" dirty="0"/>
              <a:t> 2 hay </a:t>
            </a:r>
            <a:r>
              <a:rPr lang="en-US" b="0" baseline="0" dirty="0" err="1"/>
              <a:t>nhiều</a:t>
            </a:r>
            <a:r>
              <a:rPr lang="en-US" b="0" baseline="0" dirty="0"/>
              <a:t> </a:t>
            </a:r>
            <a:r>
              <a:rPr lang="en-US" b="0" baseline="0" dirty="0" err="1"/>
              <a:t>hơn</a:t>
            </a:r>
            <a:r>
              <a:rPr lang="en-US" b="0" baseline="0" dirty="0"/>
              <a:t> decision outcome </a:t>
            </a:r>
            <a:r>
              <a:rPr lang="en-US" b="0" baseline="0" dirty="0" err="1"/>
              <a:t>cho</a:t>
            </a:r>
            <a:r>
              <a:rPr lang="en-US" b="0" baseline="0" dirty="0"/>
              <a:t> 1 decision </a:t>
            </a:r>
            <a:r>
              <a:rPr lang="en-US" b="1" baseline="0" dirty="0"/>
              <a:t>(</a:t>
            </a:r>
            <a:r>
              <a:rPr lang="en-US" b="1" baseline="0" dirty="0" err="1"/>
              <a:t>trường</a:t>
            </a:r>
            <a:r>
              <a:rPr lang="en-US" b="1" baseline="0" dirty="0"/>
              <a:t> </a:t>
            </a:r>
            <a:r>
              <a:rPr lang="en-US" b="1" baseline="0" dirty="0" err="1"/>
              <a:t>hợp</a:t>
            </a:r>
            <a:r>
              <a:rPr lang="en-US" b="1" baseline="0" dirty="0"/>
              <a:t> SWITCH---CASE)</a:t>
            </a:r>
            <a:endParaRPr lang="en-US" b="1" dirty="0"/>
          </a:p>
          <a:p>
            <a:pPr marL="914400" marR="0" lvl="2" indent="0" algn="l" defTabSz="914400" rtl="0" eaLnBrk="1" fontAlgn="auto" latinLnBrk="0" hangingPunct="1">
              <a:lnSpc>
                <a:spcPct val="100000"/>
              </a:lnSpc>
              <a:spcBef>
                <a:spcPts val="0"/>
              </a:spcBef>
              <a:spcAft>
                <a:spcPts val="0"/>
              </a:spcAft>
              <a:buClrTx/>
              <a:buSzTx/>
              <a:buFontTx/>
              <a:buNone/>
              <a:tabLst/>
              <a:defRPr/>
            </a:pPr>
            <a:r>
              <a:rPr lang="en-US" b="1" dirty="0"/>
              <a:t>* </a:t>
            </a:r>
            <a:r>
              <a:rPr lang="en-US" b="1" dirty="0" err="1"/>
              <a:t>Như</a:t>
            </a:r>
            <a:r>
              <a:rPr lang="en-US" b="1" baseline="0" dirty="0"/>
              <a:t> </a:t>
            </a:r>
            <a:r>
              <a:rPr lang="en-US" b="1" baseline="0" dirty="0" err="1"/>
              <a:t>vậy</a:t>
            </a:r>
            <a:r>
              <a:rPr lang="en-US" b="1" baseline="0" dirty="0"/>
              <a:t>, </a:t>
            </a:r>
            <a:r>
              <a:rPr lang="en-US" sz="1200" b="1" dirty="0"/>
              <a:t>Decision testing </a:t>
            </a:r>
            <a:r>
              <a:rPr lang="en-US" sz="1200" b="1" dirty="0" err="1"/>
              <a:t>là</a:t>
            </a:r>
            <a:r>
              <a:rPr lang="en-US" sz="1200" b="1" baseline="0" dirty="0"/>
              <a:t> </a:t>
            </a:r>
            <a:r>
              <a:rPr lang="en-US" sz="1200" b="1" baseline="0" dirty="0" err="1"/>
              <a:t>dựa</a:t>
            </a:r>
            <a:r>
              <a:rPr lang="en-US" sz="1200" b="1" baseline="0" dirty="0"/>
              <a:t> </a:t>
            </a:r>
            <a:r>
              <a:rPr lang="en-US" sz="1200" b="1" baseline="0" dirty="0" err="1"/>
              <a:t>vào</a:t>
            </a:r>
            <a:r>
              <a:rPr lang="en-US" sz="1200" b="1" baseline="0" dirty="0"/>
              <a:t> </a:t>
            </a:r>
            <a:r>
              <a:rPr lang="en-US" sz="1200" b="1" baseline="0" dirty="0" err="1"/>
              <a:t>tính</a:t>
            </a:r>
            <a:r>
              <a:rPr lang="en-US" sz="1200" b="1" baseline="0" dirty="0"/>
              <a:t> </a:t>
            </a:r>
            <a:r>
              <a:rPr lang="en-US" sz="1200" b="1" baseline="0" dirty="0" err="1"/>
              <a:t>toán</a:t>
            </a:r>
            <a:r>
              <a:rPr lang="en-US" sz="1200" b="1" baseline="0" dirty="0"/>
              <a:t> </a:t>
            </a:r>
            <a:r>
              <a:rPr lang="en-US" sz="1200" b="1" baseline="0" dirty="0" err="1"/>
              <a:t>kết</a:t>
            </a:r>
            <a:r>
              <a:rPr lang="en-US" sz="1200" b="1" baseline="0" dirty="0"/>
              <a:t> </a:t>
            </a:r>
            <a:r>
              <a:rPr lang="en-US" sz="1200" b="1" baseline="0" dirty="0" err="1"/>
              <a:t>quả</a:t>
            </a:r>
            <a:r>
              <a:rPr lang="en-US" sz="1200" b="1" baseline="0" dirty="0"/>
              <a:t> </a:t>
            </a:r>
            <a:r>
              <a:rPr lang="en-US" sz="1200" b="1" baseline="0" dirty="0" err="1"/>
              <a:t>của</a:t>
            </a:r>
            <a:r>
              <a:rPr lang="en-US" sz="1200" b="1" baseline="0" dirty="0"/>
              <a:t> decision outcome: </a:t>
            </a:r>
            <a:r>
              <a:rPr lang="en-US" sz="1200" b="1" u="sng" baseline="0" dirty="0" err="1"/>
              <a:t>tính</a:t>
            </a:r>
            <a:r>
              <a:rPr lang="en-US" sz="1200" b="1" u="sng" baseline="0" dirty="0"/>
              <a:t> </a:t>
            </a:r>
            <a:r>
              <a:rPr lang="en-US" sz="1200" b="1" u="sng" baseline="0" dirty="0" err="1"/>
              <a:t>xem</a:t>
            </a:r>
            <a:r>
              <a:rPr lang="en-US" sz="1200" b="1" u="sng" baseline="0" dirty="0"/>
              <a:t> </a:t>
            </a:r>
            <a:r>
              <a:rPr lang="en-US" sz="1200" b="1" u="sng" baseline="0" dirty="0" err="1"/>
              <a:t>có</a:t>
            </a:r>
            <a:r>
              <a:rPr lang="en-US" sz="1200" b="1" u="sng" baseline="0" dirty="0"/>
              <a:t> bao </a:t>
            </a:r>
            <a:r>
              <a:rPr lang="en-US" sz="1200" b="1" u="sng" baseline="0" dirty="0" err="1"/>
              <a:t>nhiêu</a:t>
            </a:r>
            <a:r>
              <a:rPr lang="en-US" sz="1200" b="1" u="sng" baseline="0" dirty="0"/>
              <a:t> decision outcome, </a:t>
            </a:r>
            <a:r>
              <a:rPr lang="en-US" sz="1200" b="1" u="sng" baseline="0" dirty="0" err="1"/>
              <a:t>có</a:t>
            </a:r>
            <a:r>
              <a:rPr lang="en-US" sz="1200" b="1" u="sng" baseline="0" dirty="0"/>
              <a:t> bao </a:t>
            </a:r>
            <a:r>
              <a:rPr lang="en-US" sz="1200" b="1" u="sng" baseline="0" dirty="0" err="1"/>
              <a:t>nhiêu</a:t>
            </a:r>
            <a:r>
              <a:rPr lang="en-US" sz="1200" b="1" u="sng" baseline="0" dirty="0"/>
              <a:t> </a:t>
            </a:r>
            <a:r>
              <a:rPr lang="en-US" sz="1200" b="1" u="sng" baseline="0" dirty="0" err="1"/>
              <a:t>đc</a:t>
            </a:r>
            <a:r>
              <a:rPr lang="en-US" sz="1200" b="1" u="sng" baseline="0" dirty="0"/>
              <a:t> </a:t>
            </a:r>
            <a:r>
              <a:rPr lang="en-US" sz="1200" b="1" u="sng" baseline="0" dirty="0" err="1"/>
              <a:t>thi</a:t>
            </a:r>
            <a:r>
              <a:rPr lang="en-US" sz="1200" b="1" u="sng" baseline="0" dirty="0"/>
              <a:t> </a:t>
            </a:r>
            <a:r>
              <a:rPr lang="en-US" sz="1200" b="1" u="sng" baseline="0" dirty="0" err="1"/>
              <a:t>hành</a:t>
            </a:r>
            <a:r>
              <a:rPr lang="en-US" sz="1200" b="1" baseline="0" dirty="0"/>
              <a:t>. </a:t>
            </a:r>
            <a:r>
              <a:rPr lang="en-US" sz="1200" b="1" baseline="0" dirty="0" err="1"/>
              <a:t>V</a:t>
            </a:r>
            <a:r>
              <a:rPr lang="en-US" b="1" baseline="0" dirty="0" err="1"/>
              <a:t>ới</a:t>
            </a:r>
            <a:r>
              <a:rPr lang="en-US" b="1" baseline="0" dirty="0"/>
              <a:t> CFG </a:t>
            </a:r>
            <a:r>
              <a:rPr lang="en-US" b="1" baseline="0" dirty="0" err="1"/>
              <a:t>như</a:t>
            </a:r>
            <a:r>
              <a:rPr lang="en-US" b="1" baseline="0" dirty="0"/>
              <a:t> </a:t>
            </a:r>
            <a:r>
              <a:rPr lang="en-US" b="1" baseline="0" dirty="0" err="1"/>
              <a:t>hình</a:t>
            </a:r>
            <a:r>
              <a:rPr lang="en-US" b="1" baseline="0" dirty="0"/>
              <a:t>, </a:t>
            </a:r>
            <a:r>
              <a:rPr lang="en-US" b="1" baseline="0" dirty="0" err="1"/>
              <a:t>khi</a:t>
            </a:r>
            <a:r>
              <a:rPr lang="en-US" b="1" baseline="0" dirty="0"/>
              <a:t> </a:t>
            </a:r>
            <a:r>
              <a:rPr lang="en-US" b="1" baseline="0" dirty="0" err="1"/>
              <a:t>cần</a:t>
            </a:r>
            <a:r>
              <a:rPr lang="en-US" b="1" baseline="0" dirty="0"/>
              <a:t> </a:t>
            </a:r>
            <a:r>
              <a:rPr lang="en-US" b="1" baseline="0" dirty="0" err="1"/>
              <a:t>biết</a:t>
            </a:r>
            <a:r>
              <a:rPr lang="en-US" b="1" baseline="0" dirty="0"/>
              <a:t> </a:t>
            </a:r>
            <a:r>
              <a:rPr lang="en-US" b="1" baseline="0" dirty="0" err="1"/>
              <a:t>có</a:t>
            </a:r>
            <a:r>
              <a:rPr lang="en-US" b="1" baseline="0" dirty="0"/>
              <a:t> </a:t>
            </a:r>
            <a:r>
              <a:rPr lang="en-US" b="1" baseline="0" dirty="0" err="1"/>
              <a:t>đi</a:t>
            </a:r>
            <a:r>
              <a:rPr lang="en-US" b="1" baseline="0" dirty="0"/>
              <a:t> qua </a:t>
            </a:r>
            <a:r>
              <a:rPr lang="en-US" b="1" baseline="0" dirty="0" err="1"/>
              <a:t>đc</a:t>
            </a:r>
            <a:r>
              <a:rPr lang="en-US" b="1" baseline="0" dirty="0"/>
              <a:t> </a:t>
            </a:r>
            <a:r>
              <a:rPr lang="en-US" b="1" baseline="0" dirty="0" err="1"/>
              <a:t>hết</a:t>
            </a:r>
            <a:r>
              <a:rPr lang="en-US" b="1" baseline="0" dirty="0"/>
              <a:t> </a:t>
            </a:r>
            <a:r>
              <a:rPr lang="en-US" b="1" baseline="0" dirty="0" err="1"/>
              <a:t>các</a:t>
            </a:r>
            <a:r>
              <a:rPr lang="en-US" b="1" baseline="0" dirty="0"/>
              <a:t> decision outcome hay </a:t>
            </a:r>
            <a:r>
              <a:rPr lang="en-US" b="1" baseline="0" dirty="0" err="1"/>
              <a:t>không</a:t>
            </a:r>
            <a:r>
              <a:rPr lang="en-US" b="1" baseline="0" dirty="0"/>
              <a:t> </a:t>
            </a:r>
            <a:r>
              <a:rPr lang="en-US" b="1" baseline="0" dirty="0" err="1"/>
              <a:t>cta</a:t>
            </a:r>
            <a:r>
              <a:rPr lang="en-US" b="1" baseline="0" dirty="0"/>
              <a:t> </a:t>
            </a:r>
            <a:r>
              <a:rPr lang="en-US" b="1" baseline="0" dirty="0" err="1"/>
              <a:t>phải</a:t>
            </a:r>
            <a:r>
              <a:rPr lang="en-US" b="1" baseline="0" dirty="0"/>
              <a:t> </a:t>
            </a:r>
            <a:r>
              <a:rPr lang="en-US" b="1" baseline="0" dirty="0" err="1"/>
              <a:t>tìm</a:t>
            </a:r>
            <a:r>
              <a:rPr lang="en-US" b="1" baseline="0" dirty="0"/>
              <a:t> all </a:t>
            </a:r>
            <a:r>
              <a:rPr lang="en-US" b="1" baseline="0" dirty="0" err="1"/>
              <a:t>các</a:t>
            </a:r>
            <a:r>
              <a:rPr lang="en-US" b="1" baseline="0" dirty="0"/>
              <a:t> </a:t>
            </a:r>
            <a:r>
              <a:rPr lang="en-US" b="1" baseline="0" dirty="0" err="1"/>
              <a:t>đường</a:t>
            </a:r>
            <a:r>
              <a:rPr lang="en-US" b="1" baseline="0" dirty="0"/>
              <a:t> </a:t>
            </a:r>
            <a:r>
              <a:rPr lang="en-US" b="1" baseline="0" dirty="0" err="1"/>
              <a:t>đi</a:t>
            </a:r>
            <a:r>
              <a:rPr lang="en-US" b="1" baseline="0" dirty="0"/>
              <a:t> </a:t>
            </a:r>
            <a:r>
              <a:rPr lang="en-US" b="1" baseline="0" dirty="0" err="1"/>
              <a:t>sao</a:t>
            </a:r>
            <a:r>
              <a:rPr lang="en-US" b="1" baseline="0" dirty="0"/>
              <a:t> </a:t>
            </a:r>
            <a:r>
              <a:rPr lang="en-US" b="1" baseline="0" dirty="0" err="1"/>
              <a:t>cho</a:t>
            </a:r>
            <a:r>
              <a:rPr lang="en-US" b="1" baseline="0" dirty="0"/>
              <a:t> </a:t>
            </a:r>
            <a:r>
              <a:rPr lang="en-US" b="1" baseline="0" dirty="0" err="1"/>
              <a:t>tất</a:t>
            </a:r>
            <a:r>
              <a:rPr lang="en-US" b="1" baseline="0" dirty="0"/>
              <a:t> </a:t>
            </a:r>
            <a:r>
              <a:rPr lang="en-US" b="1" baseline="0" dirty="0" err="1"/>
              <a:t>cả</a:t>
            </a:r>
            <a:r>
              <a:rPr lang="en-US" b="1" baseline="0" dirty="0"/>
              <a:t> </a:t>
            </a:r>
            <a:r>
              <a:rPr lang="en-US" b="1" baseline="0" dirty="0" err="1"/>
              <a:t>các</a:t>
            </a:r>
            <a:r>
              <a:rPr lang="en-US" b="1" baseline="0" dirty="0"/>
              <a:t> </a:t>
            </a:r>
            <a:r>
              <a:rPr lang="en-US" b="1" u="sng" baseline="0" dirty="0" err="1"/>
              <a:t>cạnh</a:t>
            </a:r>
            <a:r>
              <a:rPr lang="en-US" b="1" baseline="0" dirty="0"/>
              <a:t> </a:t>
            </a:r>
            <a:r>
              <a:rPr lang="en-US" b="1" baseline="0" dirty="0" err="1"/>
              <a:t>đều</a:t>
            </a:r>
            <a:r>
              <a:rPr lang="en-US" b="1" baseline="0" dirty="0"/>
              <a:t> </a:t>
            </a:r>
            <a:r>
              <a:rPr lang="en-US" b="1" baseline="0" dirty="0" err="1"/>
              <a:t>đc</a:t>
            </a:r>
            <a:r>
              <a:rPr lang="en-US" b="1" baseline="0" dirty="0"/>
              <a:t> </a:t>
            </a:r>
            <a:r>
              <a:rPr lang="en-US" b="1" baseline="0" dirty="0" err="1"/>
              <a:t>đi</a:t>
            </a:r>
            <a:r>
              <a:rPr lang="en-US" b="1" baseline="0" dirty="0"/>
              <a:t> qua.</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baseline="0" dirty="0">
                <a:solidFill>
                  <a:prstClr val="black"/>
                </a:solidFill>
                <a:latin typeface="+mn-lt"/>
              </a:rPr>
              <a:t>- </a:t>
            </a:r>
            <a:r>
              <a:rPr lang="en-US" b="0" baseline="0" dirty="0" err="1">
                <a:solidFill>
                  <a:prstClr val="black"/>
                </a:solidFill>
                <a:latin typeface="+mn-lt"/>
              </a:rPr>
              <a:t>Còn</a:t>
            </a:r>
            <a:r>
              <a:rPr lang="en-US" b="0" baseline="0" dirty="0">
                <a:solidFill>
                  <a:prstClr val="black"/>
                </a:solidFill>
                <a:latin typeface="+mn-lt"/>
              </a:rPr>
              <a:t> </a:t>
            </a:r>
            <a:r>
              <a:rPr lang="en-US" b="0" baseline="0" dirty="0" err="1">
                <a:solidFill>
                  <a:prstClr val="black"/>
                </a:solidFill>
                <a:latin typeface="+mn-lt"/>
              </a:rPr>
              <a:t>đc</a:t>
            </a:r>
            <a:r>
              <a:rPr lang="en-US" b="0" baseline="0" dirty="0">
                <a:solidFill>
                  <a:prstClr val="black"/>
                </a:solidFill>
                <a:latin typeface="+mn-lt"/>
              </a:rPr>
              <a:t> </a:t>
            </a:r>
            <a:r>
              <a:rPr lang="en-US" b="0" baseline="0" dirty="0" err="1">
                <a:solidFill>
                  <a:prstClr val="black"/>
                </a:solidFill>
                <a:latin typeface="+mn-lt"/>
              </a:rPr>
              <a:t>gọi</a:t>
            </a:r>
            <a:r>
              <a:rPr lang="en-US" b="0" baseline="0" dirty="0">
                <a:solidFill>
                  <a:prstClr val="black"/>
                </a:solidFill>
                <a:latin typeface="+mn-lt"/>
              </a:rPr>
              <a:t> </a:t>
            </a:r>
            <a:r>
              <a:rPr lang="en-US" b="0" baseline="0" dirty="0" err="1">
                <a:solidFill>
                  <a:prstClr val="black"/>
                </a:solidFill>
                <a:latin typeface="+mn-lt"/>
              </a:rPr>
              <a:t>là</a:t>
            </a:r>
            <a:r>
              <a:rPr lang="en-US" b="0" baseline="0" dirty="0">
                <a:solidFill>
                  <a:prstClr val="black"/>
                </a:solidFill>
                <a:latin typeface="+mn-lt"/>
              </a:rPr>
              <a:t> ‘Branch testing’ </a:t>
            </a:r>
            <a:r>
              <a:rPr lang="en-US" b="0" baseline="0" dirty="0" err="1">
                <a:solidFill>
                  <a:prstClr val="black"/>
                </a:solidFill>
                <a:latin typeface="+mn-lt"/>
              </a:rPr>
              <a:t>hoặc</a:t>
            </a:r>
            <a:r>
              <a:rPr lang="en-US" b="0" baseline="0" dirty="0">
                <a:solidFill>
                  <a:prstClr val="black"/>
                </a:solidFill>
                <a:latin typeface="+mn-lt"/>
              </a:rPr>
              <a:t> ‘</a:t>
            </a:r>
            <a:r>
              <a:rPr lang="en-US" b="1" baseline="0" dirty="0">
                <a:solidFill>
                  <a:prstClr val="black"/>
                </a:solidFill>
                <a:latin typeface="+mn-lt"/>
              </a:rPr>
              <a:t>Basis path testing</a:t>
            </a:r>
            <a:r>
              <a:rPr lang="en-US" b="0" baseline="0" dirty="0">
                <a:solidFill>
                  <a:prstClr val="black"/>
                </a:solidFill>
                <a:latin typeface="+mn-lt"/>
              </a:rPr>
              <a:t>’ is a means for testing all </a:t>
            </a:r>
            <a:r>
              <a:rPr lang="en-US" b="1" u="sng" baseline="0" dirty="0">
                <a:solidFill>
                  <a:prstClr val="black"/>
                </a:solidFill>
                <a:latin typeface="+mn-lt"/>
              </a:rPr>
              <a:t>independent paths</a:t>
            </a:r>
            <a:r>
              <a:rPr lang="en-US" b="0" baseline="0" dirty="0">
                <a:solidFill>
                  <a:prstClr val="black"/>
                </a:solidFill>
                <a:latin typeface="+mn-lt"/>
              </a:rPr>
              <a:t>.</a:t>
            </a:r>
          </a:p>
          <a:p>
            <a:pPr marL="914400" marR="0" lvl="2" indent="0" algn="l" defTabSz="914400" rtl="0" eaLnBrk="1" fontAlgn="auto" latinLnBrk="0" hangingPunct="1">
              <a:lnSpc>
                <a:spcPct val="100000"/>
              </a:lnSpc>
              <a:spcBef>
                <a:spcPts val="0"/>
              </a:spcBef>
              <a:spcAft>
                <a:spcPts val="0"/>
              </a:spcAft>
              <a:buClrTx/>
              <a:buSzTx/>
              <a:buFontTx/>
              <a:buNone/>
              <a:tabLst/>
              <a:defRPr/>
            </a:pPr>
            <a:r>
              <a:rPr lang="en-US" b="0" baseline="0" dirty="0">
                <a:solidFill>
                  <a:prstClr val="black"/>
                </a:solidFill>
                <a:latin typeface="+mn-lt"/>
              </a:rPr>
              <a:t>+ An </a:t>
            </a:r>
            <a:r>
              <a:rPr lang="en-US" b="0" u="sng" baseline="0" dirty="0">
                <a:solidFill>
                  <a:prstClr val="black"/>
                </a:solidFill>
                <a:latin typeface="+mn-lt"/>
              </a:rPr>
              <a:t>independent path</a:t>
            </a:r>
            <a:r>
              <a:rPr lang="en-US" b="0" baseline="0" dirty="0">
                <a:solidFill>
                  <a:prstClr val="black"/>
                </a:solidFill>
                <a:latin typeface="+mn-lt"/>
              </a:rPr>
              <a:t> is any path through the code that introduces at least one new set of processing statements or a new condition. (Pressman, 2001)</a:t>
            </a:r>
          </a:p>
        </p:txBody>
      </p:sp>
    </p:spTree>
    <p:extLst>
      <p:ext uri="{BB962C8B-B14F-4D97-AF65-F5344CB8AC3E}">
        <p14:creationId xmlns:p14="http://schemas.microsoft.com/office/powerpoint/2010/main" val="36193969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b="1"/>
          </a:p>
        </p:txBody>
      </p:sp>
    </p:spTree>
    <p:extLst>
      <p:ext uri="{BB962C8B-B14F-4D97-AF65-F5344CB8AC3E}">
        <p14:creationId xmlns:p14="http://schemas.microsoft.com/office/powerpoint/2010/main" val="16819010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Statement coverage? </a:t>
            </a:r>
            <a:r>
              <a:rPr lang="en-GB">
                <a:sym typeface="Wingdings" pitchFamily="2" charset="2"/>
              </a:rPr>
              <a:t> 1</a:t>
            </a:r>
          </a:p>
          <a:p>
            <a:r>
              <a:rPr lang="en-US" b="1" u="none"/>
              <a:t>cyclomatic number =3</a:t>
            </a:r>
            <a:endParaRPr lang="en-GB" u="none">
              <a:sym typeface="Wingdings" pitchFamily="2" charset="2"/>
            </a:endParaRPr>
          </a:p>
          <a:p>
            <a:r>
              <a:rPr lang="en-GB">
                <a:sym typeface="Wingdings" pitchFamily="2" charset="2"/>
              </a:rPr>
              <a:t>Khi thiết</a:t>
            </a:r>
            <a:r>
              <a:rPr lang="en-GB" baseline="0">
                <a:sym typeface="Wingdings" pitchFamily="2" charset="2"/>
              </a:rPr>
              <a:t> kế test case, v</a:t>
            </a:r>
            <a:r>
              <a:rPr lang="en-GB">
                <a:sym typeface="Wingdings" pitchFamily="2" charset="2"/>
              </a:rPr>
              <a:t>ới mỗi</a:t>
            </a:r>
            <a:r>
              <a:rPr lang="en-GB" baseline="0">
                <a:sym typeface="Wingdings" pitchFamily="2" charset="2"/>
              </a:rPr>
              <a:t> test case cần xác định </a:t>
            </a:r>
            <a:r>
              <a:rPr lang="en-GB" b="1" baseline="0">
                <a:sym typeface="Wingdings" pitchFamily="2" charset="2"/>
              </a:rPr>
              <a:t>decision outcome cần thực hiện, các input, các expected result (xem bảng)</a:t>
            </a:r>
            <a:endParaRPr lang="en-US" b="1"/>
          </a:p>
        </p:txBody>
      </p:sp>
    </p:spTree>
    <p:extLst>
      <p:ext uri="{BB962C8B-B14F-4D97-AF65-F5344CB8AC3E}">
        <p14:creationId xmlns:p14="http://schemas.microsoft.com/office/powerpoint/2010/main" val="19261161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5954092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Vẽ</a:t>
            </a:r>
            <a:r>
              <a:rPr lang="en-US" baseline="0"/>
              <a:t> sơ đồ trang 130. </a:t>
            </a:r>
            <a:r>
              <a:rPr lang="en-US"/>
              <a:t>That needs three test cases:</a:t>
            </a:r>
          </a:p>
          <a:p>
            <a:pPr marL="0" indent="0">
              <a:buFontTx/>
              <a:buNone/>
            </a:pPr>
            <a:r>
              <a:rPr lang="en-US" baseline="0"/>
              <a:t>CandidateAge = 16 </a:t>
            </a:r>
          </a:p>
          <a:p>
            <a:pPr marL="0" indent="0">
              <a:buFontTx/>
              <a:buNone/>
            </a:pPr>
            <a:r>
              <a:rPr lang="en-US" baseline="0"/>
              <a:t>CandidateAge = 21 </a:t>
            </a:r>
          </a:p>
          <a:p>
            <a:pPr marL="0" indent="0">
              <a:buFontTx/>
              <a:buNone/>
            </a:pPr>
            <a:r>
              <a:rPr lang="en-US" baseline="0"/>
              <a:t>CandidateAge = 40</a:t>
            </a:r>
            <a:endParaRPr lang="en-US"/>
          </a:p>
        </p:txBody>
      </p:sp>
    </p:spTree>
    <p:extLst>
      <p:ext uri="{BB962C8B-B14F-4D97-AF65-F5344CB8AC3E}">
        <p14:creationId xmlns:p14="http://schemas.microsoft.com/office/powerpoint/2010/main" val="20353103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Xóa</a:t>
            </a:r>
          </a:p>
          <a:p>
            <a:r>
              <a:rPr lang="en-US"/>
              <a:t>we have three alternative routes through the program – path </a:t>
            </a:r>
            <a:r>
              <a:rPr lang="en-US" b="1"/>
              <a:t>1,2,4,12 (</a:t>
            </a:r>
            <a:r>
              <a:rPr lang="en-US" sz="1200" kern="1200">
                <a:solidFill>
                  <a:schemeClr val="tx1"/>
                </a:solidFill>
                <a:latin typeface="+mn-lt"/>
                <a:ea typeface="+mn-ea"/>
                <a:cs typeface="+mn-cs"/>
              </a:rPr>
              <a:t>CandidateAge&lt;18)</a:t>
            </a:r>
            <a:r>
              <a:rPr lang="en-US"/>
              <a:t>, path </a:t>
            </a:r>
            <a:r>
              <a:rPr lang="en-US" b="1"/>
              <a:t>1,2,6,8,11,12 (</a:t>
            </a:r>
            <a:r>
              <a:rPr lang="en-US" sz="1200" kern="1200">
                <a:solidFill>
                  <a:schemeClr val="tx1"/>
                </a:solidFill>
                <a:latin typeface="+mn-lt"/>
                <a:ea typeface="+mn-ea"/>
                <a:cs typeface="+mn-cs"/>
              </a:rPr>
              <a:t>CandidateAge&gt;=18 and CandidateAge&gt;30)</a:t>
            </a:r>
            <a:r>
              <a:rPr lang="en-US" sz="1200" kern="1200" baseline="0">
                <a:solidFill>
                  <a:schemeClr val="tx1"/>
                </a:solidFill>
                <a:latin typeface="+mn-lt"/>
                <a:ea typeface="+mn-ea"/>
                <a:cs typeface="+mn-cs"/>
              </a:rPr>
              <a:t> </a:t>
            </a:r>
            <a:r>
              <a:rPr lang="en-US"/>
              <a:t>and path </a:t>
            </a:r>
            <a:r>
              <a:rPr lang="en-US" b="1"/>
              <a:t>1,2,6,10,11,12 (</a:t>
            </a:r>
            <a:r>
              <a:rPr lang="en-US" sz="1200" kern="1200">
                <a:solidFill>
                  <a:schemeClr val="tx1"/>
                </a:solidFill>
                <a:latin typeface="+mn-lt"/>
                <a:ea typeface="+mn-ea"/>
                <a:cs typeface="+mn-cs"/>
              </a:rPr>
              <a:t>CandidateAge&gt;=18 and CandidateAge&lt;=30)</a:t>
            </a:r>
            <a:r>
              <a:rPr lang="en-US"/>
              <a:t>. That needs three test cases</a:t>
            </a:r>
          </a:p>
        </p:txBody>
      </p:sp>
    </p:spTree>
    <p:extLst>
      <p:ext uri="{BB962C8B-B14F-4D97-AF65-F5344CB8AC3E}">
        <p14:creationId xmlns:p14="http://schemas.microsoft.com/office/powerpoint/2010/main" val="39127311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indent="-228600" algn="l" defTabSz="914400" rtl="0" eaLnBrk="1" fontAlgn="auto" latinLnBrk="0" hangingPunct="1">
              <a:lnSpc>
                <a:spcPct val="100000"/>
              </a:lnSpc>
              <a:spcBef>
                <a:spcPts val="0"/>
              </a:spcBef>
              <a:spcAft>
                <a:spcPts val="0"/>
              </a:spcAft>
              <a:buClrTx/>
              <a:buSzTx/>
              <a:buFontTx/>
              <a:buAutoNum type="alphaLcPeriod"/>
              <a:tabLst/>
              <a:defRPr/>
            </a:pPr>
            <a:r>
              <a:rPr lang="en-US" sz="1200" b="0" kern="1200">
                <a:solidFill>
                  <a:srgbClr val="002060"/>
                </a:solidFill>
                <a:latin typeface="+mn-lt"/>
                <a:ea typeface="+mn-ea"/>
                <a:cs typeface="+mn-cs"/>
              </a:rPr>
              <a:t>How many test cases are needed to achieve 100% decision coverage? 3 test case (</a:t>
            </a:r>
            <a:r>
              <a:rPr lang="en-US"/>
              <a:t>Chú</a:t>
            </a:r>
            <a:r>
              <a:rPr lang="en-US" baseline="0"/>
              <a:t> ý dk loại trừ lẫn nhau, thêm else vào trước mỗi if)</a:t>
            </a:r>
          </a:p>
          <a:p>
            <a:pPr marL="228600" marR="0" indent="-228600" algn="l" defTabSz="914400" rtl="0" eaLnBrk="1" fontAlgn="auto" latinLnBrk="0" hangingPunct="1">
              <a:lnSpc>
                <a:spcPct val="100000"/>
              </a:lnSpc>
              <a:spcBef>
                <a:spcPts val="0"/>
              </a:spcBef>
              <a:spcAft>
                <a:spcPts val="0"/>
              </a:spcAft>
              <a:buClrTx/>
              <a:buSzTx/>
              <a:buFontTx/>
              <a:buAutoNum type="alphaLcPeriod"/>
              <a:tabLst/>
              <a:defRPr/>
            </a:pPr>
            <a:r>
              <a:rPr lang="en-US" sz="1200" b="0" kern="1200" baseline="0">
                <a:solidFill>
                  <a:srgbClr val="002060"/>
                </a:solidFill>
                <a:latin typeface="+mn-lt"/>
                <a:ea typeface="+mn-ea"/>
                <a:cs typeface="+mn-cs"/>
              </a:rPr>
              <a:t>Có 6 decision outcome. Với Time = 11 </a:t>
            </a:r>
            <a:r>
              <a:rPr lang="en-US" sz="1200" b="0" kern="1200" baseline="0">
                <a:solidFill>
                  <a:srgbClr val="002060"/>
                </a:solidFill>
                <a:latin typeface="+mn-lt"/>
                <a:ea typeface="+mn-ea"/>
                <a:cs typeface="+mn-cs"/>
                <a:sym typeface="Wingdings" pitchFamily="2" charset="2"/>
              </a:rPr>
              <a:t> decision outcome lần lượt là T F F, với Time = 15  F T F.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kern="1200" baseline="0">
                <a:solidFill>
                  <a:srgbClr val="002060"/>
                </a:solidFill>
                <a:latin typeface="+mn-lt"/>
                <a:ea typeface="+mn-ea"/>
                <a:cs typeface="+mn-cs"/>
                <a:sym typeface="Wingdings" pitchFamily="2" charset="2"/>
              </a:rPr>
              <a:t>     Như vậy, có 5/6 =83% decision coverage.</a:t>
            </a:r>
            <a:endParaRPr lang="en-US" sz="1200" b="0" kern="1200">
              <a:solidFill>
                <a:srgbClr val="002060"/>
              </a:solidFill>
              <a:latin typeface="+mn-lt"/>
              <a:ea typeface="+mn-ea"/>
              <a:cs typeface="+mn-cs"/>
            </a:endParaRPr>
          </a:p>
          <a:p>
            <a:endParaRPr lang="en-US"/>
          </a:p>
        </p:txBody>
      </p:sp>
    </p:spTree>
    <p:extLst>
      <p:ext uri="{BB962C8B-B14F-4D97-AF65-F5344CB8AC3E}">
        <p14:creationId xmlns:p14="http://schemas.microsoft.com/office/powerpoint/2010/main" val="18012733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a:t>Chương</a:t>
            </a:r>
            <a:r>
              <a:rPr lang="en-US" b="1" i="0" baseline="0"/>
              <a:t> trình: tính tổng các số âm trong Count lần nhập số.</a:t>
            </a:r>
            <a:endParaRPr lang="en-US" b="1" i="0"/>
          </a:p>
          <a:p>
            <a:r>
              <a:rPr lang="vi-VN" b="1" i="0"/>
              <a:t>Có một quy tắc vàng về vòng lặp WHILE</a:t>
            </a:r>
            <a:r>
              <a:rPr lang="en-US" baseline="0"/>
              <a:t>: </a:t>
            </a:r>
            <a:r>
              <a:rPr lang="en-US" b="1" u="sng" baseline="0"/>
              <a:t>decision được thực hiện cả True exit và False exit bởi 1 test case duy nhất</a:t>
            </a:r>
            <a:r>
              <a:rPr lang="en-US" baseline="0"/>
              <a:t>, </a:t>
            </a:r>
            <a:r>
              <a:rPr lang="en-US" u="sng" baseline="0"/>
              <a:t>vì nếu đầu tiên decision là true thì sau 1 lúc chạy trong vòng lặp decision này sẽ đạt được False</a:t>
            </a:r>
            <a:r>
              <a:rPr lang="en-US" baseline="0"/>
              <a:t>.</a:t>
            </a:r>
          </a:p>
          <a:p>
            <a:r>
              <a:rPr lang="en-US" baseline="0"/>
              <a:t>Vd/ Khi lúc đầu Index&lt;Count, nên nội dung trong vòng lặp đc thực hiện (thực hiện decision outcome=True), </a:t>
            </a:r>
            <a:r>
              <a:rPr lang="en-US" b="1" baseline="0"/>
              <a:t>sau mỗi vòng lặp Index sẽ tăng lên 1, </a:t>
            </a:r>
            <a:r>
              <a:rPr lang="en-US" b="0" baseline="0"/>
              <a:t>do đó sẽ đến lúc sẽ đạt đc giá trị của Count và vượt qua nó, lúc đó decision outcome=False đc thực hiện. Như vậy, chỉ cần 1 test case duy nhất là có thể test cho decision của vòng lặp.</a:t>
            </a:r>
            <a:endParaRPr lang="en-US" b="1"/>
          </a:p>
          <a:p>
            <a:r>
              <a:rPr lang="en-US"/>
              <a:t>Vẽ</a:t>
            </a:r>
            <a:r>
              <a:rPr lang="en-US" baseline="0"/>
              <a:t> đồ thị và </a:t>
            </a:r>
            <a:r>
              <a:rPr lang="en-US"/>
              <a:t>Kết</a:t>
            </a:r>
            <a:r>
              <a:rPr lang="en-US" baseline="0"/>
              <a:t> quả: cho nên chỉ cần dùng 1 test-case là có thể có 100% decision coverage:</a:t>
            </a:r>
            <a:endParaRPr lang="en-US"/>
          </a:p>
          <a:p>
            <a:r>
              <a:rPr lang="en-US" b="1" baseline="0"/>
              <a:t>Đó là Count=1 và New lần lượt là 1,-2 hoặc có thể là Count=5 và New lần lượt là 1,5,-2,-3,6,7,...</a:t>
            </a:r>
          </a:p>
        </p:txBody>
      </p:sp>
    </p:spTree>
    <p:extLst>
      <p:ext uri="{BB962C8B-B14F-4D97-AF65-F5344CB8AC3E}">
        <p14:creationId xmlns:p14="http://schemas.microsoft.com/office/powerpoint/2010/main" val="38140115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latin typeface="+mn-lt"/>
                <a:ea typeface="+mn-ea"/>
                <a:cs typeface="+mn-cs"/>
              </a:rPr>
              <a:t>VD: binToDec(“0000000000001111”) = 15, binToDec(“0000000010001100”) = 140</a:t>
            </a:r>
          </a:p>
        </p:txBody>
      </p:sp>
    </p:spTree>
    <p:extLst>
      <p:ext uri="{BB962C8B-B14F-4D97-AF65-F5344CB8AC3E}">
        <p14:creationId xmlns:p14="http://schemas.microsoft.com/office/powerpoint/2010/main" val="15819032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NẾU</a:t>
            </a:r>
            <a:r>
              <a:rPr lang="en-US" baseline="0"/>
              <a:t> DÙNG DECISION COV THÌ K TEST DC HẾT TRƯỜNG HỢP VÌ </a:t>
            </a:r>
            <a:r>
              <a:rPr lang="en-US" b="1" baseline="0"/>
              <a:t>FUNCTION1() CÓ THỂ Không </a:t>
            </a:r>
            <a:r>
              <a:rPr lang="vi-VN" b="1" baseline="0"/>
              <a:t>ĐƯỢ</a:t>
            </a:r>
            <a:r>
              <a:rPr lang="en-US" b="1" baseline="0"/>
              <a:t>C TEST NẾU DÙNG 2 TEST-CASE</a:t>
            </a:r>
            <a:r>
              <a:rPr lang="en-US" b="0" baseline="0"/>
              <a:t> LÀ: </a:t>
            </a:r>
            <a:r>
              <a:rPr lang="en-US" i="1" baseline="0"/>
              <a:t>CONDITION1=CONDITION2=TRUE VÀ CONDITION1=CONDITION2=FALSE</a:t>
            </a:r>
          </a:p>
          <a:p>
            <a:endParaRPr lang="en-US" baseline="0"/>
          </a:p>
          <a:p>
            <a:pPr marL="0" marR="0" indent="0" algn="l" defTabSz="914400" rtl="0" eaLnBrk="1" fontAlgn="auto" latinLnBrk="0" hangingPunct="1">
              <a:lnSpc>
                <a:spcPct val="100000"/>
              </a:lnSpc>
              <a:spcBef>
                <a:spcPts val="0"/>
              </a:spcBef>
              <a:spcAft>
                <a:spcPts val="0"/>
              </a:spcAft>
              <a:buClrTx/>
              <a:buSzTx/>
              <a:buFontTx/>
              <a:buNone/>
              <a:tabLst/>
              <a:defRPr/>
            </a:pPr>
            <a:r>
              <a:rPr lang="en-US">
                <a:solidFill>
                  <a:srgbClr val="FF0000"/>
                </a:solidFill>
              </a:rPr>
              <a:t>Short-circuit evaluation means that many predicates might not be evaluated</a:t>
            </a:r>
          </a:p>
          <a:p>
            <a:r>
              <a:rPr lang="en-US">
                <a:solidFill>
                  <a:srgbClr val="FF0000"/>
                </a:solidFill>
              </a:rPr>
              <a:t>Only a subset of all entry-exit paths is tested (3 of 11 in the example)</a:t>
            </a:r>
          </a:p>
          <a:p>
            <a:pPr lvl="1"/>
            <a:r>
              <a:rPr lang="en-US">
                <a:solidFill>
                  <a:srgbClr val="FF0000"/>
                </a:solidFill>
              </a:rPr>
              <a:t>Branch coverage does not ensure that all entry-exit paths are executed</a:t>
            </a:r>
          </a:p>
          <a:p>
            <a:r>
              <a:rPr lang="en-US" sz="1200"/>
              <a:t>if (a == b) x++;</a:t>
            </a:r>
          </a:p>
          <a:p>
            <a:r>
              <a:rPr lang="en-US" sz="1200"/>
              <a:t>if (x == y) x--;</a:t>
            </a:r>
          </a:p>
          <a:p>
            <a:endParaRPr lang="en-US"/>
          </a:p>
        </p:txBody>
      </p:sp>
    </p:spTree>
    <p:extLst>
      <p:ext uri="{BB962C8B-B14F-4D97-AF65-F5344CB8AC3E}">
        <p14:creationId xmlns:p14="http://schemas.microsoft.com/office/powerpoint/2010/main" val="28059320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1" indent="0">
              <a:buFontTx/>
              <a:buNone/>
            </a:pPr>
            <a:r>
              <a:rPr lang="en-US" sz="1200" b="0" i="0" kern="1200">
                <a:solidFill>
                  <a:schemeClr val="tx1"/>
                </a:solidFill>
                <a:effectLst/>
                <a:latin typeface="+mn-lt"/>
                <a:ea typeface="+mn-ea"/>
                <a:cs typeface="+mn-cs"/>
              </a:rPr>
              <a:t>+ i.e</a:t>
            </a:r>
            <a:r>
              <a:rPr lang="en-US" sz="1200" b="0" i="0" kern="1200" baseline="0">
                <a:solidFill>
                  <a:schemeClr val="tx1"/>
                </a:solidFill>
                <a:effectLst/>
                <a:latin typeface="+mn-lt"/>
                <a:ea typeface="+mn-ea"/>
                <a:cs typeface="+mn-cs"/>
              </a:rPr>
              <a:t> </a:t>
            </a:r>
            <a:r>
              <a:rPr lang="en-US" sz="1200" b="0" i="0" kern="1200">
                <a:solidFill>
                  <a:schemeClr val="tx1"/>
                </a:solidFill>
                <a:effectLst/>
                <a:latin typeface="+mn-lt"/>
                <a:ea typeface="+mn-ea"/>
                <a:cs typeface="+mn-cs"/>
              </a:rPr>
              <a:t>Mỗi</a:t>
            </a:r>
            <a:r>
              <a:rPr lang="en-US" sz="1200" b="0" i="0" kern="1200" baseline="0">
                <a:solidFill>
                  <a:schemeClr val="tx1"/>
                </a:solidFill>
                <a:effectLst/>
                <a:latin typeface="+mn-lt"/>
                <a:ea typeface="+mn-ea"/>
                <a:cs typeface="+mn-cs"/>
              </a:rPr>
              <a:t> condition được định trị true và false ít nhất 1 lần mà </a:t>
            </a:r>
            <a:r>
              <a:rPr lang="en-US" sz="1200" b="1" i="0" kern="1200" baseline="0">
                <a:solidFill>
                  <a:schemeClr val="tx1"/>
                </a:solidFill>
                <a:effectLst/>
                <a:latin typeface="+mn-lt"/>
                <a:ea typeface="+mn-ea"/>
                <a:cs typeface="+mn-cs"/>
              </a:rPr>
              <a:t>KO CẦN QUAN TÂM ĐẾN TRỊ CỦA DECISION</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i="1" kern="1200">
                <a:solidFill>
                  <a:schemeClr val="tx1"/>
                </a:solidFill>
                <a:effectLst/>
                <a:latin typeface="+mn-lt"/>
                <a:ea typeface="+mn-ea"/>
                <a:cs typeface="+mn-cs"/>
              </a:rPr>
              <a:t>+ Known as ‘predicate coverage’.</a:t>
            </a:r>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sz="1200" b="0" i="1" kern="1200">
              <a:solidFill>
                <a:schemeClr val="tx1"/>
              </a:solidFill>
              <a:effectLst/>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sz="1200" b="0" i="1" kern="1200">
              <a:solidFill>
                <a:schemeClr val="tx1"/>
              </a:solidFill>
              <a:effectLst/>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a:p>
          <a:p>
            <a:pPr lvl="2"/>
            <a:r>
              <a:rPr lang="en-US"/>
              <a:t>statement testing </a:t>
            </a:r>
          </a:p>
          <a:p>
            <a:pPr lvl="2"/>
            <a:r>
              <a:rPr lang="en-GB"/>
              <a:t>branch/</a:t>
            </a:r>
            <a:r>
              <a:rPr lang="en-US"/>
              <a:t>decision testing</a:t>
            </a:r>
          </a:p>
          <a:p>
            <a:pPr lvl="2"/>
            <a:r>
              <a:rPr lang="en-US" b="1"/>
              <a:t>condition testing(Branch Condition Testing)</a:t>
            </a:r>
          </a:p>
          <a:p>
            <a:pPr lvl="2"/>
            <a:r>
              <a:rPr lang="en-GB"/>
              <a:t>condition combination</a:t>
            </a:r>
            <a:r>
              <a:rPr lang="en-US"/>
              <a:t>/multiple condition </a:t>
            </a:r>
            <a:r>
              <a:rPr lang="en-GB"/>
              <a:t>testing</a:t>
            </a:r>
            <a:endParaRPr lang="en-US"/>
          </a:p>
          <a:p>
            <a:pPr lvl="2"/>
            <a:r>
              <a:rPr lang="en-GB"/>
              <a:t>modified condition decision/multiple condition decision testing</a:t>
            </a:r>
          </a:p>
          <a:p>
            <a:pPr lvl="2"/>
            <a:r>
              <a:rPr lang="en-GB"/>
              <a:t>path testing</a:t>
            </a:r>
          </a:p>
        </p:txBody>
      </p:sp>
    </p:spTree>
    <p:extLst>
      <p:ext uri="{BB962C8B-B14F-4D97-AF65-F5344CB8AC3E}">
        <p14:creationId xmlns:p14="http://schemas.microsoft.com/office/powerpoint/2010/main" val="11318325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Mỗi</a:t>
            </a:r>
            <a:r>
              <a:rPr lang="en-US" sz="1200" b="0" i="0" kern="1200" baseline="0">
                <a:solidFill>
                  <a:schemeClr val="tx1"/>
                </a:solidFill>
                <a:effectLst/>
                <a:latin typeface="+mn-lt"/>
                <a:ea typeface="+mn-ea"/>
                <a:cs typeface="+mn-cs"/>
              </a:rPr>
              <a:t> CONDITION và </a:t>
            </a:r>
            <a:r>
              <a:rPr lang="en-US"/>
              <a:t>DECISION </a:t>
            </a:r>
            <a:r>
              <a:rPr lang="en-US" sz="1200" b="0" i="0" kern="1200" baseline="0">
                <a:solidFill>
                  <a:schemeClr val="tx1"/>
                </a:solidFill>
                <a:effectLst/>
                <a:latin typeface="+mn-lt"/>
                <a:ea typeface="+mn-ea"/>
                <a:cs typeface="+mn-cs"/>
              </a:rPr>
              <a:t>được định trị true và false ít nhất 1 lần</a:t>
            </a:r>
            <a:endParaRPr lang="en-US"/>
          </a:p>
        </p:txBody>
      </p:sp>
    </p:spTree>
    <p:extLst>
      <p:ext uri="{BB962C8B-B14F-4D97-AF65-F5344CB8AC3E}">
        <p14:creationId xmlns:p14="http://schemas.microsoft.com/office/powerpoint/2010/main" val="2222561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sz="1200" b="0" i="0" kern="1200">
                <a:solidFill>
                  <a:schemeClr val="tx1"/>
                </a:solidFill>
                <a:effectLst/>
                <a:latin typeface="+mn-lt"/>
                <a:ea typeface="+mn-ea"/>
                <a:cs typeface="+mn-cs"/>
              </a:rPr>
              <a:t>Nếu</a:t>
            </a:r>
            <a:r>
              <a:rPr lang="en-US" sz="1200" b="0" i="0" kern="1200" baseline="0">
                <a:solidFill>
                  <a:schemeClr val="tx1"/>
                </a:solidFill>
                <a:effectLst/>
                <a:latin typeface="+mn-lt"/>
                <a:ea typeface="+mn-ea"/>
                <a:cs typeface="+mn-cs"/>
              </a:rPr>
              <a:t> có n c</a:t>
            </a:r>
            <a:r>
              <a:rPr lang="en-US" sz="1200" b="0" i="0" kern="1200">
                <a:solidFill>
                  <a:schemeClr val="tx1"/>
                </a:solidFill>
                <a:effectLst/>
                <a:latin typeface="+mn-lt"/>
                <a:ea typeface="+mn-ea"/>
                <a:cs typeface="+mn-cs"/>
              </a:rPr>
              <a:t>onditions, thì</a:t>
            </a:r>
            <a:r>
              <a:rPr lang="en-US" sz="1200" b="0" i="0" kern="1200" baseline="0">
                <a:solidFill>
                  <a:schemeClr val="tx1"/>
                </a:solidFill>
                <a:effectLst/>
                <a:latin typeface="+mn-lt"/>
                <a:ea typeface="+mn-ea"/>
                <a:cs typeface="+mn-cs"/>
              </a:rPr>
              <a:t> sẽ có</a:t>
            </a:r>
            <a:r>
              <a:rPr lang="en-US" sz="1200" b="0" i="0" kern="1200">
                <a:solidFill>
                  <a:schemeClr val="tx1"/>
                </a:solidFill>
                <a:effectLst/>
                <a:latin typeface="+mn-lt"/>
                <a:ea typeface="+mn-ea"/>
                <a:cs typeface="+mn-cs"/>
              </a:rPr>
              <a:t> 2</a:t>
            </a:r>
            <a:r>
              <a:rPr lang="en-US" sz="1200" b="0" i="0" kern="1200" baseline="30000">
                <a:solidFill>
                  <a:schemeClr val="tx1"/>
                </a:solidFill>
                <a:effectLst/>
                <a:latin typeface="+mn-lt"/>
                <a:ea typeface="+mn-ea"/>
                <a:cs typeface="+mn-cs"/>
              </a:rPr>
              <a:t>n</a:t>
            </a:r>
            <a:r>
              <a:rPr lang="en-US" sz="1200" b="0" i="0" kern="1200">
                <a:solidFill>
                  <a:schemeClr val="tx1"/>
                </a:solidFill>
                <a:effectLst/>
                <a:latin typeface="+mn-lt"/>
                <a:ea typeface="+mn-ea"/>
                <a:cs typeface="+mn-cs"/>
              </a:rPr>
              <a:t> tests. Với</a:t>
            </a:r>
            <a:r>
              <a:rPr lang="en-US" sz="1200" b="0" i="0" kern="1200" baseline="0">
                <a:solidFill>
                  <a:schemeClr val="tx1"/>
                </a:solidFill>
                <a:effectLst/>
                <a:latin typeface="+mn-lt"/>
                <a:ea typeface="+mn-ea"/>
                <a:cs typeface="+mn-cs"/>
              </a:rPr>
              <a:t> số condition lớn thì điều này có thể ko dễ đạt đc. </a:t>
            </a:r>
          </a:p>
          <a:p>
            <a:pPr marL="0" indent="0">
              <a:buFontTx/>
              <a:buNone/>
            </a:pPr>
            <a:r>
              <a:rPr lang="en-US" sz="1200" b="0" i="0" kern="1200" baseline="0">
                <a:solidFill>
                  <a:schemeClr val="tx1"/>
                </a:solidFill>
                <a:effectLst/>
                <a:latin typeface="+mn-lt"/>
                <a:ea typeface="+mn-ea"/>
                <a:cs typeface="+mn-cs"/>
              </a:rPr>
              <a:t>Nên sd bảng chân trị để tìm all các kết hợp của các toán tử.</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Tuy</a:t>
            </a:r>
            <a:r>
              <a:rPr lang="en-US" sz="1200" b="0" i="0" kern="1200" baseline="0">
                <a:solidFill>
                  <a:schemeClr val="tx1"/>
                </a:solidFill>
                <a:effectLst/>
                <a:latin typeface="+mn-lt"/>
                <a:ea typeface="+mn-ea"/>
                <a:cs typeface="+mn-cs"/>
              </a:rPr>
              <a:t> nhiên, có thể giản lược số test vì các đk có thể loại trừ lẫn nhau (</a:t>
            </a:r>
            <a:r>
              <a:rPr lang="en-US"/>
              <a:t>Not necessarily achievable due to mutually exclusive conditions)</a:t>
            </a:r>
          </a:p>
          <a:p>
            <a:endParaRPr lang="en-US"/>
          </a:p>
        </p:txBody>
      </p:sp>
    </p:spTree>
    <p:extLst>
      <p:ext uri="{BB962C8B-B14F-4D97-AF65-F5344CB8AC3E}">
        <p14:creationId xmlns:p14="http://schemas.microsoft.com/office/powerpoint/2010/main" val="42770797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2" indent="-171450" algn="l" defTabSz="914400" rtl="0" eaLnBrk="1" fontAlgn="auto" latinLnBrk="0" hangingPunct="1">
              <a:lnSpc>
                <a:spcPct val="100000"/>
              </a:lnSpc>
              <a:spcBef>
                <a:spcPts val="0"/>
              </a:spcBef>
              <a:spcAft>
                <a:spcPts val="0"/>
              </a:spcAft>
              <a:buClrTx/>
              <a:buSzTx/>
              <a:buFontTx/>
              <a:buChar char="-"/>
              <a:tabLst/>
              <a:defRPr/>
            </a:pPr>
            <a:r>
              <a:rPr lang="en-GB"/>
              <a:t>...</a:t>
            </a:r>
          </a:p>
          <a:p>
            <a:pPr marL="171450" marR="0" lvl="2" indent="-171450" algn="l" defTabSz="914400" rtl="0" eaLnBrk="1" fontAlgn="auto" latinLnBrk="0" hangingPunct="1">
              <a:lnSpc>
                <a:spcPct val="100000"/>
              </a:lnSpc>
              <a:spcBef>
                <a:spcPts val="0"/>
              </a:spcBef>
              <a:spcAft>
                <a:spcPts val="0"/>
              </a:spcAft>
              <a:buClrTx/>
              <a:buSzTx/>
              <a:buFontTx/>
              <a:buChar char="-"/>
              <a:tabLst/>
              <a:defRPr/>
            </a:pPr>
            <a:r>
              <a:rPr lang="en-GB"/>
              <a:t>path testing: </a:t>
            </a:r>
            <a:r>
              <a:rPr lang="en-US"/>
              <a:t>Sometimes any structure-based  technique is called 'path testing' [Patton, 2001]. </a:t>
            </a:r>
          </a:p>
        </p:txBody>
      </p:sp>
    </p:spTree>
    <p:extLst>
      <p:ext uri="{BB962C8B-B14F-4D97-AF65-F5344CB8AC3E}">
        <p14:creationId xmlns:p14="http://schemas.microsoft.com/office/powerpoint/2010/main" val="34854328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a:t>Tuy nhiên</a:t>
            </a:r>
            <a:r>
              <a:rPr lang="en-US" baseline="0"/>
              <a:t>, với những đoạn mã có chứa vòng lặp thì path testing là ko thể bởi vì path đi qua 3 lần lặp thì khác với path đi qua 4 vòng lặp,... Một ví dụ cho đoạn mã có 1 vòng lặp, đc lặp 20 lần thì có...</a:t>
            </a:r>
            <a:endParaRPr lang="en-US"/>
          </a:p>
          <a:p>
            <a:endParaRPr lang="en-US"/>
          </a:p>
        </p:txBody>
      </p:sp>
    </p:spTree>
    <p:extLst>
      <p:ext uri="{BB962C8B-B14F-4D97-AF65-F5344CB8AC3E}">
        <p14:creationId xmlns:p14="http://schemas.microsoft.com/office/powerpoint/2010/main" val="2466612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main advantages of white box testing are:</a:t>
            </a:r>
          </a:p>
          <a:p>
            <a:r>
              <a:rPr lang="en-US"/>
              <a:t>■ Direct statement-by-statement checking of code enables determination of</a:t>
            </a:r>
          </a:p>
          <a:p>
            <a:r>
              <a:rPr lang="en-US"/>
              <a:t>software correctness as expressed in the processing paths, including</a:t>
            </a:r>
          </a:p>
          <a:p>
            <a:r>
              <a:rPr lang="en-US"/>
              <a:t>whether the algorithms were correctly defined and coded. </a:t>
            </a:r>
          </a:p>
          <a:p>
            <a:r>
              <a:rPr lang="en-US"/>
              <a:t>■ It allows performance of line coverage follow-up (applying specialized</a:t>
            </a:r>
          </a:p>
          <a:p>
            <a:r>
              <a:rPr lang="en-US"/>
              <a:t>software packages) that provides the tester with lists of lines of code that</a:t>
            </a:r>
          </a:p>
          <a:p>
            <a:r>
              <a:rPr lang="en-US"/>
              <a:t>have not yet been executed. The tester can then initiate test cases to cover</a:t>
            </a:r>
          </a:p>
          <a:p>
            <a:r>
              <a:rPr lang="en-US"/>
              <a:t>these lines of code. </a:t>
            </a:r>
          </a:p>
          <a:p>
            <a:r>
              <a:rPr lang="en-US"/>
              <a:t>■ It ascertains quality of coding work and its adherence to coding standards.</a:t>
            </a:r>
          </a:p>
        </p:txBody>
      </p:sp>
    </p:spTree>
    <p:extLst>
      <p:ext uri="{BB962C8B-B14F-4D97-AF65-F5344CB8AC3E}">
        <p14:creationId xmlns:p14="http://schemas.microsoft.com/office/powerpoint/2010/main" val="20656612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main disadvantages of white box testing are:</a:t>
            </a:r>
          </a:p>
          <a:p>
            <a:r>
              <a:rPr lang="en-US"/>
              <a:t>■ The vast resources utilized, much above those required for black box testing of the same software package. </a:t>
            </a:r>
          </a:p>
          <a:p>
            <a:r>
              <a:rPr lang="en-US"/>
              <a:t>■ The inability to test software performance in terms of availability (response time), reliability, load durability, and other testing classes related to operation, revision and transition factors.</a:t>
            </a:r>
          </a:p>
        </p:txBody>
      </p:sp>
    </p:spTree>
    <p:extLst>
      <p:ext uri="{BB962C8B-B14F-4D97-AF65-F5344CB8AC3E}">
        <p14:creationId xmlns:p14="http://schemas.microsoft.com/office/powerpoint/2010/main" val="12476890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63B9007-0201-49BE-A587-7F882848EC05}" type="slidenum">
              <a:rPr lang="en-US" smtClean="0">
                <a:solidFill>
                  <a:prstClr val="black"/>
                </a:solidFill>
              </a:rPr>
              <a:pPr/>
              <a:t>36</a:t>
            </a:fld>
            <a:endParaRPr lang="en-US">
              <a:solidFill>
                <a:prstClr val="black"/>
              </a:solidFill>
            </a:endParaRPr>
          </a:p>
        </p:txBody>
      </p:sp>
    </p:spTree>
    <p:extLst>
      <p:ext uri="{BB962C8B-B14F-4D97-AF65-F5344CB8AC3E}">
        <p14:creationId xmlns:p14="http://schemas.microsoft.com/office/powerpoint/2010/main" val="17291142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GB" b="1" baseline="0"/>
              <a:t>- </a:t>
            </a:r>
            <a:r>
              <a:rPr lang="en-US" baseline="0"/>
              <a:t>Test dựa trên </a:t>
            </a:r>
            <a:r>
              <a:rPr lang="vi-VN" sz="1200" b="0" i="0" kern="1200">
                <a:solidFill>
                  <a:schemeClr val="tx1"/>
                </a:solidFill>
                <a:effectLst/>
                <a:latin typeface="+mn-lt"/>
                <a:ea typeface="+mn-ea"/>
                <a:cs typeface="+mn-cs"/>
              </a:rPr>
              <a:t>trên kiến ​​thức, kinh nghiệm, trí tưởng tượng và trực giác</a:t>
            </a:r>
            <a:r>
              <a:rPr lang="en-US" sz="1200" b="0" i="0" kern="1200">
                <a:solidFill>
                  <a:schemeClr val="tx1"/>
                </a:solidFill>
                <a:effectLst/>
                <a:latin typeface="+mn-lt"/>
                <a:ea typeface="+mn-ea"/>
                <a:cs typeface="+mn-cs"/>
              </a:rPr>
              <a:t> của</a:t>
            </a:r>
            <a:r>
              <a:rPr lang="en-US" sz="1200" b="0" i="0" kern="1200" baseline="0">
                <a:solidFill>
                  <a:schemeClr val="tx1"/>
                </a:solidFill>
                <a:effectLst/>
                <a:latin typeface="+mn-lt"/>
                <a:ea typeface="+mn-ea"/>
                <a:cs typeface="+mn-cs"/>
              </a:rPr>
              <a:t> con người.</a:t>
            </a:r>
            <a:r>
              <a:rPr lang="en-GB" b="1" baseline="0"/>
              <a:t> MẶC DÙ CÓ PP, KỸ THUẬT  THÌ TỐT NHƯNG </a:t>
            </a:r>
            <a:r>
              <a:rPr lang="vi-VN" b="1" baseline="0"/>
              <a:t>KHÔNG PHẢI LÀ TẤT CẢ</a:t>
            </a:r>
            <a:r>
              <a:rPr lang="en-US" b="1" baseline="0"/>
              <a:t>. VIỆC LÀM VIỆC THEO QUÁN TÍNH CŨNG CÓ VAI TRÒ NHẤT ĐỊNH. </a:t>
            </a:r>
            <a:r>
              <a:rPr lang="vi-VN" b="1" u="none" baseline="0"/>
              <a:t>LÝ DO là </a:t>
            </a:r>
            <a:r>
              <a:rPr lang="en-US" b="1" u="none" baseline="0"/>
              <a:t>cách làm này tìm </a:t>
            </a:r>
            <a:r>
              <a:rPr lang="vi-VN" b="1" u="none" baseline="0"/>
              <a:t>đượ</a:t>
            </a:r>
            <a:r>
              <a:rPr lang="en-US" b="1" u="none" baseline="0"/>
              <a:t>c lỗi mà kỹ thuật có thể không tìm </a:t>
            </a:r>
            <a:r>
              <a:rPr lang="vi-VN" b="1" u="none" baseline="0"/>
              <a:t>đượ</a:t>
            </a:r>
            <a:r>
              <a:rPr lang="en-US" b="1" u="none" baseline="0"/>
              <a:t>c hoặc </a:t>
            </a:r>
            <a:r>
              <a:rPr lang="en-US" b="1" i="0" u="none" kern="1200" baseline="0">
                <a:solidFill>
                  <a:schemeClr val="tx1"/>
                </a:solidFill>
                <a:effectLst/>
                <a:latin typeface="+mn-lt"/>
                <a:ea typeface="+mn-ea"/>
                <a:cs typeface="+mn-cs"/>
              </a:rPr>
              <a:t>KHÔNG CÓ ĐẶC TẢ ĐẦY ĐỦ hay KHÔNG ĐỦ THỜI GIAN </a:t>
            </a:r>
            <a:r>
              <a:rPr lang="en-US" b="1" u="none" baseline="0"/>
              <a:t>để test hết cấu trúc của ct.</a:t>
            </a:r>
          </a:p>
          <a:p>
            <a:pPr marL="0" marR="0" indent="0" algn="l" defTabSz="914400" rtl="0" eaLnBrk="1" fontAlgn="auto" latinLnBrk="0" hangingPunct="1">
              <a:lnSpc>
                <a:spcPct val="100000"/>
              </a:lnSpc>
              <a:spcBef>
                <a:spcPts val="0"/>
              </a:spcBef>
              <a:spcAft>
                <a:spcPts val="0"/>
              </a:spcAft>
              <a:buClrTx/>
              <a:buSzTx/>
              <a:buFontTx/>
              <a:buNone/>
              <a:tabLst/>
              <a:defRPr/>
            </a:pPr>
            <a:r>
              <a:rPr lang="en-US" b="1"/>
              <a:t>- DỰA</a:t>
            </a:r>
            <a:r>
              <a:rPr lang="en-US" b="1" baseline="0"/>
              <a:t> TRÊN KINH NGHIỆM DÙNG KT TỪ ĐƠN GIẢN LÀ </a:t>
            </a:r>
            <a:r>
              <a:rPr lang="en-US" b="0"/>
              <a:t>Error guessing</a:t>
            </a:r>
            <a:r>
              <a:rPr lang="en-US" b="0" baseline="0"/>
              <a:t> (hoặc ad hoc)</a:t>
            </a:r>
            <a:r>
              <a:rPr lang="en-US" b="1" baseline="0"/>
              <a:t> ĐẾN PHỨC TẠP LÀ </a:t>
            </a:r>
            <a:r>
              <a:rPr lang="en-US" b="0"/>
              <a:t>Exploratory</a:t>
            </a:r>
            <a:r>
              <a:rPr lang="en-US" b="1"/>
              <a:t> (</a:t>
            </a:r>
            <a:r>
              <a:rPr lang="en-US" sz="1200" b="0" i="0" kern="1200">
                <a:solidFill>
                  <a:schemeClr val="tx1"/>
                </a:solidFill>
                <a:effectLst/>
                <a:latin typeface="+mn-lt"/>
                <a:ea typeface="+mn-ea"/>
                <a:cs typeface="+mn-cs"/>
              </a:rPr>
              <a:t>/</a:t>
            </a:r>
            <a:r>
              <a:rPr lang="en-US" sz="1200" b="1" i="0" kern="1200">
                <a:solidFill>
                  <a:schemeClr val="tx1"/>
                </a:solidFill>
                <a:effectLst/>
                <a:latin typeface="+mn-lt"/>
                <a:ea typeface="+mn-ea"/>
                <a:cs typeface="+mn-cs"/>
              </a:rPr>
              <a:t>eks´plɔ:rətəri</a:t>
            </a:r>
            <a:r>
              <a:rPr lang="en-US" sz="1200" b="0" i="0" kern="1200">
                <a:solidFill>
                  <a:schemeClr val="tx1"/>
                </a:solidFill>
                <a:effectLst/>
                <a:latin typeface="+mn-lt"/>
                <a:ea typeface="+mn-ea"/>
                <a:cs typeface="+mn-cs"/>
              </a:rPr>
              <a:t>/)</a:t>
            </a:r>
            <a:r>
              <a:rPr lang="en-US" sz="1200" b="0" i="0" kern="1200" baseline="0">
                <a:solidFill>
                  <a:schemeClr val="tx1"/>
                </a:solidFill>
                <a:effectLst/>
                <a:latin typeface="+mn-lt"/>
                <a:ea typeface="+mn-ea"/>
                <a:cs typeface="+mn-cs"/>
              </a:rPr>
              <a:t> </a:t>
            </a:r>
            <a:r>
              <a:rPr lang="en-US" b="0"/>
              <a:t>testing</a:t>
            </a:r>
            <a:r>
              <a:rPr lang="en-US" b="1"/>
              <a:t>, </a:t>
            </a:r>
            <a:r>
              <a:rPr lang="en-US" b="0"/>
              <a:t>nhưng</a:t>
            </a:r>
            <a:r>
              <a:rPr lang="en-US" b="0" baseline="0"/>
              <a:t> tất cả đều khai thác từ tri thức và kinh nghiệm của tester chứ k phải là khảo sát tỉ mỉ hệ thống dựa vào đặc tả.</a:t>
            </a:r>
            <a:endParaRPr lang="en-GB" baseline="0"/>
          </a:p>
        </p:txBody>
      </p:sp>
    </p:spTree>
    <p:extLst>
      <p:ext uri="{BB962C8B-B14F-4D97-AF65-F5344CB8AC3E}">
        <p14:creationId xmlns:p14="http://schemas.microsoft.com/office/powerpoint/2010/main" val="10695828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 Ko luật, ko cần</a:t>
            </a:r>
            <a:r>
              <a:rPr lang="en-US" baseline="0"/>
              <a:t> có trong đặc tả. </a:t>
            </a:r>
            <a:r>
              <a:rPr lang="en-GB"/>
              <a:t>Unscripted: ko có</a:t>
            </a:r>
            <a:r>
              <a:rPr lang="en-GB" baseline="0"/>
              <a:t> bản viết sẵn</a:t>
            </a:r>
            <a:endParaRPr lang="en-US"/>
          </a:p>
          <a:p>
            <a:pPr marL="0" indent="0">
              <a:buFontTx/>
              <a:buNone/>
            </a:pPr>
            <a:r>
              <a:rPr lang="en-US" sz="1200" b="1" i="0" kern="1200">
                <a:solidFill>
                  <a:schemeClr val="tx1"/>
                </a:solidFill>
                <a:effectLst/>
                <a:latin typeface="+mn-lt"/>
                <a:ea typeface="+mn-ea"/>
                <a:cs typeface="+mn-cs"/>
              </a:rPr>
              <a:t>- </a:t>
            </a:r>
            <a:r>
              <a:rPr lang="vi-VN" sz="1200" b="1" i="0" kern="1200">
                <a:solidFill>
                  <a:schemeClr val="tx1"/>
                </a:solidFill>
                <a:effectLst/>
                <a:latin typeface="+mn-lt"/>
                <a:ea typeface="+mn-ea"/>
                <a:cs typeface="+mn-cs"/>
              </a:rPr>
              <a:t>HỌ PHỎNG ĐOÁN</a:t>
            </a:r>
            <a:r>
              <a:rPr lang="en-US" sz="1200" b="1" i="0" kern="1200">
                <a:solidFill>
                  <a:schemeClr val="tx1"/>
                </a:solidFill>
                <a:effectLst/>
                <a:latin typeface="+mn-lt"/>
                <a:ea typeface="+mn-ea"/>
                <a:cs typeface="+mn-cs"/>
              </a:rPr>
              <a:t> CÁC</a:t>
            </a:r>
            <a:r>
              <a:rPr lang="en-US" sz="1200" b="1" i="0" kern="1200" baseline="0">
                <a:solidFill>
                  <a:schemeClr val="tx1"/>
                </a:solidFill>
                <a:effectLst/>
                <a:latin typeface="+mn-lt"/>
                <a:ea typeface="+mn-ea"/>
                <a:cs typeface="+mn-cs"/>
              </a:rPr>
              <a:t> </a:t>
            </a:r>
            <a:r>
              <a:rPr lang="vi-VN" sz="1200" b="1" i="0" kern="1200">
                <a:solidFill>
                  <a:schemeClr val="tx1"/>
                </a:solidFill>
                <a:effectLst/>
                <a:latin typeface="+mn-lt"/>
                <a:ea typeface="+mn-ea"/>
                <a:cs typeface="+mn-cs"/>
              </a:rPr>
              <a:t>LOẠI LỖI CÓ THỂ VÀ SAU ĐÓ VIẾT CÁC CA KIỂM THỬ ĐỂ ĐƯA RA CÁC LỖI ĐÓ</a:t>
            </a:r>
            <a:r>
              <a:rPr lang="en-US" sz="1200" b="1" i="0" kern="1200">
                <a:solidFill>
                  <a:schemeClr val="tx1"/>
                </a:solidFill>
                <a:effectLst/>
                <a:latin typeface="+mn-lt"/>
                <a:ea typeface="+mn-ea"/>
                <a:cs typeface="+mn-cs"/>
              </a:rPr>
              <a:t>. </a:t>
            </a:r>
            <a:r>
              <a:rPr lang="en-US"/>
              <a:t>Tester </a:t>
            </a:r>
            <a:r>
              <a:rPr lang="vi-VN"/>
              <a:t>được khuyến khích nghĩ </a:t>
            </a:r>
            <a:r>
              <a:rPr lang="en-US"/>
              <a:t>ra những</a:t>
            </a:r>
            <a:r>
              <a:rPr lang="vi-VN"/>
              <a:t> tình huống </a:t>
            </a:r>
            <a:r>
              <a:rPr lang="en-US"/>
              <a:t>mà</a:t>
            </a:r>
            <a:r>
              <a:rPr lang="en-US" baseline="0"/>
              <a:t> </a:t>
            </a:r>
            <a:r>
              <a:rPr lang="vi-VN"/>
              <a:t>phần mềm có thể không thể đối phó</a:t>
            </a:r>
            <a:endParaRPr lang="en-US" b="1" baseline="0"/>
          </a:p>
          <a:p>
            <a:pPr marL="457200" lvl="1" indent="0">
              <a:buFontTx/>
              <a:buNone/>
            </a:pPr>
            <a:r>
              <a:rPr lang="en-US" baseline="0"/>
              <a:t>...</a:t>
            </a:r>
          </a:p>
          <a:p>
            <a:pPr marL="0" indent="0">
              <a:buFontTx/>
              <a:buNone/>
            </a:pPr>
            <a:r>
              <a:rPr lang="en-US"/>
              <a:t>- Đc</a:t>
            </a:r>
            <a:r>
              <a:rPr lang="en-US" baseline="0"/>
              <a:t> sd sau khi dùng các kt hệ thống</a:t>
            </a:r>
          </a:p>
          <a:p>
            <a:pPr marL="457200" lvl="1" indent="0">
              <a:buFontTx/>
              <a:buNone/>
            </a:pPr>
            <a:r>
              <a:rPr lang="en-US" b="1" baseline="0"/>
              <a:t>+ SỰ THÀNH CÔNG CỦA ERROR GUESSING PHỤ THUỘC RẤT NHIỀU VÀO KỸ NĂNG CỦA TESTER, MỘT TESTER GIỎI SẼ BIẾT LỖI CÓ KHẢ NĂNG ẨN NẤP Ở ĐÂU NHẤT. MỘT SỐ TESTER GIỎI TỰ NHIÊN (NĂNG KHIẾU), MỘT SỐ GIỎI LÀ DO HỌ CÓ KINH NGHIỆM LÀM TESTER HOẶC ĐC LÀM VIỆC VỚI NHỮNG HỆ THỐNG CỤ THỂ.</a:t>
            </a:r>
          </a:p>
          <a:p>
            <a:pPr marL="0" marR="0" lvl="1" indent="0" algn="l" defTabSz="914400" rtl="0" eaLnBrk="1" fontAlgn="auto" latinLnBrk="0" hangingPunct="1">
              <a:lnSpc>
                <a:spcPct val="100000"/>
              </a:lnSpc>
              <a:spcBef>
                <a:spcPts val="0"/>
              </a:spcBef>
              <a:spcAft>
                <a:spcPts val="0"/>
              </a:spcAft>
              <a:buClrTx/>
              <a:buSzTx/>
              <a:buFontTx/>
              <a:buNone/>
              <a:tabLst/>
              <a:defRPr/>
            </a:pPr>
            <a:r>
              <a:rPr lang="en-US" b="0" baseline="0"/>
              <a:t>- Thường dc sd như là 1 pp bổ trợ cho những pp chính quy.</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US" b="1" baseline="0"/>
          </a:p>
          <a:p>
            <a:pPr marL="0" marR="0" lvl="1" indent="0" algn="l" defTabSz="914400" rtl="0" eaLnBrk="1" fontAlgn="auto" latinLnBrk="0" hangingPunct="1">
              <a:lnSpc>
                <a:spcPct val="100000"/>
              </a:lnSpc>
              <a:spcBef>
                <a:spcPts val="0"/>
              </a:spcBef>
              <a:spcAft>
                <a:spcPts val="0"/>
              </a:spcAft>
              <a:buClrTx/>
              <a:buSzTx/>
              <a:buFontTx/>
              <a:buNone/>
              <a:tabLst/>
              <a:defRPr/>
            </a:pPr>
            <a:endParaRPr lang="en-US" b="1" baseline="0"/>
          </a:p>
          <a:p>
            <a:pPr marL="0" marR="0" lvl="1" indent="0" algn="l" defTabSz="914400" rtl="0" eaLnBrk="1" fontAlgn="auto" latinLnBrk="0" hangingPunct="1">
              <a:lnSpc>
                <a:spcPct val="100000"/>
              </a:lnSpc>
              <a:spcBef>
                <a:spcPts val="0"/>
              </a:spcBef>
              <a:spcAft>
                <a:spcPts val="0"/>
              </a:spcAft>
              <a:buClrTx/>
              <a:buSzTx/>
              <a:buFontTx/>
              <a:buNone/>
              <a:tabLst/>
              <a:defRPr/>
            </a:pPr>
            <a:r>
              <a:rPr lang="en-US" b="1" baseline="0"/>
              <a:t>- ĐIỂM YẾU: HIỆU QUẢ KHÁC NHAU. </a:t>
            </a:r>
            <a:endParaRPr lang="en-US" b="1"/>
          </a:p>
          <a:p>
            <a:pPr marL="0" marR="0" lvl="1" indent="0" algn="l" defTabSz="914400" rtl="0" eaLnBrk="1" fontAlgn="auto" latinLnBrk="0" hangingPunct="1">
              <a:lnSpc>
                <a:spcPct val="100000"/>
              </a:lnSpc>
              <a:spcBef>
                <a:spcPts val="0"/>
              </a:spcBef>
              <a:spcAft>
                <a:spcPts val="0"/>
              </a:spcAft>
              <a:buClrTx/>
              <a:buSzTx/>
              <a:buFontTx/>
              <a:buNone/>
              <a:tabLst/>
              <a:defRPr/>
            </a:pPr>
            <a:r>
              <a:rPr lang="en-US" b="0" baseline="0"/>
              <a:t>- Khắc phục:</a:t>
            </a:r>
          </a:p>
          <a:p>
            <a:pPr marL="457200" marR="0" lvl="2" indent="0" algn="l" defTabSz="914400" rtl="0" eaLnBrk="1" fontAlgn="auto" latinLnBrk="0" hangingPunct="1">
              <a:lnSpc>
                <a:spcPct val="100000"/>
              </a:lnSpc>
              <a:spcBef>
                <a:spcPts val="0"/>
              </a:spcBef>
              <a:spcAft>
                <a:spcPts val="0"/>
              </a:spcAft>
              <a:buClrTx/>
              <a:buSzTx/>
              <a:buFontTx/>
              <a:buNone/>
              <a:tabLst/>
              <a:defRPr/>
            </a:pPr>
            <a:r>
              <a:rPr lang="en-US" b="0" baseline="0"/>
              <a:t>+ Xây dựng trước 1 list các </a:t>
            </a:r>
            <a:r>
              <a:rPr lang="vi-VN" sz="1200" b="0" i="0" kern="1200">
                <a:solidFill>
                  <a:schemeClr val="tx1"/>
                </a:solidFill>
                <a:effectLst/>
                <a:latin typeface="+mn-lt"/>
                <a:ea typeface="+mn-ea"/>
                <a:cs typeface="+mn-cs"/>
              </a:rPr>
              <a:t>lỗi có thể hay các trường hợp dễ xảy ra lỗi và sau đó viết các </a:t>
            </a:r>
            <a:r>
              <a:rPr lang="en-US" b="0" baseline="0"/>
              <a:t>test-case tương ứng </a:t>
            </a:r>
            <a:r>
              <a:rPr lang="vi-VN" sz="1200" b="0" i="0" kern="1200">
                <a:solidFill>
                  <a:schemeClr val="tx1"/>
                </a:solidFill>
                <a:effectLst/>
                <a:latin typeface="+mn-lt"/>
                <a:ea typeface="+mn-ea"/>
                <a:cs typeface="+mn-cs"/>
              </a:rPr>
              <a:t>dựa trên danh sách đó.</a:t>
            </a:r>
            <a:r>
              <a:rPr lang="en-US" b="0" baseline="0"/>
              <a:t> </a:t>
            </a:r>
          </a:p>
          <a:p>
            <a:pPr marL="457200" marR="0" lvl="2" indent="0" algn="l" defTabSz="914400" rtl="0" eaLnBrk="1" fontAlgn="auto" latinLnBrk="0" hangingPunct="1">
              <a:lnSpc>
                <a:spcPct val="100000"/>
              </a:lnSpc>
              <a:spcBef>
                <a:spcPts val="0"/>
              </a:spcBef>
              <a:spcAft>
                <a:spcPts val="0"/>
              </a:spcAft>
              <a:buClrTx/>
              <a:buSzTx/>
              <a:buFontTx/>
              <a:buNone/>
              <a:tabLst/>
              <a:defRPr/>
            </a:pPr>
            <a:r>
              <a:rPr lang="en-US" b="0" baseline="0"/>
              <a:t>+ Tạo list defect và failure và thiết kế test case giải quyết chúng. List này có thể sd dữ liệu defect and failure có sẵn để làm điểm bắt đầu. List này cũng có thể mở rộng bằng cách sd kinh nghiệm của user và tester, hay dữ liệu defect and failure có sẵn,... List này có thể sd như tập test cơ bản sau khi test bằng các pp khác.</a:t>
            </a:r>
          </a:p>
          <a:p>
            <a:pPr marL="457200" marR="0" lvl="2"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Xác định các ca kiểm thử có liên</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đới với các giả định mà lập trình viên có thể đã thực hiện khi đọc đặc tả</a:t>
            </a:r>
            <a:endParaRPr lang="en-US" b="0" baseline="0"/>
          </a:p>
          <a:p>
            <a:pPr marL="0" indent="0">
              <a:buFontTx/>
              <a:buNone/>
            </a:pPr>
            <a:endParaRPr lang="en-US" b="1" baseline="0"/>
          </a:p>
          <a:p>
            <a:pPr marL="0" indent="0">
              <a:buFontTx/>
              <a:buNone/>
            </a:pPr>
            <a:endParaRPr lang="en-US" b="1" baseline="0"/>
          </a:p>
          <a:p>
            <a:pPr marL="0" indent="0">
              <a:buFontTx/>
              <a:buNone/>
            </a:pPr>
            <a:endParaRPr lang="en-US" b="1" baseline="0"/>
          </a:p>
          <a:p>
            <a:pPr marL="0" indent="0">
              <a:buFontTx/>
              <a:buNone/>
            </a:pPr>
            <a:endParaRPr lang="en-US" b="1" baseline="0"/>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vi-VN" sz="1200" b="1" i="0" kern="1200">
                <a:solidFill>
                  <a:schemeClr val="tx1"/>
                </a:solidFill>
                <a:effectLst/>
                <a:latin typeface="+mn-lt"/>
                <a:ea typeface="+mn-ea"/>
                <a:cs typeface="+mn-cs"/>
              </a:rPr>
              <a:t>Random test:</a:t>
            </a:r>
            <a:r>
              <a:rPr lang="vi-VN" sz="1200" b="0" i="0" kern="1200">
                <a:solidFill>
                  <a:schemeClr val="tx1"/>
                </a:solidFill>
                <a:effectLst/>
                <a:latin typeface="+mn-lt"/>
                <a:ea typeface="+mn-ea"/>
                <a:cs typeface="+mn-cs"/>
              </a:rPr>
              <a:t> tức là chọn ngẫu nhiên 1 chức năng, 1 phần nào đó của hệ thống để </a:t>
            </a:r>
            <a:r>
              <a:rPr lang="vi-VN" sz="1200" b="1" i="0" kern="1200">
                <a:solidFill>
                  <a:schemeClr val="tx1"/>
                </a:solidFill>
                <a:effectLst/>
                <a:latin typeface="+mn-lt"/>
                <a:ea typeface="+mn-ea"/>
                <a:cs typeface="+mn-cs"/>
              </a:rPr>
              <a:t>test</a:t>
            </a:r>
            <a:r>
              <a:rPr lang="vi-VN" sz="1200" b="0" i="0" kern="1200">
                <a:solidFill>
                  <a:schemeClr val="tx1"/>
                </a:solidFill>
                <a:effectLst/>
                <a:latin typeface="+mn-lt"/>
                <a:ea typeface="+mn-ea"/>
                <a:cs typeface="+mn-cs"/>
              </a:rPr>
              <a:t>. Thường thì khi dự án gấp mà mình lại bị join vào giai đoạn giữa chừng -&gt; mình nên chọn những chức năng nào mà mình đã có kinh nghiệm </a:t>
            </a:r>
            <a:r>
              <a:rPr lang="vi-VN" sz="1200" b="1" i="0" kern="1200">
                <a:solidFill>
                  <a:schemeClr val="tx1"/>
                </a:solidFill>
                <a:effectLst/>
                <a:latin typeface="+mn-lt"/>
                <a:ea typeface="+mn-ea"/>
                <a:cs typeface="+mn-cs"/>
              </a:rPr>
              <a:t>test</a:t>
            </a:r>
            <a:r>
              <a:rPr lang="vi-VN" sz="1200" b="0" i="0" kern="1200">
                <a:solidFill>
                  <a:schemeClr val="tx1"/>
                </a:solidFill>
                <a:effectLst/>
                <a:latin typeface="+mn-lt"/>
                <a:ea typeface="+mn-ea"/>
                <a:cs typeface="+mn-cs"/>
              </a:rPr>
              <a:t> rồi. </a:t>
            </a:r>
            <a:endParaRPr lang="en-US" sz="1200" b="1" i="0" kern="1200">
              <a:solidFill>
                <a:schemeClr val="tx1"/>
              </a:solidFill>
              <a:effectLst/>
              <a:latin typeface="+mn-lt"/>
              <a:ea typeface="+mn-ea"/>
              <a:cs typeface="+mn-cs"/>
            </a:endParaRP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vi-VN" sz="1200" b="1" i="0" kern="1200">
                <a:solidFill>
                  <a:schemeClr val="tx1"/>
                </a:solidFill>
                <a:effectLst/>
                <a:latin typeface="+mn-lt"/>
                <a:ea typeface="+mn-ea"/>
                <a:cs typeface="+mn-cs"/>
              </a:rPr>
              <a:t>Kỹ thuật đoán bugs:</a:t>
            </a:r>
            <a:r>
              <a:rPr lang="vi-VN" sz="1200" b="0" i="0" kern="1200">
                <a:solidFill>
                  <a:schemeClr val="tx1"/>
                </a:solidFill>
                <a:effectLst/>
                <a:latin typeface="+mn-lt"/>
                <a:ea typeface="+mn-ea"/>
                <a:cs typeface="+mn-cs"/>
              </a:rPr>
              <a:t> mình thường call là kỹ thuật 50/50. Vì đúng với tên gọi của nó là ... chúng ta thực hiện đoán bug. Bình thường, khi bạn </a:t>
            </a:r>
            <a:r>
              <a:rPr lang="vi-VN" sz="1200" b="1" i="0" kern="1200">
                <a:solidFill>
                  <a:schemeClr val="tx1"/>
                </a:solidFill>
                <a:effectLst/>
                <a:latin typeface="+mn-lt"/>
                <a:ea typeface="+mn-ea"/>
                <a:cs typeface="+mn-cs"/>
              </a:rPr>
              <a:t>test</a:t>
            </a:r>
            <a:r>
              <a:rPr lang="vi-VN" sz="1200" b="0" i="0" kern="1200">
                <a:solidFill>
                  <a:schemeClr val="tx1"/>
                </a:solidFill>
                <a:effectLst/>
                <a:latin typeface="+mn-lt"/>
                <a:ea typeface="+mn-ea"/>
                <a:cs typeface="+mn-cs"/>
              </a:rPr>
              <a:t> thì bạn thường </a:t>
            </a:r>
            <a:r>
              <a:rPr lang="vi-VN" sz="1200" b="1" i="0" kern="1200">
                <a:solidFill>
                  <a:schemeClr val="tx1"/>
                </a:solidFill>
                <a:effectLst/>
                <a:latin typeface="+mn-lt"/>
                <a:ea typeface="+mn-ea"/>
                <a:cs typeface="+mn-cs"/>
              </a:rPr>
              <a:t>dựa vào require -&gt; thực hiện test -&gt; bug</a:t>
            </a:r>
            <a:r>
              <a:rPr lang="vi-VN" sz="1200" b="0" i="0" kern="1200">
                <a:solidFill>
                  <a:schemeClr val="tx1"/>
                </a:solidFill>
                <a:effectLst/>
                <a:latin typeface="+mn-lt"/>
                <a:ea typeface="+mn-ea"/>
                <a:cs typeface="+mn-cs"/>
              </a:rPr>
              <a:t>, nhưng kỹ thuật này thì ngược lại bạn </a:t>
            </a:r>
            <a:r>
              <a:rPr lang="vi-VN" sz="1200" b="1" i="0" kern="1200">
                <a:solidFill>
                  <a:schemeClr val="tx1"/>
                </a:solidFill>
                <a:effectLst/>
                <a:latin typeface="+mn-lt"/>
                <a:ea typeface="+mn-ea"/>
                <a:cs typeface="+mn-cs"/>
              </a:rPr>
              <a:t>dựa vào require -&gt; đoán bugs -&gt; thực hiện test</a:t>
            </a:r>
            <a:r>
              <a:rPr lang="vi-VN" sz="1200" b="0" i="0" kern="1200">
                <a:solidFill>
                  <a:schemeClr val="tx1"/>
                </a:solidFill>
                <a:effectLst/>
                <a:latin typeface="+mn-lt"/>
                <a:ea typeface="+mn-ea"/>
                <a:cs typeface="+mn-cs"/>
              </a:rPr>
              <a:t>. Điểm hay của kỹ thuật này là bạn có thể tìm đc bug rất nhanh -&gt; dùng rất tốt với những dự án gấp. Nhưng điểm hay cũng chính là điểm dở của nó, nếu bạn đoán sai bug thì bạn sẽ mất time </a:t>
            </a:r>
            <a:r>
              <a:rPr lang="vi-VN" sz="1200" b="1" i="0" kern="1200">
                <a:solidFill>
                  <a:schemeClr val="tx1"/>
                </a:solidFill>
                <a:effectLst/>
                <a:latin typeface="+mn-lt"/>
                <a:ea typeface="+mn-ea"/>
                <a:cs typeface="+mn-cs"/>
              </a:rPr>
              <a:t>test</a:t>
            </a:r>
            <a:r>
              <a:rPr lang="vi-VN" sz="1200" b="0" i="0" kern="1200">
                <a:solidFill>
                  <a:schemeClr val="tx1"/>
                </a:solidFill>
                <a:effectLst/>
                <a:latin typeface="+mn-lt"/>
                <a:ea typeface="+mn-ea"/>
                <a:cs typeface="+mn-cs"/>
              </a:rPr>
              <a:t> mà k0 thu đc kết quả j</a:t>
            </a:r>
            <a:endParaRPr lang="en-US" b="0"/>
          </a:p>
          <a:p>
            <a:r>
              <a:rPr lang="vi-VN" sz="1200" b="0" i="0" kern="1200">
                <a:solidFill>
                  <a:schemeClr val="tx1"/>
                </a:solidFill>
                <a:effectLst/>
                <a:latin typeface="+mn-lt"/>
                <a:ea typeface="+mn-ea"/>
                <a:cs typeface="+mn-cs"/>
              </a:rPr>
              <a:t>Với 2 kỹ thuật này, đặc biệt là kỹ thuật đoán bugs thì mình khuyến cáo chỉ những tester có kinh nghiệm cảm thấy có thể sử dụng đc thì mới nên sử dụng. Vì thực tế là nó phá vỡ tất cả những quan điểm, suy nghĩ, đức tính (tỉ mỉ, cần mẫn...) mà 1 tester cần có</a:t>
            </a:r>
            <a:endParaRPr lang="en-US"/>
          </a:p>
        </p:txBody>
      </p:sp>
    </p:spTree>
    <p:extLst>
      <p:ext uri="{BB962C8B-B14F-4D97-AF65-F5344CB8AC3E}">
        <p14:creationId xmlns:p14="http://schemas.microsoft.com/office/powerpoint/2010/main" val="37197218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a:t>simultaneously: đồng</a:t>
            </a:r>
            <a:r>
              <a:rPr lang="en-US" baseline="0"/>
              <a:t> thời</a:t>
            </a:r>
            <a:endParaRPr lang="en-US"/>
          </a:p>
          <a:p>
            <a:pPr marL="0" indent="0">
              <a:buFontTx/>
              <a:buNone/>
            </a:pPr>
            <a:r>
              <a:rPr lang="en-US" b="1" baseline="0"/>
              <a:t>THIẾT KẾ TEST VÀ THỰC THI THỰC HIỆN SONG SONG, ĐỒNG THỜI HỌC TỪ NHỮNG LẦN TEST LÀM KINH NGHIỆM CHO NHỮNG TEST TƯƠNG TỰ, </a:t>
            </a:r>
            <a:r>
              <a:rPr lang="en-US" b="0" u="none" baseline="0"/>
              <a:t>ko cần hoặc tối thiểu lập tài liệu cho test condition, test case, test script.</a:t>
            </a:r>
          </a:p>
          <a:p>
            <a:pPr marL="0" indent="0">
              <a:buFontTx/>
              <a:buNone/>
            </a:pPr>
            <a:r>
              <a:rPr lang="en-US" sz="1200" b="1" i="0" kern="1200">
                <a:solidFill>
                  <a:schemeClr val="tx1"/>
                </a:solidFill>
                <a:effectLst/>
                <a:latin typeface="+mn-lt"/>
                <a:ea typeface="+mn-ea"/>
                <a:cs typeface="+mn-cs"/>
              </a:rPr>
              <a:t>+ </a:t>
            </a:r>
            <a:r>
              <a:rPr lang="vi-VN" sz="1200" b="1" i="0" kern="1200">
                <a:solidFill>
                  <a:schemeClr val="tx1"/>
                </a:solidFill>
                <a:effectLst/>
                <a:latin typeface="+mn-lt"/>
                <a:ea typeface="+mn-ea"/>
                <a:cs typeface="+mn-cs"/>
              </a:rPr>
              <a:t>LÀ CÁCH </a:t>
            </a:r>
            <a:r>
              <a:rPr lang="en-US" sz="1200" b="1" i="0" kern="1200">
                <a:solidFill>
                  <a:schemeClr val="tx1"/>
                </a:solidFill>
                <a:effectLst/>
                <a:latin typeface="+mn-lt"/>
                <a:ea typeface="+mn-ea"/>
                <a:cs typeface="+mn-cs"/>
              </a:rPr>
              <a:t>THIÊN</a:t>
            </a:r>
            <a:r>
              <a:rPr lang="en-US" sz="1200" b="1" i="0" kern="1200" baseline="0">
                <a:solidFill>
                  <a:schemeClr val="tx1"/>
                </a:solidFill>
                <a:effectLst/>
                <a:latin typeface="+mn-lt"/>
                <a:ea typeface="+mn-ea"/>
                <a:cs typeface="+mn-cs"/>
              </a:rPr>
              <a:t> VỀ </a:t>
            </a:r>
            <a:r>
              <a:rPr lang="vi-VN" sz="1200" b="1" i="0" kern="1200">
                <a:solidFill>
                  <a:schemeClr val="tx1"/>
                </a:solidFill>
                <a:effectLst/>
                <a:latin typeface="+mn-lt"/>
                <a:ea typeface="+mn-ea"/>
                <a:cs typeface="+mn-cs"/>
              </a:rPr>
              <a:t>TIẾP CẬN </a:t>
            </a:r>
            <a:r>
              <a:rPr lang="en-US" sz="1200" b="1" i="0" kern="1200">
                <a:solidFill>
                  <a:schemeClr val="tx1"/>
                </a:solidFill>
                <a:effectLst/>
                <a:latin typeface="+mn-lt"/>
                <a:ea typeface="+mn-ea"/>
                <a:cs typeface="+mn-cs"/>
              </a:rPr>
              <a:t>THỰC</a:t>
            </a:r>
            <a:r>
              <a:rPr lang="en-US" sz="1200" b="1" i="0" kern="1200" baseline="0">
                <a:solidFill>
                  <a:schemeClr val="tx1"/>
                </a:solidFill>
                <a:effectLst/>
                <a:latin typeface="+mn-lt"/>
                <a:ea typeface="+mn-ea"/>
                <a:cs typeface="+mn-cs"/>
              </a:rPr>
              <a:t> HÀNH, THỰC THI TỐI ĐA, KẾ HOẠCH TỐI THIỂU.</a:t>
            </a:r>
          </a:p>
          <a:p>
            <a:pPr marL="0" indent="0">
              <a:buFontTx/>
              <a:buNone/>
            </a:pPr>
            <a:r>
              <a:rPr lang="en-US" b="1" baseline="0"/>
              <a:t>+ LÀ HƯỚNG TIẾP CẬN BẰNG TAY (KO DÙNG CÔNG CỤ)</a:t>
            </a:r>
          </a:p>
          <a:p>
            <a:pPr marL="0" lvl="0" indent="0">
              <a:buFontTx/>
              <a:buNone/>
            </a:pPr>
            <a:endParaRPr lang="en-US" b="1" baseline="0"/>
          </a:p>
          <a:p>
            <a:pPr marL="0" lvl="0" indent="0">
              <a:buFontTx/>
              <a:buNone/>
            </a:pPr>
            <a:r>
              <a:rPr lang="en-US" sz="1200" kern="1200">
                <a:solidFill>
                  <a:schemeClr val="tx1"/>
                </a:solidFill>
                <a:effectLst/>
                <a:latin typeface="+mn-lt"/>
                <a:ea typeface="+mn-ea"/>
                <a:cs typeface="+mn-cs"/>
              </a:rPr>
              <a:t>Giống như trò chơi 10 câu hỏi Yes/No: 1 người sẽ nghĩ ra 1 người or 1 vật, người còn lại sẽ đặt ra từng câu hỏi cho người kia trả lời Yes/No để đoán người kia nghĩ gì </a:t>
            </a:r>
            <a:r>
              <a:rPr lang="en-US" sz="1200" kern="1200">
                <a:solidFill>
                  <a:schemeClr val="tx1"/>
                </a:solidFill>
                <a:effectLst/>
                <a:latin typeface="+mn-lt"/>
                <a:ea typeface="+mn-ea"/>
                <a:cs typeface="+mn-cs"/>
                <a:sym typeface="Wingdings"/>
              </a:rPr>
              <a:t></a:t>
            </a:r>
            <a:r>
              <a:rPr lang="en-US" sz="1200" kern="1200">
                <a:solidFill>
                  <a:schemeClr val="tx1"/>
                </a:solidFill>
                <a:effectLst/>
                <a:latin typeface="+mn-lt"/>
                <a:ea typeface="+mn-ea"/>
                <a:cs typeface="+mn-cs"/>
              </a:rPr>
              <a:t> sau mỗi câu hỏi người kia sẽ biết nên hỏi câu kế tiếp là gì (nếu 10 câu được chuẩn bị trước (i.e có thiết kế sẵn) thì trò chơi có thể sẽ không thực hiện được)</a:t>
            </a:r>
          </a:p>
          <a:p>
            <a:pPr marL="0" lvl="0" indent="0">
              <a:buFontTx/>
              <a:buNone/>
            </a:pPr>
            <a:endParaRPr lang="en-US" b="1" baseline="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NÓ RẤT HỮU DỤNG KHI KHÔNG</a:t>
            </a:r>
            <a:r>
              <a:rPr lang="en-US" sz="1200" b="1" i="0" kern="1200" baseline="0">
                <a:solidFill>
                  <a:schemeClr val="tx1"/>
                </a:solidFill>
                <a:effectLst/>
                <a:latin typeface="+mn-lt"/>
                <a:ea typeface="+mn-ea"/>
                <a:cs typeface="+mn-cs"/>
              </a:rPr>
              <a:t> </a:t>
            </a:r>
            <a:r>
              <a:rPr lang="en-US" sz="1200" b="1" i="0" kern="1200">
                <a:solidFill>
                  <a:schemeClr val="tx1"/>
                </a:solidFill>
                <a:effectLst/>
                <a:latin typeface="+mn-lt"/>
                <a:ea typeface="+mn-ea"/>
                <a:cs typeface="+mn-cs"/>
              </a:rPr>
              <a:t>CÓ ĐẶC</a:t>
            </a:r>
            <a:r>
              <a:rPr lang="en-US" sz="1200" b="1" i="0" kern="1200" baseline="0">
                <a:solidFill>
                  <a:schemeClr val="tx1"/>
                </a:solidFill>
                <a:effectLst/>
                <a:latin typeface="+mn-lt"/>
                <a:ea typeface="+mn-ea"/>
                <a:cs typeface="+mn-cs"/>
              </a:rPr>
              <a:t> TẢ</a:t>
            </a:r>
            <a:r>
              <a:rPr lang="en-US" sz="1200" b="1" i="0" kern="1200">
                <a:solidFill>
                  <a:schemeClr val="tx1"/>
                </a:solidFill>
                <a:effectLst/>
                <a:latin typeface="+mn-lt"/>
                <a:ea typeface="+mn-ea"/>
                <a:cs typeface="+mn-cs"/>
              </a:rPr>
              <a:t> HAY ĐẶC</a:t>
            </a:r>
            <a:r>
              <a:rPr lang="en-US" sz="1200" b="1" i="0" kern="1200" baseline="0">
                <a:solidFill>
                  <a:schemeClr val="tx1"/>
                </a:solidFill>
                <a:effectLst/>
                <a:latin typeface="+mn-lt"/>
                <a:ea typeface="+mn-ea"/>
                <a:cs typeface="+mn-cs"/>
              </a:rPr>
              <a:t> TẢ TỆ</a:t>
            </a:r>
            <a:r>
              <a:rPr lang="en-US" sz="1200" b="1" i="0" kern="1200">
                <a:solidFill>
                  <a:schemeClr val="tx1"/>
                </a:solidFill>
                <a:effectLst/>
                <a:latin typeface="+mn-lt"/>
                <a:ea typeface="+mn-ea"/>
                <a:cs typeface="+mn-cs"/>
              </a:rPr>
              <a:t> VÀ KHI THỜI GIAN BỊ HẠN CHẾ</a:t>
            </a:r>
            <a:r>
              <a:rPr lang="en-US" sz="1200" b="0" i="0" kern="1200">
                <a:solidFill>
                  <a:schemeClr val="tx1"/>
                </a:solidFill>
                <a:effectLst/>
                <a:latin typeface="+mn-lt"/>
                <a:ea typeface="+mn-ea"/>
                <a:cs typeface="+mn-cs"/>
              </a:rPr>
              <a:t>. </a:t>
            </a:r>
            <a:endParaRPr lang="en-US" sz="1200" b="1" i="0" kern="1200">
              <a:solidFill>
                <a:schemeClr val="tx1"/>
              </a:solidFill>
              <a:effectLst/>
              <a:latin typeface="+mn-lt"/>
              <a:ea typeface="+mn-ea"/>
              <a:cs typeface="+mn-cs"/>
            </a:endParaRPr>
          </a:p>
          <a:p>
            <a:pPr marL="0" lvl="0" indent="0">
              <a:buFontTx/>
              <a:buNone/>
            </a:pPr>
            <a:endParaRPr lang="en-US" b="1" baseline="0"/>
          </a:p>
          <a:p>
            <a:r>
              <a:rPr lang="en-US" sz="1200" kern="1200">
                <a:solidFill>
                  <a:schemeClr val="tx1"/>
                </a:solidFill>
                <a:effectLst/>
                <a:latin typeface="+mn-lt"/>
                <a:ea typeface="+mn-ea"/>
                <a:cs typeface="+mn-cs"/>
              </a:rPr>
              <a:t>Các thành phần của kiểm thử ET gồm (sách Web testing):</a:t>
            </a:r>
          </a:p>
          <a:p>
            <a:r>
              <a:rPr lang="en-US" sz="1200" kern="1200">
                <a:solidFill>
                  <a:schemeClr val="tx1"/>
                </a:solidFill>
                <a:effectLst/>
                <a:latin typeface="+mn-lt"/>
                <a:ea typeface="+mn-ea"/>
                <a:cs typeface="+mn-cs"/>
              </a:rPr>
              <a:t>+ Thăm dò sản phẩm</a:t>
            </a:r>
          </a:p>
          <a:p>
            <a:r>
              <a:rPr lang="en-US" sz="1200" kern="1200">
                <a:solidFill>
                  <a:schemeClr val="tx1"/>
                </a:solidFill>
                <a:effectLst/>
                <a:latin typeface="+mn-lt"/>
                <a:ea typeface="+mn-ea"/>
                <a:cs typeface="+mn-cs"/>
              </a:rPr>
              <a:t>+ Thiết kế kiểm thử</a:t>
            </a:r>
          </a:p>
          <a:p>
            <a:r>
              <a:rPr lang="en-US" sz="1200" kern="1200">
                <a:solidFill>
                  <a:schemeClr val="tx1"/>
                </a:solidFill>
                <a:effectLst/>
                <a:latin typeface="+mn-lt"/>
                <a:ea typeface="+mn-ea"/>
                <a:cs typeface="+mn-cs"/>
              </a:rPr>
              <a:t>+ Thực thi kiểm thử</a:t>
            </a:r>
          </a:p>
          <a:p>
            <a:r>
              <a:rPr lang="en-US" sz="1200" kern="1200">
                <a:solidFill>
                  <a:schemeClr val="tx1"/>
                </a:solidFill>
                <a:effectLst/>
                <a:latin typeface="+mn-lt"/>
                <a:ea typeface="+mn-ea"/>
                <a:cs typeface="+mn-cs"/>
              </a:rPr>
              <a:t>+ Rút kinh nghiệm</a:t>
            </a:r>
          </a:p>
          <a:p>
            <a:r>
              <a:rPr lang="en-US" sz="1200" kern="1200">
                <a:solidFill>
                  <a:schemeClr val="tx1"/>
                </a:solidFill>
                <a:effectLst/>
                <a:latin typeface="+mn-lt"/>
                <a:ea typeface="+mn-ea"/>
                <a:cs typeface="+mn-cs"/>
              </a:rPr>
              <a:t>+ Xem xét lại kết quả</a:t>
            </a:r>
          </a:p>
          <a:p>
            <a:pPr marL="0" lvl="0" indent="0">
              <a:buFontTx/>
              <a:buNone/>
            </a:pPr>
            <a:endParaRPr lang="en-US" b="1" baseline="0"/>
          </a:p>
          <a:p>
            <a:pPr marL="0" lvl="0" indent="0">
              <a:buFontTx/>
              <a:buNone/>
            </a:pPr>
            <a:r>
              <a:rPr lang="en-US"/>
              <a:t>- CẦN PHÂN BIỆT PP NÀY VỚI ad hoc testing (often denotes sloppy (tuỳ tiện), careless (cẩu thả), unfocused, random, and unskilled testing – Lee Copeland)</a:t>
            </a:r>
            <a:endParaRPr lang="en-US" b="1" baseline="0"/>
          </a:p>
        </p:txBody>
      </p:sp>
      <p:sp>
        <p:nvSpPr>
          <p:cNvPr id="4" name="Slide Number Placeholder 3"/>
          <p:cNvSpPr>
            <a:spLocks noGrp="1"/>
          </p:cNvSpPr>
          <p:nvPr>
            <p:ph type="sldNum" sz="quarter" idx="10"/>
          </p:nvPr>
        </p:nvSpPr>
        <p:spPr/>
        <p:txBody>
          <a:bodyPr/>
          <a:lstStyle/>
          <a:p>
            <a:fld id="{92216B3B-382B-4A1B-8470-BE5900B3D83F}" type="slidenum">
              <a:rPr lang="en-US" smtClean="0"/>
              <a:pPr/>
              <a:t>39</a:t>
            </a:fld>
            <a:endParaRPr lang="en-US"/>
          </a:p>
        </p:txBody>
      </p:sp>
    </p:spTree>
    <p:extLst>
      <p:ext uri="{BB962C8B-B14F-4D97-AF65-F5344CB8AC3E}">
        <p14:creationId xmlns:p14="http://schemas.microsoft.com/office/powerpoint/2010/main" val="23224287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63B9007-0201-49BE-A587-7F882848EC05}" type="slidenum">
              <a:rPr lang="en-US" smtClean="0">
                <a:solidFill>
                  <a:prstClr val="black"/>
                </a:solidFill>
              </a:rPr>
              <a:pPr/>
              <a:t>40</a:t>
            </a:fld>
            <a:endParaRPr lang="en-US">
              <a:solidFill>
                <a:prstClr val="black"/>
              </a:solidFill>
            </a:endParaRPr>
          </a:p>
        </p:txBody>
      </p:sp>
    </p:spTree>
    <p:extLst>
      <p:ext uri="{BB962C8B-B14F-4D97-AF65-F5344CB8AC3E}">
        <p14:creationId xmlns:p14="http://schemas.microsoft.com/office/powerpoint/2010/main" val="17291142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Mỗi kỹ thuật tốt cho những thứ </a:t>
            </a:r>
            <a:r>
              <a:rPr lang="en-US" sz="1200" b="0" i="0" kern="1200">
                <a:solidFill>
                  <a:schemeClr val="tx1"/>
                </a:solidFill>
                <a:effectLst/>
                <a:latin typeface="+mn-lt"/>
                <a:ea typeface="+mn-ea"/>
                <a:cs typeface="+mn-cs"/>
              </a:rPr>
              <a:t>nào</a:t>
            </a:r>
            <a:r>
              <a:rPr lang="en-US" sz="1200" b="0" i="0" kern="1200" baseline="0">
                <a:solidFill>
                  <a:schemeClr val="tx1"/>
                </a:solidFill>
                <a:effectLst/>
                <a:latin typeface="+mn-lt"/>
                <a:ea typeface="+mn-ea"/>
                <a:cs typeface="+mn-cs"/>
              </a:rPr>
              <a:t> đó</a:t>
            </a:r>
            <a:r>
              <a:rPr lang="vi-VN" sz="1200" b="0" i="0" kern="1200">
                <a:solidFill>
                  <a:schemeClr val="tx1"/>
                </a:solidFill>
                <a:effectLst/>
                <a:latin typeface="+mn-lt"/>
                <a:ea typeface="+mn-ea"/>
                <a:cs typeface="+mn-cs"/>
              </a:rPr>
              <a:t>, và không phải là tốt cho những thứ khác</a:t>
            </a:r>
            <a:r>
              <a:rPr lang="en-US" sz="1200" b="0" i="0" kern="1200">
                <a:solidFill>
                  <a:schemeClr val="tx1"/>
                </a:solidFill>
                <a:effectLst/>
                <a:latin typeface="+mn-lt"/>
                <a:ea typeface="+mn-ea"/>
                <a:cs typeface="+mn-cs"/>
              </a:rPr>
              <a:t>.</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baseline="0"/>
              <a:t>+ chẳng hạn, đv kt hộp trắng, cta có thể xem code và test dc hết các th của code, NHƯNG NẾU CODE ĐÓ BỎ SÓT MỘT ĐẶC TẢ NÀO ĐÓ mà chỉ có sd đặc tả thì mới phát hiện ra error thì như vậy chỉ dùng kt hộp trắng thì k triệt để, khi đó chỉ phải dùng kt hộp đen. </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1" baseline="0"/>
              <a:t>+ HAY NẾU 1 VẤN ĐỀ NÀO ĐÓ K </a:t>
            </a:r>
            <a:r>
              <a:rPr lang="vi-VN" b="1" baseline="0"/>
              <a:t>ĐƯỢ</a:t>
            </a:r>
            <a:r>
              <a:rPr lang="en-US" b="1" baseline="0"/>
              <a:t>C CODING VÀ CŨNG K CÓ TRONG ĐẶC TẢ, THÌ KHI ĐÓ DÙNG KT KINH NGHIỆM LÀ TỐI ƯU.</a:t>
            </a: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a:t>- KT tốt nhất là k nên dùng đơn độc 1 KT nào. </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0" baseline="0"/>
              <a:t>+ Vì mỗi kt tốt cho việc tìm 1 lớp defect nào đó. For example, state transition testing is unlikely to find boundary defects. </a:t>
            </a:r>
            <a:r>
              <a:rPr lang="en-US" b="1" baseline="0"/>
              <a:t>Do đó s</a:t>
            </a:r>
            <a:r>
              <a:rPr lang="vi-VN" sz="1200" b="1" i="0" kern="1200">
                <a:solidFill>
                  <a:schemeClr val="tx1"/>
                </a:solidFill>
                <a:effectLst/>
                <a:latin typeface="+mn-lt"/>
                <a:ea typeface="+mn-ea"/>
                <a:cs typeface="+mn-cs"/>
              </a:rPr>
              <a:t>ử dụng nhiều kỹ thuật sẽ giúp đảm bảo rằng </a:t>
            </a:r>
            <a:r>
              <a:rPr lang="en-US" sz="1200" b="1" i="0" kern="1200">
                <a:solidFill>
                  <a:schemeClr val="tx1"/>
                </a:solidFill>
                <a:effectLst/>
                <a:latin typeface="+mn-lt"/>
                <a:ea typeface="+mn-ea"/>
                <a:cs typeface="+mn-cs"/>
              </a:rPr>
              <a:t>nhiều</a:t>
            </a:r>
            <a:r>
              <a:rPr lang="vi-VN" sz="1200" b="1"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loại</a:t>
            </a:r>
            <a:r>
              <a:rPr lang="en-US" sz="1200" b="1" i="0" kern="1200" baseline="0">
                <a:solidFill>
                  <a:schemeClr val="tx1"/>
                </a:solidFill>
                <a:effectLst/>
                <a:latin typeface="+mn-lt"/>
                <a:ea typeface="+mn-ea"/>
                <a:cs typeface="+mn-cs"/>
              </a:rPr>
              <a:t> </a:t>
            </a:r>
            <a:r>
              <a:rPr lang="en-US" sz="1200" b="1" i="0" kern="1200">
                <a:solidFill>
                  <a:schemeClr val="tx1"/>
                </a:solidFill>
                <a:effectLst/>
                <a:latin typeface="+mn-lt"/>
                <a:ea typeface="+mn-ea"/>
                <a:cs typeface="+mn-cs"/>
              </a:rPr>
              <a:t>defect </a:t>
            </a:r>
            <a:r>
              <a:rPr lang="vi-VN" sz="1200" b="1" i="0" kern="1200">
                <a:solidFill>
                  <a:schemeClr val="tx1"/>
                </a:solidFill>
                <a:effectLst/>
                <a:latin typeface="+mn-lt"/>
                <a:ea typeface="+mn-ea"/>
                <a:cs typeface="+mn-cs"/>
              </a:rPr>
              <a:t>được tìm thấy, kết quả </a:t>
            </a:r>
            <a:r>
              <a:rPr lang="en-US" sz="1200" b="1" i="0" kern="1200">
                <a:solidFill>
                  <a:schemeClr val="tx1"/>
                </a:solidFill>
                <a:effectLst/>
                <a:latin typeface="+mn-lt"/>
                <a:ea typeface="+mn-ea"/>
                <a:cs typeface="+mn-cs"/>
              </a:rPr>
              <a:t>là</a:t>
            </a:r>
            <a:r>
              <a:rPr lang="en-US" sz="1200" b="1" i="0" kern="1200" baseline="0">
                <a:solidFill>
                  <a:schemeClr val="tx1"/>
                </a:solidFill>
                <a:effectLst/>
                <a:latin typeface="+mn-lt"/>
                <a:ea typeface="+mn-ea"/>
                <a:cs typeface="+mn-cs"/>
              </a:rPr>
              <a:t> </a:t>
            </a:r>
            <a:r>
              <a:rPr lang="vi-VN" sz="1200" b="1" i="0" kern="1200">
                <a:solidFill>
                  <a:schemeClr val="tx1"/>
                </a:solidFill>
                <a:effectLst/>
                <a:latin typeface="+mn-lt"/>
                <a:ea typeface="+mn-ea"/>
                <a:cs typeface="+mn-cs"/>
              </a:rPr>
              <a:t>thử nghiệm hiệu quả hơn.</a:t>
            </a:r>
            <a:endParaRPr lang="en-US" sz="1200" b="1" i="0" kern="1200">
              <a:solidFill>
                <a:schemeClr val="tx1"/>
              </a:solidFill>
              <a:effectLst/>
              <a:latin typeface="+mn-lt"/>
              <a:ea typeface="+mn-ea"/>
              <a:cs typeface="+mn-cs"/>
            </a:endParaRPr>
          </a:p>
          <a:p>
            <a:pPr marL="171450" marR="0" indent="-171450" algn="l" defTabSz="914400" rtl="0" eaLnBrk="1" fontAlgn="auto" latinLnBrk="0" hangingPunct="1">
              <a:lnSpc>
                <a:spcPct val="100000"/>
              </a:lnSpc>
              <a:spcBef>
                <a:spcPts val="0"/>
              </a:spcBef>
              <a:spcAft>
                <a:spcPts val="0"/>
              </a:spcAft>
              <a:buClrTx/>
              <a:buSzTx/>
              <a:buFontTx/>
              <a:buChar char="-"/>
              <a:tabLst/>
              <a:defRPr/>
            </a:pPr>
            <a:endParaRPr lang="en-US" sz="1200" b="0" i="0" kern="1200">
              <a:solidFill>
                <a:schemeClr val="tx1"/>
              </a:solidFill>
              <a:effectLst/>
              <a:latin typeface="+mn-lt"/>
              <a:ea typeface="+mn-ea"/>
              <a:cs typeface="+mn-cs"/>
            </a:endParaRPr>
          </a:p>
          <a:p>
            <a:pPr marL="171450" marR="0" indent="-171450" algn="l" defTabSz="914400" rtl="0" eaLnBrk="1" fontAlgn="auto" latinLnBrk="0" hangingPunct="1">
              <a:lnSpc>
                <a:spcPct val="100000"/>
              </a:lnSpc>
              <a:spcBef>
                <a:spcPts val="0"/>
              </a:spcBef>
              <a:spcAft>
                <a:spcPts val="0"/>
              </a:spcAft>
              <a:buClrTx/>
              <a:buSzTx/>
              <a:buFontTx/>
              <a:buChar char="-"/>
              <a:tabLst/>
              <a:defRPr/>
            </a:pPr>
            <a:endParaRPr lang="en-US" sz="1200" b="0" i="0" kern="1200">
              <a:solidFill>
                <a:schemeClr val="tx1"/>
              </a:solidFill>
              <a:effectLst/>
              <a:latin typeface="+mn-lt"/>
              <a:ea typeface="+mn-ea"/>
              <a:cs typeface="+mn-cs"/>
            </a:endParaRPr>
          </a:p>
          <a:p>
            <a:pPr marL="171450" marR="0" indent="-171450" algn="l" defTabSz="914400" rtl="0" eaLnBrk="1" fontAlgn="auto" latinLnBrk="0" hangingPunct="1">
              <a:lnSpc>
                <a:spcPct val="100000"/>
              </a:lnSpc>
              <a:spcBef>
                <a:spcPts val="0"/>
              </a:spcBef>
              <a:spcAft>
                <a:spcPts val="0"/>
              </a:spcAft>
              <a:buClrTx/>
              <a:buSzTx/>
              <a:buFontTx/>
              <a:buChar char="-"/>
              <a:tabLst/>
              <a:defRPr/>
            </a:pPr>
            <a:endParaRPr lang="en-US" sz="1200" b="0" i="0" kern="1200">
              <a:solidFill>
                <a:schemeClr val="tx1"/>
              </a:solidFill>
              <a:effectLst/>
              <a:latin typeface="+mn-lt"/>
              <a:ea typeface="+mn-ea"/>
              <a:cs typeface="+mn-cs"/>
            </a:endParaRPr>
          </a:p>
          <a:p>
            <a:pPr marL="171450" marR="0" indent="-171450" algn="l" defTabSz="914400" rtl="0" eaLnBrk="1" fontAlgn="auto" latinLnBrk="0" hangingPunct="1">
              <a:lnSpc>
                <a:spcPct val="100000"/>
              </a:lnSpc>
              <a:spcBef>
                <a:spcPts val="0"/>
              </a:spcBef>
              <a:spcAft>
                <a:spcPts val="0"/>
              </a:spcAft>
              <a:buClrTx/>
              <a:buSzTx/>
              <a:buFontTx/>
              <a:buChar char="-"/>
              <a:tabLst/>
              <a:defRPr/>
            </a:pPr>
            <a:endParaRPr lang="en-US" sz="1200" b="0" i="0" kern="120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a:t>
            </a:r>
            <a:r>
              <a:rPr lang="en-US" sz="1200" b="0" i="0" kern="1200" baseline="0">
                <a:solidFill>
                  <a:schemeClr val="tx1"/>
                </a:solidFill>
                <a:effectLst/>
                <a:latin typeface="+mn-lt"/>
                <a:ea typeface="+mn-ea"/>
                <a:cs typeface="+mn-cs"/>
              </a:rPr>
              <a:t> </a:t>
            </a:r>
            <a:r>
              <a:rPr lang="en-US" sz="1200" b="0" i="0" kern="1200">
                <a:solidFill>
                  <a:schemeClr val="tx1"/>
                </a:solidFill>
                <a:effectLst/>
                <a:latin typeface="+mn-lt"/>
                <a:ea typeface="+mn-ea"/>
                <a:cs typeface="+mn-cs"/>
              </a:rPr>
              <a:t>Sự</a:t>
            </a:r>
            <a:r>
              <a:rPr lang="en-US" sz="1200" b="0" i="0" kern="1200" baseline="0">
                <a:solidFill>
                  <a:schemeClr val="tx1"/>
                </a:solidFill>
                <a:effectLst/>
                <a:latin typeface="+mn-lt"/>
                <a:ea typeface="+mn-ea"/>
                <a:cs typeface="+mn-cs"/>
              </a:rPr>
              <a:t> lựa chọn phụ thuộc vào: </a:t>
            </a:r>
            <a:r>
              <a:rPr lang="vi-VN" sz="1200" b="0" i="0" kern="1200">
                <a:solidFill>
                  <a:schemeClr val="tx1"/>
                </a:solidFill>
                <a:effectLst/>
                <a:latin typeface="+mn-lt"/>
                <a:ea typeface="+mn-ea"/>
                <a:cs typeface="+mn-cs"/>
              </a:rPr>
              <a:t>các loại hệ thống, tiêu chuẩn quy định, khách hàng hoặc yêu cầu hợp đồng, mức độ rủi ro, các loại rủi ro, </a:t>
            </a:r>
            <a:r>
              <a:rPr lang="en-US" sz="1200" b="0" i="0" kern="1200">
                <a:solidFill>
                  <a:schemeClr val="tx1"/>
                </a:solidFill>
                <a:effectLst/>
                <a:latin typeface="+mn-lt"/>
                <a:ea typeface="+mn-ea"/>
                <a:cs typeface="+mn-cs"/>
              </a:rPr>
              <a:t>mục</a:t>
            </a:r>
            <a:r>
              <a:rPr lang="en-US" sz="1200" b="0" i="0" kern="1200" baseline="0">
                <a:solidFill>
                  <a:schemeClr val="tx1"/>
                </a:solidFill>
                <a:effectLst/>
                <a:latin typeface="+mn-lt"/>
                <a:ea typeface="+mn-ea"/>
                <a:cs typeface="+mn-cs"/>
              </a:rPr>
              <a:t> tiêu test, </a:t>
            </a:r>
            <a:r>
              <a:rPr lang="vi-VN" sz="1200" b="0" i="0" kern="1200">
                <a:solidFill>
                  <a:schemeClr val="tx1"/>
                </a:solidFill>
                <a:effectLst/>
                <a:latin typeface="+mn-lt"/>
                <a:ea typeface="+mn-ea"/>
                <a:cs typeface="+mn-cs"/>
              </a:rPr>
              <a:t>tài liệu hướng dẫn</a:t>
            </a:r>
            <a:r>
              <a:rPr lang="en-US" sz="1200" b="0" i="0" kern="1200">
                <a:solidFill>
                  <a:schemeClr val="tx1"/>
                </a:solidFill>
                <a:effectLst/>
                <a:latin typeface="+mn-lt"/>
                <a:ea typeface="+mn-ea"/>
                <a:cs typeface="+mn-cs"/>
              </a:rPr>
              <a:t> sẵn</a:t>
            </a:r>
            <a:r>
              <a:rPr lang="en-US" sz="1200" b="0" i="0" kern="1200" baseline="0">
                <a:solidFill>
                  <a:schemeClr val="tx1"/>
                </a:solidFill>
                <a:effectLst/>
                <a:latin typeface="+mn-lt"/>
                <a:ea typeface="+mn-ea"/>
                <a:cs typeface="+mn-cs"/>
              </a:rPr>
              <a:t> có</a:t>
            </a:r>
            <a:r>
              <a:rPr lang="vi-VN" sz="1200" b="0" i="0" kern="1200">
                <a:solidFill>
                  <a:schemeClr val="tx1"/>
                </a:solidFill>
                <a:effectLst/>
                <a:latin typeface="+mn-lt"/>
                <a:ea typeface="+mn-ea"/>
                <a:cs typeface="+mn-cs"/>
              </a:rPr>
              <a:t>, kiến ​​thức</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của </a:t>
            </a:r>
            <a:r>
              <a:rPr lang="en-US" sz="1200" b="0" i="0" kern="1200">
                <a:solidFill>
                  <a:schemeClr val="tx1"/>
                </a:solidFill>
                <a:effectLst/>
                <a:latin typeface="+mn-lt"/>
                <a:ea typeface="+mn-ea"/>
                <a:cs typeface="+mn-cs"/>
              </a:rPr>
              <a:t>tester</a:t>
            </a:r>
            <a:r>
              <a:rPr lang="vi-VN" sz="1200" b="0" i="0" kern="1200">
                <a:solidFill>
                  <a:schemeClr val="tx1"/>
                </a:solidFill>
                <a:effectLst/>
                <a:latin typeface="+mn-lt"/>
                <a:ea typeface="+mn-ea"/>
                <a:cs typeface="+mn-cs"/>
              </a:rPr>
              <a:t>, thời gian và</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ngân sách, chu kỳ phát triển </a:t>
            </a:r>
            <a:r>
              <a:rPr lang="en-US" sz="1200" b="0" i="0" kern="1200">
                <a:solidFill>
                  <a:schemeClr val="tx1"/>
                </a:solidFill>
                <a:effectLst/>
                <a:latin typeface="+mn-lt"/>
                <a:ea typeface="+mn-ea"/>
                <a:cs typeface="+mn-cs"/>
              </a:rPr>
              <a:t>PM</a:t>
            </a:r>
            <a:r>
              <a:rPr lang="vi-VN" sz="1200" b="0" i="0" kern="1200">
                <a:solidFill>
                  <a:schemeClr val="tx1"/>
                </a:solidFill>
                <a:effectLst/>
                <a:latin typeface="+mn-lt"/>
                <a:ea typeface="+mn-ea"/>
                <a:cs typeface="+mn-cs"/>
              </a:rPr>
              <a:t>, sử dụng các </a:t>
            </a:r>
            <a:r>
              <a:rPr lang="en-US" sz="1200" b="0" i="0" kern="1200">
                <a:solidFill>
                  <a:schemeClr val="tx1"/>
                </a:solidFill>
                <a:effectLst/>
                <a:latin typeface="+mn-lt"/>
                <a:ea typeface="+mn-ea"/>
                <a:cs typeface="+mn-cs"/>
              </a:rPr>
              <a:t>use case</a:t>
            </a:r>
            <a:r>
              <a:rPr lang="vi-VN" sz="1200" b="0" i="0" kern="1200">
                <a:solidFill>
                  <a:schemeClr val="tx1"/>
                </a:solidFill>
                <a:effectLst/>
                <a:latin typeface="+mn-lt"/>
                <a:ea typeface="+mn-ea"/>
                <a:cs typeface="+mn-cs"/>
              </a:rPr>
              <a:t> và kinh</a:t>
            </a:r>
            <a:r>
              <a:rPr lang="en-US" sz="1200" b="0" i="0" kern="1200">
                <a:solidFill>
                  <a:schemeClr val="tx1"/>
                </a:solidFill>
                <a:effectLst/>
                <a:latin typeface="+mn-lt"/>
                <a:ea typeface="+mn-ea"/>
                <a:cs typeface="+mn-cs"/>
              </a:rPr>
              <a:t> n</a:t>
            </a:r>
            <a:r>
              <a:rPr lang="vi-VN" sz="1200" b="0" i="0" kern="1200">
                <a:solidFill>
                  <a:schemeClr val="tx1"/>
                </a:solidFill>
                <a:effectLst/>
                <a:latin typeface="+mn-lt"/>
                <a:ea typeface="+mn-ea"/>
                <a:cs typeface="+mn-cs"/>
              </a:rPr>
              <a:t>ghiệm trước đây của các loại lỗi được tìm thấy.</a:t>
            </a:r>
            <a:endParaRPr lang="en-US" sz="1200" b="0" i="0" kern="1200">
              <a:solidFill>
                <a:schemeClr val="tx1"/>
              </a:solidFill>
              <a:effectLst/>
              <a:latin typeface="+mn-lt"/>
              <a:ea typeface="+mn-ea"/>
              <a:cs typeface="+mn-cs"/>
            </a:endParaRPr>
          </a:p>
          <a:p>
            <a:r>
              <a:rPr lang="en-US" b="0"/>
              <a:t> </a:t>
            </a:r>
          </a:p>
          <a:p>
            <a:r>
              <a:rPr lang="en-US"/>
              <a:t>(1) </a:t>
            </a:r>
            <a:r>
              <a:rPr lang="en-US" b="1"/>
              <a:t>Always make functional testing the ﬁrst priority.</a:t>
            </a:r>
            <a:r>
              <a:rPr lang="en-US"/>
              <a:t> It may be necessary to test</a:t>
            </a:r>
          </a:p>
          <a:p>
            <a:r>
              <a:rPr lang="en-US"/>
              <a:t>early code products using structural techniques, but we only really learn about</a:t>
            </a:r>
          </a:p>
          <a:p>
            <a:r>
              <a:rPr lang="en-US"/>
              <a:t>the quality of software when we can see what it does.</a:t>
            </a:r>
          </a:p>
          <a:p>
            <a:r>
              <a:rPr lang="en-US"/>
              <a:t>(2) When basic functional testing is complete that is a good time to think about</a:t>
            </a:r>
          </a:p>
          <a:p>
            <a:r>
              <a:rPr lang="en-US" b="1"/>
              <a:t>test coverage</a:t>
            </a:r>
            <a:r>
              <a:rPr lang="en-US"/>
              <a:t>. Have you exercised all the functions, all the requirements, all the</a:t>
            </a:r>
          </a:p>
          <a:p>
            <a:r>
              <a:rPr lang="en-US"/>
              <a:t>code? Coverage measures deﬁned at the beginning as exit criteria can now</a:t>
            </a:r>
          </a:p>
          <a:p>
            <a:r>
              <a:rPr lang="en-US"/>
              <a:t>come into play. Where coverage is inadequate extra tests will be needed.</a:t>
            </a:r>
          </a:p>
          <a:p>
            <a:r>
              <a:rPr lang="en-US"/>
              <a:t>(3) Use structural methods to supplement functional methods where possible.</a:t>
            </a:r>
          </a:p>
          <a:p>
            <a:r>
              <a:rPr lang="en-US"/>
              <a:t>Even if functional coverage is adequate, it will usually be worth checking </a:t>
            </a:r>
          </a:p>
          <a:p>
            <a:r>
              <a:rPr lang="en-US"/>
              <a:t>statement and decision coverage to ensure that enough of the code has been</a:t>
            </a:r>
          </a:p>
          <a:p>
            <a:r>
              <a:rPr lang="en-US"/>
              <a:t>exercised during testing. </a:t>
            </a:r>
          </a:p>
          <a:p>
            <a:r>
              <a:rPr lang="en-US"/>
              <a:t>(4) Once systematic testing is complete there is an opportunity to </a:t>
            </a:r>
            <a:r>
              <a:rPr lang="en-US" b="1"/>
              <a:t>use </a:t>
            </a:r>
          </a:p>
          <a:p>
            <a:r>
              <a:rPr lang="en-US" b="1"/>
              <a:t>experience-based techniques</a:t>
            </a:r>
            <a:r>
              <a:rPr lang="en-US"/>
              <a:t> to ensure that all the most important and </a:t>
            </a:r>
          </a:p>
          <a:p>
            <a:r>
              <a:rPr lang="en-US"/>
              <a:t>most error-prone areas of the software have been exercised. In some </a:t>
            </a:r>
          </a:p>
          <a:p>
            <a:r>
              <a:rPr lang="en-US"/>
              <a:t>circumstances, such as poor speciﬁcations or time pressure, experience-</a:t>
            </a:r>
          </a:p>
          <a:p>
            <a:r>
              <a:rPr lang="en-US"/>
              <a:t>based testing may be the only viable option.</a:t>
            </a:r>
          </a:p>
        </p:txBody>
      </p:sp>
    </p:spTree>
    <p:extLst>
      <p:ext uri="{BB962C8B-B14F-4D97-AF65-F5344CB8AC3E}">
        <p14:creationId xmlns:p14="http://schemas.microsoft.com/office/powerpoint/2010/main" val="7748530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a:t>SV tự</a:t>
            </a:r>
            <a:r>
              <a:rPr lang="en-US" baseline="0"/>
              <a:t> tìm hiểu</a:t>
            </a:r>
            <a:endParaRPr lang="en-US"/>
          </a:p>
          <a:p>
            <a:pPr marL="0" indent="0">
              <a:buFontTx/>
              <a:buNone/>
            </a:pPr>
            <a:r>
              <a:rPr lang="en-US" b="1"/>
              <a:t>-</a:t>
            </a:r>
            <a:r>
              <a:rPr lang="en-US" b="1" baseline="0"/>
              <a:t> </a:t>
            </a:r>
            <a:r>
              <a:rPr lang="en-US" b="1"/>
              <a:t>Models used</a:t>
            </a:r>
            <a:r>
              <a:rPr lang="en-US"/>
              <a:t>: </a:t>
            </a:r>
            <a:r>
              <a:rPr lang="en-US" b="0"/>
              <a:t>vì</a:t>
            </a:r>
            <a:r>
              <a:rPr lang="en-US" b="0" baseline="0"/>
              <a:t> các mô hình hay </a:t>
            </a:r>
            <a:r>
              <a:rPr lang="vi-VN" b="0" baseline="0"/>
              <a:t>đượ</a:t>
            </a:r>
            <a:r>
              <a:rPr lang="en-US" b="0" baseline="0"/>
              <a:t>c sử dụng trong đặc tả, thiết kế và hiện thực, chúng </a:t>
            </a:r>
            <a:r>
              <a:rPr lang="en-US" b="0" u="sng" baseline="0"/>
              <a:t>sẽ chi phối kỹ thuật sẽ </a:t>
            </a:r>
            <a:r>
              <a:rPr lang="vi-VN" b="0" u="sng" baseline="0"/>
              <a:t>đượ</a:t>
            </a:r>
            <a:r>
              <a:rPr lang="en-US" b="0" u="sng" baseline="0"/>
              <a:t>c sd</a:t>
            </a:r>
            <a:r>
              <a:rPr lang="en-US" b="0" baseline="0"/>
              <a:t>, </a:t>
            </a:r>
            <a:r>
              <a:rPr lang="en-US" b="0"/>
              <a:t>vd/</a:t>
            </a:r>
            <a:r>
              <a:rPr lang="en-US" b="0" baseline="0"/>
              <a:t> nếu đặc tả có sơ đồ chuyển trạng thái thì nên sd kt kiểm chứng chuyển trạng thái. </a:t>
            </a:r>
          </a:p>
          <a:p>
            <a:pPr marL="0" indent="0">
              <a:buFontTx/>
              <a:buNone/>
            </a:pPr>
            <a:r>
              <a:rPr lang="en-US" b="1"/>
              <a:t>- Tester knowledge I experience</a:t>
            </a:r>
            <a:r>
              <a:rPr lang="en-US" b="0"/>
              <a:t>: hiểu</a:t>
            </a:r>
            <a:r>
              <a:rPr lang="en-US" b="0" baseline="0"/>
              <a:t> biết về hệ thống và hiểu biết về các kỹ thuật kiểm thử của tester sẽ ảnh hưởng đến việc chọn kt...</a:t>
            </a:r>
          </a:p>
          <a:p>
            <a:pPr marL="0" indent="0">
              <a:buFontTx/>
              <a:buNone/>
            </a:pPr>
            <a:r>
              <a:rPr lang="en-US" b="1" baseline="0"/>
              <a:t>	+ Việc kiểm thử thành công phụ thuộc rất nhiều vào kỹ năng của tester, MỘT TESTER GIỎI SẼ BIẾT LỖI CÓ KHẢ NĂNG ẨN NẤP Ở ĐÂU NHẤT VÀ BIẾT CÁCH CHỌN KT TỐT NHẤT ĐỂ TÌM RA CÁC LỖI ĐÓ.</a:t>
            </a:r>
          </a:p>
          <a:p>
            <a:pPr marL="0" indent="0">
              <a:buFontTx/>
              <a:buNone/>
            </a:pPr>
            <a:r>
              <a:rPr lang="en-US" b="1" baseline="0"/>
              <a:t>- </a:t>
            </a:r>
            <a:r>
              <a:rPr lang="en-US" b="1"/>
              <a:t>Test objective</a:t>
            </a:r>
            <a:r>
              <a:rPr lang="en-US" b="1" baseline="0"/>
              <a:t> (mục tiêu kt): </a:t>
            </a:r>
            <a:r>
              <a:rPr lang="en-US" b="0" baseline="0"/>
              <a:t>nếu mục tiêu đơn giản là đạt đc sự tin cậy (gain confidence) rằng PM sẽ giải quyết những công việc </a:t>
            </a:r>
            <a:r>
              <a:rPr lang="vi-VN" b="0" baseline="0"/>
              <a:t>đặ</a:t>
            </a:r>
            <a:r>
              <a:rPr lang="en-US" b="0" baseline="0"/>
              <a:t>c thù thì nên dùng use case là hợp lý. Nếu mục tiêu kiểm thử là phải thật tỉ mỉ thì cần những kt chi tiết và chính xác.</a:t>
            </a:r>
            <a:endParaRPr lang="en-US" b="1" baseline="0"/>
          </a:p>
          <a:p>
            <a:pPr marL="0" indent="0">
              <a:buFontTx/>
              <a:buNone/>
            </a:pPr>
            <a:r>
              <a:rPr lang="en-US" b="1"/>
              <a:t>- Documentation: </a:t>
            </a:r>
            <a:r>
              <a:rPr lang="en-US"/>
              <a:t>có</a:t>
            </a:r>
            <a:r>
              <a:rPr lang="en-US" baseline="0"/>
              <a:t> hay k có document (vd/ đặc tả yêu cầu) cũng ảnh hướng đến sựa lự chọn kt; nếu có document thì nội dung và kiểu của document cũng ah đến lựa chọn, vd/ nếu tài liệu có sd decision tables or state graphs thì nên sd kt tương ứng.</a:t>
            </a:r>
          </a:p>
          <a:p>
            <a:pPr marL="0" indent="0">
              <a:buFontTx/>
              <a:buNone/>
            </a:pPr>
            <a:r>
              <a:rPr lang="en-US" b="1"/>
              <a:t>- Life cycle model</a:t>
            </a:r>
            <a:r>
              <a:rPr lang="en-US"/>
              <a:t>: mô</a:t>
            </a:r>
            <a:r>
              <a:rPr lang="en-US" baseline="0"/>
              <a:t> hình vòng đời </a:t>
            </a:r>
            <a:r>
              <a:rPr lang="en-US" i="0" baseline="0"/>
              <a:t>tuần tự (thác nước or chữ V) thì nên sd các kt hình thức hơn, còn mô hình vòng đời lặp thì có lẽ tốt hơn nên dùng exploratory testing</a:t>
            </a:r>
            <a:endParaRPr lang="en-US" i="1"/>
          </a:p>
        </p:txBody>
      </p:sp>
    </p:spTree>
    <p:extLst>
      <p:ext uri="{BB962C8B-B14F-4D97-AF65-F5344CB8AC3E}">
        <p14:creationId xmlns:p14="http://schemas.microsoft.com/office/powerpoint/2010/main" val="28038733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a:t>SV tự</a:t>
            </a:r>
            <a:r>
              <a:rPr lang="en-US" baseline="0"/>
              <a:t> tìm hiểu</a:t>
            </a:r>
            <a:endParaRPr lang="en-US"/>
          </a:p>
          <a:p>
            <a:pPr marL="0" indent="0">
              <a:buFontTx/>
              <a:buNone/>
            </a:pPr>
            <a:r>
              <a:rPr lang="en-US" b="1"/>
              <a:t>-</a:t>
            </a:r>
            <a:r>
              <a:rPr lang="en-US" b="1" baseline="0"/>
              <a:t> </a:t>
            </a:r>
            <a:r>
              <a:rPr lang="en-US" b="1"/>
              <a:t>Risk level</a:t>
            </a:r>
            <a:r>
              <a:rPr lang="en-US"/>
              <a:t>: rủi</a:t>
            </a:r>
            <a:r>
              <a:rPr lang="en-US" baseline="0"/>
              <a:t> ro càng lớn (e.g. safety-critical systems) thì càng phải kiểm tra kỹ hơn và nên dùng các kt chính quy hơn.</a:t>
            </a:r>
          </a:p>
          <a:p>
            <a:pPr marL="0" indent="0">
              <a:buFontTx/>
              <a:buNone/>
            </a:pPr>
            <a:r>
              <a:rPr lang="en-US" b="1"/>
              <a:t>- Customer or contractual requirements</a:t>
            </a:r>
            <a:r>
              <a:rPr lang="en-US"/>
              <a:t>: đôi</a:t>
            </a:r>
            <a:r>
              <a:rPr lang="en-US" baseline="0"/>
              <a:t> khi </a:t>
            </a:r>
            <a:r>
              <a:rPr lang="en-US"/>
              <a:t>hợp</a:t>
            </a:r>
            <a:r>
              <a:rPr lang="en-US" baseline="0"/>
              <a:t> đồng định sẵn kỹ thuật test cụ thể </a:t>
            </a:r>
            <a:r>
              <a:rPr lang="en-US" i="1" baseline="0"/>
              <a:t>(phổ biến nhất là statement or branch coverage)</a:t>
            </a:r>
          </a:p>
          <a:p>
            <a:pPr marL="0" indent="0">
              <a:buFontTx/>
              <a:buNone/>
            </a:pPr>
            <a:r>
              <a:rPr lang="en-US" b="1"/>
              <a:t>- Type of system</a:t>
            </a:r>
            <a:r>
              <a:rPr lang="en-US"/>
              <a:t>: loại</a:t>
            </a:r>
            <a:r>
              <a:rPr lang="en-US" baseline="0"/>
              <a:t> hệ thống (web, đồ họa, tài chính,...) ah đến chọn lựa. Vd/ ht về tài chính có nhiều tính toán thì sd kt pt gtri biên.</a:t>
            </a:r>
          </a:p>
          <a:p>
            <a:pPr marL="0" indent="0">
              <a:buFontTx/>
              <a:buNone/>
            </a:pPr>
            <a:r>
              <a:rPr lang="en-US" b="1"/>
              <a:t>- Time and budget</a:t>
            </a:r>
            <a:r>
              <a:rPr lang="en-US"/>
              <a:t>: Thời</a:t>
            </a:r>
            <a:r>
              <a:rPr lang="en-US" baseline="0"/>
              <a:t> gian còn lại của project luôn luôn ah đến sự lựa chọn kỹ thuật. Khi thời gian còn nhiều thì có khả năng lựa chọn nhiều kt, khi thời gian bị giới hạn thì phải chọn kt giúp tìm defect quan trọng nhất.</a:t>
            </a:r>
          </a:p>
          <a:p>
            <a:pPr marL="0" indent="0">
              <a:buFontTx/>
              <a:buNone/>
            </a:pPr>
            <a:r>
              <a:rPr lang="en-US" b="1"/>
              <a:t>-</a:t>
            </a:r>
            <a:r>
              <a:rPr lang="en-US" b="1" baseline="0"/>
              <a:t> </a:t>
            </a:r>
            <a:r>
              <a:rPr lang="en-US" b="1"/>
              <a:t>Regulatory requirements</a:t>
            </a:r>
            <a:r>
              <a:rPr lang="en-US"/>
              <a:t>: một</a:t>
            </a:r>
            <a:r>
              <a:rPr lang="en-US" baseline="0"/>
              <a:t> số ngành công nghiệp có những chuẩn quy định mà ảnh hưởng đến kt kiểm chứng sử dụng. </a:t>
            </a:r>
            <a:r>
              <a:rPr lang="en-US" i="0" baseline="0"/>
              <a:t>Vd/ công nghiệp hàng không yêu cầu kt phân hoạch tương đương, pt gtri biên và kiểm chứng chuyển trạng thái cùng với phủ câu lệnh, quyết định, điều kiện tùy theo mức tích hợp của ht</a:t>
            </a:r>
          </a:p>
        </p:txBody>
      </p:sp>
    </p:spTree>
    <p:extLst>
      <p:ext uri="{BB962C8B-B14F-4D97-AF65-F5344CB8AC3E}">
        <p14:creationId xmlns:p14="http://schemas.microsoft.com/office/powerpoint/2010/main" val="42519303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a:t>- …</a:t>
            </a:r>
          </a:p>
          <a:p>
            <a:pPr marL="0" lvl="0" indent="0">
              <a:buFontTx/>
              <a:buNone/>
            </a:pPr>
            <a:r>
              <a:rPr lang="en-US" b="1"/>
              <a:t>	+ </a:t>
            </a:r>
            <a:r>
              <a:rPr lang="vi-VN" b="1"/>
              <a:t>ĐIỀU NÀY KHÔNG CÓ NGHĨA RẰNG, CÁC KỸ THUẬT </a:t>
            </a:r>
            <a:r>
              <a:rPr lang="en-US" b="1"/>
              <a:t>TEST </a:t>
            </a:r>
            <a:r>
              <a:rPr lang="vi-VN" b="1"/>
              <a:t>CHÍNH THỨC KHÔNG ĐƯỢC SỬ DỤNG.</a:t>
            </a:r>
            <a:r>
              <a:rPr lang="en-US" b="1"/>
              <a:t> </a:t>
            </a:r>
            <a:r>
              <a:rPr lang="vi-VN" b="1"/>
              <a:t>VÍ DỤ, </a:t>
            </a:r>
            <a:r>
              <a:rPr lang="en-US" b="1"/>
              <a:t>TESTER </a:t>
            </a:r>
            <a:r>
              <a:rPr lang="vi-VN" b="1"/>
              <a:t>CÓ THỂ SỬ DỤNG PHÂN TÍCH GIÁ TRỊ BIÊN GIỚI BOUNDARY VALUE ANALYSIS</a:t>
            </a:r>
            <a:r>
              <a:rPr lang="en-US" b="1"/>
              <a:t> </a:t>
            </a:r>
            <a:r>
              <a:rPr lang="vi-VN" b="1"/>
              <a:t>NHƯNG </a:t>
            </a:r>
            <a:r>
              <a:rPr lang="en-US" b="1"/>
              <a:t>CHỈ</a:t>
            </a:r>
            <a:r>
              <a:rPr lang="vi-VN" b="1"/>
              <a:t> SUY NGHĨ VÀ </a:t>
            </a:r>
            <a:r>
              <a:rPr lang="en-US" b="1"/>
              <a:t>TEST</a:t>
            </a:r>
            <a:r>
              <a:rPr lang="vi-VN" b="1"/>
              <a:t> CÁC GIÁ TRỊ BIÊN QUAN TRỌNG NHẤT MÀ KHÔNG NHẤT THIẾT PHẢI VIẾT CHÚNG RA. </a:t>
            </a:r>
            <a:r>
              <a:rPr lang="en-US" sz="1200" b="1" i="0" kern="1200">
                <a:solidFill>
                  <a:schemeClr val="tx1"/>
                </a:solidFill>
                <a:effectLst/>
                <a:latin typeface="+mn-lt"/>
                <a:ea typeface="+mn-ea"/>
                <a:cs typeface="+mn-cs"/>
              </a:rPr>
              <a:t>ChỈ</a:t>
            </a:r>
            <a:r>
              <a:rPr lang="en-US" sz="1200" b="1" i="0" kern="1200" baseline="0">
                <a:solidFill>
                  <a:schemeClr val="tx1"/>
                </a:solidFill>
                <a:effectLst/>
                <a:latin typeface="+mn-lt"/>
                <a:ea typeface="+mn-ea"/>
                <a:cs typeface="+mn-cs"/>
              </a:rPr>
              <a:t> CẦN VIẾT NOTE SAU KHI THỰC HIỆN XONG, SAU NÀY DỰA VÀO ĐÓ ĐỂ VIẾT REPORT.</a:t>
            </a:r>
            <a:endParaRPr lang="en-US" b="1"/>
          </a:p>
          <a:p>
            <a:pPr marL="0" lvl="0" indent="0">
              <a:buFontTx/>
              <a:buNone/>
            </a:pPr>
            <a:r>
              <a:rPr lang="en-US" b="0"/>
              <a:t>- Logging</a:t>
            </a:r>
            <a:r>
              <a:rPr lang="vi-VN" b="0"/>
              <a:t> được thực hiện </a:t>
            </a:r>
            <a:r>
              <a:rPr lang="en-US" b="0"/>
              <a:t>khi</a:t>
            </a:r>
            <a:r>
              <a:rPr lang="vi-VN" b="0"/>
              <a:t> thực hiện </a:t>
            </a:r>
            <a:r>
              <a:rPr lang="en-US" b="0"/>
              <a:t>test,</a:t>
            </a:r>
            <a:r>
              <a:rPr lang="vi-VN" b="0"/>
              <a:t> </a:t>
            </a:r>
            <a:r>
              <a:rPr lang="en-US" b="0"/>
              <a:t>lập </a:t>
            </a:r>
            <a:r>
              <a:rPr lang="vi-VN" b="0"/>
              <a:t>tài liệu về các khía cạnh quan trọng </a:t>
            </a:r>
            <a:r>
              <a:rPr lang="en-US" b="0"/>
              <a:t>về</a:t>
            </a:r>
            <a:r>
              <a:rPr lang="vi-VN" b="0"/>
              <a:t> những gì được </a:t>
            </a:r>
            <a:r>
              <a:rPr lang="en-US" b="0"/>
              <a:t>test,</a:t>
            </a:r>
            <a:r>
              <a:rPr lang="vi-VN" b="0"/>
              <a:t> </a:t>
            </a:r>
            <a:r>
              <a:rPr lang="en-US" b="0"/>
              <a:t>defect</a:t>
            </a:r>
            <a:r>
              <a:rPr lang="vi-VN" b="0"/>
              <a:t> và bất kỳ suy nghĩ về</a:t>
            </a:r>
            <a:r>
              <a:rPr lang="en-US" b="0"/>
              <a:t> việc</a:t>
            </a:r>
            <a:r>
              <a:rPr lang="vi-VN" b="0"/>
              <a:t> tiếp tục </a:t>
            </a:r>
            <a:r>
              <a:rPr lang="en-US" b="0"/>
              <a:t>test</a:t>
            </a:r>
            <a:r>
              <a:rPr lang="en-US" b="0" baseline="0"/>
              <a:t> hay không. </a:t>
            </a:r>
            <a:r>
              <a:rPr lang="vi-VN" b="0" baseline="0"/>
              <a:t>Các </a:t>
            </a:r>
            <a:r>
              <a:rPr lang="en-US" b="0" baseline="0"/>
              <a:t>tester </a:t>
            </a:r>
            <a:r>
              <a:rPr lang="vi-VN" b="0" baseline="0"/>
              <a:t>liên tục đưa ra quyết định </a:t>
            </a:r>
            <a:r>
              <a:rPr lang="en-US" b="0" baseline="0"/>
              <a:t>sẽ test gì </a:t>
            </a:r>
            <a:r>
              <a:rPr lang="vi-VN" b="0" baseline="0"/>
              <a:t>tiếp theo và ở đâu</a:t>
            </a:r>
            <a:r>
              <a:rPr lang="en-US" b="0" baseline="0"/>
              <a:t>.</a:t>
            </a:r>
          </a:p>
          <a:p>
            <a:pPr marL="0" lvl="0" indent="0">
              <a:buFontTx/>
              <a:buNone/>
            </a:pPr>
            <a:r>
              <a:rPr lang="en-US" b="0" baseline="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Nó rất hữu dụng khi không</a:t>
            </a:r>
            <a:r>
              <a:rPr lang="en-US" sz="1200" b="0" i="0" kern="1200" baseline="0">
                <a:solidFill>
                  <a:schemeClr val="tx1"/>
                </a:solidFill>
                <a:effectLst/>
                <a:latin typeface="+mn-lt"/>
                <a:ea typeface="+mn-ea"/>
                <a:cs typeface="+mn-cs"/>
              </a:rPr>
              <a:t> </a:t>
            </a:r>
            <a:r>
              <a:rPr lang="en-US" sz="1200" b="0" i="0" kern="1200">
                <a:solidFill>
                  <a:schemeClr val="tx1"/>
                </a:solidFill>
                <a:effectLst/>
                <a:latin typeface="+mn-lt"/>
                <a:ea typeface="+mn-ea"/>
                <a:cs typeface="+mn-cs"/>
              </a:rPr>
              <a:t>có đặc</a:t>
            </a:r>
            <a:r>
              <a:rPr lang="en-US" sz="1200" b="0" i="0" kern="1200" baseline="0">
                <a:solidFill>
                  <a:schemeClr val="tx1"/>
                </a:solidFill>
                <a:effectLst/>
                <a:latin typeface="+mn-lt"/>
                <a:ea typeface="+mn-ea"/>
                <a:cs typeface="+mn-cs"/>
              </a:rPr>
              <a:t> tả</a:t>
            </a:r>
            <a:r>
              <a:rPr lang="en-US" sz="1200" b="0" i="0" kern="1200">
                <a:solidFill>
                  <a:schemeClr val="tx1"/>
                </a:solidFill>
                <a:effectLst/>
                <a:latin typeface="+mn-lt"/>
                <a:ea typeface="+mn-ea"/>
                <a:cs typeface="+mn-cs"/>
              </a:rPr>
              <a:t> hay đặc</a:t>
            </a:r>
            <a:r>
              <a:rPr lang="en-US" sz="1200" b="0" i="0" kern="1200" baseline="0">
                <a:solidFill>
                  <a:schemeClr val="tx1"/>
                </a:solidFill>
                <a:effectLst/>
                <a:latin typeface="+mn-lt"/>
                <a:ea typeface="+mn-ea"/>
                <a:cs typeface="+mn-cs"/>
              </a:rPr>
              <a:t> tả tệ</a:t>
            </a:r>
            <a:r>
              <a:rPr lang="en-US" sz="1200" b="0" i="0" kern="1200">
                <a:solidFill>
                  <a:schemeClr val="tx1"/>
                </a:solidFill>
                <a:effectLst/>
                <a:latin typeface="+mn-lt"/>
                <a:ea typeface="+mn-ea"/>
                <a:cs typeface="+mn-cs"/>
              </a:rPr>
              <a:t> và khi thời gian bị hạn chế. </a:t>
            </a:r>
            <a:endParaRPr lang="en-US" sz="1200" b="1" i="0" kern="1200">
              <a:solidFill>
                <a:schemeClr val="tx1"/>
              </a:solidFill>
              <a:effectLst/>
              <a:latin typeface="+mn-lt"/>
              <a:ea typeface="+mn-ea"/>
              <a:cs typeface="+mn-cs"/>
            </a:endParaRPr>
          </a:p>
        </p:txBody>
      </p:sp>
    </p:spTree>
    <p:extLst>
      <p:ext uri="{BB962C8B-B14F-4D97-AF65-F5344CB8AC3E}">
        <p14:creationId xmlns:p14="http://schemas.microsoft.com/office/powerpoint/2010/main" val="31350817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latin typeface="+mn-lt"/>
                <a:ea typeface="+mn-ea"/>
                <a:cs typeface="+mn-cs"/>
              </a:rPr>
              <a:t>VD: binToDec(“0000000000001111”) = 15, binToDec(“0000000010001100”) = 140</a:t>
            </a:r>
          </a:p>
        </p:txBody>
      </p:sp>
    </p:spTree>
    <p:extLst>
      <p:ext uri="{BB962C8B-B14F-4D97-AF65-F5344CB8AC3E}">
        <p14:creationId xmlns:p14="http://schemas.microsoft.com/office/powerpoint/2010/main" val="15819032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vi-VN"/>
              <a:t>Tạo </a:t>
            </a:r>
            <a:r>
              <a:rPr lang="en-US"/>
              <a:t>giả thuyết về</a:t>
            </a:r>
            <a:r>
              <a:rPr lang="vi-VN"/>
              <a:t> hoạt động đúng đắn của hệ thống</a:t>
            </a:r>
            <a:endParaRPr lang="en-US"/>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baseline="0"/>
              <a:t>Tìm hiểu sơ lược về ht, </a:t>
            </a:r>
            <a:r>
              <a:rPr lang="en-US" b="1" baseline="0"/>
              <a:t>bằng cách sd nó, đọc các tài liệu đặc tả về ht, xem các kết quả test đã thực hiện, </a:t>
            </a:r>
            <a:r>
              <a:rPr lang="en-US" b="1"/>
              <a:t>khai thác</a:t>
            </a:r>
            <a:r>
              <a:rPr lang="en-US" b="1" baseline="0"/>
              <a:t> bất kỳ nguồn thông tin nào bạn có về PHẦN MỀM.</a:t>
            </a:r>
            <a:endParaRPr lang="en-US"/>
          </a:p>
          <a:p>
            <a:pPr marL="171450" indent="-171450">
              <a:buFontTx/>
              <a:buChar char="-"/>
            </a:pPr>
            <a:r>
              <a:rPr lang="vi-VN"/>
              <a:t>Thiết kế một hoặc nhiều </a:t>
            </a:r>
            <a:r>
              <a:rPr lang="en-US"/>
              <a:t>test </a:t>
            </a:r>
            <a:r>
              <a:rPr lang="vi-VN"/>
              <a:t>mà sẽ bác bỏ giả thuyết</a:t>
            </a:r>
            <a:endParaRPr lang="en-US"/>
          </a:p>
          <a:p>
            <a:pPr marL="171450" indent="-171450">
              <a:buFontTx/>
              <a:buChar char="-"/>
            </a:pPr>
            <a:r>
              <a:rPr lang="vi-VN"/>
              <a:t>Thực hiện các </a:t>
            </a:r>
            <a:r>
              <a:rPr lang="en-US"/>
              <a:t>test </a:t>
            </a:r>
            <a:r>
              <a:rPr lang="vi-VN"/>
              <a:t>và quan sát kết quả</a:t>
            </a:r>
            <a:endParaRPr lang="en-US"/>
          </a:p>
          <a:p>
            <a:pPr marL="171450" indent="-171450">
              <a:buFontTx/>
              <a:buChar char="-"/>
            </a:pPr>
            <a:r>
              <a:rPr lang="vi-VN"/>
              <a:t>Đánh giá kết quả </a:t>
            </a:r>
            <a:r>
              <a:rPr lang="en-US"/>
              <a:t>so với</a:t>
            </a:r>
            <a:r>
              <a:rPr lang="en-US" baseline="0"/>
              <a:t> giả thuyết</a:t>
            </a:r>
            <a:endParaRPr lang="en-US"/>
          </a:p>
          <a:p>
            <a:pPr marL="171450" indent="-171450">
              <a:buFontTx/>
              <a:buChar char="-"/>
            </a:pPr>
            <a:r>
              <a:rPr lang="vi-VN"/>
              <a:t>Lặp lại quá trình này cho đến khi các giả thuyết được chứng minh hay bác bỏ</a:t>
            </a:r>
            <a:endParaRPr lang="en-US"/>
          </a:p>
        </p:txBody>
      </p:sp>
    </p:spTree>
    <p:extLst>
      <p:ext uri="{BB962C8B-B14F-4D97-AF65-F5344CB8AC3E}">
        <p14:creationId xmlns:p14="http://schemas.microsoft.com/office/powerpoint/2010/main" val="13787589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vi-VN"/>
              <a:t>Có giá trị trong các tình huống mà việc lựa chọn các trường hợp </a:t>
            </a:r>
            <a:r>
              <a:rPr lang="en-US"/>
              <a:t>test </a:t>
            </a:r>
            <a:r>
              <a:rPr lang="vi-VN"/>
              <a:t>tiếp theo không thể được xác định trước, nhưng phải dựa trên các </a:t>
            </a:r>
            <a:r>
              <a:rPr lang="en-US"/>
              <a:t>test </a:t>
            </a:r>
            <a:r>
              <a:rPr lang="vi-VN"/>
              <a:t>trước và kết quả của </a:t>
            </a:r>
            <a:r>
              <a:rPr lang="en-US"/>
              <a:t>chúng</a:t>
            </a:r>
            <a:r>
              <a:rPr lang="vi-VN"/>
              <a:t>.</a:t>
            </a:r>
            <a:endParaRPr lang="en-US"/>
          </a:p>
          <a:p>
            <a:pPr marL="171450" indent="-171450">
              <a:buFontTx/>
              <a:buChar char="-"/>
            </a:pPr>
            <a:r>
              <a:rPr lang="vi-VN"/>
              <a:t>Rất hữu ích khi bạn được yêu cầu cung cấp thông tin phản hồi nhanh chóng về chất lượng của sản phẩm với ít thời gian khi yêu cầu là mơ hồ hay thậm chí không tồn tại, hoặc sớm trong quá trình phát triển khi hệ thống có thể không ổn định.</a:t>
            </a:r>
            <a:endParaRPr lang="en-US"/>
          </a:p>
          <a:p>
            <a:pPr marL="171450" indent="-171450">
              <a:buFontTx/>
              <a:buChar char="-"/>
            </a:pPr>
            <a:r>
              <a:rPr lang="vi-VN"/>
              <a:t>hữu ích khi, một khi một lỗi được phát hiện, chúng tôi muốn khám phá mô, phạm vi, và các biến thể của khiếm khuyết đó để cung cấp thông tin phản hồi tốt hơn để các nhà phát triển của chúng tôi.</a:t>
            </a:r>
            <a:endParaRPr lang="en-US"/>
          </a:p>
          <a:p>
            <a:pPr marL="171450" indent="-171450">
              <a:buFontTx/>
              <a:buChar char="-"/>
            </a:pPr>
            <a:r>
              <a:rPr lang="vi-VN"/>
              <a:t>là một bổ sung hữu ích để kiểm tra kịch bản khi kiểm tra kịch bản trở nên "mệt mỏi", có nghĩa là, họ không phát hiện nhiều lỗi</a:t>
            </a:r>
            <a:endParaRPr lang="en-US"/>
          </a:p>
        </p:txBody>
      </p:sp>
    </p:spTree>
    <p:extLst>
      <p:ext uri="{BB962C8B-B14F-4D97-AF65-F5344CB8AC3E}">
        <p14:creationId xmlns:p14="http://schemas.microsoft.com/office/powerpoint/2010/main" val="10144933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vi-VN"/>
              <a:t>Thử nghiệm thăm dò không có khả năng ngăn ngừa </a:t>
            </a:r>
            <a:r>
              <a:rPr lang="en-US"/>
              <a:t>defect</a:t>
            </a:r>
            <a:r>
              <a:rPr lang="vi-VN"/>
              <a:t>. Bởi vì việc thiết kế các </a:t>
            </a:r>
            <a:r>
              <a:rPr lang="en-US"/>
              <a:t>testcase </a:t>
            </a:r>
            <a:r>
              <a:rPr lang="vi-VN"/>
              <a:t>bắt đầu trong</a:t>
            </a:r>
            <a:r>
              <a:rPr lang="en-US"/>
              <a:t> suốt</a:t>
            </a:r>
            <a:r>
              <a:rPr lang="vi-VN"/>
              <a:t> giai đoạn</a:t>
            </a:r>
            <a:r>
              <a:rPr lang="en-US"/>
              <a:t> </a:t>
            </a:r>
            <a:r>
              <a:rPr lang="vi-VN"/>
              <a:t>thu thập yêu cầu và thiết kế, </a:t>
            </a:r>
            <a:r>
              <a:rPr lang="en-US"/>
              <a:t>defect </a:t>
            </a:r>
            <a:r>
              <a:rPr lang="vi-VN"/>
              <a:t>có thể được xác định và điều chỉnh trước đó</a:t>
            </a:r>
            <a:r>
              <a:rPr lang="en-US" baseline="0"/>
              <a:t> (</a:t>
            </a:r>
            <a:r>
              <a:rPr lang="en-US" i="1"/>
              <a:t>Because the design of scripted test cases begins during the requirements gathering and design phases, defects can be identified and corrected earlier)</a:t>
            </a:r>
            <a:endParaRPr lang="en-US"/>
          </a:p>
          <a:p>
            <a:pPr marL="171450" indent="-171450">
              <a:buFontTx/>
              <a:buChar char="-"/>
            </a:pPr>
            <a:r>
              <a:rPr lang="vi-VN"/>
              <a:t>Nếu bạn đã chắc chắn chính xác mà các bài kiểm tra phải được thực thi, và thứ tự nào, không có nhu cầu để khám phá. Viết và sau đó thực hiện các bài kiểm tra kịch bản.</a:t>
            </a:r>
            <a:endParaRPr lang="en-US"/>
          </a:p>
          <a:p>
            <a:pPr marL="171450" indent="-171450">
              <a:buFontTx/>
              <a:buChar char="-"/>
            </a:pPr>
            <a:r>
              <a:rPr lang="en-US"/>
              <a:t>complementary : bổ sung</a:t>
            </a:r>
            <a:r>
              <a:rPr lang="vi-VN"/>
              <a:t>.</a:t>
            </a:r>
            <a:endParaRPr lang="en-US"/>
          </a:p>
        </p:txBody>
      </p:sp>
    </p:spTree>
    <p:extLst>
      <p:ext uri="{BB962C8B-B14F-4D97-AF65-F5344CB8AC3E}">
        <p14:creationId xmlns:p14="http://schemas.microsoft.com/office/powerpoint/2010/main" val="28709508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PHÂN</a:t>
            </a:r>
            <a:r>
              <a:rPr lang="en-US" baseline="0"/>
              <a:t> HOẠCH CHO OUTPUT:</a:t>
            </a:r>
          </a:p>
          <a:p>
            <a:pPr marL="171450" indent="-171450">
              <a:buFontTx/>
              <a:buChar char="-"/>
            </a:pPr>
            <a:r>
              <a:rPr lang="en-US" baseline="0"/>
              <a:t>VO SO NGHIỆM: A=B=C=0</a:t>
            </a:r>
          </a:p>
          <a:p>
            <a:pPr marL="171450" indent="-171450">
              <a:buFontTx/>
              <a:buChar char="-"/>
            </a:pPr>
            <a:r>
              <a:rPr lang="en-US" baseline="0"/>
              <a:t>VO NGHIEM: DELTA&lt;0  HOAC  (A=B=0 VÀ C KHAC 0)</a:t>
            </a:r>
          </a:p>
          <a:p>
            <a:pPr marL="171450" indent="-171450">
              <a:buFontTx/>
              <a:buChar char="-"/>
            </a:pPr>
            <a:r>
              <a:rPr lang="en-US" baseline="0"/>
              <a:t>1 NGHIỆM: A=0, B KHAC 0</a:t>
            </a:r>
          </a:p>
          <a:p>
            <a:pPr marL="171450" indent="-171450">
              <a:buFontTx/>
              <a:buChar char="-"/>
            </a:pPr>
            <a:r>
              <a:rPr lang="en-US" baseline="0"/>
              <a:t>2 NGHIEM PB: DELTA&gt;0</a:t>
            </a:r>
          </a:p>
          <a:p>
            <a:pPr marL="171450" indent="-171450">
              <a:buFontTx/>
              <a:buChar char="-"/>
            </a:pPr>
            <a:r>
              <a:rPr lang="en-US" baseline="0"/>
              <a:t>NGHIEM KÉP: DELTA=0</a:t>
            </a:r>
          </a:p>
          <a:p>
            <a:pPr marL="0" indent="0">
              <a:buFontTx/>
              <a:buNone/>
            </a:pPr>
            <a:r>
              <a:rPr lang="en-US" baseline="0"/>
              <a:t>Khi lập test case nhớ cho cả trường hợp số âm dương</a:t>
            </a:r>
            <a:endParaRPr lang="en-US"/>
          </a:p>
        </p:txBody>
      </p:sp>
    </p:spTree>
    <p:extLst>
      <p:ext uri="{BB962C8B-B14F-4D97-AF65-F5344CB8AC3E}">
        <p14:creationId xmlns:p14="http://schemas.microsoft.com/office/powerpoint/2010/main" val="24853964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Phân</a:t>
            </a:r>
            <a:r>
              <a:rPr lang="en-US" baseline="0"/>
              <a:t> tích cho s, n, p</a:t>
            </a:r>
          </a:p>
          <a:p>
            <a:r>
              <a:rPr lang="en-US" baseline="0"/>
              <a:t>s: rỗng; không rỗng</a:t>
            </a:r>
          </a:p>
          <a:p>
            <a:r>
              <a:rPr lang="en-US" baseline="0"/>
              <a:t>n: n&lt;0; n&gt;0 và </a:t>
            </a:r>
            <a:r>
              <a:rPr lang="en-US"/>
              <a:t>n&gt;chiều dài s-p; </a:t>
            </a:r>
            <a:r>
              <a:rPr lang="en-US" baseline="0"/>
              <a:t>n&gt;0 và </a:t>
            </a:r>
            <a:r>
              <a:rPr lang="en-US"/>
              <a:t>n&lt;=chiều dài s-p</a:t>
            </a:r>
          </a:p>
          <a:p>
            <a:r>
              <a:rPr lang="en-US"/>
              <a:t>p: p&lt;0; p&gt;0 và p&gt;=chiều dài s</a:t>
            </a:r>
          </a:p>
        </p:txBody>
      </p:sp>
    </p:spTree>
    <p:extLst>
      <p:ext uri="{BB962C8B-B14F-4D97-AF65-F5344CB8AC3E}">
        <p14:creationId xmlns:p14="http://schemas.microsoft.com/office/powerpoint/2010/main" val="19655087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Vd/ Đ</a:t>
            </a:r>
            <a:r>
              <a:rPr lang="en-US" baseline="0"/>
              <a:t>ặc tả sau cho màn hình nhập liệu như sau:</a:t>
            </a:r>
          </a:p>
          <a:p>
            <a:r>
              <a:rPr lang="vi-VN" sz="1200" b="0" i="0" kern="1200">
                <a:solidFill>
                  <a:schemeClr val="tx1"/>
                </a:solidFill>
                <a:effectLst/>
                <a:latin typeface="+mn-lt"/>
                <a:ea typeface="+mn-ea"/>
                <a:cs typeface="+mn-cs"/>
              </a:rPr>
              <a:t>Màn hình </a:t>
            </a:r>
            <a:r>
              <a:rPr lang="en-US" sz="1200" b="0" i="0" kern="1200">
                <a:solidFill>
                  <a:schemeClr val="tx1"/>
                </a:solidFill>
                <a:effectLst/>
                <a:latin typeface="+mn-lt"/>
                <a:ea typeface="+mn-ea"/>
                <a:cs typeface="+mn-cs"/>
              </a:rPr>
              <a:t>nhập</a:t>
            </a:r>
            <a:r>
              <a:rPr lang="vi-VN" sz="1200" b="0" i="0" kern="1200">
                <a:solidFill>
                  <a:schemeClr val="tx1"/>
                </a:solidFill>
                <a:effectLst/>
                <a:latin typeface="+mn-lt"/>
                <a:ea typeface="+mn-ea"/>
                <a:cs typeface="+mn-cs"/>
              </a:rPr>
              <a:t> có ba </a:t>
            </a:r>
            <a:r>
              <a:rPr lang="en-US" sz="1200" b="0" i="0" kern="1200">
                <a:solidFill>
                  <a:schemeClr val="tx1"/>
                </a:solidFill>
                <a:effectLst/>
                <a:latin typeface="+mn-lt"/>
                <a:ea typeface="+mn-ea"/>
                <a:cs typeface="+mn-cs"/>
              </a:rPr>
              <a:t>ô</a:t>
            </a:r>
            <a:r>
              <a:rPr lang="vi-VN" sz="1200" b="0" i="0" kern="1200">
                <a:solidFill>
                  <a:schemeClr val="tx1"/>
                </a:solidFill>
                <a:effectLst/>
                <a:latin typeface="+mn-lt"/>
                <a:ea typeface="+mn-ea"/>
                <a:cs typeface="+mn-cs"/>
              </a:rPr>
              <a:t>: một </a:t>
            </a:r>
            <a:r>
              <a:rPr lang="en-US" sz="1200" b="0" i="0" kern="1200">
                <a:solidFill>
                  <a:schemeClr val="tx1"/>
                </a:solidFill>
                <a:effectLst/>
                <a:latin typeface="+mn-lt"/>
                <a:ea typeface="+mn-ea"/>
                <a:cs typeface="+mn-cs"/>
              </a:rPr>
              <a:t>ô</a:t>
            </a:r>
            <a:r>
              <a:rPr lang="vi-VN" sz="1200" b="0" i="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chọn</a:t>
            </a:r>
            <a:r>
              <a:rPr lang="en-US" sz="1200" b="0" i="0" kern="1200" baseline="0">
                <a:solidFill>
                  <a:schemeClr val="tx1"/>
                </a:solidFill>
                <a:effectLst/>
                <a:latin typeface="+mn-lt"/>
                <a:ea typeface="+mn-ea"/>
                <a:cs typeface="+mn-cs"/>
              </a:rPr>
              <a:t> danh xưng (Mr, Mrs,...) </a:t>
            </a:r>
            <a:r>
              <a:rPr lang="vi-VN" sz="1200" b="0" i="0" kern="1200">
                <a:solidFill>
                  <a:schemeClr val="tx1"/>
                </a:solidFill>
                <a:effectLst/>
                <a:latin typeface="+mn-lt"/>
                <a:ea typeface="+mn-ea"/>
                <a:cs typeface="+mn-cs"/>
              </a:rPr>
              <a:t>với</a:t>
            </a:r>
            <a:r>
              <a:rPr lang="en-US" sz="1200" b="0" i="0" kern="1200" baseline="0">
                <a:solidFill>
                  <a:schemeClr val="tx1"/>
                </a:solidFill>
                <a:effectLst/>
                <a:latin typeface="+mn-lt"/>
                <a:ea typeface="+mn-ea"/>
                <a:cs typeface="+mn-cs"/>
              </a:rPr>
              <a:t> thanh chọn,</a:t>
            </a:r>
            <a:r>
              <a:rPr lang="en-US" sz="1200" b="0" i="0" kern="1200">
                <a:solidFill>
                  <a:schemeClr val="tx1"/>
                </a:solidFill>
                <a:effectLst/>
                <a:latin typeface="+mn-lt"/>
                <a:ea typeface="+mn-ea"/>
                <a:cs typeface="+mn-cs"/>
              </a:rPr>
              <a:t> </a:t>
            </a:r>
            <a:r>
              <a:rPr lang="vi-VN" sz="1200" b="1" i="0" kern="1200">
                <a:solidFill>
                  <a:schemeClr val="tx1"/>
                </a:solidFill>
                <a:effectLst/>
                <a:latin typeface="+mn-lt"/>
                <a:ea typeface="+mn-ea"/>
                <a:cs typeface="+mn-cs"/>
              </a:rPr>
              <a:t>một </a:t>
            </a:r>
            <a:r>
              <a:rPr lang="en-US" sz="1200" b="1" i="0" kern="1200">
                <a:solidFill>
                  <a:schemeClr val="tx1"/>
                </a:solidFill>
                <a:effectLst/>
                <a:latin typeface="+mn-lt"/>
                <a:ea typeface="+mn-ea"/>
                <a:cs typeface="+mn-cs"/>
              </a:rPr>
              <a:t>ô</a:t>
            </a:r>
            <a:r>
              <a:rPr lang="vi-VN" sz="1200" b="1"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cho nhập</a:t>
            </a:r>
            <a:r>
              <a:rPr lang="vi-VN" sz="1200" b="1"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họ</a:t>
            </a:r>
            <a:r>
              <a:rPr lang="en-US" sz="1200" b="1" i="0" kern="1200" baseline="0">
                <a:solidFill>
                  <a:schemeClr val="tx1"/>
                </a:solidFill>
                <a:effectLst/>
                <a:latin typeface="+mn-lt"/>
                <a:ea typeface="+mn-ea"/>
                <a:cs typeface="+mn-cs"/>
              </a:rPr>
              <a:t> </a:t>
            </a:r>
            <a:r>
              <a:rPr lang="vi-VN" sz="1200" b="1" i="0" kern="1200">
                <a:solidFill>
                  <a:schemeClr val="tx1"/>
                </a:solidFill>
                <a:effectLst/>
                <a:latin typeface="+mn-lt"/>
                <a:ea typeface="+mn-ea"/>
                <a:cs typeface="+mn-cs"/>
              </a:rPr>
              <a:t>lên đến 20 ký tự chữ cái </a:t>
            </a:r>
            <a:r>
              <a:rPr lang="en-US" sz="1200" b="1" i="0" kern="1200">
                <a:solidFill>
                  <a:schemeClr val="tx1"/>
                </a:solidFill>
                <a:effectLst/>
                <a:latin typeface="+mn-lt"/>
                <a:ea typeface="+mn-ea"/>
                <a:cs typeface="+mn-cs"/>
              </a:rPr>
              <a:t>gồm</a:t>
            </a:r>
            <a:r>
              <a:rPr lang="en-US" sz="1200" b="1" i="0" kern="1200" baseline="0">
                <a:solidFill>
                  <a:schemeClr val="tx1"/>
                </a:solidFill>
                <a:effectLst/>
                <a:latin typeface="+mn-lt"/>
                <a:ea typeface="+mn-ea"/>
                <a:cs typeface="+mn-cs"/>
              </a:rPr>
              <a:t> cả</a:t>
            </a:r>
            <a:r>
              <a:rPr lang="vi-VN" sz="1200" b="1" i="0" kern="1200">
                <a:solidFill>
                  <a:schemeClr val="tx1"/>
                </a:solidFill>
                <a:effectLst/>
                <a:latin typeface="+mn-lt"/>
                <a:ea typeface="+mn-ea"/>
                <a:cs typeface="+mn-cs"/>
              </a:rPr>
              <a:t> ký tự gạch ngang (-)</a:t>
            </a:r>
            <a:r>
              <a:rPr lang="vi-VN" sz="1200" b="0" i="0" kern="1200">
                <a:solidFill>
                  <a:schemeClr val="tx1"/>
                </a:solidFill>
                <a:effectLst/>
                <a:latin typeface="+mn-lt"/>
                <a:ea typeface="+mn-ea"/>
                <a:cs typeface="+mn-cs"/>
              </a:rPr>
              <a:t>,</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một </a:t>
            </a:r>
            <a:r>
              <a:rPr lang="en-US" sz="1200" b="0" i="0" kern="1200">
                <a:solidFill>
                  <a:schemeClr val="tx1"/>
                </a:solidFill>
                <a:effectLst/>
                <a:latin typeface="+mn-lt"/>
                <a:ea typeface="+mn-ea"/>
                <a:cs typeface="+mn-cs"/>
              </a:rPr>
              <a:t>ô</a:t>
            </a:r>
            <a:r>
              <a:rPr lang="en-US" sz="1200" b="0" i="0" kern="1200" baseline="0">
                <a:solidFill>
                  <a:schemeClr val="tx1"/>
                </a:solidFill>
                <a:effectLst/>
                <a:latin typeface="+mn-lt"/>
                <a:ea typeface="+mn-ea"/>
                <a:cs typeface="+mn-cs"/>
              </a:rPr>
              <a:t> cho nhập</a:t>
            </a:r>
            <a:r>
              <a:rPr lang="vi-VN" sz="1200" b="0" i="0" kern="1200">
                <a:solidFill>
                  <a:schemeClr val="tx1"/>
                </a:solidFill>
                <a:effectLst/>
                <a:latin typeface="+mn-lt"/>
                <a:ea typeface="+mn-ea"/>
                <a:cs typeface="+mn-cs"/>
              </a:rPr>
              <a:t> tên lên đến 20 ký tự chữ cái. </a:t>
            </a:r>
            <a:r>
              <a:rPr lang="en-US" sz="1200" b="0" i="0" kern="1200">
                <a:solidFill>
                  <a:schemeClr val="tx1"/>
                </a:solidFill>
                <a:effectLst/>
                <a:latin typeface="+mn-lt"/>
                <a:ea typeface="+mn-ea"/>
                <a:cs typeface="+mn-cs"/>
              </a:rPr>
              <a:t>Các</a:t>
            </a:r>
            <a:r>
              <a:rPr lang="en-US" sz="1200" b="0" i="0" kern="1200" baseline="0">
                <a:solidFill>
                  <a:schemeClr val="tx1"/>
                </a:solidFill>
                <a:effectLst/>
                <a:latin typeface="+mn-lt"/>
                <a:ea typeface="+mn-ea"/>
                <a:cs typeface="+mn-cs"/>
              </a:rPr>
              <a:t> chữ cái không phân biệt hoa thường</a:t>
            </a:r>
            <a:r>
              <a:rPr lang="vi-VN" sz="1200" b="0" i="0" kern="1200">
                <a:solidFill>
                  <a:schemeClr val="tx1"/>
                </a:solidFill>
                <a:effectLst/>
                <a:latin typeface="+mn-lt"/>
                <a:ea typeface="+mn-ea"/>
                <a:cs typeface="+mn-cs"/>
              </a:rPr>
              <a:t>. Tất cả các </a:t>
            </a:r>
            <a:r>
              <a:rPr lang="en-US" sz="1200" b="0" i="0" kern="1200">
                <a:solidFill>
                  <a:schemeClr val="tx1"/>
                </a:solidFill>
                <a:effectLst/>
                <a:latin typeface="+mn-lt"/>
                <a:ea typeface="+mn-ea"/>
                <a:cs typeface="+mn-cs"/>
              </a:rPr>
              <a:t>ô</a:t>
            </a:r>
            <a:r>
              <a:rPr lang="vi-VN" sz="1200" b="0" i="0" kern="1200">
                <a:solidFill>
                  <a:schemeClr val="tx1"/>
                </a:solidFill>
                <a:effectLst/>
                <a:latin typeface="+mn-lt"/>
                <a:ea typeface="+mn-ea"/>
                <a:cs typeface="+mn-cs"/>
              </a:rPr>
              <a:t> phải được </a:t>
            </a:r>
            <a:r>
              <a:rPr lang="en-US" sz="1200" b="0" i="0" kern="1200">
                <a:solidFill>
                  <a:schemeClr val="tx1"/>
                </a:solidFill>
                <a:effectLst/>
                <a:latin typeface="+mn-lt"/>
                <a:ea typeface="+mn-ea"/>
                <a:cs typeface="+mn-cs"/>
              </a:rPr>
              <a:t>nhập</a:t>
            </a:r>
            <a:r>
              <a:rPr lang="vi-VN" sz="1200" b="0" i="0" kern="1200">
                <a:solidFill>
                  <a:schemeClr val="tx1"/>
                </a:solidFill>
                <a:effectLst/>
                <a:latin typeface="+mn-lt"/>
                <a:ea typeface="+mn-ea"/>
                <a:cs typeface="+mn-cs"/>
              </a:rPr>
              <a:t>. Dữ liệu</a:t>
            </a:r>
            <a:r>
              <a:rPr lang="en-US" sz="1200" b="0" i="0" kern="1200" baseline="0">
                <a:solidFill>
                  <a:schemeClr val="tx1"/>
                </a:solidFill>
                <a:effectLst/>
                <a:latin typeface="+mn-lt"/>
                <a:ea typeface="+mn-ea"/>
                <a:cs typeface="+mn-cs"/>
              </a:rPr>
              <a:t> đ</a:t>
            </a:r>
            <a:r>
              <a:rPr lang="vi-VN" sz="1200" b="0" i="0" kern="1200">
                <a:solidFill>
                  <a:schemeClr val="tx1"/>
                </a:solidFill>
                <a:effectLst/>
                <a:latin typeface="+mn-lt"/>
                <a:ea typeface="+mn-ea"/>
                <a:cs typeface="+mn-cs"/>
              </a:rPr>
              <a:t>ược</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xác</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nhận</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khi</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nhấn</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phím</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Enter. Nếu dữ liệu </a:t>
            </a:r>
            <a:r>
              <a:rPr lang="en-US" sz="1200" b="0" i="0" kern="1200">
                <a:solidFill>
                  <a:schemeClr val="tx1"/>
                </a:solidFill>
                <a:effectLst/>
                <a:latin typeface="+mn-lt"/>
                <a:ea typeface="+mn-ea"/>
                <a:cs typeface="+mn-cs"/>
              </a:rPr>
              <a:t>hợp</a:t>
            </a:r>
            <a:r>
              <a:rPr lang="en-US" sz="1200" b="0" i="0" kern="1200" baseline="0">
                <a:solidFill>
                  <a:schemeClr val="tx1"/>
                </a:solidFill>
                <a:effectLst/>
                <a:latin typeface="+mn-lt"/>
                <a:ea typeface="+mn-ea"/>
                <a:cs typeface="+mn-cs"/>
              </a:rPr>
              <a:t> lệ, </a:t>
            </a:r>
            <a:r>
              <a:rPr lang="vi-VN" sz="1200" b="0" i="0" kern="1200">
                <a:solidFill>
                  <a:schemeClr val="tx1"/>
                </a:solidFill>
                <a:effectLst/>
                <a:latin typeface="+mn-lt"/>
                <a:ea typeface="+mn-ea"/>
                <a:cs typeface="+mn-cs"/>
              </a:rPr>
              <a:t>hệ thống chuyển </a:t>
            </a:r>
            <a:r>
              <a:rPr lang="en-US" sz="1200" b="0" i="0" kern="1200">
                <a:solidFill>
                  <a:schemeClr val="tx1"/>
                </a:solidFill>
                <a:effectLst/>
                <a:latin typeface="+mn-lt"/>
                <a:ea typeface="+mn-ea"/>
                <a:cs typeface="+mn-cs"/>
              </a:rPr>
              <a:t>qua</a:t>
            </a:r>
            <a:r>
              <a:rPr lang="vi-VN" sz="1200" b="0" i="0" kern="1200">
                <a:solidFill>
                  <a:schemeClr val="tx1"/>
                </a:solidFill>
                <a:effectLst/>
                <a:latin typeface="+mn-lt"/>
                <a:ea typeface="+mn-ea"/>
                <a:cs typeface="+mn-cs"/>
              </a:rPr>
              <a:t> màn hình </a:t>
            </a:r>
            <a:r>
              <a:rPr lang="en-US" sz="1200" b="0" i="0" kern="1200">
                <a:solidFill>
                  <a:schemeClr val="tx1"/>
                </a:solidFill>
                <a:effectLst/>
                <a:latin typeface="+mn-lt"/>
                <a:ea typeface="+mn-ea"/>
                <a:cs typeface="+mn-cs"/>
              </a:rPr>
              <a:t>nhập</a:t>
            </a:r>
            <a:r>
              <a:rPr lang="vi-VN" sz="1200" b="0" i="0" kern="1200">
                <a:solidFill>
                  <a:schemeClr val="tx1"/>
                </a:solidFill>
                <a:effectLst/>
                <a:latin typeface="+mn-lt"/>
                <a:ea typeface="+mn-ea"/>
                <a:cs typeface="+mn-cs"/>
              </a:rPr>
              <a:t> công việc, nếu không, một thông báo lỗi được hiển thị</a:t>
            </a:r>
            <a:r>
              <a:rPr lang="en-US" sz="1200" b="0" i="0" kern="1200">
                <a:solidFill>
                  <a:schemeClr val="tx1"/>
                </a:solidFill>
                <a:effectLst/>
                <a:latin typeface="+mn-lt"/>
                <a:ea typeface="+mn-ea"/>
                <a:cs typeface="+mn-cs"/>
              </a:rPr>
              <a:t>.</a:t>
            </a:r>
          </a:p>
          <a:p>
            <a:r>
              <a:rPr lang="en-US" sz="1200" b="0" i="0" kern="1200">
                <a:solidFill>
                  <a:schemeClr val="tx1"/>
                </a:solidFill>
                <a:effectLst/>
                <a:latin typeface="+mn-lt"/>
                <a:ea typeface="+mn-ea"/>
                <a:cs typeface="+mn-cs"/>
              </a:rPr>
              <a:t>Xác</a:t>
            </a:r>
            <a:r>
              <a:rPr lang="en-US" sz="1200" b="0" i="0" kern="1200" baseline="0">
                <a:solidFill>
                  <a:schemeClr val="tx1"/>
                </a:solidFill>
                <a:effectLst/>
                <a:latin typeface="+mn-lt"/>
                <a:ea typeface="+mn-ea"/>
                <a:cs typeface="+mn-cs"/>
              </a:rPr>
              <a:t> định các test condition và tập các testcase cho đặc tả trên.</a:t>
            </a:r>
            <a:endParaRPr lang="en-US"/>
          </a:p>
        </p:txBody>
      </p:sp>
    </p:spTree>
    <p:extLst>
      <p:ext uri="{BB962C8B-B14F-4D97-AF65-F5344CB8AC3E}">
        <p14:creationId xmlns:p14="http://schemas.microsoft.com/office/powerpoint/2010/main" val="39654521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Từ</a:t>
            </a:r>
            <a:r>
              <a:rPr lang="en-US" baseline="0"/>
              <a:t> đặc tả, cho thấy có nhiều test condition:...</a:t>
            </a:r>
          </a:p>
          <a:p>
            <a:r>
              <a:rPr lang="en-US" baseline="0"/>
              <a:t>Minh họa test condtion cho surname: </a:t>
            </a:r>
            <a:r>
              <a:rPr lang="en-US"/>
              <a:t>To test the surname field (test procedure):</a:t>
            </a:r>
          </a:p>
          <a:p>
            <a:pPr marL="171450" indent="-171450">
              <a:buFontTx/>
              <a:buChar char="-"/>
            </a:pPr>
            <a:r>
              <a:rPr lang="en-US"/>
              <a:t>Navigate the system to the appropriate input screen,</a:t>
            </a:r>
          </a:p>
          <a:p>
            <a:pPr marL="171450" indent="-171450">
              <a:buFontTx/>
              <a:buChar char="-"/>
            </a:pPr>
            <a:r>
              <a:rPr lang="en-US"/>
              <a:t>select a title,</a:t>
            </a:r>
          </a:p>
          <a:p>
            <a:pPr marL="171450" indent="-171450">
              <a:buFontTx/>
              <a:buChar char="-"/>
            </a:pPr>
            <a:r>
              <a:rPr lang="en-US"/>
              <a:t>tab to the surname field (all this would be setting the </a:t>
            </a:r>
            <a:r>
              <a:rPr lang="en-US" b="1"/>
              <a:t>test precondition</a:t>
            </a:r>
            <a:r>
              <a:rPr lang="en-US"/>
              <a:t>)</a:t>
            </a:r>
          </a:p>
          <a:p>
            <a:pPr marL="171450" indent="-171450">
              <a:buFontTx/>
              <a:buChar char="-"/>
            </a:pPr>
            <a:r>
              <a:rPr lang="en-US" b="1"/>
              <a:t>Enter a value</a:t>
            </a:r>
            <a:r>
              <a:rPr lang="en-US"/>
              <a:t> (the first part of the set of input values)</a:t>
            </a:r>
          </a:p>
          <a:p>
            <a:pPr marL="171450" indent="-171450">
              <a:buFontTx/>
              <a:buChar char="-"/>
            </a:pPr>
            <a:r>
              <a:rPr lang="en-US"/>
              <a:t>Tab to the first name field and enter a value (the second part of the set of input values that we need because all fields must be completed)</a:t>
            </a:r>
          </a:p>
          <a:p>
            <a:pPr marL="171450" indent="-171450">
              <a:buFontTx/>
              <a:buChar char="-"/>
            </a:pPr>
            <a:r>
              <a:rPr lang="en-US"/>
              <a:t>Press the Enter key. </a:t>
            </a:r>
          </a:p>
          <a:p>
            <a:pPr marL="171450" indent="-171450">
              <a:buFontTx/>
              <a:buChar char="-"/>
            </a:pPr>
            <a:r>
              <a:rPr lang="en-US"/>
              <a:t>The system should either move on to the job input screen (if the data we input was valid) or display an error message (if the input data was not valid). Of course, we would need to test both of these cases.</a:t>
            </a:r>
          </a:p>
          <a:p>
            <a:pPr marL="0" indent="0">
              <a:buFontTx/>
              <a:buNone/>
            </a:pPr>
            <a:r>
              <a:rPr lang="en-US"/>
              <a:t>Test case: còn</a:t>
            </a:r>
            <a:r>
              <a:rPr lang="en-US" baseline="0"/>
              <a:t> có thể có nhiều TC khác nữa, mục tiêu của cta là dùng các kỹ thuật tk TC một cách có hệ thống để làm giảm số TC mà vẫn đạt được mức độ tin cậy mong đợi trong PM đang dc test.</a:t>
            </a:r>
            <a:endParaRPr lang="en-US"/>
          </a:p>
          <a:p>
            <a:pPr marL="171450" indent="-171450">
              <a:buFontTx/>
              <a:buChar char="-"/>
            </a:pPr>
            <a:r>
              <a:rPr lang="en-US"/>
              <a:t>3 TC là</a:t>
            </a:r>
            <a:r>
              <a:rPr lang="en-US" baseline="0"/>
              <a:t> valid (mặc dù tên không pb được nam nữ)</a:t>
            </a:r>
          </a:p>
          <a:p>
            <a:pPr marL="171450" indent="-171450">
              <a:buFontTx/>
              <a:buChar char="-"/>
            </a:pPr>
            <a:r>
              <a:rPr lang="en-US" baseline="0"/>
              <a:t>3 TC sau là invalid</a:t>
            </a:r>
            <a:endParaRPr lang="en-US"/>
          </a:p>
        </p:txBody>
      </p:sp>
    </p:spTree>
    <p:extLst>
      <p:ext uri="{BB962C8B-B14F-4D97-AF65-F5344CB8AC3E}">
        <p14:creationId xmlns:p14="http://schemas.microsoft.com/office/powerpoint/2010/main" val="37265419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Giả</a:t>
            </a:r>
            <a:r>
              <a:rPr lang="en-US" baseline="0"/>
              <a:t> sử chức năng input được đặc tả nằm trong menu:</a:t>
            </a:r>
          </a:p>
          <a:p>
            <a:pPr marL="0" marR="0" indent="0" algn="l" defTabSz="914400" rtl="0" eaLnBrk="1" fontAlgn="auto" latinLnBrk="0" hangingPunct="1">
              <a:lnSpc>
                <a:spcPct val="100000"/>
              </a:lnSpc>
              <a:spcBef>
                <a:spcPts val="0"/>
              </a:spcBef>
              <a:spcAft>
                <a:spcPts val="0"/>
              </a:spcAft>
              <a:buClrTx/>
              <a:buSzTx/>
              <a:buFontTx/>
              <a:buNone/>
              <a:tabLst/>
              <a:defRPr/>
            </a:pPr>
            <a:r>
              <a:rPr lang="en-US"/>
              <a:t>Test procedure sẽ</a:t>
            </a:r>
            <a:r>
              <a:rPr lang="en-US" baseline="0"/>
              <a:t> tập hợp tất cả các TC có liên quan trong 1 yếu tố đặc tả lại với nhau để chúng có thể thực hiện với nhau như 1 khối, sẽ có input hợp lệ và không hợp lệ (sau này có thể dùng cho CodeUI test):</a:t>
            </a:r>
          </a:p>
          <a:p>
            <a:r>
              <a:rPr lang="en-US" baseline="0"/>
              <a:t>(1)</a:t>
            </a:r>
            <a:r>
              <a:rPr lang="en-US" baseline="0">
                <a:sym typeface="Wingdings" pitchFamily="2" charset="2"/>
              </a:rPr>
              <a:t>(4) là các thao tác </a:t>
            </a:r>
            <a:r>
              <a:rPr lang="en-US" b="1"/>
              <a:t>test precondition</a:t>
            </a:r>
          </a:p>
          <a:p>
            <a:r>
              <a:rPr lang="en-US" b="0"/>
              <a:t>(6) cần</a:t>
            </a:r>
            <a:r>
              <a:rPr lang="en-US" b="0" baseline="0"/>
              <a:t> phải nhập vì yêu cầu “</a:t>
            </a:r>
            <a:r>
              <a:rPr lang="en-US"/>
              <a:t>all fields must be completed”</a:t>
            </a:r>
            <a:endParaRPr lang="en-US" b="0"/>
          </a:p>
        </p:txBody>
      </p:sp>
    </p:spTree>
    <p:extLst>
      <p:ext uri="{BB962C8B-B14F-4D97-AF65-F5344CB8AC3E}">
        <p14:creationId xmlns:p14="http://schemas.microsoft.com/office/powerpoint/2010/main" val="348965246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aseline="0">
                <a:solidFill>
                  <a:schemeClr val="tx1"/>
                </a:solidFill>
              </a:rPr>
              <a:t>Một siêu thị có 1 chương trình khuyến mãi dành cho tất cả các khách hàng. Những KH thân thiết khi mua hàng có thể được giảm giá thêm trên tất cả hóa đơn mua hàng (luật 3) hay tích lũy điểm (rule 4) để có thể chuyển thành phiếu quà tặng hoặc chuyển thành những điểm tương đương  cho những chương trình khuyến mại khác. Những KH không có thẻ KH thân thiết chỉ nhận được khuyến mãi nếu họ mua hơn 100 đ cho bất kỳ lần mua nào (luật 2), ngược lại chỉ có những khuyến mại đặc biệt áp dụng cho tất cả các khách hàng (luật 1)</a:t>
            </a:r>
            <a:endParaRPr lang="en-US" baseline="0">
              <a:solidFill>
                <a:srgbClr val="0070C0"/>
              </a:solidFill>
            </a:endParaRPr>
          </a:p>
        </p:txBody>
      </p:sp>
    </p:spTree>
    <p:extLst>
      <p:ext uri="{BB962C8B-B14F-4D97-AF65-F5344CB8AC3E}">
        <p14:creationId xmlns:p14="http://schemas.microsoft.com/office/powerpoint/2010/main" val="186016636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the decision table we can determine test cases by setting values for the </a:t>
            </a:r>
          </a:p>
          <a:p>
            <a:r>
              <a:rPr lang="en-US"/>
              <a:t>conditions and determining the expected output, e.g. from rule 1 we could input a</a:t>
            </a:r>
          </a:p>
          <a:p>
            <a:r>
              <a:rPr lang="en-US"/>
              <a:t>normal customer with a £50 transaction and check that no discount was applied.</a:t>
            </a:r>
          </a:p>
          <a:p>
            <a:r>
              <a:rPr lang="en-US"/>
              <a:t>The same customer with a £150 transaction (rule 2) should attract a discount.</a:t>
            </a:r>
          </a:p>
          <a:p>
            <a:r>
              <a:rPr lang="en-US"/>
              <a:t>Thus we can see that each column of the decision table represents a possible </a:t>
            </a:r>
          </a:p>
          <a:p>
            <a:r>
              <a:rPr lang="en-US"/>
              <a:t>test case.</a:t>
            </a:r>
          </a:p>
        </p:txBody>
      </p:sp>
    </p:spTree>
    <p:extLst>
      <p:ext uri="{BB962C8B-B14F-4D97-AF65-F5344CB8AC3E}">
        <p14:creationId xmlns:p14="http://schemas.microsoft.com/office/powerpoint/2010/main" val="420058728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Exercise 4.3 (p102)</a:t>
            </a:r>
          </a:p>
          <a:p>
            <a:pPr marL="0" marR="0" indent="0" algn="l" defTabSz="914400" rtl="0" eaLnBrk="1" fontAlgn="auto" latinLnBrk="0" hangingPunct="1">
              <a:lnSpc>
                <a:spcPct val="100000"/>
              </a:lnSpc>
              <a:spcBef>
                <a:spcPts val="0"/>
              </a:spcBef>
              <a:spcAft>
                <a:spcPts val="0"/>
              </a:spcAft>
              <a:buClrTx/>
              <a:buSzTx/>
              <a:buFontTx/>
              <a:buNone/>
              <a:tabLst/>
              <a:defRPr/>
            </a:pPr>
            <a:r>
              <a:rPr lang="en-US"/>
              <a:t>Hệ</a:t>
            </a:r>
            <a:r>
              <a:rPr lang="en-US" baseline="0"/>
              <a:t> thống check kiểm từ 2 người chấm bài độc lập. Hệ thống cho nhập điểm của bài thi từ 2 người chấm. Bài thi có 5 phần, mỗi phần 20 câu. Nếu khác biệt điểm &gt;3 ở bất kỳ phần nào hoặc tổng điểm &gt;10 thì bài đó sẽ đuợc đánh dấu để recheck.</a:t>
            </a:r>
            <a:endParaRPr lang="en-US"/>
          </a:p>
          <a:p>
            <a:pPr marL="0" marR="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p:txBody>
      </p:sp>
    </p:spTree>
    <p:extLst>
      <p:ext uri="{BB962C8B-B14F-4D97-AF65-F5344CB8AC3E}">
        <p14:creationId xmlns:p14="http://schemas.microsoft.com/office/powerpoint/2010/main" val="16984749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The partitions would be: (vẽ</a:t>
            </a:r>
            <a:r>
              <a:rPr lang="en-US" baseline="0"/>
              <a:t> hình)</a:t>
            </a:r>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en-US"/>
              <a:t>	- question scores: 0–20; </a:t>
            </a:r>
          </a:p>
          <a:p>
            <a:pPr marL="0" marR="0" indent="0" algn="l" defTabSz="914400" rtl="0" eaLnBrk="1" fontAlgn="auto" latinLnBrk="0" hangingPunct="1">
              <a:lnSpc>
                <a:spcPct val="100000"/>
              </a:lnSpc>
              <a:spcBef>
                <a:spcPts val="0"/>
              </a:spcBef>
              <a:spcAft>
                <a:spcPts val="0"/>
              </a:spcAft>
              <a:buClrTx/>
              <a:buSzTx/>
              <a:buFontTx/>
              <a:buNone/>
              <a:tabLst/>
              <a:defRPr/>
            </a:pPr>
            <a:r>
              <a:rPr lang="en-US"/>
              <a:t>	- question paper totals: 0–100; </a:t>
            </a:r>
          </a:p>
          <a:p>
            <a:pPr marL="0" marR="0" indent="0" algn="l" defTabSz="914400" rtl="0" eaLnBrk="1" fontAlgn="auto" latinLnBrk="0" hangingPunct="1">
              <a:lnSpc>
                <a:spcPct val="100000"/>
              </a:lnSpc>
              <a:spcBef>
                <a:spcPts val="0"/>
              </a:spcBef>
              <a:spcAft>
                <a:spcPts val="0"/>
              </a:spcAft>
              <a:buClrTx/>
              <a:buSzTx/>
              <a:buFontTx/>
              <a:buNone/>
              <a:tabLst/>
              <a:defRPr/>
            </a:pPr>
            <a:r>
              <a:rPr lang="en-US"/>
              <a:t>	- question differences:0–3 and &gt; 3; </a:t>
            </a:r>
          </a:p>
          <a:p>
            <a:pPr marL="0" marR="0" indent="0" algn="l" defTabSz="914400" rtl="0" eaLnBrk="1" fontAlgn="auto" latinLnBrk="0" hangingPunct="1">
              <a:lnSpc>
                <a:spcPct val="100000"/>
              </a:lnSpc>
              <a:spcBef>
                <a:spcPts val="0"/>
              </a:spcBef>
              <a:spcAft>
                <a:spcPts val="0"/>
              </a:spcAft>
              <a:buClrTx/>
              <a:buSzTx/>
              <a:buFontTx/>
              <a:buNone/>
              <a:tabLst/>
              <a:defRPr/>
            </a:pPr>
            <a:r>
              <a:rPr lang="en-US"/>
              <a:t>	- total differences: 0–10 and &gt; 10.</a:t>
            </a:r>
          </a:p>
          <a:p>
            <a:pPr marL="0" marR="0" indent="0" algn="l" defTabSz="914400" rtl="0" eaLnBrk="1" fontAlgn="auto" latinLnBrk="0" hangingPunct="1">
              <a:lnSpc>
                <a:spcPct val="100000"/>
              </a:lnSpc>
              <a:spcBef>
                <a:spcPts val="0"/>
              </a:spcBef>
              <a:spcAft>
                <a:spcPts val="0"/>
              </a:spcAft>
              <a:buClrTx/>
              <a:buSzTx/>
              <a:buFontTx/>
              <a:buNone/>
              <a:tabLst/>
              <a:defRPr/>
            </a:pPr>
            <a:r>
              <a:rPr lang="en-US"/>
              <a:t>Boundary values would be: </a:t>
            </a:r>
          </a:p>
          <a:p>
            <a:pPr marL="0" marR="0" indent="0" algn="l" defTabSz="914400" rtl="0" eaLnBrk="1" fontAlgn="auto" latinLnBrk="0" hangingPunct="1">
              <a:lnSpc>
                <a:spcPct val="100000"/>
              </a:lnSpc>
              <a:spcBef>
                <a:spcPts val="0"/>
              </a:spcBef>
              <a:spcAft>
                <a:spcPts val="0"/>
              </a:spcAft>
              <a:buClrTx/>
              <a:buSzTx/>
              <a:buFontTx/>
              <a:buNone/>
              <a:tabLst/>
              <a:defRPr/>
            </a:pPr>
            <a:r>
              <a:rPr lang="en-US"/>
              <a:t>	- question scores: −1, 0 and 20, 21;</a:t>
            </a:r>
          </a:p>
          <a:p>
            <a:pPr marL="0" marR="0" indent="0" algn="l" defTabSz="914400" rtl="0" eaLnBrk="1" fontAlgn="auto" latinLnBrk="0" hangingPunct="1">
              <a:lnSpc>
                <a:spcPct val="100000"/>
              </a:lnSpc>
              <a:spcBef>
                <a:spcPts val="0"/>
              </a:spcBef>
              <a:spcAft>
                <a:spcPts val="0"/>
              </a:spcAft>
              <a:buClrTx/>
              <a:buSzTx/>
              <a:buFontTx/>
              <a:buNone/>
              <a:tabLst/>
              <a:defRPr/>
            </a:pPr>
            <a:r>
              <a:rPr lang="en-US"/>
              <a:t>	- question paper totals: −1, 0 and 100, 101;</a:t>
            </a:r>
          </a:p>
          <a:p>
            <a:pPr marL="0" marR="0" indent="0" algn="l" defTabSz="914400" rtl="0" eaLnBrk="1" fontAlgn="auto" latinLnBrk="0" hangingPunct="1">
              <a:lnSpc>
                <a:spcPct val="100000"/>
              </a:lnSpc>
              <a:spcBef>
                <a:spcPts val="0"/>
              </a:spcBef>
              <a:spcAft>
                <a:spcPts val="0"/>
              </a:spcAft>
              <a:buClrTx/>
              <a:buSzTx/>
              <a:buFontTx/>
              <a:buNone/>
              <a:tabLst/>
              <a:defRPr/>
            </a:pPr>
            <a:r>
              <a:rPr lang="en-US"/>
              <a:t>	- differences between question scores for different markers: −1, 0 and 2, 3, 4;</a:t>
            </a:r>
          </a:p>
          <a:p>
            <a:pPr marL="0" marR="0" indent="0" algn="l" defTabSz="914400" rtl="0" eaLnBrk="1" fontAlgn="auto" latinLnBrk="0" hangingPunct="1">
              <a:lnSpc>
                <a:spcPct val="100000"/>
              </a:lnSpc>
              <a:spcBef>
                <a:spcPts val="0"/>
              </a:spcBef>
              <a:spcAft>
                <a:spcPts val="0"/>
              </a:spcAft>
              <a:buClrTx/>
              <a:buSzTx/>
              <a:buFontTx/>
              <a:buNone/>
              <a:tabLst/>
              <a:defRPr/>
            </a:pPr>
            <a:r>
              <a:rPr lang="en-US"/>
              <a:t>	- total differences between different markers: −1, 0</a:t>
            </a:r>
            <a:r>
              <a:rPr lang="en-US" baseline="0"/>
              <a:t> </a:t>
            </a:r>
            <a:r>
              <a:rPr lang="en-US"/>
              <a:t>and 10, 11.</a:t>
            </a:r>
          </a:p>
          <a:p>
            <a:pPr marL="0" marR="0" indent="0" algn="l" defTabSz="914400" rtl="0" eaLnBrk="1" fontAlgn="auto" latinLnBrk="0" hangingPunct="1">
              <a:lnSpc>
                <a:spcPct val="100000"/>
              </a:lnSpc>
              <a:spcBef>
                <a:spcPts val="0"/>
              </a:spcBef>
              <a:spcAft>
                <a:spcPts val="0"/>
              </a:spcAft>
              <a:buClrTx/>
              <a:buSzTx/>
              <a:buFontTx/>
              <a:buNone/>
              <a:tabLst/>
              <a:defRPr/>
            </a:pPr>
            <a:r>
              <a:rPr lang="vi-VN" sz="1200" b="0" i="0" kern="1200">
                <a:solidFill>
                  <a:schemeClr val="tx1"/>
                </a:solidFill>
                <a:effectLst/>
                <a:latin typeface="+mn-lt"/>
                <a:ea typeface="+mn-ea"/>
                <a:cs typeface="+mn-cs"/>
              </a:rPr>
              <a:t>Trong trường hợp này, mặc dù -1, 0 xảy ra nhiều lần</a:t>
            </a:r>
            <a:r>
              <a:rPr lang="en-US" sz="1200" b="0" i="0" kern="1200">
                <a:solidFill>
                  <a:schemeClr val="tx1"/>
                </a:solidFill>
                <a:effectLst/>
                <a:latin typeface="+mn-lt"/>
                <a:ea typeface="+mn-ea"/>
                <a:cs typeface="+mn-cs"/>
              </a:rPr>
              <a:t> nhưng</a:t>
            </a:r>
            <a:r>
              <a:rPr lang="en-US" sz="1200" b="0" i="0" kern="1200" baseline="0">
                <a:solidFill>
                  <a:schemeClr val="tx1"/>
                </a:solidFill>
                <a:effectLst/>
                <a:latin typeface="+mn-lt"/>
                <a:ea typeface="+mn-ea"/>
                <a:cs typeface="+mn-cs"/>
              </a:rPr>
              <a:t> cũng phải test lại</a:t>
            </a:r>
            <a:r>
              <a:rPr lang="vi-VN" sz="1200" b="0" i="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vì</a:t>
            </a:r>
            <a:r>
              <a:rPr lang="en-US" sz="1200" b="0" i="0" kern="1200" baseline="0">
                <a:solidFill>
                  <a:schemeClr val="tx1"/>
                </a:solidFill>
                <a:effectLst/>
                <a:latin typeface="+mn-lt"/>
                <a:ea typeface="+mn-ea"/>
                <a:cs typeface="+mn-cs"/>
              </a:rPr>
              <a:t> bộ này </a:t>
            </a:r>
            <a:r>
              <a:rPr lang="vi-VN" sz="1200" b="0" i="0" kern="1200">
                <a:solidFill>
                  <a:schemeClr val="tx1"/>
                </a:solidFill>
                <a:effectLst/>
                <a:latin typeface="+mn-lt"/>
                <a:ea typeface="+mn-ea"/>
                <a:cs typeface="+mn-cs"/>
              </a:rPr>
              <a:t>có thể được áp dụng đến các </a:t>
            </a:r>
            <a:r>
              <a:rPr lang="en-US" sz="1200" b="0" i="0" kern="1200">
                <a:solidFill>
                  <a:schemeClr val="tx1"/>
                </a:solidFill>
                <a:effectLst/>
                <a:latin typeface="+mn-lt"/>
                <a:ea typeface="+mn-ea"/>
                <a:cs typeface="+mn-cs"/>
              </a:rPr>
              <a:t>phần</a:t>
            </a:r>
            <a:r>
              <a:rPr lang="vi-VN" sz="1200" b="0" i="0" kern="1200">
                <a:solidFill>
                  <a:schemeClr val="tx1"/>
                </a:solidFill>
                <a:effectLst/>
                <a:latin typeface="+mn-lt"/>
                <a:ea typeface="+mn-ea"/>
                <a:cs typeface="+mn-cs"/>
              </a:rPr>
              <a:t> khác nhau của chương trình</a:t>
            </a:r>
            <a:r>
              <a:rPr lang="en-US" sz="1200" b="0" i="0" kern="120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en-US"/>
              <a:t>In this case, although the −1, 0, 1 values occur several times, they may be applied</a:t>
            </a:r>
          </a:p>
          <a:p>
            <a:pPr marL="0" marR="0" indent="0" algn="l" defTabSz="914400" rtl="0" eaLnBrk="1" fontAlgn="auto" latinLnBrk="0" hangingPunct="1">
              <a:lnSpc>
                <a:spcPct val="100000"/>
              </a:lnSpc>
              <a:spcBef>
                <a:spcPts val="0"/>
              </a:spcBef>
              <a:spcAft>
                <a:spcPts val="0"/>
              </a:spcAft>
              <a:buClrTx/>
              <a:buSzTx/>
              <a:buFontTx/>
              <a:buNone/>
              <a:tabLst/>
              <a:defRPr/>
            </a:pPr>
            <a:r>
              <a:rPr lang="en-US"/>
              <a:t>to different parts of the program (e.g. the question score checks will probably be</a:t>
            </a:r>
          </a:p>
          <a:p>
            <a:pPr marL="0" marR="0" indent="0" algn="l" defTabSz="914400" rtl="0" eaLnBrk="1" fontAlgn="auto" latinLnBrk="0" hangingPunct="1">
              <a:lnSpc>
                <a:spcPct val="100000"/>
              </a:lnSpc>
              <a:spcBef>
                <a:spcPts val="0"/>
              </a:spcBef>
              <a:spcAft>
                <a:spcPts val="0"/>
              </a:spcAft>
              <a:buClrTx/>
              <a:buSzTx/>
              <a:buFontTx/>
              <a:buNone/>
              <a:tabLst/>
              <a:defRPr/>
            </a:pPr>
            <a:r>
              <a:rPr lang="en-US"/>
              <a:t>in a different part of the program from the total score checks) so we may need to </a:t>
            </a:r>
          </a:p>
          <a:p>
            <a:pPr marL="0" marR="0" indent="0" algn="l" defTabSz="914400" rtl="0" eaLnBrk="1" fontAlgn="auto" latinLnBrk="0" hangingPunct="1">
              <a:lnSpc>
                <a:spcPct val="100000"/>
              </a:lnSpc>
              <a:spcBef>
                <a:spcPts val="0"/>
              </a:spcBef>
              <a:spcAft>
                <a:spcPts val="0"/>
              </a:spcAft>
              <a:buClrTx/>
              <a:buSzTx/>
              <a:buFontTx/>
              <a:buNone/>
              <a:tabLst/>
              <a:defRPr/>
            </a:pPr>
            <a:r>
              <a:rPr lang="en-US"/>
              <a:t>repeat these values in the boundary tests.</a:t>
            </a:r>
          </a:p>
        </p:txBody>
      </p:sp>
    </p:spTree>
    <p:extLst>
      <p:ext uri="{BB962C8B-B14F-4D97-AF65-F5344CB8AC3E}">
        <p14:creationId xmlns:p14="http://schemas.microsoft.com/office/powerpoint/2010/main" val="283040783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Selecting test cases is the single most important task that software testers do and equivalence partitioning, sometimes called equivalence classing, is the means by which they do it. Equivalence partitioning is the process of methodically reducing the huge (infinite) set of possible test cases into a much smaller, but still equally effective, set.</a:t>
            </a:r>
          </a:p>
          <a:p>
            <a:r>
              <a:rPr lang="en-US"/>
              <a:t>Remember the Windows Calculator example from </a:t>
            </a:r>
            <a:r>
              <a:rPr lang="en-US">
                <a:hlinkClick r:id="rId3" action="ppaction://hlinkfile"/>
              </a:rPr>
              <a:t>Chapter 3</a:t>
            </a:r>
            <a:r>
              <a:rPr lang="en-US"/>
              <a:t>? It's impossible to test all the cases of adding two numbers together. Equivalence partitioning provides a systematic means for selecting the values that matter and ignoring the ones that don't.</a:t>
            </a:r>
          </a:p>
          <a:p>
            <a:r>
              <a:rPr lang="en-US"/>
              <a:t>For example, without knowing anything more about equivalence partitioning, would you think that if you tested 1+1, 1+2, 1+3, and 1+4 that you'd need to test 1+5 and 1+6? Do you think you could safely assume that they'd work?</a:t>
            </a:r>
          </a:p>
          <a:p>
            <a:r>
              <a:rPr lang="en-US"/>
              <a:t>How about 1+99999999999999999999999999999999 (the maximum number you can type in)? Is this test case maybe a little different than the others, maybe in a different class, a different equivalence partition? If you had the choice, would you include it or 1+13?</a:t>
            </a:r>
          </a:p>
          <a:p>
            <a:r>
              <a:rPr lang="en-US"/>
              <a:t>See, you're already starting to think like a software tester!</a:t>
            </a:r>
          </a:p>
          <a:p>
            <a:r>
              <a:rPr lang="en-US"/>
              <a:t>NOTE</a:t>
            </a:r>
          </a:p>
          <a:p>
            <a:r>
              <a:rPr lang="en-US"/>
              <a:t>An equivalence class or equivalence partition is a set of test cases that tests the same thing or reveals the same bug.</a:t>
            </a:r>
          </a:p>
          <a:p>
            <a:br>
              <a:rPr lang="en-US"/>
            </a:br>
            <a:r>
              <a:rPr lang="en-US"/>
              <a:t>What is the difference between 1+99999999999999999999999999999999 and 1+13? In the case of 1+13, it looks like a standard simple addition, a lot like 1+5 or 1+392. However, 1+999... is way out there, on the edge. If you enter the largest possible number and then add 1 to it, something bad might happenpossibly a bug. This extreme case is in a unique partition, a different one from the normal partition of regular numbers.</a:t>
            </a:r>
          </a:p>
          <a:p>
            <a:r>
              <a:rPr lang="en-US"/>
              <a:t>NOTE</a:t>
            </a:r>
          </a:p>
          <a:p>
            <a:r>
              <a:rPr lang="en-US"/>
              <a:t>When looking for equivalence partitions, think about ways to group similar inputs, similar outputs, and similar operation of the software. These groups are your equivalence partitions.</a:t>
            </a:r>
          </a:p>
          <a:p>
            <a:br>
              <a:rPr lang="en-US"/>
            </a:br>
            <a:r>
              <a:rPr lang="en-US"/>
              <a:t>Look at a few examples:</a:t>
            </a:r>
          </a:p>
          <a:p>
            <a:r>
              <a:rPr lang="en-US"/>
              <a:t>In the case of adding two numbers together, there seemed to be a distinct difference between testing 1+13 and 1+99999999999999999999999999999999. Call it a gut feeling, but one seemed to be normal addition and the other seemed to be risky. That gut feeling is right. A program would have to handle the addition of 1 to a maxed-out number differently than the addition of two small numbers. It would need to handle an overflow condition. These two cases, because the software most likely operates on them differently, are in different equivalence partitions.</a:t>
            </a:r>
          </a:p>
          <a:p>
            <a:r>
              <a:rPr lang="en-US"/>
              <a:t>If you have some programming experience, you might be thinking of several more "special" numbers that could cause the software to operate differently. If you're not a programmer, don't worryyou'll learn the techniques very shortly and be able to apply them without having to understand the code in detail.</a:t>
            </a:r>
          </a:p>
          <a:p>
            <a:r>
              <a:rPr lang="en-US">
                <a:hlinkClick r:id="rId4" action="ppaction://hlinkfile"/>
              </a:rPr>
              <a:t>Figure 5.3</a:t>
            </a:r>
            <a:r>
              <a:rPr lang="en-US"/>
              <a:t> shows the Calculator's Edit menu selected to display the copy and paste commands. There are five ways to perform each function. For copy, you click the Copy menu item, type c or C when the menu is displayed, or press Ctrl+c or Ctrl+Shift+c. Each input path copies the current number into the Clipboardthey perform the same output and produce the same result.</a:t>
            </a:r>
          </a:p>
          <a:p>
            <a:pPr marL="0" marR="0" indent="0" algn="l" defTabSz="914400" rtl="0" eaLnBrk="1" fontAlgn="auto" latinLnBrk="0" hangingPunct="1">
              <a:lnSpc>
                <a:spcPct val="100000"/>
              </a:lnSpc>
              <a:spcBef>
                <a:spcPts val="0"/>
              </a:spcBef>
              <a:spcAft>
                <a:spcPts val="0"/>
              </a:spcAft>
              <a:buClrTx/>
              <a:buSzTx/>
              <a:buFontTx/>
              <a:buNone/>
              <a:tabLst/>
              <a:defRPr/>
            </a:pPr>
            <a:r>
              <a:rPr lang="en-US"/>
              <a:t>If your job is to test the copy command, you could partition these five input paths down to three: Clicking the command on the menu, typing a c, or pressing Ctrl+c. As you grow more confident with the software's quality and know that the copy function, no matter how it's enabled, is working properly, you might even partition these down into a single partition, maybe Ctrl+c.</a:t>
            </a:r>
          </a:p>
          <a:p>
            <a:endParaRPr lang="en-US"/>
          </a:p>
        </p:txBody>
      </p:sp>
    </p:spTree>
    <p:extLst>
      <p:ext uri="{BB962C8B-B14F-4D97-AF65-F5344CB8AC3E}">
        <p14:creationId xmlns:p14="http://schemas.microsoft.com/office/powerpoint/2010/main" val="68422431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600" b="1">
                <a:solidFill>
                  <a:srgbClr val="4DE1EA"/>
                </a:solidFill>
                <a:latin typeface="Calibri" pitchFamily="34" charset="0"/>
              </a:defRPr>
            </a:lvl1pPr>
            <a:lvl2pPr marL="742950" indent="-285750" eaLnBrk="0" hangingPunct="0">
              <a:defRPr sz="3600" b="1">
                <a:solidFill>
                  <a:srgbClr val="4DE1EA"/>
                </a:solidFill>
                <a:latin typeface="Calibri" pitchFamily="34" charset="0"/>
              </a:defRPr>
            </a:lvl2pPr>
            <a:lvl3pPr marL="1143000" indent="-228600" eaLnBrk="0" hangingPunct="0">
              <a:defRPr sz="3600" b="1">
                <a:solidFill>
                  <a:srgbClr val="4DE1EA"/>
                </a:solidFill>
                <a:latin typeface="Calibri" pitchFamily="34" charset="0"/>
              </a:defRPr>
            </a:lvl3pPr>
            <a:lvl4pPr marL="1600200" indent="-228600" eaLnBrk="0" hangingPunct="0">
              <a:defRPr sz="3600" b="1">
                <a:solidFill>
                  <a:srgbClr val="4DE1EA"/>
                </a:solidFill>
                <a:latin typeface="Calibri" pitchFamily="34" charset="0"/>
              </a:defRPr>
            </a:lvl4pPr>
            <a:lvl5pPr marL="2057400" indent="-228600" eaLnBrk="0" hangingPunct="0">
              <a:defRPr sz="3600" b="1">
                <a:solidFill>
                  <a:srgbClr val="4DE1EA"/>
                </a:solidFill>
                <a:latin typeface="Calibri" pitchFamily="34" charset="0"/>
              </a:defRPr>
            </a:lvl5pPr>
            <a:lvl6pPr marL="2514600" indent="-228600" algn="ctr" eaLnBrk="0" fontAlgn="base" hangingPunct="0">
              <a:spcBef>
                <a:spcPct val="0"/>
              </a:spcBef>
              <a:spcAft>
                <a:spcPct val="0"/>
              </a:spcAft>
              <a:defRPr sz="3600" b="1">
                <a:solidFill>
                  <a:srgbClr val="4DE1EA"/>
                </a:solidFill>
                <a:latin typeface="Calibri" pitchFamily="34" charset="0"/>
              </a:defRPr>
            </a:lvl6pPr>
            <a:lvl7pPr marL="2971800" indent="-228600" algn="ctr" eaLnBrk="0" fontAlgn="base" hangingPunct="0">
              <a:spcBef>
                <a:spcPct val="0"/>
              </a:spcBef>
              <a:spcAft>
                <a:spcPct val="0"/>
              </a:spcAft>
              <a:defRPr sz="3600" b="1">
                <a:solidFill>
                  <a:srgbClr val="4DE1EA"/>
                </a:solidFill>
                <a:latin typeface="Calibri" pitchFamily="34" charset="0"/>
              </a:defRPr>
            </a:lvl7pPr>
            <a:lvl8pPr marL="3429000" indent="-228600" algn="ctr" eaLnBrk="0" fontAlgn="base" hangingPunct="0">
              <a:spcBef>
                <a:spcPct val="0"/>
              </a:spcBef>
              <a:spcAft>
                <a:spcPct val="0"/>
              </a:spcAft>
              <a:defRPr sz="3600" b="1">
                <a:solidFill>
                  <a:srgbClr val="4DE1EA"/>
                </a:solidFill>
                <a:latin typeface="Calibri" pitchFamily="34" charset="0"/>
              </a:defRPr>
            </a:lvl8pPr>
            <a:lvl9pPr marL="3886200" indent="-228600" algn="ctr" eaLnBrk="0" fontAlgn="base" hangingPunct="0">
              <a:spcBef>
                <a:spcPct val="0"/>
              </a:spcBef>
              <a:spcAft>
                <a:spcPct val="0"/>
              </a:spcAft>
              <a:defRPr sz="3600" b="1">
                <a:solidFill>
                  <a:srgbClr val="4DE1EA"/>
                </a:solidFill>
                <a:latin typeface="Calibri" pitchFamily="34" charset="0"/>
              </a:defRPr>
            </a:lvl9pPr>
          </a:lstStyle>
          <a:p>
            <a:fld id="{855E3237-813F-429A-9267-6777083CECE3}" type="slidenum">
              <a:rPr lang="en-US" sz="1200" smtClean="0"/>
              <a:pPr/>
              <a:t>60</a:t>
            </a:fld>
            <a:endParaRPr lang="en-US" sz="1200"/>
          </a:p>
        </p:txBody>
      </p:sp>
    </p:spTree>
    <p:extLst>
      <p:ext uri="{BB962C8B-B14F-4D97-AF65-F5344CB8AC3E}">
        <p14:creationId xmlns:p14="http://schemas.microsoft.com/office/powerpoint/2010/main" val="14524989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 Mixed: lẫn lộn, pha trộn</a:t>
            </a:r>
          </a:p>
          <a:p>
            <a:pPr>
              <a:buFontTx/>
              <a:buChar char="-"/>
            </a:pPr>
            <a:r>
              <a:rPr lang="en-US"/>
              <a:t>Embedded: gắn vào, nhúng vào</a:t>
            </a:r>
          </a:p>
          <a:p>
            <a:pPr>
              <a:buFontTx/>
              <a:buChar char="-"/>
            </a:pPr>
            <a:endParaRPr lang="en-US"/>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600" b="1">
                <a:solidFill>
                  <a:srgbClr val="4DE1EA"/>
                </a:solidFill>
                <a:latin typeface="Calibri" pitchFamily="34" charset="0"/>
              </a:defRPr>
            </a:lvl1pPr>
            <a:lvl2pPr marL="742950" indent="-285750" eaLnBrk="0" hangingPunct="0">
              <a:defRPr sz="3600" b="1">
                <a:solidFill>
                  <a:srgbClr val="4DE1EA"/>
                </a:solidFill>
                <a:latin typeface="Calibri" pitchFamily="34" charset="0"/>
              </a:defRPr>
            </a:lvl2pPr>
            <a:lvl3pPr marL="1143000" indent="-228600" eaLnBrk="0" hangingPunct="0">
              <a:defRPr sz="3600" b="1">
                <a:solidFill>
                  <a:srgbClr val="4DE1EA"/>
                </a:solidFill>
                <a:latin typeface="Calibri" pitchFamily="34" charset="0"/>
              </a:defRPr>
            </a:lvl3pPr>
            <a:lvl4pPr marL="1600200" indent="-228600" eaLnBrk="0" hangingPunct="0">
              <a:defRPr sz="3600" b="1">
                <a:solidFill>
                  <a:srgbClr val="4DE1EA"/>
                </a:solidFill>
                <a:latin typeface="Calibri" pitchFamily="34" charset="0"/>
              </a:defRPr>
            </a:lvl4pPr>
            <a:lvl5pPr marL="2057400" indent="-228600" eaLnBrk="0" hangingPunct="0">
              <a:defRPr sz="3600" b="1">
                <a:solidFill>
                  <a:srgbClr val="4DE1EA"/>
                </a:solidFill>
                <a:latin typeface="Calibri" pitchFamily="34" charset="0"/>
              </a:defRPr>
            </a:lvl5pPr>
            <a:lvl6pPr marL="2514600" indent="-228600" algn="ctr" eaLnBrk="0" fontAlgn="base" hangingPunct="0">
              <a:spcBef>
                <a:spcPct val="0"/>
              </a:spcBef>
              <a:spcAft>
                <a:spcPct val="0"/>
              </a:spcAft>
              <a:defRPr sz="3600" b="1">
                <a:solidFill>
                  <a:srgbClr val="4DE1EA"/>
                </a:solidFill>
                <a:latin typeface="Calibri" pitchFamily="34" charset="0"/>
              </a:defRPr>
            </a:lvl6pPr>
            <a:lvl7pPr marL="2971800" indent="-228600" algn="ctr" eaLnBrk="0" fontAlgn="base" hangingPunct="0">
              <a:spcBef>
                <a:spcPct val="0"/>
              </a:spcBef>
              <a:spcAft>
                <a:spcPct val="0"/>
              </a:spcAft>
              <a:defRPr sz="3600" b="1">
                <a:solidFill>
                  <a:srgbClr val="4DE1EA"/>
                </a:solidFill>
                <a:latin typeface="Calibri" pitchFamily="34" charset="0"/>
              </a:defRPr>
            </a:lvl7pPr>
            <a:lvl8pPr marL="3429000" indent="-228600" algn="ctr" eaLnBrk="0" fontAlgn="base" hangingPunct="0">
              <a:spcBef>
                <a:spcPct val="0"/>
              </a:spcBef>
              <a:spcAft>
                <a:spcPct val="0"/>
              </a:spcAft>
              <a:defRPr sz="3600" b="1">
                <a:solidFill>
                  <a:srgbClr val="4DE1EA"/>
                </a:solidFill>
                <a:latin typeface="Calibri" pitchFamily="34" charset="0"/>
              </a:defRPr>
            </a:lvl8pPr>
            <a:lvl9pPr marL="3886200" indent="-228600" algn="ctr" eaLnBrk="0" fontAlgn="base" hangingPunct="0">
              <a:spcBef>
                <a:spcPct val="0"/>
              </a:spcBef>
              <a:spcAft>
                <a:spcPct val="0"/>
              </a:spcAft>
              <a:defRPr sz="3600" b="1">
                <a:solidFill>
                  <a:srgbClr val="4DE1EA"/>
                </a:solidFill>
                <a:latin typeface="Calibri" pitchFamily="34" charset="0"/>
              </a:defRPr>
            </a:lvl9pPr>
          </a:lstStyle>
          <a:p>
            <a:fld id="{6D0BA88E-F8DD-43B5-8B0E-5D2B829F39A8}" type="slidenum">
              <a:rPr lang="en-US" sz="1200" smtClean="0"/>
              <a:pPr/>
              <a:t>63</a:t>
            </a:fld>
            <a:endParaRPr lang="en-US" sz="1200"/>
          </a:p>
        </p:txBody>
      </p:sp>
    </p:spTree>
    <p:extLst>
      <p:ext uri="{BB962C8B-B14F-4D97-AF65-F5344CB8AC3E}">
        <p14:creationId xmlns:p14="http://schemas.microsoft.com/office/powerpoint/2010/main" val="118954422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a:t>Giải thích trong Testing Computer Software p128...</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a:t>Don't forget equivalence classes for invalid Inputs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This is often your best source of bugs. Few programmers thoroughly test the program's responses to invalid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or unexpected inputs. Therefore, the more types of invalid input you check, the more errors you will find. As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an example, for a program that is supposed to accept any number between 1 and 99, there are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at least four equivalence classes: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 Any number between 1 and 99 is valid input.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 Any number less than 1 is too small. This includes 0 and all negative numbers.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 Any number greater than 99 is too big.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  If it's not a number, it's not accepted. (Is this true for all non-numbers?) </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a:t>Organize your classifications In a table or an outline</a:t>
            </a: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a:t>You will find so many input and output conditions and equivalence classes associated with them, that you'l </a:t>
            </a: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a:t>need a way to organize them. We use two approaches. Sometimes we put everything into a big table, liki </a:t>
            </a: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a:t>Figure 7.1. Sometimes we use an outline format, as in Figure 7.2. Note that in both cases, for every input anc </a:t>
            </a: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a:t>output event, you should leave room for invalid equivalence classes as well as valid ones.  </a:t>
            </a: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a:t>Both approaches, table and outline, are good. There are advantages and drawbacks to each.  </a:t>
            </a:r>
          </a:p>
          <a:p>
            <a:endParaRPr lang="en-US"/>
          </a:p>
        </p:txBody>
      </p:sp>
    </p:spTree>
    <p:extLst>
      <p:ext uri="{BB962C8B-B14F-4D97-AF65-F5344CB8AC3E}">
        <p14:creationId xmlns:p14="http://schemas.microsoft.com/office/powerpoint/2010/main" val="211611120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a:t>(Testing Computer S).</a:t>
            </a:r>
          </a:p>
          <a:p>
            <a:endParaRPr lang="en-US"/>
          </a:p>
        </p:txBody>
      </p:sp>
    </p:spTree>
    <p:extLst>
      <p:ext uri="{BB962C8B-B14F-4D97-AF65-F5344CB8AC3E}">
        <p14:creationId xmlns:p14="http://schemas.microsoft.com/office/powerpoint/2010/main" val="278310545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Tx/>
              <a:buChar char="-"/>
            </a:pPr>
            <a:r>
              <a:rPr lang="en-US"/>
              <a:t>Có</a:t>
            </a:r>
            <a:r>
              <a:rPr lang="en-US" baseline="0"/>
              <a:t> thể áp dụng 2 kỹ thuật này nhiều lần cho cùng 1 mục đặc tả.</a:t>
            </a:r>
          </a:p>
          <a:p>
            <a:pPr marL="628650" lvl="1" indent="-171450">
              <a:buFontTx/>
              <a:buChar char="-"/>
            </a:pPr>
            <a:r>
              <a:rPr lang="en-US" baseline="0"/>
              <a:t>VD/ </a:t>
            </a:r>
            <a:r>
              <a:rPr lang="vi-VN" sz="1200" b="0" i="0" kern="1200">
                <a:solidFill>
                  <a:schemeClr val="tx1"/>
                </a:solidFill>
                <a:effectLst/>
                <a:latin typeface="+mn-lt"/>
                <a:ea typeface="+mn-ea"/>
                <a:cs typeface="+mn-cs"/>
              </a:rPr>
              <a:t>một hệ thống điện thoại nội bộ cho một công ty với 200 máy điện thoại</a:t>
            </a:r>
            <a:r>
              <a:rPr lang="en-US" sz="1200" b="0" i="0" kern="1200">
                <a:solidFill>
                  <a:schemeClr val="tx1"/>
                </a:solidFill>
                <a:effectLst/>
                <a:latin typeface="+mn-lt"/>
                <a:ea typeface="+mn-ea"/>
                <a:cs typeface="+mn-cs"/>
              </a:rPr>
              <a:t>,</a:t>
            </a:r>
            <a:r>
              <a:rPr lang="vi-VN" sz="1200" b="0" i="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với</a:t>
            </a:r>
            <a:r>
              <a:rPr lang="en-US" sz="1200" b="0" i="0" kern="1200" baseline="0">
                <a:solidFill>
                  <a:schemeClr val="tx1"/>
                </a:solidFill>
                <a:effectLst/>
                <a:latin typeface="+mn-lt"/>
                <a:ea typeface="+mn-ea"/>
                <a:cs typeface="+mn-cs"/>
              </a:rPr>
              <a:t> số nội bộ gồm có</a:t>
            </a:r>
            <a:r>
              <a:rPr lang="vi-VN" sz="1200" b="0" i="0" kern="1200">
                <a:solidFill>
                  <a:schemeClr val="tx1"/>
                </a:solidFill>
                <a:effectLst/>
                <a:latin typeface="+mn-lt"/>
                <a:ea typeface="+mn-ea"/>
                <a:cs typeface="+mn-cs"/>
              </a:rPr>
              <a:t> </a:t>
            </a:r>
            <a:r>
              <a:rPr lang="vi-VN" sz="1200" b="1" i="0" kern="1200">
                <a:solidFill>
                  <a:schemeClr val="tx1"/>
                </a:solidFill>
                <a:effectLst/>
                <a:latin typeface="+mn-lt"/>
                <a:ea typeface="+mn-ea"/>
                <a:cs typeface="+mn-cs"/>
              </a:rPr>
              <a:t>3 chữ số </a:t>
            </a:r>
            <a:r>
              <a:rPr lang="en-US" sz="1200" b="1" i="0" kern="1200">
                <a:solidFill>
                  <a:schemeClr val="tx1"/>
                </a:solidFill>
                <a:effectLst/>
                <a:latin typeface="+mn-lt"/>
                <a:ea typeface="+mn-ea"/>
                <a:cs typeface="+mn-cs"/>
              </a:rPr>
              <a:t>từ</a:t>
            </a:r>
            <a:r>
              <a:rPr lang="en-US" sz="1200" b="1" i="0" kern="1200" baseline="0">
                <a:solidFill>
                  <a:schemeClr val="tx1"/>
                </a:solidFill>
                <a:effectLst/>
                <a:latin typeface="+mn-lt"/>
                <a:ea typeface="+mn-ea"/>
                <a:cs typeface="+mn-cs"/>
              </a:rPr>
              <a:t> </a:t>
            </a:r>
            <a:r>
              <a:rPr lang="vi-VN" sz="1200" b="1" i="0" kern="1200">
                <a:solidFill>
                  <a:schemeClr val="tx1"/>
                </a:solidFill>
                <a:effectLst/>
                <a:latin typeface="+mn-lt"/>
                <a:ea typeface="+mn-ea"/>
                <a:cs typeface="+mn-cs"/>
              </a:rPr>
              <a:t>100</a:t>
            </a:r>
            <a:r>
              <a:rPr lang="en-US" sz="1200" b="1" i="0" kern="1200">
                <a:solidFill>
                  <a:schemeClr val="tx1"/>
                </a:solidFill>
                <a:effectLst/>
                <a:latin typeface="+mn-lt"/>
                <a:ea typeface="+mn-ea"/>
                <a:cs typeface="+mn-cs"/>
              </a:rPr>
              <a:t> đến</a:t>
            </a:r>
            <a:r>
              <a:rPr lang="en-US" sz="1200" b="1" i="0" kern="1200" baseline="0">
                <a:solidFill>
                  <a:schemeClr val="tx1"/>
                </a:solidFill>
                <a:effectLst/>
                <a:latin typeface="+mn-lt"/>
                <a:ea typeface="+mn-ea"/>
                <a:cs typeface="+mn-cs"/>
              </a:rPr>
              <a:t> </a:t>
            </a:r>
            <a:r>
              <a:rPr lang="vi-VN" sz="1200" b="1" i="0" kern="1200">
                <a:solidFill>
                  <a:schemeClr val="tx1"/>
                </a:solidFill>
                <a:effectLst/>
                <a:latin typeface="+mn-lt"/>
                <a:ea typeface="+mn-ea"/>
                <a:cs typeface="+mn-cs"/>
              </a:rPr>
              <a:t>699</a:t>
            </a:r>
            <a:r>
              <a:rPr lang="en-US" sz="1200" b="0" i="0" kern="1200">
                <a:solidFill>
                  <a:schemeClr val="tx1"/>
                </a:solidFill>
                <a:effectLst/>
                <a:latin typeface="+mn-lt"/>
                <a:ea typeface="+mn-ea"/>
                <a:cs typeface="+mn-cs"/>
              </a:rPr>
              <a:t>,</a:t>
            </a:r>
            <a:r>
              <a:rPr lang="en-US" sz="1200" b="0" i="0" kern="1200" baseline="0">
                <a:solidFill>
                  <a:schemeClr val="tx1"/>
                </a:solidFill>
                <a:effectLst/>
                <a:latin typeface="+mn-lt"/>
                <a:ea typeface="+mn-ea"/>
                <a:cs typeface="+mn-cs"/>
              </a:rPr>
              <a:t> thì phân vùng tương đương và giá trị biên như sau:</a:t>
            </a:r>
          </a:p>
          <a:p>
            <a:pPr marL="1085850" lvl="2" indent="-171450">
              <a:buFontTx/>
              <a:buChar char="-"/>
            </a:pPr>
            <a:endParaRPr lang="en-US"/>
          </a:p>
        </p:txBody>
      </p:sp>
    </p:spTree>
    <p:extLst>
      <p:ext uri="{BB962C8B-B14F-4D97-AF65-F5344CB8AC3E}">
        <p14:creationId xmlns:p14="http://schemas.microsoft.com/office/powerpoint/2010/main" val="27761557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vi-VN" sz="1200" b="0" i="0" kern="1200">
                <a:solidFill>
                  <a:schemeClr val="tx1"/>
                </a:solidFill>
                <a:effectLst/>
                <a:latin typeface="+mn-lt"/>
                <a:ea typeface="+mn-ea"/>
                <a:cs typeface="+mn-cs"/>
              </a:rPr>
              <a:t>Một </a:t>
            </a:r>
            <a:r>
              <a:rPr lang="en-US" sz="1200" b="0" i="0" kern="1200">
                <a:solidFill>
                  <a:schemeClr val="tx1"/>
                </a:solidFill>
                <a:effectLst/>
                <a:latin typeface="+mn-lt"/>
                <a:ea typeface="+mn-ea"/>
                <a:cs typeface="+mn-cs"/>
              </a:rPr>
              <a:t>test case</a:t>
            </a:r>
            <a:r>
              <a:rPr lang="vi-VN" sz="1200" b="0" i="0" kern="1200">
                <a:solidFill>
                  <a:schemeClr val="tx1"/>
                </a:solidFill>
                <a:effectLst/>
                <a:latin typeface="+mn-lt"/>
                <a:ea typeface="+mn-ea"/>
                <a:cs typeface="+mn-cs"/>
              </a:rPr>
              <a:t> có thể kiểm tra nhiều hơn một phân vùng</a:t>
            </a:r>
            <a:r>
              <a:rPr lang="en-US" sz="1200" b="0" i="0" kern="1200">
                <a:solidFill>
                  <a:schemeClr val="tx1"/>
                </a:solidFill>
                <a:effectLst/>
                <a:latin typeface="+mn-lt"/>
                <a:ea typeface="+mn-ea"/>
                <a:cs typeface="+mn-cs"/>
              </a:rPr>
              <a:t>/biên, NHƯ</a:t>
            </a:r>
            <a:r>
              <a:rPr lang="en-US" sz="1200" b="0" i="0" kern="1200" baseline="0">
                <a:solidFill>
                  <a:schemeClr val="tx1"/>
                </a:solidFill>
                <a:effectLst/>
                <a:latin typeface="+mn-lt"/>
                <a:ea typeface="+mn-ea"/>
                <a:cs typeface="+mn-cs"/>
              </a:rPr>
              <a:t> VẬY LÀM GIẢM SỐ TEST CASE TỔNG CỘNG.</a:t>
            </a:r>
            <a:endParaRPr lang="en-US" sz="1200" b="0" i="0" kern="1200">
              <a:solidFill>
                <a:schemeClr val="tx1"/>
              </a:solidFill>
              <a:effectLst/>
              <a:latin typeface="+mn-l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baseline="0"/>
              <a:t>VD/ trường hợp tài khoản ngân hàng, test case với số dư là 500 thì test dc phân hoạch [100,999.99] và phân hoạch output 5%.</a:t>
            </a:r>
            <a:endParaRPr lang="en-US"/>
          </a:p>
          <a:p>
            <a:pPr marL="628650" lvl="1" indent="-171450">
              <a:buFontTx/>
              <a:buChar char="-"/>
            </a:pPr>
            <a:r>
              <a:rPr lang="en-US" b="0" i="0" kern="1200">
                <a:solidFill>
                  <a:schemeClr val="tx1"/>
                </a:solidFill>
                <a:effectLst/>
                <a:latin typeface="+mn-lt"/>
                <a:ea typeface="+mn-ea"/>
                <a:cs typeface="+mn-cs"/>
              </a:rPr>
              <a:t>VD/Số</a:t>
            </a:r>
            <a:r>
              <a:rPr lang="en-US" b="0" i="0" kern="1200" baseline="0">
                <a:solidFill>
                  <a:schemeClr val="tx1"/>
                </a:solidFill>
                <a:effectLst/>
                <a:latin typeface="+mn-lt"/>
                <a:ea typeface="+mn-ea"/>
                <a:cs typeface="+mn-cs"/>
              </a:rPr>
              <a:t> 409 </a:t>
            </a:r>
            <a:r>
              <a:rPr lang="vi-VN" sz="1200" b="0" i="0" kern="1200">
                <a:solidFill>
                  <a:schemeClr val="tx1"/>
                </a:solidFill>
                <a:effectLst/>
                <a:latin typeface="+mn-lt"/>
                <a:ea typeface="+mn-ea"/>
                <a:cs typeface="+mn-cs"/>
              </a:rPr>
              <a:t>sẽ thử nghiệm </a:t>
            </a:r>
            <a:r>
              <a:rPr lang="en-US" sz="1200" b="0" i="0" kern="1200">
                <a:solidFill>
                  <a:schemeClr val="tx1"/>
                </a:solidFill>
                <a:effectLst/>
                <a:latin typeface="+mn-lt"/>
                <a:ea typeface="+mn-ea"/>
                <a:cs typeface="+mn-cs"/>
              </a:rPr>
              <a:t>4 </a:t>
            </a:r>
            <a:r>
              <a:rPr lang="vi-VN" sz="1200" b="0" i="0" kern="1200">
                <a:solidFill>
                  <a:schemeClr val="tx1"/>
                </a:solidFill>
                <a:effectLst/>
                <a:latin typeface="+mn-lt"/>
                <a:ea typeface="+mn-ea"/>
                <a:cs typeface="+mn-cs"/>
              </a:rPr>
              <a:t>phân vùng hợp lệ: chữ số, số lượng các chữ số, phạm vi hợp lệ, và phân vùng</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a:t>
            </a:r>
            <a:r>
              <a:rPr lang="en-US" sz="1200" b="0" i="0" kern="1200">
                <a:solidFill>
                  <a:schemeClr val="tx1"/>
                </a:solidFill>
                <a:effectLst/>
                <a:latin typeface="+mn-lt"/>
                <a:ea typeface="+mn-ea"/>
                <a:cs typeface="+mn-cs"/>
              </a:rPr>
              <a:t>đươc</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sử</a:t>
            </a:r>
            <a:r>
              <a:rPr lang="en-US" sz="1200" b="0" i="0" kern="1200" baseline="0">
                <a:solidFill>
                  <a:schemeClr val="tx1"/>
                </a:solidFill>
                <a:effectLst/>
                <a:latin typeface="+mn-lt"/>
                <a:ea typeface="+mn-ea"/>
                <a:cs typeface="+mn-cs"/>
              </a:rPr>
              <a:t> dụng’.</a:t>
            </a:r>
          </a:p>
          <a:p>
            <a:pPr marL="171450" lvl="0" indent="-171450">
              <a:buFontTx/>
              <a:buChar char="-"/>
            </a:pPr>
            <a:r>
              <a:rPr lang="en-US"/>
              <a:t>Có</a:t>
            </a:r>
            <a:r>
              <a:rPr lang="en-US" baseline="0"/>
              <a:t> 2 trường phái về giá trị biên:</a:t>
            </a:r>
          </a:p>
          <a:p>
            <a:pPr marL="628650" lvl="1" indent="-171450">
              <a:buFontTx/>
              <a:buChar char="-"/>
            </a:pPr>
            <a:r>
              <a:rPr lang="en-US" baseline="0"/>
              <a:t>Nếu xem biên như là một đường chia giữa 2 giá trị thì giá trị thật sự nằm ở hai bên biên (bản thân biên không có giá trị) – 2 giá trị</a:t>
            </a:r>
          </a:p>
          <a:p>
            <a:pPr marL="1085850" marR="0" lvl="2" indent="-171450" algn="l" defTabSz="914400" rtl="0" eaLnBrk="1" fontAlgn="auto" latinLnBrk="0" hangingPunct="1">
              <a:lnSpc>
                <a:spcPct val="100000"/>
              </a:lnSpc>
              <a:spcBef>
                <a:spcPts val="0"/>
              </a:spcBef>
              <a:spcAft>
                <a:spcPts val="0"/>
              </a:spcAft>
              <a:buClrTx/>
              <a:buSzTx/>
              <a:buFontTx/>
              <a:buChar char="-"/>
              <a:tabLst/>
              <a:defRPr/>
            </a:pPr>
            <a:r>
              <a:rPr lang="en-US" baseline="0"/>
              <a:t>VD/ giá trị thuộc khoảng [1,99] thì biên là 0,1;99,100.</a:t>
            </a:r>
          </a:p>
          <a:p>
            <a:pPr marL="628650" lvl="1" indent="-171450">
              <a:buFontTx/>
              <a:buChar char="-"/>
            </a:pPr>
            <a:r>
              <a:rPr lang="en-US" baseline="0"/>
              <a:t>Xem biên là một giá trị thực, thông thường là giá trị trong valid partition – 3 giá trị. Luật: lấy chính gtri biên và 2 gtri 2 bên gần với nó nhất.</a:t>
            </a:r>
          </a:p>
          <a:p>
            <a:pPr marL="1085850" lvl="2" indent="-171450">
              <a:buFontTx/>
              <a:buChar char="-"/>
            </a:pPr>
            <a:r>
              <a:rPr lang="en-US" baseline="0"/>
              <a:t>VD/ giá trị thuộc khoảng [1,99] thì biên là 0,1,2;98,99,100.</a:t>
            </a:r>
          </a:p>
          <a:p>
            <a:pPr marL="171450" lvl="0" indent="-171450">
              <a:buFontTx/>
              <a:buChar char="-"/>
            </a:pPr>
            <a:r>
              <a:rPr lang="en-US" baseline="0"/>
              <a:t>Hướng tiếp cận nào tốt hơn?</a:t>
            </a:r>
          </a:p>
          <a:p>
            <a:pPr marL="628650" lvl="1" indent="-171450">
              <a:buFontTx/>
              <a:buChar char="-"/>
            </a:pPr>
            <a:r>
              <a:rPr lang="en-US" baseline="0"/>
              <a:t>Nếu cta dùng hướng tiếp cận 2 giá trị kết hợp với EP thì sẽ hiệu quả bằng hoặc hơn một chút so với hướng tiếp cận 3 giá trị. Ebook này dùng cách 2 giá trị.</a:t>
            </a:r>
          </a:p>
          <a:p>
            <a:pPr marL="628650" lvl="1" indent="-171450">
              <a:buFontTx/>
              <a:buChar char="-"/>
            </a:pPr>
            <a:endParaRPr lang="en-US"/>
          </a:p>
        </p:txBody>
      </p:sp>
    </p:spTree>
    <p:extLst>
      <p:ext uri="{BB962C8B-B14F-4D97-AF65-F5344CB8AC3E}">
        <p14:creationId xmlns:p14="http://schemas.microsoft.com/office/powerpoint/2010/main" val="40286788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Càn</a:t>
            </a:r>
            <a:r>
              <a:rPr lang="en-US" baseline="0"/>
              <a:t>g nhiều test condition được bao gồm trong 1 test case thì càng ít test case để bao gồm tất cả các condition</a:t>
            </a:r>
          </a:p>
          <a:p>
            <a:pPr marL="628650" lvl="1" indent="-171450">
              <a:buFontTx/>
              <a:buChar char="-"/>
            </a:pPr>
            <a:r>
              <a:rPr lang="en-US" baseline="0"/>
              <a:t>Cách làm này tốt nhất cho các positive test và cho các test mà ta tin tưởng nó sẽ pass. Tuy nhiên khi nó fail, cta phải tìm hiểu condition nào bị fail (khó). Cần có sự cân bằng, đừng quá ít hay quá nhiều condition cho 1 test case.</a:t>
            </a:r>
          </a:p>
          <a:p>
            <a:pPr marL="628650" lvl="1" indent="-171450">
              <a:buFontTx/>
              <a:buChar char="-"/>
            </a:pPr>
            <a:r>
              <a:rPr lang="en-US" baseline="0"/>
              <a:t>VD/ Dùng lại vd tài khoản NH, test case là KH mới với số dư là 500...</a:t>
            </a:r>
          </a:p>
          <a:p>
            <a:pPr marL="171450" lvl="0" indent="-171450">
              <a:buFontTx/>
              <a:buChar char="-"/>
            </a:pPr>
            <a:r>
              <a:rPr lang="vi-VN" sz="1200" b="0" i="0" kern="1200">
                <a:solidFill>
                  <a:schemeClr val="tx1"/>
                </a:solidFill>
                <a:effectLst/>
                <a:latin typeface="+mn-lt"/>
                <a:ea typeface="+mn-ea"/>
                <a:cs typeface="+mn-cs"/>
              </a:rPr>
              <a:t>Với </a:t>
            </a:r>
            <a:r>
              <a:rPr lang="en-US" sz="1200" b="0" i="0" kern="1200">
                <a:solidFill>
                  <a:schemeClr val="tx1"/>
                </a:solidFill>
                <a:effectLst/>
                <a:latin typeface="+mn-lt"/>
                <a:ea typeface="+mn-ea"/>
                <a:cs typeface="+mn-cs"/>
              </a:rPr>
              <a:t>test case</a:t>
            </a:r>
            <a:r>
              <a:rPr lang="en-US" sz="1200" b="0" i="0" kern="1200" baseline="0">
                <a:solidFill>
                  <a:schemeClr val="tx1"/>
                </a:solidFill>
                <a:effectLst/>
                <a:latin typeface="+mn-lt"/>
                <a:ea typeface="+mn-ea"/>
                <a:cs typeface="+mn-cs"/>
              </a:rPr>
              <a:t> boundary</a:t>
            </a:r>
            <a:r>
              <a:rPr lang="vi-VN" sz="1200" b="0" i="0" kern="1200">
                <a:solidFill>
                  <a:schemeClr val="tx1"/>
                </a:solidFill>
                <a:effectLst/>
                <a:latin typeface="+mn-lt"/>
                <a:ea typeface="+mn-ea"/>
                <a:cs typeface="+mn-cs"/>
              </a:rPr>
              <a:t>, có thể kết hợp tất cả các </a:t>
            </a:r>
            <a:r>
              <a:rPr lang="en-US" sz="1200" b="0" i="0" kern="1200">
                <a:solidFill>
                  <a:schemeClr val="tx1"/>
                </a:solidFill>
                <a:effectLst/>
                <a:latin typeface="+mn-lt"/>
                <a:ea typeface="+mn-ea"/>
                <a:cs typeface="+mn-cs"/>
              </a:rPr>
              <a:t>biên</a:t>
            </a:r>
            <a:r>
              <a:rPr lang="en-US" sz="1200" b="0" i="0" kern="1200" baseline="0">
                <a:solidFill>
                  <a:schemeClr val="tx1"/>
                </a:solidFill>
                <a:effectLst/>
                <a:latin typeface="+mn-lt"/>
                <a:ea typeface="+mn-ea"/>
                <a:cs typeface="+mn-cs"/>
              </a:rPr>
              <a:t> hợp lệ tối thiểu thành 1 nhóm trong 1 test case, và tương tự đối với biên tối đa.</a:t>
            </a:r>
          </a:p>
          <a:p>
            <a:pPr marL="171450" lvl="0" indent="-171450">
              <a:buFontTx/>
              <a:buChar char="-"/>
            </a:pPr>
            <a:endParaRPr lang="en-US" baseline="0"/>
          </a:p>
        </p:txBody>
      </p:sp>
    </p:spTree>
    <p:extLst>
      <p:ext uri="{BB962C8B-B14F-4D97-AF65-F5344CB8AC3E}">
        <p14:creationId xmlns:p14="http://schemas.microsoft.com/office/powerpoint/2010/main" val="3462824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liaison: liên</a:t>
            </a:r>
            <a:r>
              <a:rPr lang="en-US" baseline="0"/>
              <a:t> lạc</a:t>
            </a:r>
          </a:p>
          <a:p>
            <a:r>
              <a:rPr lang="en-US" baseline="0"/>
              <a:t>Vd2/ cty có hệ thống số nội bộ gồm 200 số, mỗi số có 3 chữ số, và thuộc [100,699]. Phân hoạch và biên xác định như sau:</a:t>
            </a:r>
          </a:p>
          <a:p>
            <a:pPr marL="171450" indent="-171450">
              <a:buFontTx/>
              <a:buChar char="-"/>
            </a:pPr>
            <a:r>
              <a:rPr lang="en-US" baseline="0"/>
              <a:t>valid: số, invalid: k phải số.</a:t>
            </a:r>
          </a:p>
          <a:p>
            <a:pPr marL="171450" indent="-171450">
              <a:buFontTx/>
              <a:buChar char="-"/>
            </a:pPr>
            <a:r>
              <a:rPr lang="en-US" baseline="0"/>
              <a:t>số lượng số là 3 (biên invalid là 2 và 4 số)</a:t>
            </a:r>
          </a:p>
          <a:p>
            <a:pPr marL="171450" indent="-171450">
              <a:buFontTx/>
              <a:buChar char="-"/>
            </a:pPr>
            <a:r>
              <a:rPr lang="en-US" baseline="0"/>
              <a:t>phạm vi số (100 đến 699), biên invalid là 099 và 700.</a:t>
            </a:r>
          </a:p>
          <a:p>
            <a:pPr marL="171450" indent="-171450">
              <a:buFontTx/>
              <a:buChar char="-"/>
            </a:pPr>
            <a:r>
              <a:rPr lang="en-US" baseline="0"/>
              <a:t>extensions that are in use and those that are not (two valid partitions, no boundaries) </a:t>
            </a:r>
          </a:p>
          <a:p>
            <a:pPr marL="171450" indent="-171450">
              <a:buFontTx/>
              <a:buChar char="-"/>
            </a:pPr>
            <a:r>
              <a:rPr lang="en-US" baseline="0"/>
              <a:t>the lowest and highest extension numbers that are in use could also be used as boundary values</a:t>
            </a:r>
          </a:p>
          <a:p>
            <a:pPr marL="0" indent="0">
              <a:buFontTx/>
              <a:buNone/>
            </a:pPr>
            <a:r>
              <a:rPr lang="en-US" baseline="0"/>
              <a:t>Như vậy 1 test case có thể test nhiều hơn một phân hoạch/biên. VD/ test số 409 sẽ test 4 phân hoạch: là số, số lượng số, phạm vi số, và phân hoạch ‘in use’, test giá trị biên của số (0 và 9).</a:t>
            </a:r>
          </a:p>
          <a:p>
            <a:pPr marL="171450" indent="-171450">
              <a:buFontTx/>
              <a:buChar char="-"/>
            </a:pPr>
            <a:r>
              <a:rPr lang="en-US" b="1"/>
              <a:t>Hai pp này</a:t>
            </a:r>
            <a:r>
              <a:rPr lang="en-US" b="1" baseline="0"/>
              <a:t> thường được sd dựa trên user interface, còn hai pp sau được sd dựa trên bussiness rule</a:t>
            </a:r>
            <a:endParaRPr lang="en-US" b="1"/>
          </a:p>
        </p:txBody>
      </p:sp>
    </p:spTree>
    <p:extLst>
      <p:ext uri="{BB962C8B-B14F-4D97-AF65-F5344CB8AC3E}">
        <p14:creationId xmlns:p14="http://schemas.microsoft.com/office/powerpoint/2010/main" val="397361236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US"/>
              <a:t>Numeric: giới hạn lưu trữ của các kiểu dữ liệu</a:t>
            </a:r>
          </a:p>
          <a:p>
            <a:pPr>
              <a:buFontTx/>
              <a:buChar char="-"/>
            </a:pPr>
            <a:r>
              <a:rPr lang="en-US"/>
              <a:t>Speed : tốc độ xử ly trong các hệ thống. Ví dụ: hệ thống xử lý ảnh, hệ thống điều khiển tên lửa, hệ thống điều khiển tàu vũ trụ. Cần độ chính xác lớn</a:t>
            </a:r>
          </a:p>
          <a:p>
            <a:pPr>
              <a:buFontTx/>
              <a:buChar char="-"/>
            </a:pPr>
            <a:r>
              <a:rPr lang="en-US"/>
              <a:t>Character: giới hạn trong 26 chữ cái la tinh</a:t>
            </a:r>
          </a:p>
          <a:p>
            <a:pPr>
              <a:buFontTx/>
              <a:buChar char="-"/>
            </a:pPr>
            <a:r>
              <a:rPr lang="en-US"/>
              <a:t>Location: việc thiết kế giao diện của web rất quan trọng =&gt; đảm bảo khi chạy trên các máy tính có độ phân giải màn hình, kích cỡ màn hình, trình duyệt khác nhau =&gt; ko bị ảnh huởng</a:t>
            </a:r>
          </a:p>
          <a:p>
            <a:pPr>
              <a:buFontTx/>
              <a:buChar char="-"/>
            </a:pPr>
            <a:r>
              <a:rPr lang="en-US"/>
              <a:t>Position: Ví trị hiển thị của banner, của text box đúng vị trí =&gt; ko bị xe lệch</a:t>
            </a:r>
          </a:p>
          <a:p>
            <a:pPr>
              <a:buFontTx/>
              <a:buChar char="-"/>
            </a:pPr>
            <a:r>
              <a:rPr lang="en-US"/>
              <a:t>Size: ví dụ 1 nút khi chuyển sang các ngỗn ngữ khác nhau =&gt; đủ để hiệnt hị text</a:t>
            </a:r>
          </a:p>
          <a:p>
            <a:pPr>
              <a:buFontTx/>
              <a:buChar char="-"/>
            </a:pPr>
            <a:r>
              <a:rPr lang="en-US"/>
              <a:t>Quantity (số lượng): Ví dụ: mô tả trang chủ web tin tức, sẽ hiển thị tiêu đề của 10 tin mới nhất =&gt; kiểm tra lại</a:t>
            </a:r>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600" b="1">
                <a:solidFill>
                  <a:srgbClr val="4DE1EA"/>
                </a:solidFill>
                <a:latin typeface="Calibri" pitchFamily="34" charset="0"/>
              </a:defRPr>
            </a:lvl1pPr>
            <a:lvl2pPr marL="742950" indent="-285750" eaLnBrk="0" hangingPunct="0">
              <a:defRPr sz="3600" b="1">
                <a:solidFill>
                  <a:srgbClr val="4DE1EA"/>
                </a:solidFill>
                <a:latin typeface="Calibri" pitchFamily="34" charset="0"/>
              </a:defRPr>
            </a:lvl2pPr>
            <a:lvl3pPr marL="1143000" indent="-228600" eaLnBrk="0" hangingPunct="0">
              <a:defRPr sz="3600" b="1">
                <a:solidFill>
                  <a:srgbClr val="4DE1EA"/>
                </a:solidFill>
                <a:latin typeface="Calibri" pitchFamily="34" charset="0"/>
              </a:defRPr>
            </a:lvl3pPr>
            <a:lvl4pPr marL="1600200" indent="-228600" eaLnBrk="0" hangingPunct="0">
              <a:defRPr sz="3600" b="1">
                <a:solidFill>
                  <a:srgbClr val="4DE1EA"/>
                </a:solidFill>
                <a:latin typeface="Calibri" pitchFamily="34" charset="0"/>
              </a:defRPr>
            </a:lvl4pPr>
            <a:lvl5pPr marL="2057400" indent="-228600" eaLnBrk="0" hangingPunct="0">
              <a:defRPr sz="3600" b="1">
                <a:solidFill>
                  <a:srgbClr val="4DE1EA"/>
                </a:solidFill>
                <a:latin typeface="Calibri" pitchFamily="34" charset="0"/>
              </a:defRPr>
            </a:lvl5pPr>
            <a:lvl6pPr marL="2514600" indent="-228600" algn="ctr" eaLnBrk="0" fontAlgn="base" hangingPunct="0">
              <a:spcBef>
                <a:spcPct val="0"/>
              </a:spcBef>
              <a:spcAft>
                <a:spcPct val="0"/>
              </a:spcAft>
              <a:defRPr sz="3600" b="1">
                <a:solidFill>
                  <a:srgbClr val="4DE1EA"/>
                </a:solidFill>
                <a:latin typeface="Calibri" pitchFamily="34" charset="0"/>
              </a:defRPr>
            </a:lvl6pPr>
            <a:lvl7pPr marL="2971800" indent="-228600" algn="ctr" eaLnBrk="0" fontAlgn="base" hangingPunct="0">
              <a:spcBef>
                <a:spcPct val="0"/>
              </a:spcBef>
              <a:spcAft>
                <a:spcPct val="0"/>
              </a:spcAft>
              <a:defRPr sz="3600" b="1">
                <a:solidFill>
                  <a:srgbClr val="4DE1EA"/>
                </a:solidFill>
                <a:latin typeface="Calibri" pitchFamily="34" charset="0"/>
              </a:defRPr>
            </a:lvl7pPr>
            <a:lvl8pPr marL="3429000" indent="-228600" algn="ctr" eaLnBrk="0" fontAlgn="base" hangingPunct="0">
              <a:spcBef>
                <a:spcPct val="0"/>
              </a:spcBef>
              <a:spcAft>
                <a:spcPct val="0"/>
              </a:spcAft>
              <a:defRPr sz="3600" b="1">
                <a:solidFill>
                  <a:srgbClr val="4DE1EA"/>
                </a:solidFill>
                <a:latin typeface="Calibri" pitchFamily="34" charset="0"/>
              </a:defRPr>
            </a:lvl8pPr>
            <a:lvl9pPr marL="3886200" indent="-228600" algn="ctr" eaLnBrk="0" fontAlgn="base" hangingPunct="0">
              <a:spcBef>
                <a:spcPct val="0"/>
              </a:spcBef>
              <a:spcAft>
                <a:spcPct val="0"/>
              </a:spcAft>
              <a:defRPr sz="3600" b="1">
                <a:solidFill>
                  <a:srgbClr val="4DE1EA"/>
                </a:solidFill>
                <a:latin typeface="Calibri" pitchFamily="34" charset="0"/>
              </a:defRPr>
            </a:lvl9pPr>
          </a:lstStyle>
          <a:p>
            <a:fld id="{08BF6010-F82B-42C4-AC94-A526008A92D5}" type="slidenum">
              <a:rPr lang="en-US" sz="1200" smtClean="0"/>
              <a:pPr/>
              <a:t>71</a:t>
            </a:fld>
            <a:endParaRPr lang="en-US" sz="1200"/>
          </a:p>
        </p:txBody>
      </p:sp>
    </p:spTree>
    <p:extLst>
      <p:ext uri="{BB962C8B-B14F-4D97-AF65-F5344CB8AC3E}">
        <p14:creationId xmlns:p14="http://schemas.microsoft.com/office/powerpoint/2010/main" val="25823312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a:p>
            <a:endParaRPr lang="en-US"/>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600" b="1">
                <a:solidFill>
                  <a:srgbClr val="4DE1EA"/>
                </a:solidFill>
                <a:latin typeface="Calibri" pitchFamily="34" charset="0"/>
              </a:defRPr>
            </a:lvl1pPr>
            <a:lvl2pPr marL="742950" indent="-285750" eaLnBrk="0" hangingPunct="0">
              <a:defRPr sz="3600" b="1">
                <a:solidFill>
                  <a:srgbClr val="4DE1EA"/>
                </a:solidFill>
                <a:latin typeface="Calibri" pitchFamily="34" charset="0"/>
              </a:defRPr>
            </a:lvl2pPr>
            <a:lvl3pPr marL="1143000" indent="-228600" eaLnBrk="0" hangingPunct="0">
              <a:defRPr sz="3600" b="1">
                <a:solidFill>
                  <a:srgbClr val="4DE1EA"/>
                </a:solidFill>
                <a:latin typeface="Calibri" pitchFamily="34" charset="0"/>
              </a:defRPr>
            </a:lvl3pPr>
            <a:lvl4pPr marL="1600200" indent="-228600" eaLnBrk="0" hangingPunct="0">
              <a:defRPr sz="3600" b="1">
                <a:solidFill>
                  <a:srgbClr val="4DE1EA"/>
                </a:solidFill>
                <a:latin typeface="Calibri" pitchFamily="34" charset="0"/>
              </a:defRPr>
            </a:lvl4pPr>
            <a:lvl5pPr marL="2057400" indent="-228600" eaLnBrk="0" hangingPunct="0">
              <a:defRPr sz="3600" b="1">
                <a:solidFill>
                  <a:srgbClr val="4DE1EA"/>
                </a:solidFill>
                <a:latin typeface="Calibri" pitchFamily="34" charset="0"/>
              </a:defRPr>
            </a:lvl5pPr>
            <a:lvl6pPr marL="2514600" indent="-228600" algn="ctr" eaLnBrk="0" fontAlgn="base" hangingPunct="0">
              <a:spcBef>
                <a:spcPct val="0"/>
              </a:spcBef>
              <a:spcAft>
                <a:spcPct val="0"/>
              </a:spcAft>
              <a:defRPr sz="3600" b="1">
                <a:solidFill>
                  <a:srgbClr val="4DE1EA"/>
                </a:solidFill>
                <a:latin typeface="Calibri" pitchFamily="34" charset="0"/>
              </a:defRPr>
            </a:lvl6pPr>
            <a:lvl7pPr marL="2971800" indent="-228600" algn="ctr" eaLnBrk="0" fontAlgn="base" hangingPunct="0">
              <a:spcBef>
                <a:spcPct val="0"/>
              </a:spcBef>
              <a:spcAft>
                <a:spcPct val="0"/>
              </a:spcAft>
              <a:defRPr sz="3600" b="1">
                <a:solidFill>
                  <a:srgbClr val="4DE1EA"/>
                </a:solidFill>
                <a:latin typeface="Calibri" pitchFamily="34" charset="0"/>
              </a:defRPr>
            </a:lvl7pPr>
            <a:lvl8pPr marL="3429000" indent="-228600" algn="ctr" eaLnBrk="0" fontAlgn="base" hangingPunct="0">
              <a:spcBef>
                <a:spcPct val="0"/>
              </a:spcBef>
              <a:spcAft>
                <a:spcPct val="0"/>
              </a:spcAft>
              <a:defRPr sz="3600" b="1">
                <a:solidFill>
                  <a:srgbClr val="4DE1EA"/>
                </a:solidFill>
                <a:latin typeface="Calibri" pitchFamily="34" charset="0"/>
              </a:defRPr>
            </a:lvl8pPr>
            <a:lvl9pPr marL="3886200" indent="-228600" algn="ctr" eaLnBrk="0" fontAlgn="base" hangingPunct="0">
              <a:spcBef>
                <a:spcPct val="0"/>
              </a:spcBef>
              <a:spcAft>
                <a:spcPct val="0"/>
              </a:spcAft>
              <a:defRPr sz="3600" b="1">
                <a:solidFill>
                  <a:srgbClr val="4DE1EA"/>
                </a:solidFill>
                <a:latin typeface="Calibri" pitchFamily="34" charset="0"/>
              </a:defRPr>
            </a:lvl9pPr>
          </a:lstStyle>
          <a:p>
            <a:fld id="{5EAB010A-62F4-449A-B94A-EAD2A8BC2FC2}" type="slidenum">
              <a:rPr lang="en-US" sz="1200" smtClean="0"/>
              <a:pPr/>
              <a:t>72</a:t>
            </a:fld>
            <a:endParaRPr lang="en-US" sz="1200"/>
          </a:p>
        </p:txBody>
      </p:sp>
    </p:spTree>
    <p:extLst>
      <p:ext uri="{BB962C8B-B14F-4D97-AF65-F5344CB8AC3E}">
        <p14:creationId xmlns:p14="http://schemas.microsoft.com/office/powerpoint/2010/main" val="115062937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a:p>
            <a:endParaRPr lang="en-US"/>
          </a:p>
        </p:txBody>
      </p:sp>
      <p:sp>
        <p:nvSpPr>
          <p:cNvPr id="757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600" b="1">
                <a:solidFill>
                  <a:srgbClr val="4DE1EA"/>
                </a:solidFill>
                <a:latin typeface="Calibri" pitchFamily="34" charset="0"/>
              </a:defRPr>
            </a:lvl1pPr>
            <a:lvl2pPr marL="742950" indent="-285750" eaLnBrk="0" hangingPunct="0">
              <a:defRPr sz="3600" b="1">
                <a:solidFill>
                  <a:srgbClr val="4DE1EA"/>
                </a:solidFill>
                <a:latin typeface="Calibri" pitchFamily="34" charset="0"/>
              </a:defRPr>
            </a:lvl2pPr>
            <a:lvl3pPr marL="1143000" indent="-228600" eaLnBrk="0" hangingPunct="0">
              <a:defRPr sz="3600" b="1">
                <a:solidFill>
                  <a:srgbClr val="4DE1EA"/>
                </a:solidFill>
                <a:latin typeface="Calibri" pitchFamily="34" charset="0"/>
              </a:defRPr>
            </a:lvl3pPr>
            <a:lvl4pPr marL="1600200" indent="-228600" eaLnBrk="0" hangingPunct="0">
              <a:defRPr sz="3600" b="1">
                <a:solidFill>
                  <a:srgbClr val="4DE1EA"/>
                </a:solidFill>
                <a:latin typeface="Calibri" pitchFamily="34" charset="0"/>
              </a:defRPr>
            </a:lvl4pPr>
            <a:lvl5pPr marL="2057400" indent="-228600" eaLnBrk="0" hangingPunct="0">
              <a:defRPr sz="3600" b="1">
                <a:solidFill>
                  <a:srgbClr val="4DE1EA"/>
                </a:solidFill>
                <a:latin typeface="Calibri" pitchFamily="34" charset="0"/>
              </a:defRPr>
            </a:lvl5pPr>
            <a:lvl6pPr marL="2514600" indent="-228600" algn="ctr" eaLnBrk="0" fontAlgn="base" hangingPunct="0">
              <a:spcBef>
                <a:spcPct val="0"/>
              </a:spcBef>
              <a:spcAft>
                <a:spcPct val="0"/>
              </a:spcAft>
              <a:defRPr sz="3600" b="1">
                <a:solidFill>
                  <a:srgbClr val="4DE1EA"/>
                </a:solidFill>
                <a:latin typeface="Calibri" pitchFamily="34" charset="0"/>
              </a:defRPr>
            </a:lvl6pPr>
            <a:lvl7pPr marL="2971800" indent="-228600" algn="ctr" eaLnBrk="0" fontAlgn="base" hangingPunct="0">
              <a:spcBef>
                <a:spcPct val="0"/>
              </a:spcBef>
              <a:spcAft>
                <a:spcPct val="0"/>
              </a:spcAft>
              <a:defRPr sz="3600" b="1">
                <a:solidFill>
                  <a:srgbClr val="4DE1EA"/>
                </a:solidFill>
                <a:latin typeface="Calibri" pitchFamily="34" charset="0"/>
              </a:defRPr>
            </a:lvl7pPr>
            <a:lvl8pPr marL="3429000" indent="-228600" algn="ctr" eaLnBrk="0" fontAlgn="base" hangingPunct="0">
              <a:spcBef>
                <a:spcPct val="0"/>
              </a:spcBef>
              <a:spcAft>
                <a:spcPct val="0"/>
              </a:spcAft>
              <a:defRPr sz="3600" b="1">
                <a:solidFill>
                  <a:srgbClr val="4DE1EA"/>
                </a:solidFill>
                <a:latin typeface="Calibri" pitchFamily="34" charset="0"/>
              </a:defRPr>
            </a:lvl8pPr>
            <a:lvl9pPr marL="3886200" indent="-228600" algn="ctr" eaLnBrk="0" fontAlgn="base" hangingPunct="0">
              <a:spcBef>
                <a:spcPct val="0"/>
              </a:spcBef>
              <a:spcAft>
                <a:spcPct val="0"/>
              </a:spcAft>
              <a:defRPr sz="3600" b="1">
                <a:solidFill>
                  <a:srgbClr val="4DE1EA"/>
                </a:solidFill>
                <a:latin typeface="Calibri" pitchFamily="34" charset="0"/>
              </a:defRPr>
            </a:lvl9pPr>
          </a:lstStyle>
          <a:p>
            <a:fld id="{787BA8F7-10CC-41C7-9F5E-57EABC8A7C26}" type="slidenum">
              <a:rPr lang="en-US" sz="1200" smtClean="0"/>
              <a:pPr/>
              <a:t>73</a:t>
            </a:fld>
            <a:endParaRPr lang="en-US" sz="1200"/>
          </a:p>
        </p:txBody>
      </p:sp>
    </p:spTree>
    <p:extLst>
      <p:ext uri="{BB962C8B-B14F-4D97-AF65-F5344CB8AC3E}">
        <p14:creationId xmlns:p14="http://schemas.microsoft.com/office/powerpoint/2010/main" val="413773406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a:p>
            <a:endParaRPr lang="en-US"/>
          </a:p>
        </p:txBody>
      </p:sp>
      <p:sp>
        <p:nvSpPr>
          <p:cNvPr id="768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600" b="1">
                <a:solidFill>
                  <a:srgbClr val="4DE1EA"/>
                </a:solidFill>
                <a:latin typeface="Calibri" pitchFamily="34" charset="0"/>
              </a:defRPr>
            </a:lvl1pPr>
            <a:lvl2pPr marL="742950" indent="-285750" eaLnBrk="0" hangingPunct="0">
              <a:defRPr sz="3600" b="1">
                <a:solidFill>
                  <a:srgbClr val="4DE1EA"/>
                </a:solidFill>
                <a:latin typeface="Calibri" pitchFamily="34" charset="0"/>
              </a:defRPr>
            </a:lvl2pPr>
            <a:lvl3pPr marL="1143000" indent="-228600" eaLnBrk="0" hangingPunct="0">
              <a:defRPr sz="3600" b="1">
                <a:solidFill>
                  <a:srgbClr val="4DE1EA"/>
                </a:solidFill>
                <a:latin typeface="Calibri" pitchFamily="34" charset="0"/>
              </a:defRPr>
            </a:lvl3pPr>
            <a:lvl4pPr marL="1600200" indent="-228600" eaLnBrk="0" hangingPunct="0">
              <a:defRPr sz="3600" b="1">
                <a:solidFill>
                  <a:srgbClr val="4DE1EA"/>
                </a:solidFill>
                <a:latin typeface="Calibri" pitchFamily="34" charset="0"/>
              </a:defRPr>
            </a:lvl4pPr>
            <a:lvl5pPr marL="2057400" indent="-228600" eaLnBrk="0" hangingPunct="0">
              <a:defRPr sz="3600" b="1">
                <a:solidFill>
                  <a:srgbClr val="4DE1EA"/>
                </a:solidFill>
                <a:latin typeface="Calibri" pitchFamily="34" charset="0"/>
              </a:defRPr>
            </a:lvl5pPr>
            <a:lvl6pPr marL="2514600" indent="-228600" algn="ctr" eaLnBrk="0" fontAlgn="base" hangingPunct="0">
              <a:spcBef>
                <a:spcPct val="0"/>
              </a:spcBef>
              <a:spcAft>
                <a:spcPct val="0"/>
              </a:spcAft>
              <a:defRPr sz="3600" b="1">
                <a:solidFill>
                  <a:srgbClr val="4DE1EA"/>
                </a:solidFill>
                <a:latin typeface="Calibri" pitchFamily="34" charset="0"/>
              </a:defRPr>
            </a:lvl6pPr>
            <a:lvl7pPr marL="2971800" indent="-228600" algn="ctr" eaLnBrk="0" fontAlgn="base" hangingPunct="0">
              <a:spcBef>
                <a:spcPct val="0"/>
              </a:spcBef>
              <a:spcAft>
                <a:spcPct val="0"/>
              </a:spcAft>
              <a:defRPr sz="3600" b="1">
                <a:solidFill>
                  <a:srgbClr val="4DE1EA"/>
                </a:solidFill>
                <a:latin typeface="Calibri" pitchFamily="34" charset="0"/>
              </a:defRPr>
            </a:lvl7pPr>
            <a:lvl8pPr marL="3429000" indent="-228600" algn="ctr" eaLnBrk="0" fontAlgn="base" hangingPunct="0">
              <a:spcBef>
                <a:spcPct val="0"/>
              </a:spcBef>
              <a:spcAft>
                <a:spcPct val="0"/>
              </a:spcAft>
              <a:defRPr sz="3600" b="1">
                <a:solidFill>
                  <a:srgbClr val="4DE1EA"/>
                </a:solidFill>
                <a:latin typeface="Calibri" pitchFamily="34" charset="0"/>
              </a:defRPr>
            </a:lvl8pPr>
            <a:lvl9pPr marL="3886200" indent="-228600" algn="ctr" eaLnBrk="0" fontAlgn="base" hangingPunct="0">
              <a:spcBef>
                <a:spcPct val="0"/>
              </a:spcBef>
              <a:spcAft>
                <a:spcPct val="0"/>
              </a:spcAft>
              <a:defRPr sz="3600" b="1">
                <a:solidFill>
                  <a:srgbClr val="4DE1EA"/>
                </a:solidFill>
                <a:latin typeface="Calibri" pitchFamily="34" charset="0"/>
              </a:defRPr>
            </a:lvl9pPr>
          </a:lstStyle>
          <a:p>
            <a:fld id="{9AC8F6D2-BC92-4315-86E6-15EFA36A0265}" type="slidenum">
              <a:rPr lang="en-US" sz="1200" smtClean="0"/>
              <a:pPr/>
              <a:t>74</a:t>
            </a:fld>
            <a:endParaRPr lang="en-US" sz="1200"/>
          </a:p>
        </p:txBody>
      </p:sp>
    </p:spTree>
    <p:extLst>
      <p:ext uri="{BB962C8B-B14F-4D97-AF65-F5344CB8AC3E}">
        <p14:creationId xmlns:p14="http://schemas.microsoft.com/office/powerpoint/2010/main" val="364193500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Khi kiểm tra Domain:</a:t>
            </a:r>
          </a:p>
          <a:p>
            <a:pPr>
              <a:buFontTx/>
              <a:buChar char="-"/>
            </a:pPr>
            <a:r>
              <a:rPr lang="en-US"/>
              <a:t>VD1: cộng trừ 1 đơn vị với 2 biên: 0, 255</a:t>
            </a:r>
          </a:p>
          <a:p>
            <a:pPr>
              <a:buFontTx/>
              <a:buChar char="-"/>
            </a:pPr>
            <a:r>
              <a:rPr lang="en-US"/>
              <a:t>VD2: Kiểm thử domain ở đây là gì? </a:t>
            </a:r>
          </a:p>
          <a:p>
            <a:pPr lvl="1">
              <a:buFontTx/>
              <a:buChar char="-"/>
            </a:pPr>
            <a:r>
              <a:rPr lang="en-US"/>
              <a:t>Miền ghi: Ví dụ đưa 1 đĩa CD 750MB =&gt; miền giá trị [0,750]</a:t>
            </a:r>
          </a:p>
          <a:p>
            <a:pPr lvl="1">
              <a:buFontTx/>
              <a:buChar char="-"/>
            </a:pPr>
            <a:r>
              <a:rPr lang="en-US"/>
              <a:t>Miền đọc: all dữ liệu lưu trong đĩa =&gt; miền dữ liệu nào không thể đọc được không?</a:t>
            </a:r>
          </a:p>
          <a:p>
            <a:pPr>
              <a:buFontTx/>
              <a:buChar char="-"/>
            </a:pPr>
            <a:r>
              <a:rPr lang="en-US"/>
              <a:t>VD3: yếu tố miền ở đây là [1..8] trang</a:t>
            </a:r>
          </a:p>
          <a:p>
            <a:pPr>
              <a:buFontTx/>
              <a:buChar char="-"/>
            </a:pPr>
            <a:r>
              <a:rPr lang="en-US"/>
              <a:t>VD4: Yếu tố miền ở đây gồm:</a:t>
            </a:r>
          </a:p>
          <a:p>
            <a:pPr lvl="1">
              <a:buFontTx/>
              <a:buChar char="-"/>
            </a:pPr>
            <a:r>
              <a:rPr lang="en-US"/>
              <a:t>Tốc độ: [0..max]. Ví dụ, khi máy bay đang đứng yên, tốc độ =0 , mà vẫn nhấn cần giảm tốc thì PM hồi đáp ra sao?</a:t>
            </a:r>
          </a:p>
          <a:p>
            <a:pPr lvl="1">
              <a:buFontTx/>
              <a:buChar char="-"/>
            </a:pPr>
            <a:r>
              <a:rPr lang="en-US"/>
              <a:t>Không gian bay: [mặt đất… độ cao tối đa] , nếu đang ở trên mặt đất mà vẫn thực hiện thao tác hạ độ cao thì sao? Nếu bay là là mặt đất thì sao?</a:t>
            </a:r>
          </a:p>
        </p:txBody>
      </p:sp>
      <p:sp>
        <p:nvSpPr>
          <p:cNvPr id="778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600" b="1">
                <a:solidFill>
                  <a:srgbClr val="4DE1EA"/>
                </a:solidFill>
                <a:latin typeface="Calibri" pitchFamily="34" charset="0"/>
              </a:defRPr>
            </a:lvl1pPr>
            <a:lvl2pPr marL="742950" indent="-285750" eaLnBrk="0" hangingPunct="0">
              <a:defRPr sz="3600" b="1">
                <a:solidFill>
                  <a:srgbClr val="4DE1EA"/>
                </a:solidFill>
                <a:latin typeface="Calibri" pitchFamily="34" charset="0"/>
              </a:defRPr>
            </a:lvl2pPr>
            <a:lvl3pPr marL="1143000" indent="-228600" eaLnBrk="0" hangingPunct="0">
              <a:defRPr sz="3600" b="1">
                <a:solidFill>
                  <a:srgbClr val="4DE1EA"/>
                </a:solidFill>
                <a:latin typeface="Calibri" pitchFamily="34" charset="0"/>
              </a:defRPr>
            </a:lvl3pPr>
            <a:lvl4pPr marL="1600200" indent="-228600" eaLnBrk="0" hangingPunct="0">
              <a:defRPr sz="3600" b="1">
                <a:solidFill>
                  <a:srgbClr val="4DE1EA"/>
                </a:solidFill>
                <a:latin typeface="Calibri" pitchFamily="34" charset="0"/>
              </a:defRPr>
            </a:lvl4pPr>
            <a:lvl5pPr marL="2057400" indent="-228600" eaLnBrk="0" hangingPunct="0">
              <a:defRPr sz="3600" b="1">
                <a:solidFill>
                  <a:srgbClr val="4DE1EA"/>
                </a:solidFill>
                <a:latin typeface="Calibri" pitchFamily="34" charset="0"/>
              </a:defRPr>
            </a:lvl5pPr>
            <a:lvl6pPr marL="2514600" indent="-228600" algn="ctr" eaLnBrk="0" fontAlgn="base" hangingPunct="0">
              <a:spcBef>
                <a:spcPct val="0"/>
              </a:spcBef>
              <a:spcAft>
                <a:spcPct val="0"/>
              </a:spcAft>
              <a:defRPr sz="3600" b="1">
                <a:solidFill>
                  <a:srgbClr val="4DE1EA"/>
                </a:solidFill>
                <a:latin typeface="Calibri" pitchFamily="34" charset="0"/>
              </a:defRPr>
            </a:lvl6pPr>
            <a:lvl7pPr marL="2971800" indent="-228600" algn="ctr" eaLnBrk="0" fontAlgn="base" hangingPunct="0">
              <a:spcBef>
                <a:spcPct val="0"/>
              </a:spcBef>
              <a:spcAft>
                <a:spcPct val="0"/>
              </a:spcAft>
              <a:defRPr sz="3600" b="1">
                <a:solidFill>
                  <a:srgbClr val="4DE1EA"/>
                </a:solidFill>
                <a:latin typeface="Calibri" pitchFamily="34" charset="0"/>
              </a:defRPr>
            </a:lvl7pPr>
            <a:lvl8pPr marL="3429000" indent="-228600" algn="ctr" eaLnBrk="0" fontAlgn="base" hangingPunct="0">
              <a:spcBef>
                <a:spcPct val="0"/>
              </a:spcBef>
              <a:spcAft>
                <a:spcPct val="0"/>
              </a:spcAft>
              <a:defRPr sz="3600" b="1">
                <a:solidFill>
                  <a:srgbClr val="4DE1EA"/>
                </a:solidFill>
                <a:latin typeface="Calibri" pitchFamily="34" charset="0"/>
              </a:defRPr>
            </a:lvl8pPr>
            <a:lvl9pPr marL="3886200" indent="-228600" algn="ctr" eaLnBrk="0" fontAlgn="base" hangingPunct="0">
              <a:spcBef>
                <a:spcPct val="0"/>
              </a:spcBef>
              <a:spcAft>
                <a:spcPct val="0"/>
              </a:spcAft>
              <a:defRPr sz="3600" b="1">
                <a:solidFill>
                  <a:srgbClr val="4DE1EA"/>
                </a:solidFill>
                <a:latin typeface="Calibri" pitchFamily="34" charset="0"/>
              </a:defRPr>
            </a:lvl9pPr>
          </a:lstStyle>
          <a:p>
            <a:fld id="{05370DF3-3EF6-40DB-81E3-15218CAA6F6D}" type="slidenum">
              <a:rPr lang="en-US" sz="1200" smtClean="0"/>
              <a:pPr/>
              <a:t>75</a:t>
            </a:fld>
            <a:endParaRPr lang="en-US" sz="1200"/>
          </a:p>
        </p:txBody>
      </p:sp>
    </p:spTree>
    <p:extLst>
      <p:ext uri="{BB962C8B-B14F-4D97-AF65-F5344CB8AC3E}">
        <p14:creationId xmlns:p14="http://schemas.microsoft.com/office/powerpoint/2010/main" val="139732226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a:p>
            <a:endParaRPr lang="en-US"/>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600" b="1">
                <a:solidFill>
                  <a:srgbClr val="4DE1EA"/>
                </a:solidFill>
                <a:latin typeface="Calibri" pitchFamily="34" charset="0"/>
              </a:defRPr>
            </a:lvl1pPr>
            <a:lvl2pPr marL="742950" indent="-285750" eaLnBrk="0" hangingPunct="0">
              <a:defRPr sz="3600" b="1">
                <a:solidFill>
                  <a:srgbClr val="4DE1EA"/>
                </a:solidFill>
                <a:latin typeface="Calibri" pitchFamily="34" charset="0"/>
              </a:defRPr>
            </a:lvl2pPr>
            <a:lvl3pPr marL="1143000" indent="-228600" eaLnBrk="0" hangingPunct="0">
              <a:defRPr sz="3600" b="1">
                <a:solidFill>
                  <a:srgbClr val="4DE1EA"/>
                </a:solidFill>
                <a:latin typeface="Calibri" pitchFamily="34" charset="0"/>
              </a:defRPr>
            </a:lvl3pPr>
            <a:lvl4pPr marL="1600200" indent="-228600" eaLnBrk="0" hangingPunct="0">
              <a:defRPr sz="3600" b="1">
                <a:solidFill>
                  <a:srgbClr val="4DE1EA"/>
                </a:solidFill>
                <a:latin typeface="Calibri" pitchFamily="34" charset="0"/>
              </a:defRPr>
            </a:lvl4pPr>
            <a:lvl5pPr marL="2057400" indent="-228600" eaLnBrk="0" hangingPunct="0">
              <a:defRPr sz="3600" b="1">
                <a:solidFill>
                  <a:srgbClr val="4DE1EA"/>
                </a:solidFill>
                <a:latin typeface="Calibri" pitchFamily="34" charset="0"/>
              </a:defRPr>
            </a:lvl5pPr>
            <a:lvl6pPr marL="2514600" indent="-228600" algn="ctr" eaLnBrk="0" fontAlgn="base" hangingPunct="0">
              <a:spcBef>
                <a:spcPct val="0"/>
              </a:spcBef>
              <a:spcAft>
                <a:spcPct val="0"/>
              </a:spcAft>
              <a:defRPr sz="3600" b="1">
                <a:solidFill>
                  <a:srgbClr val="4DE1EA"/>
                </a:solidFill>
                <a:latin typeface="Calibri" pitchFamily="34" charset="0"/>
              </a:defRPr>
            </a:lvl6pPr>
            <a:lvl7pPr marL="2971800" indent="-228600" algn="ctr" eaLnBrk="0" fontAlgn="base" hangingPunct="0">
              <a:spcBef>
                <a:spcPct val="0"/>
              </a:spcBef>
              <a:spcAft>
                <a:spcPct val="0"/>
              </a:spcAft>
              <a:defRPr sz="3600" b="1">
                <a:solidFill>
                  <a:srgbClr val="4DE1EA"/>
                </a:solidFill>
                <a:latin typeface="Calibri" pitchFamily="34" charset="0"/>
              </a:defRPr>
            </a:lvl7pPr>
            <a:lvl8pPr marL="3429000" indent="-228600" algn="ctr" eaLnBrk="0" fontAlgn="base" hangingPunct="0">
              <a:spcBef>
                <a:spcPct val="0"/>
              </a:spcBef>
              <a:spcAft>
                <a:spcPct val="0"/>
              </a:spcAft>
              <a:defRPr sz="3600" b="1">
                <a:solidFill>
                  <a:srgbClr val="4DE1EA"/>
                </a:solidFill>
                <a:latin typeface="Calibri" pitchFamily="34" charset="0"/>
              </a:defRPr>
            </a:lvl8pPr>
            <a:lvl9pPr marL="3886200" indent="-228600" algn="ctr" eaLnBrk="0" fontAlgn="base" hangingPunct="0">
              <a:spcBef>
                <a:spcPct val="0"/>
              </a:spcBef>
              <a:spcAft>
                <a:spcPct val="0"/>
              </a:spcAft>
              <a:defRPr sz="3600" b="1">
                <a:solidFill>
                  <a:srgbClr val="4DE1EA"/>
                </a:solidFill>
                <a:latin typeface="Calibri" pitchFamily="34" charset="0"/>
              </a:defRPr>
            </a:lvl9pPr>
          </a:lstStyle>
          <a:p>
            <a:fld id="{9654553B-97AE-4C50-B42E-0D4FEDBB4F31}" type="slidenum">
              <a:rPr lang="en-US" sz="1200" smtClean="0"/>
              <a:pPr/>
              <a:t>76</a:t>
            </a:fld>
            <a:endParaRPr lang="en-US" sz="1200"/>
          </a:p>
        </p:txBody>
      </p:sp>
    </p:spTree>
    <p:extLst>
      <p:ext uri="{BB962C8B-B14F-4D97-AF65-F5344CB8AC3E}">
        <p14:creationId xmlns:p14="http://schemas.microsoft.com/office/powerpoint/2010/main" val="76535942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a:p>
            <a:endParaRPr lang="en-US"/>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600" b="1">
                <a:solidFill>
                  <a:srgbClr val="4DE1EA"/>
                </a:solidFill>
                <a:latin typeface="Calibri" pitchFamily="34" charset="0"/>
              </a:defRPr>
            </a:lvl1pPr>
            <a:lvl2pPr marL="742950" indent="-285750" eaLnBrk="0" hangingPunct="0">
              <a:defRPr sz="3600" b="1">
                <a:solidFill>
                  <a:srgbClr val="4DE1EA"/>
                </a:solidFill>
                <a:latin typeface="Calibri" pitchFamily="34" charset="0"/>
              </a:defRPr>
            </a:lvl2pPr>
            <a:lvl3pPr marL="1143000" indent="-228600" eaLnBrk="0" hangingPunct="0">
              <a:defRPr sz="3600" b="1">
                <a:solidFill>
                  <a:srgbClr val="4DE1EA"/>
                </a:solidFill>
                <a:latin typeface="Calibri" pitchFamily="34" charset="0"/>
              </a:defRPr>
            </a:lvl3pPr>
            <a:lvl4pPr marL="1600200" indent="-228600" eaLnBrk="0" hangingPunct="0">
              <a:defRPr sz="3600" b="1">
                <a:solidFill>
                  <a:srgbClr val="4DE1EA"/>
                </a:solidFill>
                <a:latin typeface="Calibri" pitchFamily="34" charset="0"/>
              </a:defRPr>
            </a:lvl4pPr>
            <a:lvl5pPr marL="2057400" indent="-228600" eaLnBrk="0" hangingPunct="0">
              <a:defRPr sz="3600" b="1">
                <a:solidFill>
                  <a:srgbClr val="4DE1EA"/>
                </a:solidFill>
                <a:latin typeface="Calibri" pitchFamily="34" charset="0"/>
              </a:defRPr>
            </a:lvl5pPr>
            <a:lvl6pPr marL="2514600" indent="-228600" algn="ctr" eaLnBrk="0" fontAlgn="base" hangingPunct="0">
              <a:spcBef>
                <a:spcPct val="0"/>
              </a:spcBef>
              <a:spcAft>
                <a:spcPct val="0"/>
              </a:spcAft>
              <a:defRPr sz="3600" b="1">
                <a:solidFill>
                  <a:srgbClr val="4DE1EA"/>
                </a:solidFill>
                <a:latin typeface="Calibri" pitchFamily="34" charset="0"/>
              </a:defRPr>
            </a:lvl6pPr>
            <a:lvl7pPr marL="2971800" indent="-228600" algn="ctr" eaLnBrk="0" fontAlgn="base" hangingPunct="0">
              <a:spcBef>
                <a:spcPct val="0"/>
              </a:spcBef>
              <a:spcAft>
                <a:spcPct val="0"/>
              </a:spcAft>
              <a:defRPr sz="3600" b="1">
                <a:solidFill>
                  <a:srgbClr val="4DE1EA"/>
                </a:solidFill>
                <a:latin typeface="Calibri" pitchFamily="34" charset="0"/>
              </a:defRPr>
            </a:lvl7pPr>
            <a:lvl8pPr marL="3429000" indent="-228600" algn="ctr" eaLnBrk="0" fontAlgn="base" hangingPunct="0">
              <a:spcBef>
                <a:spcPct val="0"/>
              </a:spcBef>
              <a:spcAft>
                <a:spcPct val="0"/>
              </a:spcAft>
              <a:defRPr sz="3600" b="1">
                <a:solidFill>
                  <a:srgbClr val="4DE1EA"/>
                </a:solidFill>
                <a:latin typeface="Calibri" pitchFamily="34" charset="0"/>
              </a:defRPr>
            </a:lvl8pPr>
            <a:lvl9pPr marL="3886200" indent="-228600" algn="ctr" eaLnBrk="0" fontAlgn="base" hangingPunct="0">
              <a:spcBef>
                <a:spcPct val="0"/>
              </a:spcBef>
              <a:spcAft>
                <a:spcPct val="0"/>
              </a:spcAft>
              <a:defRPr sz="3600" b="1">
                <a:solidFill>
                  <a:srgbClr val="4DE1EA"/>
                </a:solidFill>
                <a:latin typeface="Calibri" pitchFamily="34" charset="0"/>
              </a:defRPr>
            </a:lvl9pPr>
          </a:lstStyle>
          <a:p>
            <a:fld id="{67DBA86F-EE07-4520-8E53-9879731E8D92}" type="slidenum">
              <a:rPr lang="en-US" sz="1200" smtClean="0"/>
              <a:pPr/>
              <a:t>77</a:t>
            </a:fld>
            <a:endParaRPr lang="en-US" sz="1200"/>
          </a:p>
        </p:txBody>
      </p:sp>
    </p:spTree>
    <p:extLst>
      <p:ext uri="{BB962C8B-B14F-4D97-AF65-F5344CB8AC3E}">
        <p14:creationId xmlns:p14="http://schemas.microsoft.com/office/powerpoint/2010/main" val="382893451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a:p>
            <a:endParaRPr lang="en-US"/>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600" b="1">
                <a:solidFill>
                  <a:srgbClr val="4DE1EA"/>
                </a:solidFill>
                <a:latin typeface="Calibri" pitchFamily="34" charset="0"/>
              </a:defRPr>
            </a:lvl1pPr>
            <a:lvl2pPr marL="742950" indent="-285750" eaLnBrk="0" hangingPunct="0">
              <a:defRPr sz="3600" b="1">
                <a:solidFill>
                  <a:srgbClr val="4DE1EA"/>
                </a:solidFill>
                <a:latin typeface="Calibri" pitchFamily="34" charset="0"/>
              </a:defRPr>
            </a:lvl2pPr>
            <a:lvl3pPr marL="1143000" indent="-228600" eaLnBrk="0" hangingPunct="0">
              <a:defRPr sz="3600" b="1">
                <a:solidFill>
                  <a:srgbClr val="4DE1EA"/>
                </a:solidFill>
                <a:latin typeface="Calibri" pitchFamily="34" charset="0"/>
              </a:defRPr>
            </a:lvl3pPr>
            <a:lvl4pPr marL="1600200" indent="-228600" eaLnBrk="0" hangingPunct="0">
              <a:defRPr sz="3600" b="1">
                <a:solidFill>
                  <a:srgbClr val="4DE1EA"/>
                </a:solidFill>
                <a:latin typeface="Calibri" pitchFamily="34" charset="0"/>
              </a:defRPr>
            </a:lvl4pPr>
            <a:lvl5pPr marL="2057400" indent="-228600" eaLnBrk="0" hangingPunct="0">
              <a:defRPr sz="3600" b="1">
                <a:solidFill>
                  <a:srgbClr val="4DE1EA"/>
                </a:solidFill>
                <a:latin typeface="Calibri" pitchFamily="34" charset="0"/>
              </a:defRPr>
            </a:lvl5pPr>
            <a:lvl6pPr marL="2514600" indent="-228600" algn="ctr" eaLnBrk="0" fontAlgn="base" hangingPunct="0">
              <a:spcBef>
                <a:spcPct val="0"/>
              </a:spcBef>
              <a:spcAft>
                <a:spcPct val="0"/>
              </a:spcAft>
              <a:defRPr sz="3600" b="1">
                <a:solidFill>
                  <a:srgbClr val="4DE1EA"/>
                </a:solidFill>
                <a:latin typeface="Calibri" pitchFamily="34" charset="0"/>
              </a:defRPr>
            </a:lvl6pPr>
            <a:lvl7pPr marL="2971800" indent="-228600" algn="ctr" eaLnBrk="0" fontAlgn="base" hangingPunct="0">
              <a:spcBef>
                <a:spcPct val="0"/>
              </a:spcBef>
              <a:spcAft>
                <a:spcPct val="0"/>
              </a:spcAft>
              <a:defRPr sz="3600" b="1">
                <a:solidFill>
                  <a:srgbClr val="4DE1EA"/>
                </a:solidFill>
                <a:latin typeface="Calibri" pitchFamily="34" charset="0"/>
              </a:defRPr>
            </a:lvl7pPr>
            <a:lvl8pPr marL="3429000" indent="-228600" algn="ctr" eaLnBrk="0" fontAlgn="base" hangingPunct="0">
              <a:spcBef>
                <a:spcPct val="0"/>
              </a:spcBef>
              <a:spcAft>
                <a:spcPct val="0"/>
              </a:spcAft>
              <a:defRPr sz="3600" b="1">
                <a:solidFill>
                  <a:srgbClr val="4DE1EA"/>
                </a:solidFill>
                <a:latin typeface="Calibri" pitchFamily="34" charset="0"/>
              </a:defRPr>
            </a:lvl8pPr>
            <a:lvl9pPr marL="3886200" indent="-228600" algn="ctr" eaLnBrk="0" fontAlgn="base" hangingPunct="0">
              <a:spcBef>
                <a:spcPct val="0"/>
              </a:spcBef>
              <a:spcAft>
                <a:spcPct val="0"/>
              </a:spcAft>
              <a:defRPr sz="3600" b="1">
                <a:solidFill>
                  <a:srgbClr val="4DE1EA"/>
                </a:solidFill>
                <a:latin typeface="Calibri" pitchFamily="34" charset="0"/>
              </a:defRPr>
            </a:lvl9pPr>
          </a:lstStyle>
          <a:p>
            <a:fld id="{16729EA6-806A-46BC-B0A4-251898F405CF}" type="slidenum">
              <a:rPr lang="en-US" sz="1200" smtClean="0"/>
              <a:pPr/>
              <a:t>78</a:t>
            </a:fld>
            <a:endParaRPr lang="en-US" sz="1200"/>
          </a:p>
        </p:txBody>
      </p:sp>
    </p:spTree>
    <p:extLst>
      <p:ext uri="{BB962C8B-B14F-4D97-AF65-F5344CB8AC3E}">
        <p14:creationId xmlns:p14="http://schemas.microsoft.com/office/powerpoint/2010/main" val="300374547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Exercise 4.4</a:t>
            </a:r>
          </a:p>
          <a:p>
            <a:r>
              <a:rPr lang="vi-VN" sz="1200" b="0" i="0" kern="1200">
                <a:solidFill>
                  <a:schemeClr val="tx1"/>
                </a:solidFill>
                <a:effectLst/>
                <a:latin typeface="+mn-lt"/>
                <a:ea typeface="+mn-ea"/>
                <a:cs typeface="+mn-cs"/>
              </a:rPr>
              <a:t>Một công ty bảo hiểm quyết định bán cổ phiếu của họ trên thị trường chứng khoán và công ty đang cung cấp những quyền lợi thành viên cho những khách hàng mua cổ phiếu tai thời điểm mà công ty phát hành lần đầu tiên. Bất kỳ ai với chính sách hiện tại sẽ được lợi với điều kiện họ tham gia hợp đồng bảo hiểm nhân thọ từ năm 2001. Những ai mà đáp ứng được những tiêu chí này có thể chọn lựa hoặc là </a:t>
            </a:r>
            <a:r>
              <a:rPr lang="en-US" sz="1200" b="0" i="0" kern="1200">
                <a:solidFill>
                  <a:schemeClr val="tx1"/>
                </a:solidFill>
                <a:effectLst/>
                <a:latin typeface="+mn-lt"/>
                <a:ea typeface="+mn-ea"/>
                <a:cs typeface="+mn-cs"/>
              </a:rPr>
              <a:t>được</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trả bằng tiền mặt hoặc một phần cổ phiếu trong công ty mới; những người tham gia chương trình khác với thời gian ngắn hơn sẽ chỉ </a:t>
            </a:r>
            <a:r>
              <a:rPr lang="en-US" sz="1200" b="0" i="0" kern="1200">
                <a:solidFill>
                  <a:schemeClr val="tx1"/>
                </a:solidFill>
                <a:effectLst/>
                <a:latin typeface="+mn-lt"/>
                <a:ea typeface="+mn-ea"/>
                <a:cs typeface="+mn-cs"/>
              </a:rPr>
              <a:t>được</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trả bằng tiên mặt. Dưới đây là bảng quyết định phản ánh những luật này</a:t>
            </a:r>
            <a:endParaRPr lang="en-US"/>
          </a:p>
        </p:txBody>
      </p:sp>
    </p:spTree>
    <p:extLst>
      <p:ext uri="{BB962C8B-B14F-4D97-AF65-F5344CB8AC3E}">
        <p14:creationId xmlns:p14="http://schemas.microsoft.com/office/powerpoint/2010/main" val="244878611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p:txBody>
      </p:sp>
    </p:spTree>
    <p:extLst>
      <p:ext uri="{BB962C8B-B14F-4D97-AF65-F5344CB8AC3E}">
        <p14:creationId xmlns:p14="http://schemas.microsoft.com/office/powerpoint/2010/main" val="40504601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Cho làm</a:t>
            </a:r>
            <a:r>
              <a:rPr lang="en-US" sz="1200" b="0" i="0" kern="1200" baseline="0">
                <a:solidFill>
                  <a:schemeClr val="tx1"/>
                </a:solidFill>
                <a:effectLst/>
                <a:latin typeface="+mn-lt"/>
                <a:ea typeface="+mn-ea"/>
                <a:cs typeface="+mn-cs"/>
              </a:rPr>
              <a:t> kiểm tra trên lớp?</a:t>
            </a:r>
          </a:p>
          <a:p>
            <a:r>
              <a:rPr lang="en-US" sz="1200" b="0" i="0" kern="1200">
                <a:solidFill>
                  <a:schemeClr val="tx1"/>
                </a:solidFill>
                <a:effectLst/>
                <a:latin typeface="+mn-lt"/>
                <a:ea typeface="+mn-ea"/>
                <a:cs typeface="+mn-cs"/>
              </a:rPr>
              <a:t>If we choose an initial value of p=4, we only need 1 test to achieve 100% statement and 100% decision coverage.</a:t>
            </a:r>
          </a:p>
          <a:p>
            <a:r>
              <a:rPr lang="en-US" sz="1200" b="0" i="0" kern="1200">
                <a:solidFill>
                  <a:schemeClr val="tx1"/>
                </a:solidFill>
                <a:effectLst/>
                <a:latin typeface="+mn-lt"/>
                <a:ea typeface="+mn-ea"/>
                <a:cs typeface="+mn-cs"/>
              </a:rPr>
              <a:t>1 test - it achieves 100% statement coverage and 100% decision coverage.</a:t>
            </a:r>
            <a:endParaRPr lang="en-US"/>
          </a:p>
        </p:txBody>
      </p:sp>
    </p:spTree>
    <p:extLst>
      <p:ext uri="{BB962C8B-B14F-4D97-AF65-F5344CB8AC3E}">
        <p14:creationId xmlns:p14="http://schemas.microsoft.com/office/powerpoint/2010/main" val="187418793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Cho làm</a:t>
            </a:r>
            <a:r>
              <a:rPr lang="en-US" sz="1200" b="0" i="0" kern="1200" baseline="0">
                <a:solidFill>
                  <a:schemeClr val="tx1"/>
                </a:solidFill>
                <a:effectLst/>
                <a:latin typeface="+mn-lt"/>
                <a:ea typeface="+mn-ea"/>
                <a:cs typeface="+mn-cs"/>
              </a:rPr>
              <a:t> kiểm tra trên lớp?</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IF we choose an initial value of A =15, we only need 1 test to achieve 100% Decision coverage and 100% statement coverage.</a:t>
            </a:r>
            <a:endParaRPr lang="en-US"/>
          </a:p>
        </p:txBody>
      </p:sp>
    </p:spTree>
    <p:extLst>
      <p:ext uri="{BB962C8B-B14F-4D97-AF65-F5344CB8AC3E}">
        <p14:creationId xmlns:p14="http://schemas.microsoft.com/office/powerpoint/2010/main" val="308014213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a:p>
        </p:txBody>
      </p:sp>
    </p:spTree>
    <p:extLst>
      <p:ext uri="{BB962C8B-B14F-4D97-AF65-F5344CB8AC3E}">
        <p14:creationId xmlns:p14="http://schemas.microsoft.com/office/powerpoint/2010/main" val="366838102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P.121</a:t>
            </a:r>
          </a:p>
        </p:txBody>
      </p:sp>
    </p:spTree>
    <p:extLst>
      <p:ext uri="{BB962C8B-B14F-4D97-AF65-F5344CB8AC3E}">
        <p14:creationId xmlns:p14="http://schemas.microsoft.com/office/powerpoint/2010/main" val="298748027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Mục</a:t>
            </a:r>
            <a:r>
              <a:rPr lang="en-US" baseline="0"/>
              <a:t> tiêu?</a:t>
            </a:r>
            <a:endParaRPr lang="en-US"/>
          </a:p>
        </p:txBody>
      </p:sp>
    </p:spTree>
    <p:extLst>
      <p:ext uri="{BB962C8B-B14F-4D97-AF65-F5344CB8AC3E}">
        <p14:creationId xmlns:p14="http://schemas.microsoft.com/office/powerpoint/2010/main" val="153403947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Đánh</a:t>
            </a:r>
            <a:r>
              <a:rPr lang="en-US" baseline="0"/>
              <a:t> số cho từng dòng lệnh ( cách này có thể k hoàn toàn chính xác)</a:t>
            </a:r>
          </a:p>
          <a:p>
            <a:pPr marL="0" indent="0">
              <a:buFontTx/>
              <a:buNone/>
            </a:pPr>
            <a:r>
              <a:rPr lang="en-US" baseline="0"/>
              <a:t>•  In Test 1_1, the value of C will be 8, so we will cover the statements on lines 1 to 4 and line 6. </a:t>
            </a:r>
          </a:p>
          <a:p>
            <a:pPr marL="0" indent="0">
              <a:buFontTx/>
              <a:buNone/>
            </a:pPr>
            <a:r>
              <a:rPr lang="en-US" baseline="0"/>
              <a:t>•  In Test 1_2, the value of C will be 50, so we will cover exactly the same state ments as Test 1_1. </a:t>
            </a:r>
          </a:p>
          <a:p>
            <a:pPr marL="0" indent="0">
              <a:buFontTx/>
              <a:buNone/>
            </a:pPr>
            <a:r>
              <a:rPr lang="en-US" baseline="0"/>
              <a:t>•  In Test 1_3, the value of C will be 49, so again we will cover the same state ments.</a:t>
            </a:r>
          </a:p>
          <a:p>
            <a:pPr marL="0" indent="0">
              <a:buFontTx/>
              <a:buNone/>
            </a:pPr>
            <a:r>
              <a:rPr lang="en-US" baseline="0"/>
              <a:t>Chỉ có 5/6~83% statement coverage (với 3 test)</a:t>
            </a:r>
          </a:p>
          <a:p>
            <a:pPr marL="0" indent="0">
              <a:buFontTx/>
              <a:buNone/>
            </a:pPr>
            <a:r>
              <a:rPr lang="en-US" baseline="0"/>
              <a:t>Có test 1_4: đạt 100%</a:t>
            </a:r>
          </a:p>
          <a:p>
            <a:pPr marL="171450" indent="-171450">
              <a:buFontTx/>
              <a:buChar char="-"/>
            </a:pPr>
            <a:r>
              <a:rPr lang="en-US" baseline="0"/>
              <a:t>Nếu dùng công cụ để đo thì % có thể khác vì một số công cụ có thể nhóm các lệnh thi hành cùng với nhau và xem là 1 lệnh đơn</a:t>
            </a:r>
            <a:endParaRPr lang="en-US"/>
          </a:p>
        </p:txBody>
      </p:sp>
    </p:spTree>
    <p:extLst>
      <p:ext uri="{BB962C8B-B14F-4D97-AF65-F5344CB8AC3E}">
        <p14:creationId xmlns:p14="http://schemas.microsoft.com/office/powerpoint/2010/main" val="238885865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Tx/>
              <a:buChar char="-"/>
            </a:pPr>
            <a:r>
              <a:rPr lang="en-US" b="0"/>
              <a:t>Để</a:t>
            </a:r>
            <a:r>
              <a:rPr lang="en-US" b="0" baseline="0"/>
              <a:t> đạt 100% cần đi qua all nodes</a:t>
            </a:r>
            <a:endParaRPr lang="en-US" b="0"/>
          </a:p>
          <a:p>
            <a:pPr marL="171450" lvl="0" indent="-171450">
              <a:buFontTx/>
              <a:buChar char="-"/>
            </a:pPr>
            <a:r>
              <a:rPr lang="en-US" b="0"/>
              <a:t>Gán</a:t>
            </a:r>
            <a:r>
              <a:rPr lang="en-US" b="0" baseline="0"/>
              <a:t> nhãn vào các cạnh để cho biết đuờng đi của các lệnh</a:t>
            </a:r>
            <a:endParaRPr lang="en-US" b="0"/>
          </a:p>
        </p:txBody>
      </p:sp>
    </p:spTree>
    <p:extLst>
      <p:ext uri="{BB962C8B-B14F-4D97-AF65-F5344CB8AC3E}">
        <p14:creationId xmlns:p14="http://schemas.microsoft.com/office/powerpoint/2010/main" val="366838102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a:t>Let us study the following program:</a:t>
            </a:r>
          </a:p>
          <a:p>
            <a:pPr marL="0" indent="0">
              <a:buNone/>
            </a:pPr>
            <a:r>
              <a:rPr lang="en-US"/>
              <a:t>x=0; </a:t>
            </a:r>
          </a:p>
          <a:p>
            <a:pPr marL="0" indent="0">
              <a:buNone/>
            </a:pPr>
            <a:r>
              <a:rPr lang="en-US"/>
              <a:t>read(y);</a:t>
            </a:r>
          </a:p>
          <a:p>
            <a:pPr marL="0" indent="0">
              <a:buNone/>
            </a:pPr>
            <a:r>
              <a:rPr lang="en-US"/>
              <a:t>while (y &gt; 100) { </a:t>
            </a:r>
          </a:p>
          <a:p>
            <a:pPr marL="0" indent="0">
              <a:buNone/>
            </a:pPr>
            <a:r>
              <a:rPr lang="en-US"/>
              <a:t>	x=x+y; read(y); </a:t>
            </a:r>
          </a:p>
          <a:p>
            <a:pPr marL="0" indent="0">
              <a:buNone/>
            </a:pPr>
            <a:r>
              <a:rPr lang="en-US"/>
              <a:t>}</a:t>
            </a:r>
          </a:p>
          <a:p>
            <a:pPr marL="0" indent="0">
              <a:buNone/>
            </a:pPr>
            <a:r>
              <a:rPr lang="en-US"/>
              <a:t>if (y &lt; 200) </a:t>
            </a:r>
          </a:p>
          <a:p>
            <a:pPr marL="0" indent="0">
              <a:buNone/>
            </a:pPr>
            <a:r>
              <a:rPr lang="en-US"/>
              <a:t>	print(x) </a:t>
            </a:r>
          </a:p>
          <a:p>
            <a:pPr marL="0" indent="0">
              <a:buNone/>
            </a:pPr>
            <a:r>
              <a:rPr lang="en-US"/>
              <a:t>else  print(y);</a:t>
            </a:r>
          </a:p>
          <a:p>
            <a:pPr marL="0" indent="0">
              <a:buNone/>
            </a:pPr>
            <a:r>
              <a:rPr lang="en-US"/>
              <a:t>a) Construct a control-flow graph for the program.</a:t>
            </a:r>
          </a:p>
          <a:p>
            <a:pPr marL="0" indent="0">
              <a:buNone/>
            </a:pPr>
            <a:r>
              <a:rPr lang="en-US"/>
              <a:t>b) Design test cases for reaching complete branch coverage over the program. Use as few test cases as possible.</a:t>
            </a:r>
          </a:p>
          <a:p>
            <a:endParaRPr lang="en-US"/>
          </a:p>
        </p:txBody>
      </p:sp>
    </p:spTree>
    <p:extLst>
      <p:ext uri="{BB962C8B-B14F-4D97-AF65-F5344CB8AC3E}">
        <p14:creationId xmlns:p14="http://schemas.microsoft.com/office/powerpoint/2010/main" val="68242958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a:t>Let us test the following program.</a:t>
            </a:r>
          </a:p>
          <a:p>
            <a:pPr marL="0" indent="0">
              <a:buNone/>
            </a:pPr>
            <a:r>
              <a:rPr lang="en-US"/>
              <a:t>x=0; </a:t>
            </a:r>
          </a:p>
          <a:p>
            <a:pPr marL="0" indent="0">
              <a:buNone/>
            </a:pPr>
            <a:r>
              <a:rPr lang="en-US"/>
              <a:t>read(y);</a:t>
            </a:r>
          </a:p>
          <a:p>
            <a:pPr marL="0" indent="0">
              <a:buNone/>
            </a:pPr>
            <a:r>
              <a:rPr lang="en-US"/>
              <a:t>while (y &gt; x) { </a:t>
            </a:r>
          </a:p>
          <a:p>
            <a:pPr marL="0" indent="0">
              <a:buNone/>
            </a:pPr>
            <a:r>
              <a:rPr lang="en-US"/>
              <a:t>x=x+y; </a:t>
            </a:r>
          </a:p>
          <a:p>
            <a:pPr marL="0" indent="0">
              <a:buNone/>
            </a:pPr>
            <a:r>
              <a:rPr lang="en-US"/>
              <a:t>read(y); }</a:t>
            </a:r>
          </a:p>
          <a:p>
            <a:pPr marL="0" indent="0">
              <a:buNone/>
            </a:pPr>
            <a:r>
              <a:rPr lang="en-US"/>
              <a:t>if (x &lt; 100) print("small") else print("large");</a:t>
            </a:r>
          </a:p>
          <a:p>
            <a:pPr marL="0" indent="0">
              <a:buNone/>
            </a:pPr>
            <a:r>
              <a:rPr lang="en-US"/>
              <a:t>a)  Construct a data-flow graph for the program with respect to variable x.</a:t>
            </a:r>
          </a:p>
          <a:p>
            <a:pPr marL="0" indent="0">
              <a:buNone/>
            </a:pPr>
            <a:r>
              <a:rPr lang="en-US"/>
              <a:t>b)  Which execution paths have to be traversed during testing, in order to</a:t>
            </a:r>
          </a:p>
          <a:p>
            <a:pPr marL="0" indent="0">
              <a:buNone/>
            </a:pPr>
            <a:r>
              <a:rPr lang="en-US"/>
              <a:t>reach complete all-definitions coverage with respect to variable x?</a:t>
            </a:r>
          </a:p>
          <a:p>
            <a:pPr marL="0" indent="0">
              <a:buNone/>
            </a:pPr>
            <a:r>
              <a:rPr lang="en-US"/>
              <a:t>Minimize the number of paths and tests.</a:t>
            </a:r>
          </a:p>
          <a:p>
            <a:pPr marL="0" indent="0">
              <a:buNone/>
            </a:pPr>
            <a:r>
              <a:rPr lang="en-US"/>
              <a:t>c)  Which execution paths have to be traversed during testing, in order to</a:t>
            </a:r>
          </a:p>
          <a:p>
            <a:pPr marL="0" indent="0">
              <a:buNone/>
            </a:pPr>
            <a:r>
              <a:rPr lang="en-US"/>
              <a:t>reach complete all-uses coverage with respect to variable x? Minimize</a:t>
            </a:r>
          </a:p>
          <a:p>
            <a:pPr marL="0" indent="0">
              <a:buNone/>
            </a:pPr>
            <a:r>
              <a:rPr lang="en-US"/>
              <a:t>the number of paths and tests.</a:t>
            </a:r>
          </a:p>
          <a:p>
            <a:pPr marL="0" indent="0">
              <a:buNone/>
            </a:pPr>
            <a:r>
              <a:rPr lang="en-US"/>
              <a:t>d)  Design test cases for reaching the (minimal) complete all-uses</a:t>
            </a:r>
          </a:p>
          <a:p>
            <a:pPr marL="0" indent="0">
              <a:buNone/>
            </a:pPr>
            <a:r>
              <a:rPr lang="en-US"/>
              <a:t>coverage with respect to variable x.</a:t>
            </a:r>
          </a:p>
          <a:p>
            <a:endParaRPr lang="en-US"/>
          </a:p>
        </p:txBody>
      </p:sp>
    </p:spTree>
    <p:extLst>
      <p:ext uri="{BB962C8B-B14F-4D97-AF65-F5344CB8AC3E}">
        <p14:creationId xmlns:p14="http://schemas.microsoft.com/office/powerpoint/2010/main" val="130379038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Software Testing Foundations_A Study Guide for the Certified Tester Exam, chapter 5, white-box</a:t>
            </a:r>
          </a:p>
          <a:p>
            <a:pPr marL="0" indent="0">
              <a:buNone/>
            </a:pPr>
            <a:r>
              <a:rPr lang="en-US"/>
              <a:t>double calculate_price ( double baseprice, double specialprice, double extraprice, int extras, double discount) { </a:t>
            </a:r>
          </a:p>
          <a:p>
            <a:pPr marL="0" indent="0">
              <a:buNone/>
            </a:pPr>
            <a:r>
              <a:rPr lang="en-US"/>
              <a:t>double addon_discount; </a:t>
            </a:r>
          </a:p>
          <a:p>
            <a:pPr marL="0" indent="0">
              <a:buNone/>
            </a:pPr>
            <a:r>
              <a:rPr lang="en-US"/>
              <a:t>double result;</a:t>
            </a:r>
          </a:p>
          <a:p>
            <a:pPr marL="0" indent="0">
              <a:buNone/>
            </a:pPr>
            <a:r>
              <a:rPr lang="en-US"/>
              <a:t>if (extras &gt;= 3) addon_discount = 10; </a:t>
            </a:r>
          </a:p>
          <a:p>
            <a:pPr marL="0" indent="0">
              <a:buNone/>
            </a:pPr>
            <a:r>
              <a:rPr lang="en-US"/>
              <a:t>else if (extras &gt;= 5) addon_discount = 15; </a:t>
            </a:r>
          </a:p>
          <a:p>
            <a:pPr marL="0" indent="0">
              <a:buNone/>
            </a:pPr>
            <a:r>
              <a:rPr lang="en-US"/>
              <a:t>else addon_discount = 0; </a:t>
            </a:r>
          </a:p>
          <a:p>
            <a:pPr marL="0" indent="0">
              <a:buNone/>
            </a:pPr>
            <a:r>
              <a:rPr lang="en-US"/>
              <a:t>if (discount &gt; addon_discount) addon_discount = discount; </a:t>
            </a:r>
          </a:p>
          <a:p>
            <a:pPr marL="0" indent="0">
              <a:buNone/>
            </a:pPr>
            <a:r>
              <a:rPr lang="en-US"/>
              <a:t>result = baseprice /100.0*(100-discount) + specialprice + extraprice/100.0*(100-addon_discount); </a:t>
            </a:r>
          </a:p>
          <a:p>
            <a:pPr marL="0" indent="0">
              <a:buNone/>
            </a:pPr>
            <a:r>
              <a:rPr lang="en-US"/>
              <a:t>return (result); }</a:t>
            </a:r>
          </a:p>
          <a:p>
            <a:endParaRPr lang="en-US"/>
          </a:p>
        </p:txBody>
      </p:sp>
    </p:spTree>
    <p:extLst>
      <p:ext uri="{BB962C8B-B14F-4D97-AF65-F5344CB8AC3E}">
        <p14:creationId xmlns:p14="http://schemas.microsoft.com/office/powerpoint/2010/main" val="9990493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giải</a:t>
            </a:r>
          </a:p>
        </p:txBody>
      </p:sp>
    </p:spTree>
    <p:extLst>
      <p:ext uri="{BB962C8B-B14F-4D97-AF65-F5344CB8AC3E}">
        <p14:creationId xmlns:p14="http://schemas.microsoft.com/office/powerpoint/2010/main" val="410796726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Exercise 4.9+4.10: This program reads a list of non-negative numbers terminated by −1.</a:t>
            </a:r>
          </a:p>
          <a:p>
            <a:r>
              <a:rPr lang="en-US" b="1"/>
              <a:t>Exercise 4.9</a:t>
            </a:r>
          </a:p>
          <a:p>
            <a:r>
              <a:rPr lang="en-US"/>
              <a:t>The answer is 1 because a single list terminated by −1 (say 4, 6, 3, −1) will enter</a:t>
            </a:r>
          </a:p>
          <a:p>
            <a:r>
              <a:rPr lang="en-US"/>
              <a:t>the loop the first three times and then exit on the fourth; hence the WHILE </a:t>
            </a:r>
          </a:p>
          <a:p>
            <a:r>
              <a:rPr lang="en-US"/>
              <a:t>decision will be true three times and then false, which exercises the decision in</a:t>
            </a:r>
          </a:p>
          <a:p>
            <a:r>
              <a:rPr lang="en-US"/>
              <a:t>both directions with one test case.</a:t>
            </a:r>
          </a:p>
          <a:p>
            <a:r>
              <a:rPr lang="en-US"/>
              <a:t>A single test case with values of 1, −1 would also exercise all decisions.</a:t>
            </a:r>
          </a:p>
          <a:p>
            <a:r>
              <a:rPr lang="en-US" b="1"/>
              <a:t>Exercise 4.10</a:t>
            </a:r>
          </a:p>
          <a:p>
            <a:r>
              <a:rPr lang="en-US"/>
              <a:t>Decision coverage of 50% will be achieved. The –1 input will make the While</a:t>
            </a:r>
          </a:p>
          <a:p>
            <a:r>
              <a:rPr lang="en-US"/>
              <a:t>condition False and the loop will not be entered. The program will print the </a:t>
            </a:r>
          </a:p>
          <a:p>
            <a:r>
              <a:rPr lang="en-US"/>
              <a:t>message ‘There are 0 integers in the list’ and terminate, so the True outcome of</a:t>
            </a:r>
          </a:p>
          <a:p>
            <a:r>
              <a:rPr lang="en-US"/>
              <a:t>the decision will not be exercised.</a:t>
            </a:r>
          </a:p>
        </p:txBody>
      </p:sp>
    </p:spTree>
    <p:extLst>
      <p:ext uri="{BB962C8B-B14F-4D97-AF65-F5344CB8AC3E}">
        <p14:creationId xmlns:p14="http://schemas.microsoft.com/office/powerpoint/2010/main" val="310174530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Tham khảo</a:t>
            </a:r>
            <a:r>
              <a:rPr lang="en-US" baseline="0"/>
              <a:t> testing-exercises-final.pdf</a:t>
            </a:r>
          </a:p>
          <a:p>
            <a:pPr marL="0" indent="0">
              <a:buNone/>
            </a:pPr>
            <a:r>
              <a:rPr lang="en-US" sz="1200"/>
              <a:t>Exercise Sequence Graphs The following program in C like syntax reads an array of n unsorted numbers a a n sorts the array by bubble sort and ( )    ( - )        ( [0 ] : : : [  1 ]),     - ,  </a:t>
            </a:r>
          </a:p>
          <a:p>
            <a:pPr marL="0" indent="0">
              <a:buNone/>
            </a:pPr>
            <a:r>
              <a:rPr lang="en-US" sz="1200"/>
              <a:t>outputs the sorted array The function swap is called to exchange two array elements   .          .</a:t>
            </a:r>
          </a:p>
          <a:p>
            <a:pPr marL="0" indent="0">
              <a:buNone/>
            </a:pPr>
            <a:r>
              <a:rPr lang="en-US" sz="1200"/>
              <a:t>bubble_sort {</a:t>
            </a:r>
          </a:p>
          <a:p>
            <a:pPr marL="0" indent="0">
              <a:buNone/>
            </a:pPr>
            <a:r>
              <a:rPr lang="en-US" sz="1200"/>
              <a:t>// read unsorted array a[0]...a[n-1]</a:t>
            </a:r>
          </a:p>
          <a:p>
            <a:pPr marL="0" indent="0">
              <a:buNone/>
            </a:pPr>
            <a:r>
              <a:rPr lang="en-US" sz="1200"/>
              <a:t>...</a:t>
            </a:r>
          </a:p>
          <a:p>
            <a:pPr marL="0" indent="0">
              <a:buNone/>
            </a:pPr>
            <a:r>
              <a:rPr lang="en-US" sz="1200"/>
              <a:t>// sort array by bubble-sort</a:t>
            </a:r>
          </a:p>
          <a:p>
            <a:pPr marL="0" indent="0">
              <a:buNone/>
            </a:pPr>
            <a:r>
              <a:rPr lang="en-US" sz="1200"/>
              <a:t>do {</a:t>
            </a:r>
          </a:p>
          <a:p>
            <a:pPr marL="0" indent="0">
              <a:buNone/>
            </a:pPr>
            <a:r>
              <a:rPr lang="en-US" sz="1200"/>
              <a:t>sorted = TRUE;</a:t>
            </a:r>
          </a:p>
          <a:p>
            <a:pPr marL="0" indent="0">
              <a:buNone/>
            </a:pPr>
            <a:r>
              <a:rPr lang="en-US" sz="1200"/>
              <a:t>for (i=0; i&lt;n-1; i++)</a:t>
            </a:r>
          </a:p>
          <a:p>
            <a:pPr marL="0" indent="0">
              <a:buNone/>
            </a:pPr>
            <a:r>
              <a:rPr lang="en-US" sz="1200"/>
              <a:t>if (a[i] &gt; a[i+1]) {</a:t>
            </a:r>
          </a:p>
          <a:p>
            <a:pPr marL="0" indent="0">
              <a:buNone/>
            </a:pPr>
            <a:r>
              <a:rPr lang="en-US" sz="1200"/>
              <a:t>swap(&amp;(a[i]), &amp;(a[i+1]));</a:t>
            </a:r>
          </a:p>
          <a:p>
            <a:pPr marL="0" indent="0">
              <a:buNone/>
            </a:pPr>
            <a:r>
              <a:rPr lang="en-US" sz="1200"/>
              <a:t>sorted = FALSE;</a:t>
            </a:r>
          </a:p>
          <a:p>
            <a:pPr marL="0" indent="0">
              <a:buNone/>
            </a:pPr>
            <a:r>
              <a:rPr lang="en-US" sz="1200"/>
              <a:t>};</a:t>
            </a:r>
          </a:p>
          <a:p>
            <a:pPr marL="0" indent="0">
              <a:buNone/>
            </a:pPr>
            <a:r>
              <a:rPr lang="en-US" sz="1200"/>
              <a:t>} while (!sorted);</a:t>
            </a:r>
          </a:p>
          <a:p>
            <a:pPr marL="0" indent="0">
              <a:buNone/>
            </a:pPr>
            <a:r>
              <a:rPr lang="en-US" sz="1200"/>
              <a:t>// write sorted array a[0]...a[n-1]</a:t>
            </a:r>
          </a:p>
          <a:p>
            <a:pPr marL="0" indent="0">
              <a:buNone/>
            </a:pPr>
            <a:r>
              <a:rPr lang="en-US" sz="1200"/>
              <a:t>...</a:t>
            </a:r>
          </a:p>
          <a:p>
            <a:pPr marL="0" indent="0">
              <a:buNone/>
            </a:pPr>
            <a:r>
              <a:rPr lang="en-US" sz="1200"/>
              <a:t>}</a:t>
            </a:r>
          </a:p>
          <a:p>
            <a:pPr marL="0" indent="0">
              <a:buNone/>
            </a:pPr>
            <a:r>
              <a:rPr lang="en-US" sz="1200"/>
              <a:t>swap(float *a, float *b) {</a:t>
            </a:r>
          </a:p>
          <a:p>
            <a:pPr marL="0" indent="0">
              <a:buNone/>
            </a:pPr>
            <a:r>
              <a:rPr lang="en-US" sz="1200"/>
              <a:t>float temp;</a:t>
            </a:r>
          </a:p>
          <a:p>
            <a:pPr marL="0" indent="0">
              <a:buNone/>
            </a:pPr>
            <a:r>
              <a:rPr lang="en-US" sz="1200"/>
              <a:t>temp = *a;</a:t>
            </a:r>
          </a:p>
          <a:p>
            <a:pPr marL="0" indent="0">
              <a:buNone/>
            </a:pPr>
            <a:r>
              <a:rPr lang="en-US" sz="1200"/>
              <a:t>*a = *b;</a:t>
            </a:r>
          </a:p>
          <a:p>
            <a:pPr marL="0" indent="0">
              <a:buNone/>
            </a:pPr>
            <a:r>
              <a:rPr lang="en-US" sz="1200"/>
              <a:t>*b = temp;</a:t>
            </a:r>
          </a:p>
          <a:p>
            <a:pPr marL="0" indent="0">
              <a:buNone/>
            </a:pPr>
            <a:r>
              <a:rPr lang="en-US" sz="1200"/>
              <a:t>}</a:t>
            </a:r>
          </a:p>
          <a:p>
            <a:pPr marL="0" indent="0">
              <a:buNone/>
            </a:pPr>
            <a:r>
              <a:rPr lang="en-US" sz="1200"/>
              <a:t>Specify the control data ﬂow for this program  /      .</a:t>
            </a:r>
          </a:p>
          <a:p>
            <a:endParaRPr lang="en-US"/>
          </a:p>
        </p:txBody>
      </p:sp>
    </p:spTree>
    <p:extLst>
      <p:ext uri="{BB962C8B-B14F-4D97-AF65-F5344CB8AC3E}">
        <p14:creationId xmlns:p14="http://schemas.microsoft.com/office/powerpoint/2010/main" val="94246761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0"/>
              <a:t>2 test cases, cụ</a:t>
            </a:r>
            <a:r>
              <a:rPr lang="en-US" b="0" baseline="0"/>
              <a:t> thể abe: A=2, X=2; </a:t>
            </a:r>
            <a:r>
              <a:rPr lang="en-US" sz="1200" u="sng" kern="1200">
                <a:solidFill>
                  <a:srgbClr val="002060"/>
                </a:solidFill>
                <a:latin typeface="+mn-lt"/>
                <a:ea typeface="+mn-ea"/>
                <a:cs typeface="+mn-cs"/>
              </a:rPr>
              <a:t>acdfg</a:t>
            </a:r>
            <a:r>
              <a:rPr lang="en-US" sz="1200" b="0" u="none" kern="1200" baseline="0">
                <a:solidFill>
                  <a:schemeClr val="tx1"/>
                </a:solidFill>
                <a:latin typeface="+mn-lt"/>
                <a:ea typeface="+mn-ea"/>
                <a:cs typeface="+mn-cs"/>
              </a:rPr>
              <a:t>: A=0, X=3</a:t>
            </a:r>
          </a:p>
        </p:txBody>
      </p:sp>
    </p:spTree>
    <p:extLst>
      <p:ext uri="{BB962C8B-B14F-4D97-AF65-F5344CB8AC3E}">
        <p14:creationId xmlns:p14="http://schemas.microsoft.com/office/powerpoint/2010/main" val="361939691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a:t>
            </a:r>
          </a:p>
        </p:txBody>
      </p:sp>
    </p:spTree>
    <p:extLst>
      <p:ext uri="{BB962C8B-B14F-4D97-AF65-F5344CB8AC3E}">
        <p14:creationId xmlns:p14="http://schemas.microsoft.com/office/powerpoint/2010/main" val="389908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3900DC13-0C25-439E-AA75-E5DAAC4C3713}"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248A5C28-A9AF-48F7-A492-117CD84F551A}" type="slidenum">
              <a:rPr lang="en-US">
                <a:solidFill>
                  <a:prstClr val="black">
                    <a:tint val="75000"/>
                  </a:prstClr>
                </a:solidFill>
              </a:rPr>
              <a:pPr/>
              <a:t>‹#›</a:t>
            </a:fld>
            <a:endParaRPr lang="en-US" dirty="0">
              <a:solidFill>
                <a:prstClr val="black">
                  <a:tint val="75000"/>
                </a:prstClr>
              </a:solidFill>
            </a:endParaRPr>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248A5C28-A9AF-48F7-A492-117CD84F551A}" type="slidenum">
              <a:rPr lang="en-US">
                <a:solidFill>
                  <a:prstClr val="black">
                    <a:tint val="75000"/>
                  </a:prstClr>
                </a:solidFill>
              </a:rPr>
              <a:pPr/>
              <a:t>‹#›</a:t>
            </a:fld>
            <a:endParaRPr lang="en-US" dirty="0">
              <a:solidFill>
                <a:prstClr val="black">
                  <a:tint val="75000"/>
                </a:prstClr>
              </a:solidFill>
            </a:endParaRPr>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D82040C-D3B1-42F1-A452-9128C48DC3A7}" type="slidenum">
              <a:rPr lang="en-US">
                <a:solidFill>
                  <a:prstClr val="black">
                    <a:tint val="75000"/>
                  </a:prstClr>
                </a:solidFill>
              </a:rPr>
              <a:pPr/>
              <a:t>‹#›</a:t>
            </a:fld>
            <a:endParaRPr lang="en-US" dirty="0">
              <a:solidFill>
                <a:prstClr val="black">
                  <a:tint val="75000"/>
                </a:prstClr>
              </a:solidFill>
            </a:endParaRPr>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248A5C28-A9AF-48F7-A492-117CD84F551A}" type="slidenum">
              <a:rPr lang="en-US">
                <a:solidFill>
                  <a:prstClr val="black">
                    <a:tint val="75000"/>
                  </a:prstClr>
                </a:solidFill>
              </a:rPr>
              <a:pPr/>
              <a:t>‹#›</a:t>
            </a:fld>
            <a:endParaRPr lang="en-US" dirty="0">
              <a:solidFill>
                <a:prstClr val="black">
                  <a:tint val="75000"/>
                </a:prstClr>
              </a:solidFill>
            </a:endParaRPr>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82EF2D54-7400-48BE-A19B-62D38E57C8F2}"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3900DC13-0C25-439E-AA75-E5DAAC4C3713}"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382000" cy="762000"/>
          </a:xfrm>
        </p:spPr>
        <p:txBody>
          <a:bodyPr>
            <a:normAutofit/>
          </a:bodyPr>
          <a:lstStyle>
            <a:lvl1pPr>
              <a:defRPr sz="4400"/>
            </a:lvl1pPr>
          </a:lstStyle>
          <a:p>
            <a:r>
              <a:rPr kumimoji="0" lang="en-US"/>
              <a:t>Click to edit Master title style</a:t>
            </a:r>
          </a:p>
        </p:txBody>
      </p:sp>
      <p:sp>
        <p:nvSpPr>
          <p:cNvPr id="3" name="Content Placeholder 2"/>
          <p:cNvSpPr>
            <a:spLocks noGrp="1"/>
          </p:cNvSpPr>
          <p:nvPr>
            <p:ph idx="1"/>
          </p:nvPr>
        </p:nvSpPr>
        <p:spPr>
          <a:xfrm>
            <a:off x="457200" y="1295400"/>
            <a:ext cx="8382000" cy="5257800"/>
          </a:xfrm>
        </p:spPr>
        <p:txBody>
          <a:bodyPr/>
          <a:lstStyle>
            <a:lvl1pPr>
              <a:spcBef>
                <a:spcPts val="600"/>
              </a:spcBef>
              <a:defRPr>
                <a:latin typeface="+mj-lt"/>
              </a:defRPr>
            </a:lvl1pPr>
            <a:lvl2pPr>
              <a:spcBef>
                <a:spcPts val="600"/>
              </a:spcBef>
              <a:defRPr>
                <a:latin typeface="+mj-lt"/>
              </a:defRPr>
            </a:lvl2pPr>
            <a:lvl3pPr>
              <a:spcBef>
                <a:spcPts val="600"/>
              </a:spcBef>
              <a:defRPr sz="2200">
                <a:latin typeface="+mj-lt"/>
              </a:defRPr>
            </a:lvl3pPr>
            <a:lvl4pPr>
              <a:spcBef>
                <a:spcPts val="600"/>
              </a:spcBef>
              <a:defRPr>
                <a:latin typeface="+mj-lt"/>
              </a:defRPr>
            </a:lvl4pPr>
            <a:lvl5pPr>
              <a:spcBef>
                <a:spcPts val="600"/>
              </a:spcBef>
              <a:defRPr>
                <a:latin typeface="+mj-lt"/>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a:xfrm>
            <a:off x="8153400" y="6416675"/>
            <a:ext cx="762000" cy="365125"/>
          </a:xfrm>
        </p:spPr>
        <p:txBody>
          <a:bodyPr/>
          <a:lstStyle>
            <a:lvl1pPr>
              <a:defRPr sz="1400"/>
            </a:lvl1pPr>
          </a:lstStyle>
          <a:p>
            <a:r>
              <a:rPr lang="en-US"/>
              <a:t>Slide </a:t>
            </a:r>
            <a:fld id="{3900DC13-0C25-439E-AA75-E5DAAC4C3713}" type="slidenum">
              <a:rPr lang="en-US" smtClean="0"/>
              <a:pPr/>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0DC13-0C25-439E-AA75-E5DAAC4C3713}"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normAutofit/>
          </a:bodyPr>
          <a:lstStyle>
            <a:lvl1pPr>
              <a:defRPr sz="4400"/>
            </a:lvl1pPr>
          </a:lstStyle>
          <a:p>
            <a:r>
              <a:rPr kumimoji="0" lang="en-US"/>
              <a:t>Click to edit Master title style</a:t>
            </a:r>
          </a:p>
        </p:txBody>
      </p:sp>
      <p:sp>
        <p:nvSpPr>
          <p:cNvPr id="3" name="Content Placeholder 2"/>
          <p:cNvSpPr>
            <a:spLocks noGrp="1"/>
          </p:cNvSpPr>
          <p:nvPr>
            <p:ph sz="half" idx="1"/>
          </p:nvPr>
        </p:nvSpPr>
        <p:spPr>
          <a:xfrm>
            <a:off x="457200" y="1920084"/>
            <a:ext cx="4038600" cy="4633115"/>
          </a:xfrm>
        </p:spPr>
        <p:txBody>
          <a:bodyPr/>
          <a:lstStyle>
            <a:lvl1pPr>
              <a:defRPr sz="2600">
                <a:latin typeface="+mj-lt"/>
              </a:defRPr>
            </a:lvl1pPr>
            <a:lvl2pPr>
              <a:defRPr sz="2400">
                <a:latin typeface="+mj-lt"/>
              </a:defRPr>
            </a:lvl2pPr>
            <a:lvl3pPr>
              <a:defRPr sz="2000">
                <a:latin typeface="+mj-lt"/>
              </a:defRPr>
            </a:lvl3pPr>
            <a:lvl4pPr>
              <a:defRPr sz="1800">
                <a:latin typeface="+mj-lt"/>
              </a:defRPr>
            </a:lvl4pPr>
            <a:lvl5pPr>
              <a:defRPr sz="1800">
                <a:latin typeface="+mj-lt"/>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4"/>
            <a:ext cx="4038600" cy="4633115"/>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Slide Number Placeholder 6"/>
          <p:cNvSpPr>
            <a:spLocks noGrp="1"/>
          </p:cNvSpPr>
          <p:nvPr>
            <p:ph type="sldNum" sz="quarter" idx="12"/>
          </p:nvPr>
        </p:nvSpPr>
        <p:spPr>
          <a:xfrm>
            <a:off x="8153400" y="6356350"/>
            <a:ext cx="762000" cy="365125"/>
          </a:xfrm>
        </p:spPr>
        <p:txBody>
          <a:bodyPr/>
          <a:lstStyle/>
          <a:p>
            <a:r>
              <a:rPr lang="en-US"/>
              <a:t>Slide </a:t>
            </a:r>
            <a:fld id="{3900DC13-0C25-439E-AA75-E5DAAC4C3713}" type="slidenum">
              <a:rPr lang="en-US" smtClean="0"/>
              <a:pPr/>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3900DC13-0C25-439E-AA75-E5DAAC4C3713}"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able Placeholder 2"/>
          <p:cNvSpPr>
            <a:spLocks noGrp="1"/>
          </p:cNvSpPr>
          <p:nvPr>
            <p:ph type="tbl" idx="1"/>
          </p:nvPr>
        </p:nvSpPr>
        <p:spPr>
          <a:xfrm>
            <a:off x="457200" y="1719263"/>
            <a:ext cx="8229600" cy="4411662"/>
          </a:xfrm>
        </p:spPr>
        <p:txBody>
          <a:bodyPr>
            <a:normAutofit/>
          </a:bodyPr>
          <a:lstStyle/>
          <a:p>
            <a:pPr lvl="0"/>
            <a:endParaRPr lang="en-US" noProof="0"/>
          </a:p>
        </p:txBody>
      </p:sp>
      <p:sp>
        <p:nvSpPr>
          <p:cNvPr id="4" name="Date Placeholder 3"/>
          <p:cNvSpPr>
            <a:spLocks noGrp="1"/>
          </p:cNvSpPr>
          <p:nvPr>
            <p:ph type="dt" sz="half" idx="10"/>
          </p:nvPr>
        </p:nvSpPr>
        <p:spPr>
          <a:xfrm>
            <a:off x="457200" y="6248400"/>
            <a:ext cx="2133600" cy="457200"/>
          </a:xfrm>
        </p:spPr>
        <p:txBody>
          <a:bodyPr/>
          <a:lstStyle>
            <a:lvl1pPr>
              <a:defRPr/>
            </a:lvl1pPr>
          </a:lstStyle>
          <a:p>
            <a:pPr>
              <a:defRPr/>
            </a:pPr>
            <a:endParaRPr lang="en-US" altLang="en-US"/>
          </a:p>
        </p:txBody>
      </p:sp>
      <p:sp>
        <p:nvSpPr>
          <p:cNvPr id="5" name="Footer Placeholder 4"/>
          <p:cNvSpPr>
            <a:spLocks noGrp="1"/>
          </p:cNvSpPr>
          <p:nvPr>
            <p:ph type="ftr" sz="quarter" idx="11"/>
          </p:nvPr>
        </p:nvSpPr>
        <p:spPr>
          <a:xfrm>
            <a:off x="3124200" y="6248400"/>
            <a:ext cx="2895600" cy="457200"/>
          </a:xfrm>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a:xfrm>
            <a:off x="6553200" y="6248400"/>
            <a:ext cx="2133600" cy="457200"/>
          </a:xfrm>
        </p:spPr>
        <p:txBody>
          <a:bodyPr/>
          <a:lstStyle>
            <a:lvl1pPr>
              <a:defRPr/>
            </a:lvl1pPr>
          </a:lstStyle>
          <a:p>
            <a:pPr>
              <a:defRPr/>
            </a:pPr>
            <a:fld id="{8BD19EAA-1AA3-436F-8F0A-6DCAF7F714A2}" type="slidenum">
              <a:rPr lang="en-US" altLang="en-US"/>
              <a:pPr>
                <a:defRPr/>
              </a:pPr>
              <a:t>‹#›</a:t>
            </a:fld>
            <a:endParaRPr lang="en-US" altLang="en-US"/>
          </a:p>
        </p:txBody>
      </p:sp>
    </p:spTree>
    <p:extLst>
      <p:ext uri="{BB962C8B-B14F-4D97-AF65-F5344CB8AC3E}">
        <p14:creationId xmlns:p14="http://schemas.microsoft.com/office/powerpoint/2010/main" val="37370428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62000" y="1447800"/>
            <a:ext cx="76230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48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0" name="Date Placeholder 29"/>
          <p:cNvSpPr>
            <a:spLocks noGrp="1"/>
          </p:cNvSpPr>
          <p:nvPr>
            <p:ph type="dt" sz="half" idx="10"/>
          </p:nvPr>
        </p:nvSpPr>
        <p:spPr/>
        <p:txBody>
          <a:bodyPr/>
          <a:lstStyle/>
          <a:p>
            <a:endParaRPr lang="en-US">
              <a:solidFill>
                <a:srgbClr val="DBF5F9">
                  <a:shade val="90000"/>
                </a:srgbClr>
              </a:solidFill>
            </a:endParaRPr>
          </a:p>
        </p:txBody>
      </p:sp>
      <p:sp>
        <p:nvSpPr>
          <p:cNvPr id="19" name="Footer Placeholder 18"/>
          <p:cNvSpPr>
            <a:spLocks noGrp="1"/>
          </p:cNvSpPr>
          <p:nvPr>
            <p:ph type="ftr" sz="quarter" idx="11"/>
          </p:nvPr>
        </p:nvSpPr>
        <p:spPr/>
        <p:txBody>
          <a:bodyPr/>
          <a:lstStyle/>
          <a:p>
            <a:endParaRPr lang="en-US">
              <a:solidFill>
                <a:srgbClr val="DBF5F9">
                  <a:shade val="90000"/>
                </a:srgbClr>
              </a:solidFill>
            </a:endParaRPr>
          </a:p>
        </p:txBody>
      </p:sp>
      <p:sp>
        <p:nvSpPr>
          <p:cNvPr id="27" name="Slide Number Placeholder 26"/>
          <p:cNvSpPr>
            <a:spLocks noGrp="1"/>
          </p:cNvSpPr>
          <p:nvPr>
            <p:ph type="sldNum" sz="quarter" idx="12"/>
          </p:nvPr>
        </p:nvSpPr>
        <p:spPr/>
        <p:txBody>
          <a:bodyPr/>
          <a:lstStyle/>
          <a:p>
            <a:fld id="{3900DC13-0C25-439E-AA75-E5DAAC4C3713}" type="slidenum">
              <a:rPr lang="en-US" smtClean="0">
                <a:solidFill>
                  <a:srgbClr val="DBF5F9">
                    <a:shade val="90000"/>
                  </a:srgbClr>
                </a:solidFill>
              </a:rPr>
              <a:pPr/>
              <a:t>‹#›</a:t>
            </a:fld>
            <a:endParaRPr lang="en-US">
              <a:solidFill>
                <a:srgbClr val="DBF5F9">
                  <a:shade val="90000"/>
                </a:srgbClr>
              </a:solidFill>
            </a:endParaRPr>
          </a:p>
        </p:txBody>
      </p:sp>
    </p:spTree>
    <p:extLst>
      <p:ext uri="{BB962C8B-B14F-4D97-AF65-F5344CB8AC3E}">
        <p14:creationId xmlns:p14="http://schemas.microsoft.com/office/powerpoint/2010/main" val="2167727949"/>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382000" cy="1143000"/>
          </a:xfrm>
        </p:spPr>
        <p:txBody>
          <a:bodyPr>
            <a:normAutofit/>
          </a:bodyPr>
          <a:lstStyle>
            <a:lvl1pPr>
              <a:defRPr sz="4400"/>
            </a:lvl1pPr>
          </a:lstStyle>
          <a:p>
            <a:r>
              <a:rPr kumimoji="0" lang="en-US"/>
              <a:t>Click to edit Master title style</a:t>
            </a:r>
          </a:p>
        </p:txBody>
      </p:sp>
      <p:sp>
        <p:nvSpPr>
          <p:cNvPr id="3" name="Content Placeholder 2"/>
          <p:cNvSpPr>
            <a:spLocks noGrp="1"/>
          </p:cNvSpPr>
          <p:nvPr>
            <p:ph idx="1"/>
          </p:nvPr>
        </p:nvSpPr>
        <p:spPr>
          <a:xfrm>
            <a:off x="457200" y="1752600"/>
            <a:ext cx="8382000" cy="4724400"/>
          </a:xfrm>
        </p:spPr>
        <p:txBody>
          <a:bodyPr/>
          <a:lstStyle>
            <a:lvl1pPr>
              <a:spcBef>
                <a:spcPts val="600"/>
              </a:spcBef>
              <a:defRPr sz="2600">
                <a:latin typeface="+mj-lt"/>
                <a:cs typeface="Arial" pitchFamily="34" charset="0"/>
              </a:defRPr>
            </a:lvl1pPr>
            <a:lvl2pPr>
              <a:spcBef>
                <a:spcPts val="600"/>
              </a:spcBef>
              <a:defRPr sz="2400">
                <a:latin typeface="+mj-lt"/>
                <a:cs typeface="Arial" pitchFamily="34" charset="0"/>
              </a:defRPr>
            </a:lvl2pPr>
            <a:lvl3pPr>
              <a:spcBef>
                <a:spcPts val="600"/>
              </a:spcBef>
              <a:defRPr sz="2200">
                <a:latin typeface="+mj-lt"/>
                <a:cs typeface="Arial" pitchFamily="34" charset="0"/>
              </a:defRPr>
            </a:lvl3pPr>
            <a:lvl4pPr>
              <a:spcBef>
                <a:spcPts val="600"/>
              </a:spcBef>
              <a:defRPr>
                <a:latin typeface="+mj-lt"/>
                <a:cs typeface="Arial" pitchFamily="34" charset="0"/>
              </a:defRPr>
            </a:lvl4pPr>
            <a:lvl5pPr>
              <a:spcBef>
                <a:spcPts val="600"/>
              </a:spcBef>
              <a:defRPr>
                <a:latin typeface="+mj-lt"/>
                <a:cs typeface="Arial" pitchFamily="34" charset="0"/>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p:txBody>
          <a:bodyPr/>
          <a:lstStyle>
            <a:lvl1pPr>
              <a:defRPr sz="1400"/>
            </a:lvl1pPr>
          </a:lstStyle>
          <a:p>
            <a:r>
              <a:rPr lang="en-US">
                <a:solidFill>
                  <a:srgbClr val="04617B">
                    <a:shade val="90000"/>
                  </a:srgbClr>
                </a:solidFill>
              </a:rPr>
              <a:t>Slide </a:t>
            </a:r>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16705441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endParaRPr lang="en-US">
              <a:solidFill>
                <a:srgbClr val="DBF5F9">
                  <a:shade val="90000"/>
                </a:srgbClr>
              </a:solidFill>
            </a:endParaRPr>
          </a:p>
        </p:txBody>
      </p:sp>
      <p:sp>
        <p:nvSpPr>
          <p:cNvPr id="5" name="Footer Placeholder 4"/>
          <p:cNvSpPr>
            <a:spLocks noGrp="1"/>
          </p:cNvSpPr>
          <p:nvPr>
            <p:ph type="ftr" sz="quarter" idx="11"/>
          </p:nvPr>
        </p:nvSpPr>
        <p:spPr/>
        <p:txBody>
          <a:bodyPr/>
          <a:lstStyle/>
          <a:p>
            <a:endParaRPr lang="en-US">
              <a:solidFill>
                <a:srgbClr val="DBF5F9">
                  <a:shade val="90000"/>
                </a:srgbClr>
              </a:solidFill>
            </a:endParaRPr>
          </a:p>
        </p:txBody>
      </p:sp>
      <p:sp>
        <p:nvSpPr>
          <p:cNvPr id="6" name="Slide Number Placeholder 5"/>
          <p:cNvSpPr>
            <a:spLocks noGrp="1"/>
          </p:cNvSpPr>
          <p:nvPr>
            <p:ph type="sldNum" sz="quarter" idx="12"/>
          </p:nvPr>
        </p:nvSpPr>
        <p:spPr/>
        <p:txBody>
          <a:bodyPr/>
          <a:lstStyle/>
          <a:p>
            <a:fld id="{3900DC13-0C25-439E-AA75-E5DAAC4C3713}" type="slidenum">
              <a:rPr lang="en-US" smtClean="0">
                <a:solidFill>
                  <a:srgbClr val="DBF5F9">
                    <a:shade val="90000"/>
                  </a:srgbClr>
                </a:solidFill>
              </a:rPr>
              <a:pPr/>
              <a:t>‹#›</a:t>
            </a:fld>
            <a:endParaRPr lang="en-US">
              <a:solidFill>
                <a:srgbClr val="DBF5F9">
                  <a:shade val="90000"/>
                </a:srgbClr>
              </a:solidFill>
            </a:endParaRPr>
          </a:p>
        </p:txBody>
      </p:sp>
    </p:spTree>
    <p:extLst>
      <p:ext uri="{BB962C8B-B14F-4D97-AF65-F5344CB8AC3E}">
        <p14:creationId xmlns:p14="http://schemas.microsoft.com/office/powerpoint/2010/main" val="404625499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solidFill>
                <a:srgbClr val="04617B">
                  <a:shade val="90000"/>
                </a:srgbClr>
              </a:solidFill>
            </a:endParaRPr>
          </a:p>
        </p:txBody>
      </p:sp>
      <p:sp>
        <p:nvSpPr>
          <p:cNvPr id="6" name="Footer Placeholder 5"/>
          <p:cNvSpPr>
            <a:spLocks noGrp="1"/>
          </p:cNvSpPr>
          <p:nvPr>
            <p:ph type="ftr" sz="quarter" idx="11"/>
          </p:nvPr>
        </p:nvSpPr>
        <p:spPr/>
        <p:txBody>
          <a:bodyPr/>
          <a:lstStyle/>
          <a:p>
            <a:endParaRPr lang="en-US">
              <a:solidFill>
                <a:srgbClr val="04617B">
                  <a:shade val="90000"/>
                </a:srgbClr>
              </a:solidFill>
            </a:endParaRPr>
          </a:p>
        </p:txBody>
      </p:sp>
      <p:sp>
        <p:nvSpPr>
          <p:cNvPr id="7" name="Slide Number Placeholder 6"/>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14325890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endParaRPr lang="en-US">
              <a:solidFill>
                <a:srgbClr val="04617B">
                  <a:shade val="90000"/>
                </a:srgbClr>
              </a:solidFill>
            </a:endParaRPr>
          </a:p>
        </p:txBody>
      </p:sp>
      <p:sp>
        <p:nvSpPr>
          <p:cNvPr id="8" name="Footer Placeholder 7"/>
          <p:cNvSpPr>
            <a:spLocks noGrp="1"/>
          </p:cNvSpPr>
          <p:nvPr>
            <p:ph type="ftr" sz="quarter" idx="11"/>
          </p:nvPr>
        </p:nvSpPr>
        <p:spPr/>
        <p:txBody>
          <a:bodyPr/>
          <a:lstStyle/>
          <a:p>
            <a:endParaRPr lang="en-US">
              <a:solidFill>
                <a:srgbClr val="04617B">
                  <a:shade val="90000"/>
                </a:srgbClr>
              </a:solidFill>
            </a:endParaRPr>
          </a:p>
        </p:txBody>
      </p:sp>
      <p:sp>
        <p:nvSpPr>
          <p:cNvPr id="9" name="Slide Number Placeholder 8"/>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189763888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endParaRPr lang="en-US">
              <a:solidFill>
                <a:srgbClr val="04617B">
                  <a:shade val="90000"/>
                </a:srgbClr>
              </a:solidFill>
            </a:endParaRPr>
          </a:p>
        </p:txBody>
      </p:sp>
      <p:sp>
        <p:nvSpPr>
          <p:cNvPr id="4" name="Footer Placeholder 3"/>
          <p:cNvSpPr>
            <a:spLocks noGrp="1"/>
          </p:cNvSpPr>
          <p:nvPr>
            <p:ph type="ftr" sz="quarter" idx="11"/>
          </p:nvPr>
        </p:nvSpPr>
        <p:spPr/>
        <p:txBody>
          <a:bodyPr/>
          <a:lstStyle/>
          <a:p>
            <a:endParaRPr lang="en-US">
              <a:solidFill>
                <a:srgbClr val="04617B">
                  <a:shade val="90000"/>
                </a:srgbClr>
              </a:solidFill>
            </a:endParaRPr>
          </a:p>
        </p:txBody>
      </p:sp>
      <p:sp>
        <p:nvSpPr>
          <p:cNvPr id="5" name="Slide Number Placeholder 4"/>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23083251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srgbClr val="04617B">
                  <a:shade val="90000"/>
                </a:srgbClr>
              </a:solidFill>
            </a:endParaRPr>
          </a:p>
        </p:txBody>
      </p:sp>
      <p:sp>
        <p:nvSpPr>
          <p:cNvPr id="3" name="Footer Placeholder 2"/>
          <p:cNvSpPr>
            <a:spLocks noGrp="1"/>
          </p:cNvSpPr>
          <p:nvPr>
            <p:ph type="ftr" sz="quarter" idx="11"/>
          </p:nvPr>
        </p:nvSpPr>
        <p:spPr/>
        <p:txBody>
          <a:bodyPr/>
          <a:lstStyle/>
          <a:p>
            <a:endParaRPr lang="en-US">
              <a:solidFill>
                <a:srgbClr val="04617B">
                  <a:shade val="90000"/>
                </a:srgbClr>
              </a:solidFill>
            </a:endParaRPr>
          </a:p>
        </p:txBody>
      </p:sp>
      <p:sp>
        <p:nvSpPr>
          <p:cNvPr id="4" name="Slide Number Placeholder 3"/>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347544589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solidFill>
                <a:srgbClr val="04617B">
                  <a:shade val="90000"/>
                </a:srgbClr>
              </a:solidFill>
            </a:endParaRPr>
          </a:p>
        </p:txBody>
      </p:sp>
      <p:sp>
        <p:nvSpPr>
          <p:cNvPr id="6" name="Footer Placeholder 5"/>
          <p:cNvSpPr>
            <a:spLocks noGrp="1"/>
          </p:cNvSpPr>
          <p:nvPr>
            <p:ph type="ftr" sz="quarter" idx="11"/>
          </p:nvPr>
        </p:nvSpPr>
        <p:spPr/>
        <p:txBody>
          <a:bodyPr/>
          <a:lstStyle/>
          <a:p>
            <a:endParaRPr lang="en-US">
              <a:solidFill>
                <a:srgbClr val="04617B">
                  <a:shade val="90000"/>
                </a:srgbClr>
              </a:solidFill>
            </a:endParaRPr>
          </a:p>
        </p:txBody>
      </p:sp>
      <p:sp>
        <p:nvSpPr>
          <p:cNvPr id="7" name="Slide Number Placeholder 6"/>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106333492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a:solidFill>
                <a:srgbClr val="04617B">
                  <a:shade val="90000"/>
                </a:srgbClr>
              </a:solidFill>
            </a:endParaRPr>
          </a:p>
        </p:txBody>
      </p:sp>
      <p:sp>
        <p:nvSpPr>
          <p:cNvPr id="6" name="Footer Placeholder 5"/>
          <p:cNvSpPr>
            <a:spLocks noGrp="1"/>
          </p:cNvSpPr>
          <p:nvPr>
            <p:ph type="ftr" sz="quarter" idx="11"/>
          </p:nvPr>
        </p:nvSpPr>
        <p:spPr/>
        <p:txBody>
          <a:bodyPr/>
          <a:lstStyle/>
          <a:p>
            <a:endParaRPr lang="en-US">
              <a:solidFill>
                <a:srgbClr val="04617B">
                  <a:shade val="90000"/>
                </a:srgbClr>
              </a:solidFill>
            </a:endParaRPr>
          </a:p>
        </p:txBody>
      </p:sp>
      <p:sp>
        <p:nvSpPr>
          <p:cNvPr id="7" name="Slide Number Placeholder 6"/>
          <p:cNvSpPr>
            <a:spLocks noGrp="1"/>
          </p:cNvSpPr>
          <p:nvPr>
            <p:ph type="sldNum" sz="quarter" idx="12"/>
          </p:nvPr>
        </p:nvSpPr>
        <p:spPr>
          <a:xfrm>
            <a:off x="8077200" y="6356350"/>
            <a:ext cx="609600" cy="365125"/>
          </a:xfrm>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Tree>
    <p:extLst>
      <p:ext uri="{BB962C8B-B14F-4D97-AF65-F5344CB8AC3E}">
        <p14:creationId xmlns:p14="http://schemas.microsoft.com/office/powerpoint/2010/main" val="93743427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solidFill>
                <a:srgbClr val="04617B">
                  <a:shade val="90000"/>
                </a:srgbClr>
              </a:solidFill>
            </a:endParaRPr>
          </a:p>
        </p:txBody>
      </p:sp>
      <p:sp>
        <p:nvSpPr>
          <p:cNvPr id="5" name="Footer Placeholder 4"/>
          <p:cNvSpPr>
            <a:spLocks noGrp="1"/>
          </p:cNvSpPr>
          <p:nvPr>
            <p:ph type="ftr" sz="quarter" idx="11"/>
          </p:nvPr>
        </p:nvSpPr>
        <p:spPr/>
        <p:txBody>
          <a:bodyPr/>
          <a:lstStyle/>
          <a:p>
            <a:endParaRPr lang="en-US">
              <a:solidFill>
                <a:srgbClr val="04617B">
                  <a:shade val="90000"/>
                </a:srgbClr>
              </a:solidFill>
            </a:endParaRPr>
          </a:p>
        </p:txBody>
      </p:sp>
      <p:sp>
        <p:nvSpPr>
          <p:cNvPr id="6" name="Slide Number Placeholder 5"/>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30917232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solidFill>
                <a:srgbClr val="04617B">
                  <a:shade val="90000"/>
                </a:srgbClr>
              </a:solidFill>
            </a:endParaRPr>
          </a:p>
        </p:txBody>
      </p:sp>
      <p:sp>
        <p:nvSpPr>
          <p:cNvPr id="5" name="Footer Placeholder 4"/>
          <p:cNvSpPr>
            <a:spLocks noGrp="1"/>
          </p:cNvSpPr>
          <p:nvPr>
            <p:ph type="ftr" sz="quarter" idx="11"/>
          </p:nvPr>
        </p:nvSpPr>
        <p:spPr/>
        <p:txBody>
          <a:bodyPr/>
          <a:lstStyle/>
          <a:p>
            <a:endParaRPr lang="en-US">
              <a:solidFill>
                <a:srgbClr val="04617B">
                  <a:shade val="90000"/>
                </a:srgbClr>
              </a:solidFill>
            </a:endParaRPr>
          </a:p>
        </p:txBody>
      </p:sp>
      <p:sp>
        <p:nvSpPr>
          <p:cNvPr id="6" name="Slide Number Placeholder 5"/>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31030901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6"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6"/>
          <a:lstStyle>
            <a:lvl1pPr marL="0" marR="45716" indent="0" algn="r">
              <a:buNone/>
              <a:defRPr>
                <a:solidFill>
                  <a:schemeClr val="tx1"/>
                </a:solidFill>
              </a:defRPr>
            </a:lvl1pPr>
            <a:lvl2pPr marL="457153" indent="0" algn="ctr">
              <a:buNone/>
            </a:lvl2pPr>
            <a:lvl3pPr marL="914306" indent="0" algn="ctr">
              <a:buNone/>
            </a:lvl3pPr>
            <a:lvl4pPr marL="1371459" indent="0" algn="ctr">
              <a:buNone/>
            </a:lvl4pPr>
            <a:lvl5pPr marL="1828612" indent="0" algn="ctr">
              <a:buNone/>
            </a:lvl5pPr>
            <a:lvl6pPr marL="2285766" indent="0" algn="ctr">
              <a:buNone/>
            </a:lvl6pPr>
            <a:lvl7pPr marL="2742919" indent="0" algn="ctr">
              <a:buNone/>
            </a:lvl7pPr>
            <a:lvl8pPr marL="3200072" indent="0" algn="ctr">
              <a:buNone/>
            </a:lvl8pPr>
            <a:lvl9pPr marL="3657225"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endParaRPr lang="en-US">
              <a:solidFill>
                <a:srgbClr val="DBF5F9">
                  <a:shade val="90000"/>
                </a:srgbClr>
              </a:solidFill>
            </a:endParaRPr>
          </a:p>
        </p:txBody>
      </p:sp>
      <p:sp>
        <p:nvSpPr>
          <p:cNvPr id="19" name="Footer Placeholder 18"/>
          <p:cNvSpPr>
            <a:spLocks noGrp="1"/>
          </p:cNvSpPr>
          <p:nvPr>
            <p:ph type="ftr" sz="quarter" idx="11"/>
          </p:nvPr>
        </p:nvSpPr>
        <p:spPr/>
        <p:txBody>
          <a:bodyPr/>
          <a:lstStyle/>
          <a:p>
            <a:endParaRPr lang="en-US">
              <a:solidFill>
                <a:srgbClr val="DBF5F9">
                  <a:shade val="90000"/>
                </a:srgbClr>
              </a:solidFill>
            </a:endParaRPr>
          </a:p>
        </p:txBody>
      </p:sp>
      <p:sp>
        <p:nvSpPr>
          <p:cNvPr id="27" name="Slide Number Placeholder 26"/>
          <p:cNvSpPr>
            <a:spLocks noGrp="1"/>
          </p:cNvSpPr>
          <p:nvPr>
            <p:ph type="sldNum" sz="quarter" idx="12"/>
          </p:nvPr>
        </p:nvSpPr>
        <p:spPr/>
        <p:txBody>
          <a:bodyPr/>
          <a:lstStyle/>
          <a:p>
            <a:fld id="{3900DC13-0C25-439E-AA75-E5DAAC4C3713}" type="slidenum">
              <a:rPr lang="en-US" smtClean="0">
                <a:solidFill>
                  <a:srgbClr val="DBF5F9">
                    <a:shade val="90000"/>
                  </a:srgbClr>
                </a:solidFill>
              </a:rPr>
              <a:pPr/>
              <a:t>‹#›</a:t>
            </a:fld>
            <a:endParaRPr lang="en-US">
              <a:solidFill>
                <a:srgbClr val="DBF5F9">
                  <a:shade val="90000"/>
                </a:srgbClr>
              </a:solidFill>
            </a:endParaRPr>
          </a:p>
        </p:txBody>
      </p:sp>
    </p:spTree>
    <p:extLst>
      <p:ext uri="{BB962C8B-B14F-4D97-AF65-F5344CB8AC3E}">
        <p14:creationId xmlns:p14="http://schemas.microsoft.com/office/powerpoint/2010/main" val="2173367975"/>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305800" cy="1143000"/>
          </a:xfrm>
        </p:spPr>
        <p:txBody>
          <a:bodyPr>
            <a:normAutofit/>
          </a:bodyPr>
          <a:lstStyle>
            <a:lvl1pPr>
              <a:defRPr sz="4400"/>
            </a:lvl1pPr>
          </a:lstStyle>
          <a:p>
            <a:r>
              <a:rPr kumimoji="0" lang="en-US"/>
              <a:t>Click to edit Master title style</a:t>
            </a:r>
          </a:p>
        </p:txBody>
      </p:sp>
      <p:sp>
        <p:nvSpPr>
          <p:cNvPr id="3" name="Content Placeholder 2"/>
          <p:cNvSpPr>
            <a:spLocks noGrp="1"/>
          </p:cNvSpPr>
          <p:nvPr>
            <p:ph idx="1"/>
          </p:nvPr>
        </p:nvSpPr>
        <p:spPr>
          <a:xfrm>
            <a:off x="457200" y="1828800"/>
            <a:ext cx="8305800" cy="4495800"/>
          </a:xfrm>
        </p:spPr>
        <p:txBody>
          <a:bodyPr/>
          <a:lstStyle>
            <a:lvl1pPr>
              <a:spcBef>
                <a:spcPts val="600"/>
              </a:spcBef>
              <a:defRPr>
                <a:latin typeface="+mj-lt"/>
              </a:defRPr>
            </a:lvl1pPr>
            <a:lvl2pPr>
              <a:spcBef>
                <a:spcPts val="600"/>
              </a:spcBef>
              <a:defRPr>
                <a:latin typeface="+mj-lt"/>
              </a:defRPr>
            </a:lvl2pPr>
            <a:lvl3pPr>
              <a:spcBef>
                <a:spcPts val="600"/>
              </a:spcBef>
              <a:defRPr sz="2200">
                <a:latin typeface="+mj-lt"/>
              </a:defRPr>
            </a:lvl3pPr>
            <a:lvl4pPr>
              <a:spcBef>
                <a:spcPts val="600"/>
              </a:spcBef>
              <a:defRPr>
                <a:latin typeface="+mj-lt"/>
              </a:defRPr>
            </a:lvl4pPr>
            <a:lvl5pPr>
              <a:spcBef>
                <a:spcPts val="600"/>
              </a:spcBef>
              <a:defRPr>
                <a:latin typeface="+mj-lt"/>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a:xfrm>
            <a:off x="7848600" y="6477000"/>
            <a:ext cx="838200" cy="228600"/>
          </a:xfrm>
        </p:spPr>
        <p:txBody>
          <a:bodyPr/>
          <a:lstStyle>
            <a:lvl1pPr>
              <a:defRPr sz="1400"/>
            </a:lvl1pPr>
          </a:lstStyle>
          <a:p>
            <a:r>
              <a:rPr lang="en-US">
                <a:solidFill>
                  <a:srgbClr val="04617B">
                    <a:shade val="90000"/>
                  </a:srgbClr>
                </a:solidFill>
              </a:rPr>
              <a:t>Slide </a:t>
            </a:r>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28723659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16" rIns="45716"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endParaRPr lang="en-US">
              <a:solidFill>
                <a:srgbClr val="DBF5F9">
                  <a:shade val="90000"/>
                </a:srgbClr>
              </a:solidFill>
            </a:endParaRPr>
          </a:p>
        </p:txBody>
      </p:sp>
      <p:sp>
        <p:nvSpPr>
          <p:cNvPr id="5" name="Footer Placeholder 4"/>
          <p:cNvSpPr>
            <a:spLocks noGrp="1"/>
          </p:cNvSpPr>
          <p:nvPr>
            <p:ph type="ftr" sz="quarter" idx="11"/>
          </p:nvPr>
        </p:nvSpPr>
        <p:spPr/>
        <p:txBody>
          <a:bodyPr/>
          <a:lstStyle/>
          <a:p>
            <a:endParaRPr lang="en-US">
              <a:solidFill>
                <a:srgbClr val="DBF5F9">
                  <a:shade val="90000"/>
                </a:srgbClr>
              </a:solidFill>
            </a:endParaRPr>
          </a:p>
        </p:txBody>
      </p:sp>
    </p:spTree>
    <p:extLst>
      <p:ext uri="{BB962C8B-B14F-4D97-AF65-F5344CB8AC3E}">
        <p14:creationId xmlns:p14="http://schemas.microsoft.com/office/powerpoint/2010/main" val="1410963945"/>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solidFill>
                <a:srgbClr val="04617B">
                  <a:shade val="90000"/>
                </a:srgbClr>
              </a:solidFill>
            </a:endParaRPr>
          </a:p>
        </p:txBody>
      </p:sp>
      <p:sp>
        <p:nvSpPr>
          <p:cNvPr id="6" name="Footer Placeholder 5"/>
          <p:cNvSpPr>
            <a:spLocks noGrp="1"/>
          </p:cNvSpPr>
          <p:nvPr>
            <p:ph type="ftr" sz="quarter" idx="11"/>
          </p:nvPr>
        </p:nvSpPr>
        <p:spPr/>
        <p:txBody>
          <a:bodyPr/>
          <a:lstStyle/>
          <a:p>
            <a:endParaRPr lang="en-US">
              <a:solidFill>
                <a:srgbClr val="04617B">
                  <a:shade val="90000"/>
                </a:srgbClr>
              </a:solidFill>
            </a:endParaRPr>
          </a:p>
        </p:txBody>
      </p:sp>
      <p:sp>
        <p:nvSpPr>
          <p:cNvPr id="7" name="Slide Number Placeholder 6"/>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389745051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16"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16" tIns="0" rIns="45716"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1859758"/>
            <a:ext cx="4041775" cy="654843"/>
          </a:xfrm>
        </p:spPr>
        <p:txBody>
          <a:bodyPr lIns="45716" tIns="0" rIns="45716"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6"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endParaRPr lang="en-US">
              <a:solidFill>
                <a:srgbClr val="04617B">
                  <a:shade val="90000"/>
                </a:srgbClr>
              </a:solidFill>
            </a:endParaRPr>
          </a:p>
        </p:txBody>
      </p:sp>
      <p:sp>
        <p:nvSpPr>
          <p:cNvPr id="8" name="Footer Placeholder 7"/>
          <p:cNvSpPr>
            <a:spLocks noGrp="1"/>
          </p:cNvSpPr>
          <p:nvPr>
            <p:ph type="ftr" sz="quarter" idx="11"/>
          </p:nvPr>
        </p:nvSpPr>
        <p:spPr/>
        <p:txBody>
          <a:bodyPr/>
          <a:lstStyle/>
          <a:p>
            <a:endParaRPr lang="en-US">
              <a:solidFill>
                <a:srgbClr val="04617B">
                  <a:shade val="90000"/>
                </a:srgbClr>
              </a:solidFill>
            </a:endParaRPr>
          </a:p>
        </p:txBody>
      </p:sp>
      <p:sp>
        <p:nvSpPr>
          <p:cNvPr id="9" name="Slide Number Placeholder 8"/>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233428202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16"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endParaRPr lang="en-US">
              <a:solidFill>
                <a:srgbClr val="04617B">
                  <a:shade val="90000"/>
                </a:srgbClr>
              </a:solidFill>
            </a:endParaRPr>
          </a:p>
        </p:txBody>
      </p:sp>
      <p:sp>
        <p:nvSpPr>
          <p:cNvPr id="4" name="Footer Placeholder 3"/>
          <p:cNvSpPr>
            <a:spLocks noGrp="1"/>
          </p:cNvSpPr>
          <p:nvPr>
            <p:ph type="ftr" sz="quarter" idx="11"/>
          </p:nvPr>
        </p:nvSpPr>
        <p:spPr/>
        <p:txBody>
          <a:bodyPr/>
          <a:lstStyle/>
          <a:p>
            <a:endParaRPr lang="en-US">
              <a:solidFill>
                <a:srgbClr val="04617B">
                  <a:shade val="90000"/>
                </a:srgbClr>
              </a:solidFill>
            </a:endParaRPr>
          </a:p>
        </p:txBody>
      </p:sp>
      <p:sp>
        <p:nvSpPr>
          <p:cNvPr id="5" name="Slide Number Placeholder 4"/>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246743954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srgbClr val="04617B">
                  <a:shade val="90000"/>
                </a:srgbClr>
              </a:solidFill>
            </a:endParaRPr>
          </a:p>
        </p:txBody>
      </p:sp>
      <p:sp>
        <p:nvSpPr>
          <p:cNvPr id="3" name="Footer Placeholder 2"/>
          <p:cNvSpPr>
            <a:spLocks noGrp="1"/>
          </p:cNvSpPr>
          <p:nvPr>
            <p:ph type="ftr" sz="quarter" idx="11"/>
          </p:nvPr>
        </p:nvSpPr>
        <p:spPr/>
        <p:txBody>
          <a:bodyPr/>
          <a:lstStyle/>
          <a:p>
            <a:endParaRPr lang="en-US">
              <a:solidFill>
                <a:srgbClr val="04617B">
                  <a:shade val="90000"/>
                </a:srgbClr>
              </a:solidFill>
            </a:endParaRPr>
          </a:p>
        </p:txBody>
      </p:sp>
      <p:sp>
        <p:nvSpPr>
          <p:cNvPr id="4" name="Slide Number Placeholder 3"/>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292258071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6" rIns="18286"/>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solidFill>
                <a:srgbClr val="04617B">
                  <a:shade val="90000"/>
                </a:srgbClr>
              </a:solidFill>
            </a:endParaRPr>
          </a:p>
        </p:txBody>
      </p:sp>
      <p:sp>
        <p:nvSpPr>
          <p:cNvPr id="6" name="Footer Placeholder 5"/>
          <p:cNvSpPr>
            <a:spLocks noGrp="1"/>
          </p:cNvSpPr>
          <p:nvPr>
            <p:ph type="ftr" sz="quarter" idx="11"/>
          </p:nvPr>
        </p:nvSpPr>
        <p:spPr/>
        <p:txBody>
          <a:bodyPr/>
          <a:lstStyle/>
          <a:p>
            <a:endParaRPr lang="en-US">
              <a:solidFill>
                <a:srgbClr val="04617B">
                  <a:shade val="90000"/>
                </a:srgbClr>
              </a:solidFill>
            </a:endParaRPr>
          </a:p>
        </p:txBody>
      </p:sp>
      <p:sp>
        <p:nvSpPr>
          <p:cNvPr id="7" name="Slide Number Placeholder 6"/>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38737030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lIns="91430" tIns="45716" rIns="91430" bIns="45716" rtlCol="0" anchor="ctr"/>
          <a:lstStyle/>
          <a:p>
            <a:pPr algn="ctr" defTabSz="914306"/>
            <a:endParaRPr lang="en-US">
              <a:solidFill>
                <a:prstClr val="white"/>
              </a:solidFill>
            </a:endParaRPr>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lIns="91430" tIns="45716" rIns="91430" bIns="45716" rtlCol="0" anchor="ctr"/>
          <a:lstStyle/>
          <a:p>
            <a:pPr algn="ctr" defTabSz="914306"/>
            <a:endParaRPr lang="en-US">
              <a:solidFill>
                <a:prstClr val="white"/>
              </a:solidFill>
            </a:endParaRPr>
          </a:p>
        </p:txBody>
      </p:sp>
      <p:sp>
        <p:nvSpPr>
          <p:cNvPr id="2" name="Title 1"/>
          <p:cNvSpPr>
            <a:spLocks noGrp="1"/>
          </p:cNvSpPr>
          <p:nvPr>
            <p:ph type="title"/>
          </p:nvPr>
        </p:nvSpPr>
        <p:spPr>
          <a:xfrm>
            <a:off x="609600" y="1176997"/>
            <a:ext cx="2212848" cy="1582621"/>
          </a:xfrm>
        </p:spPr>
        <p:txBody>
          <a:bodyPr vert="horz" lIns="45716" tIns="45716" rIns="45716" bIns="45716"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1" rIns="45716" bIns="45716"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a:solidFill>
                <a:srgbClr val="04617B">
                  <a:shade val="90000"/>
                </a:srgbClr>
              </a:solidFill>
            </a:endParaRPr>
          </a:p>
        </p:txBody>
      </p:sp>
      <p:sp>
        <p:nvSpPr>
          <p:cNvPr id="6" name="Footer Placeholder 5"/>
          <p:cNvSpPr>
            <a:spLocks noGrp="1"/>
          </p:cNvSpPr>
          <p:nvPr>
            <p:ph type="ftr" sz="quarter" idx="11"/>
          </p:nvPr>
        </p:nvSpPr>
        <p:spPr/>
        <p:txBody>
          <a:bodyPr/>
          <a:lstStyle/>
          <a:p>
            <a:endParaRPr lang="en-US">
              <a:solidFill>
                <a:srgbClr val="04617B">
                  <a:shade val="90000"/>
                </a:srgbClr>
              </a:solidFill>
            </a:endParaRPr>
          </a:p>
        </p:txBody>
      </p:sp>
      <p:sp>
        <p:nvSpPr>
          <p:cNvPr id="7" name="Slide Number Placeholder 6"/>
          <p:cNvSpPr>
            <a:spLocks noGrp="1"/>
          </p:cNvSpPr>
          <p:nvPr>
            <p:ph type="sldNum" sz="quarter" idx="12"/>
          </p:nvPr>
        </p:nvSpPr>
        <p:spPr>
          <a:xfrm>
            <a:off x="8077200" y="6356351"/>
            <a:ext cx="609600" cy="365125"/>
          </a:xfrm>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30" tIns="45716" rIns="91430" bIns="45716" anchor="t" compatLnSpc="1"/>
          <a:lstStyle/>
          <a:p>
            <a:pPr defTabSz="914306"/>
            <a:endParaRPr lang="en-US">
              <a:solidFill>
                <a:prstClr val="black"/>
              </a:solidFill>
            </a:endParaRPr>
          </a:p>
        </p:txBody>
      </p:sp>
      <p:sp>
        <p:nvSpPr>
          <p:cNvPr id="11" name="Freeform 10"/>
          <p:cNvSpPr>
            <a:spLocks/>
          </p:cNvSpPr>
          <p:nvPr/>
        </p:nvSpPr>
        <p:spPr bwMode="auto">
          <a:xfrm flipV="1">
            <a:off x="4381500" y="6219826"/>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30" tIns="45716" rIns="91430" bIns="45716" anchor="t" compatLnSpc="1"/>
          <a:lstStyle/>
          <a:p>
            <a:pPr defTabSz="914306"/>
            <a:endParaRPr lang="en-US">
              <a:solidFill>
                <a:prstClr val="black"/>
              </a:solidFill>
            </a:endParaRPr>
          </a:p>
        </p:txBody>
      </p:sp>
    </p:spTree>
    <p:extLst>
      <p:ext uri="{BB962C8B-B14F-4D97-AF65-F5344CB8AC3E}">
        <p14:creationId xmlns:p14="http://schemas.microsoft.com/office/powerpoint/2010/main" val="616557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solidFill>
                <a:srgbClr val="04617B">
                  <a:shade val="90000"/>
                </a:srgbClr>
              </a:solidFill>
            </a:endParaRPr>
          </a:p>
        </p:txBody>
      </p:sp>
      <p:sp>
        <p:nvSpPr>
          <p:cNvPr id="5" name="Footer Placeholder 4"/>
          <p:cNvSpPr>
            <a:spLocks noGrp="1"/>
          </p:cNvSpPr>
          <p:nvPr>
            <p:ph type="ftr" sz="quarter" idx="11"/>
          </p:nvPr>
        </p:nvSpPr>
        <p:spPr/>
        <p:txBody>
          <a:bodyPr/>
          <a:lstStyle/>
          <a:p>
            <a:endParaRPr lang="en-US">
              <a:solidFill>
                <a:srgbClr val="04617B">
                  <a:shade val="90000"/>
                </a:srgbClr>
              </a:solidFill>
            </a:endParaRPr>
          </a:p>
        </p:txBody>
      </p:sp>
      <p:sp>
        <p:nvSpPr>
          <p:cNvPr id="6" name="Slide Number Placeholder 5"/>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218234979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2"/>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2"/>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solidFill>
                <a:srgbClr val="04617B">
                  <a:shade val="90000"/>
                </a:srgbClr>
              </a:solidFill>
            </a:endParaRPr>
          </a:p>
        </p:txBody>
      </p:sp>
      <p:sp>
        <p:nvSpPr>
          <p:cNvPr id="5" name="Footer Placeholder 4"/>
          <p:cNvSpPr>
            <a:spLocks noGrp="1"/>
          </p:cNvSpPr>
          <p:nvPr>
            <p:ph type="ftr" sz="quarter" idx="11"/>
          </p:nvPr>
        </p:nvSpPr>
        <p:spPr/>
        <p:txBody>
          <a:bodyPr/>
          <a:lstStyle/>
          <a:p>
            <a:endParaRPr lang="en-US">
              <a:solidFill>
                <a:srgbClr val="04617B">
                  <a:shade val="90000"/>
                </a:srgbClr>
              </a:solidFill>
            </a:endParaRPr>
          </a:p>
        </p:txBody>
      </p:sp>
      <p:sp>
        <p:nvSpPr>
          <p:cNvPr id="6" name="Slide Number Placeholder 5"/>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23022996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7.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8.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9.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20.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21.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2.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23.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24.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25.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26.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15.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4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16.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theme" Target="../theme/theme17.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00DC13-0C25-439E-AA75-E5DAAC4C371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C692C-4F2D-45F6-A9A8-8A3A8FE2780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13"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15"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8A5C28-A9AF-48F7-A492-117CD84F551A}" type="slidenum">
              <a:rPr lang="en-US">
                <a:solidFill>
                  <a:prstClr val="black">
                    <a:tint val="75000"/>
                  </a:prstClr>
                </a:solidFill>
              </a:rPr>
              <a:pPr/>
              <a:t>‹#›</a:t>
            </a:fld>
            <a:endParaRPr lang="en-US" dirty="0">
              <a:solidFill>
                <a:prstClr val="black">
                  <a:tint val="75000"/>
                </a:prstClr>
              </a:solidFill>
            </a:endParaRPr>
          </a:p>
        </p:txBody>
      </p:sp>
    </p:spTree>
  </p:cSld>
  <p:clrMap bg1="dk1" tx1="lt1" bg2="dk2" tx2="lt2" accent1="accent1" accent2="accent2" accent3="accent3" accent4="accent4" accent5="accent5" accent6="accent6" hlink="hlink" folHlink="folHlink"/>
  <p:sldLayoutIdLst>
    <p:sldLayoutId id="2147483717" r:id="rId1"/>
  </p:sldLayoutIdLst>
  <p:transition>
    <p:fad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8A5C28-A9AF-48F7-A492-117CD84F551A}" type="slidenum">
              <a:rPr lang="en-US">
                <a:solidFill>
                  <a:prstClr val="black">
                    <a:tint val="75000"/>
                  </a:prstClr>
                </a:solidFill>
              </a:rPr>
              <a:pPr/>
              <a:t>‹#›</a:t>
            </a:fld>
            <a:endParaRPr lang="en-US" dirty="0">
              <a:solidFill>
                <a:prstClr val="black">
                  <a:tint val="75000"/>
                </a:prstClr>
              </a:solidFill>
            </a:endParaRPr>
          </a:p>
        </p:txBody>
      </p:sp>
    </p:spTree>
  </p:cSld>
  <p:clrMap bg1="dk1" tx1="lt1" bg2="dk2" tx2="lt2" accent1="accent1" accent2="accent2" accent3="accent3" accent4="accent4" accent5="accent5" accent6="accent6" hlink="hlink" folHlink="folHlink"/>
  <p:sldLayoutIdLst>
    <p:sldLayoutId id="2147483719" r:id="rId1"/>
  </p:sldLayoutIdLst>
  <p:transition>
    <p:fad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82040C-D3B1-42F1-A452-9128C48DC3A7}" type="slidenum">
              <a:rPr lang="en-US">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1" r:id="rId1"/>
  </p:sldLayoutIdLst>
  <p:transition>
    <p:fad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3"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5"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8A5C28-A9AF-48F7-A492-117CD84F551A}" type="slidenum">
              <a:rPr lang="en-US">
                <a:solidFill>
                  <a:prstClr val="black">
                    <a:tint val="75000"/>
                  </a:prstClr>
                </a:solidFill>
              </a:rPr>
              <a:pPr/>
              <a:t>‹#›</a:t>
            </a:fld>
            <a:endParaRPr lang="en-US" dirty="0">
              <a:solidFill>
                <a:prstClr val="black">
                  <a:tint val="75000"/>
                </a:prstClr>
              </a:solidFill>
            </a:endParaRPr>
          </a:p>
        </p:txBody>
      </p:sp>
    </p:spTree>
  </p:cSld>
  <p:clrMap bg1="dk1" tx1="lt1" bg2="dk2" tx2="lt2" accent1="accent1" accent2="accent2" accent3="accent3" accent4="accent4" accent5="accent5" accent6="accent6" hlink="hlink" folHlink="folHlink"/>
  <p:sldLayoutIdLst>
    <p:sldLayoutId id="2147483727" r:id="rId1"/>
  </p:sldLayoutIdLst>
  <p:transition>
    <p:fad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31"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33"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EF2D54-7400-48BE-A19B-62D38E57C8F2}"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35"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3900DC13-0C25-439E-AA75-E5DAAC4C3713}"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26" r:id="rId12"/>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solidFill>
                <a:srgbClr val="04617B">
                  <a:shade val="90000"/>
                </a:srgbClr>
              </a:solidFill>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solidFill>
                <a:srgbClr val="04617B">
                  <a:shade val="90000"/>
                </a:srgbClr>
              </a:solidFill>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grpSp>
    </p:spTree>
    <p:extLst>
      <p:ext uri="{BB962C8B-B14F-4D97-AF65-F5344CB8AC3E}">
        <p14:creationId xmlns:p14="http://schemas.microsoft.com/office/powerpoint/2010/main" val="1821433969"/>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30" tIns="45716" rIns="91430" bIns="45716" anchor="t" compatLnSpc="1"/>
          <a:lstStyle/>
          <a:p>
            <a:pPr defTabSz="914306"/>
            <a:endParaRPr lang="en-US">
              <a:solidFill>
                <a:prstClr val="black"/>
              </a:solidFill>
            </a:endParaRPr>
          </a:p>
        </p:txBody>
      </p:sp>
      <p:sp>
        <p:nvSpPr>
          <p:cNvPr id="8" name="Freeform 7"/>
          <p:cNvSpPr>
            <a:spLocks/>
          </p:cNvSpPr>
          <p:nvPr/>
        </p:nvSpPr>
        <p:spPr bwMode="auto">
          <a:xfrm>
            <a:off x="4381500" y="-7143"/>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30" tIns="45716" rIns="91430" bIns="45716" anchor="t" compatLnSpc="1"/>
          <a:lstStyle/>
          <a:p>
            <a:pPr defTabSz="914306"/>
            <a:endParaRPr lang="en-US">
              <a:solidFill>
                <a:prstClr val="black"/>
              </a:solidFill>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tIns="45716"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lIns="91430" tIns="45716" rIns="91430" bIns="45716">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1"/>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defTabSz="914306"/>
            <a:endParaRPr lang="en-US">
              <a:solidFill>
                <a:srgbClr val="04617B">
                  <a:shade val="90000"/>
                </a:srgbClr>
              </a:solidFill>
            </a:endParaRPr>
          </a:p>
        </p:txBody>
      </p:sp>
      <p:sp>
        <p:nvSpPr>
          <p:cNvPr id="22" name="Footer Placeholder 21"/>
          <p:cNvSpPr>
            <a:spLocks noGrp="1"/>
          </p:cNvSpPr>
          <p:nvPr>
            <p:ph type="ftr" sz="quarter" idx="3"/>
          </p:nvPr>
        </p:nvSpPr>
        <p:spPr>
          <a:xfrm>
            <a:off x="2667000" y="6356351"/>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defTabSz="914306"/>
            <a:endParaRPr lang="en-US">
              <a:solidFill>
                <a:srgbClr val="04617B">
                  <a:shade val="90000"/>
                </a:srgbClr>
              </a:solidFill>
            </a:endParaRPr>
          </a:p>
        </p:txBody>
      </p:sp>
      <p:sp>
        <p:nvSpPr>
          <p:cNvPr id="18" name="Slide Number Placeholder 17"/>
          <p:cNvSpPr>
            <a:spLocks noGrp="1"/>
          </p:cNvSpPr>
          <p:nvPr>
            <p:ph type="sldNum" sz="quarter" idx="4"/>
          </p:nvPr>
        </p:nvSpPr>
        <p:spPr>
          <a:xfrm>
            <a:off x="7924800" y="6356351"/>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defTabSz="914306"/>
            <a:fld id="{3900DC13-0C25-439E-AA75-E5DAAC4C3713}" type="slidenum">
              <a:rPr lang="en-US" smtClean="0">
                <a:solidFill>
                  <a:srgbClr val="04617B">
                    <a:shade val="90000"/>
                  </a:srgbClr>
                </a:solidFill>
              </a:rPr>
              <a:pPr defTabSz="914306"/>
              <a:t>‹#›</a:t>
            </a:fld>
            <a:endParaRPr lang="en-US">
              <a:solidFill>
                <a:srgbClr val="04617B">
                  <a:shade val="90000"/>
                </a:srgbClr>
              </a:solidFill>
            </a:endParaRPr>
          </a:p>
        </p:txBody>
      </p:sp>
      <p:grpSp>
        <p:nvGrpSpPr>
          <p:cNvPr id="2" name="Group 1"/>
          <p:cNvGrpSpPr/>
          <p:nvPr/>
        </p:nvGrpSpPr>
        <p:grpSpPr>
          <a:xfrm>
            <a:off x="-19017" y="202409"/>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pPr defTabSz="914306"/>
              <a:endParaRPr lang="en-US">
                <a:solidFill>
                  <a:prstClr val="black"/>
                </a:solidFill>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pPr defTabSz="914306"/>
              <a:endParaRPr lang="en-US">
                <a:solidFill>
                  <a:prstClr val="black"/>
                </a:solidFill>
              </a:endParaRPr>
            </a:p>
          </p:txBody>
        </p:sp>
      </p:grpSp>
    </p:spTree>
    <p:extLst>
      <p:ext uri="{BB962C8B-B14F-4D97-AF65-F5344CB8AC3E}">
        <p14:creationId xmlns:p14="http://schemas.microsoft.com/office/powerpoint/2010/main" val="1294911623"/>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292" indent="-274292"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15" indent="-246863"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306" indent="-246863"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598" indent="-210290"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2890" indent="-210290"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181" indent="-210290"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043" indent="-182861"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334" indent="-182861"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627" indent="-182861"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153" algn="l" rtl="0" eaLnBrk="1" latinLnBrk="0" hangingPunct="1">
        <a:defRPr kumimoji="0" kern="1200">
          <a:solidFill>
            <a:schemeClr val="tx1"/>
          </a:solidFill>
          <a:latin typeface="+mn-lt"/>
          <a:ea typeface="+mn-ea"/>
          <a:cs typeface="+mn-cs"/>
        </a:defRPr>
      </a:lvl2pPr>
      <a:lvl3pPr marL="914306" algn="l" rtl="0" eaLnBrk="1" latinLnBrk="0" hangingPunct="1">
        <a:defRPr kumimoji="0" kern="1200">
          <a:solidFill>
            <a:schemeClr val="tx1"/>
          </a:solidFill>
          <a:latin typeface="+mn-lt"/>
          <a:ea typeface="+mn-ea"/>
          <a:cs typeface="+mn-cs"/>
        </a:defRPr>
      </a:lvl3pPr>
      <a:lvl4pPr marL="1371459" algn="l" rtl="0" eaLnBrk="1" latinLnBrk="0" hangingPunct="1">
        <a:defRPr kumimoji="0" kern="1200">
          <a:solidFill>
            <a:schemeClr val="tx1"/>
          </a:solidFill>
          <a:latin typeface="+mn-lt"/>
          <a:ea typeface="+mn-ea"/>
          <a:cs typeface="+mn-cs"/>
        </a:defRPr>
      </a:lvl4pPr>
      <a:lvl5pPr marL="1828612" algn="l" rtl="0" eaLnBrk="1" latinLnBrk="0" hangingPunct="1">
        <a:defRPr kumimoji="0" kern="1200">
          <a:solidFill>
            <a:schemeClr val="tx1"/>
          </a:solidFill>
          <a:latin typeface="+mn-lt"/>
          <a:ea typeface="+mn-ea"/>
          <a:cs typeface="+mn-cs"/>
        </a:defRPr>
      </a:lvl5pPr>
      <a:lvl6pPr marL="2285766" algn="l" rtl="0" eaLnBrk="1" latinLnBrk="0" hangingPunct="1">
        <a:defRPr kumimoji="0" kern="1200">
          <a:solidFill>
            <a:schemeClr val="tx1"/>
          </a:solidFill>
          <a:latin typeface="+mn-lt"/>
          <a:ea typeface="+mn-ea"/>
          <a:cs typeface="+mn-cs"/>
        </a:defRPr>
      </a:lvl6pPr>
      <a:lvl7pPr marL="2742919" algn="l" rtl="0" eaLnBrk="1" latinLnBrk="0" hangingPunct="1">
        <a:defRPr kumimoji="0" kern="1200">
          <a:solidFill>
            <a:schemeClr val="tx1"/>
          </a:solidFill>
          <a:latin typeface="+mn-lt"/>
          <a:ea typeface="+mn-ea"/>
          <a:cs typeface="+mn-cs"/>
        </a:defRPr>
      </a:lvl7pPr>
      <a:lvl8pPr marL="3200072" algn="l" rtl="0" eaLnBrk="1" latinLnBrk="0" hangingPunct="1">
        <a:defRPr kumimoji="0" kern="1200">
          <a:solidFill>
            <a:schemeClr val="tx1"/>
          </a:solidFill>
          <a:latin typeface="+mn-lt"/>
          <a:ea typeface="+mn-ea"/>
          <a:cs typeface="+mn-cs"/>
        </a:defRPr>
      </a:lvl8pPr>
      <a:lvl9pPr marL="3657225"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8.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8.xml"/></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2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8.xml"/></Relationships>
</file>

<file path=ppt/slides/_rels/slide5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5.xml"/><Relationship Id="rId1" Type="http://schemas.openxmlformats.org/officeDocument/2006/relationships/slideLayout" Target="../slideLayouts/slideLayout28.xml"/></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6.xml"/><Relationship Id="rId1" Type="http://schemas.openxmlformats.org/officeDocument/2006/relationships/slideLayout" Target="../slideLayouts/slideLayout2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8.xml"/></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2.xml"/><Relationship Id="rId1" Type="http://schemas.openxmlformats.org/officeDocument/2006/relationships/slideLayout" Target="../slideLayouts/slideLayout28.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8.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8.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8.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8.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8.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8.xml"/></Relationships>
</file>

<file path=ppt/slides/_rels/slide7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6.xml"/><Relationship Id="rId1" Type="http://schemas.openxmlformats.org/officeDocument/2006/relationships/slideLayout" Target="../slideLayouts/slideLayout28.xml"/></Relationships>
</file>

<file path=ppt/slides/_rels/slide7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7.xml"/><Relationship Id="rId1" Type="http://schemas.openxmlformats.org/officeDocument/2006/relationships/slideLayout" Target="../slideLayouts/slideLayout28.xml"/><Relationship Id="rId4" Type="http://schemas.openxmlformats.org/officeDocument/2006/relationships/image" Target="../media/image19.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8.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8.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8.xml"/></Relationships>
</file>

<file path=ppt/slides/_rels/slide8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71.xml"/><Relationship Id="rId1" Type="http://schemas.openxmlformats.org/officeDocument/2006/relationships/slideLayout" Target="../slideLayouts/slideLayout28.xml"/></Relationships>
</file>

<file path=ppt/slides/_rels/slide8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2.xml"/><Relationship Id="rId1" Type="http://schemas.openxmlformats.org/officeDocument/2006/relationships/slideLayout" Target="../slideLayouts/slideLayout28.xml"/></Relationships>
</file>

<file path=ppt/slides/_rels/slide8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3.xml"/><Relationship Id="rId1" Type="http://schemas.openxmlformats.org/officeDocument/2006/relationships/slideLayout" Target="../slideLayouts/slideLayout28.xml"/><Relationship Id="rId4" Type="http://schemas.openxmlformats.org/officeDocument/2006/relationships/image" Target="../media/image23.png"/></Relationships>
</file>

<file path=ppt/slides/_rels/slide8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4.xml"/><Relationship Id="rId1" Type="http://schemas.openxmlformats.org/officeDocument/2006/relationships/slideLayout" Target="../slideLayouts/slideLayout30.xml"/></Relationships>
</file>

<file path=ppt/slides/_rels/slide8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en.wikipedia.org/wiki/Short-circuit_evaluation" TargetMode="External"/><Relationship Id="rId1" Type="http://schemas.openxmlformats.org/officeDocument/2006/relationships/slideLayout" Target="../slideLayouts/slideLayout28.xml"/></Relationships>
</file>

<file path=ppt/slides/_rels/slide8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5.xml"/><Relationship Id="rId1" Type="http://schemas.openxmlformats.org/officeDocument/2006/relationships/slideLayout" Target="../slideLayouts/slideLayout3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8.xml"/></Relationships>
</file>

<file path=ppt/slides/_rels/slide8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7.xml"/><Relationship Id="rId1" Type="http://schemas.openxmlformats.org/officeDocument/2006/relationships/slideLayout" Target="../slideLayouts/slideLayout28.xml"/><Relationship Id="rId4" Type="http://schemas.openxmlformats.org/officeDocument/2006/relationships/image" Target="../media/image28.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8.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8.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8.xml"/></Relationships>
</file>

<file path=ppt/slides/_rels/slide9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1.xml"/><Relationship Id="rId1" Type="http://schemas.openxmlformats.org/officeDocument/2006/relationships/slideLayout" Target="../slideLayouts/slideLayout28.xml"/></Relationships>
</file>

<file path=ppt/slides/_rels/slide9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2.xml"/><Relationship Id="rId1" Type="http://schemas.openxmlformats.org/officeDocument/2006/relationships/slideLayout" Target="../slideLayouts/slideLayout28.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8.xml"/></Relationships>
</file>

<file path=ppt/slides/_rels/slide9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4.xml"/><Relationship Id="rId1" Type="http://schemas.openxmlformats.org/officeDocument/2006/relationships/slideLayout" Target="../slideLayouts/slideLayout28.xml"/><Relationship Id="rId4" Type="http://schemas.openxmlformats.org/officeDocument/2006/relationships/image" Target="../media/image31.png"/></Relationships>
</file>

<file path=ppt/slides/_rels/slide9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5.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733800"/>
            <a:ext cx="7623048" cy="1828800"/>
          </a:xfrm>
          <a:ln>
            <a:solidFill>
              <a:schemeClr val="tx1"/>
            </a:solidFill>
          </a:ln>
        </p:spPr>
        <p:txBody>
          <a:bodyPr>
            <a:normAutofit/>
          </a:bodyPr>
          <a:lstStyle/>
          <a:p>
            <a:pPr algn="ctr"/>
            <a:r>
              <a:rPr lang="en-US" sz="5400"/>
              <a:t>Dynamic </a:t>
            </a:r>
            <a:r>
              <a:rPr lang="en-US" sz="5400">
                <a:effectLst>
                  <a:outerShdw blurRad="38100" dist="38100" dir="2700000" algn="tl">
                    <a:srgbClr val="000000">
                      <a:alpha val="43137"/>
                    </a:srgbClr>
                  </a:outerShdw>
                </a:effectLst>
              </a:rPr>
              <a:t>techniques (cont.)</a:t>
            </a:r>
          </a:p>
        </p:txBody>
      </p:sp>
      <p:sp>
        <p:nvSpPr>
          <p:cNvPr id="5" name="Line 4"/>
          <p:cNvSpPr>
            <a:spLocks noChangeShapeType="1"/>
          </p:cNvSpPr>
          <p:nvPr/>
        </p:nvSpPr>
        <p:spPr bwMode="auto">
          <a:xfrm flipV="1">
            <a:off x="762000" y="2425700"/>
            <a:ext cx="1536700" cy="13081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white"/>
              </a:solidFill>
            </a:endParaRPr>
          </a:p>
        </p:txBody>
      </p:sp>
      <p:sp>
        <p:nvSpPr>
          <p:cNvPr id="6" name="Line 5"/>
          <p:cNvSpPr>
            <a:spLocks noChangeShapeType="1"/>
          </p:cNvSpPr>
          <p:nvPr/>
        </p:nvSpPr>
        <p:spPr bwMode="auto">
          <a:xfrm>
            <a:off x="3810000" y="2425700"/>
            <a:ext cx="4546600" cy="13081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white"/>
              </a:solidFill>
            </a:endParaRPr>
          </a:p>
        </p:txBody>
      </p:sp>
      <p:sp>
        <p:nvSpPr>
          <p:cNvPr id="15" name="Rectangle 15"/>
          <p:cNvSpPr>
            <a:spLocks noChangeArrowheads="1"/>
          </p:cNvSpPr>
          <p:nvPr/>
        </p:nvSpPr>
        <p:spPr bwMode="auto">
          <a:xfrm>
            <a:off x="762000" y="1066800"/>
            <a:ext cx="15367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600" b="1">
                <a:solidFill>
                  <a:srgbClr val="000C0B"/>
                </a:solidFill>
              </a:rPr>
              <a:t>1 </a:t>
            </a:r>
          </a:p>
          <a:p>
            <a:pPr algn="ctr"/>
            <a:r>
              <a:rPr lang="en-GB" sz="1600" b="1">
                <a:solidFill>
                  <a:srgbClr val="000C0B"/>
                </a:solidFill>
              </a:rPr>
              <a:t>Overview</a:t>
            </a:r>
          </a:p>
        </p:txBody>
      </p:sp>
      <p:sp>
        <p:nvSpPr>
          <p:cNvPr id="16" name="Rectangle 16"/>
          <p:cNvSpPr>
            <a:spLocks noChangeArrowheads="1"/>
          </p:cNvSpPr>
          <p:nvPr/>
        </p:nvSpPr>
        <p:spPr bwMode="auto">
          <a:xfrm>
            <a:off x="2298700" y="10668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600" b="1">
                <a:solidFill>
                  <a:srgbClr val="000C0B"/>
                </a:solidFill>
              </a:rPr>
              <a:t>2 Life cycle</a:t>
            </a:r>
          </a:p>
          <a:p>
            <a:pPr algn="ctr"/>
            <a:r>
              <a:rPr lang="en-GB" sz="1600" b="1">
                <a:solidFill>
                  <a:srgbClr val="000C0B"/>
                </a:solidFill>
              </a:rPr>
              <a:t>components</a:t>
            </a:r>
          </a:p>
        </p:txBody>
      </p:sp>
      <p:sp>
        <p:nvSpPr>
          <p:cNvPr id="17" name="Rectangle 17"/>
          <p:cNvSpPr>
            <a:spLocks noChangeArrowheads="1"/>
          </p:cNvSpPr>
          <p:nvPr/>
        </p:nvSpPr>
        <p:spPr bwMode="auto">
          <a:xfrm>
            <a:off x="762000" y="1752600"/>
            <a:ext cx="15367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6 </a:t>
            </a:r>
          </a:p>
          <a:p>
            <a:pPr algn="ctr"/>
            <a:r>
              <a:rPr lang="en-US" sz="1600" b="1">
                <a:solidFill>
                  <a:srgbClr val="000C0B"/>
                </a:solidFill>
              </a:rPr>
              <a:t>Static tesing</a:t>
            </a:r>
            <a:endParaRPr lang="en-GB" sz="1600" b="1">
              <a:solidFill>
                <a:srgbClr val="000C0B"/>
              </a:solidFill>
            </a:endParaRPr>
          </a:p>
        </p:txBody>
      </p:sp>
      <p:sp>
        <p:nvSpPr>
          <p:cNvPr id="18" name="Rectangle 18"/>
          <p:cNvSpPr>
            <a:spLocks noChangeArrowheads="1"/>
          </p:cNvSpPr>
          <p:nvPr/>
        </p:nvSpPr>
        <p:spPr bwMode="auto">
          <a:xfrm>
            <a:off x="3810000" y="10668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500" b="1">
                <a:solidFill>
                  <a:srgbClr val="000C0B"/>
                </a:solidFill>
              </a:rPr>
              <a:t>3 </a:t>
            </a:r>
            <a:r>
              <a:rPr lang="en-US" sz="1500" b="1">
                <a:solidFill>
                  <a:srgbClr val="000C0B"/>
                </a:solidFill>
              </a:rPr>
              <a:t>Infrastructure components</a:t>
            </a:r>
            <a:endParaRPr lang="en-GB" sz="1500" b="1">
              <a:solidFill>
                <a:srgbClr val="000C0B"/>
              </a:solidFill>
            </a:endParaRPr>
          </a:p>
        </p:txBody>
      </p:sp>
      <p:sp>
        <p:nvSpPr>
          <p:cNvPr id="19" name="Rectangle 19"/>
          <p:cNvSpPr>
            <a:spLocks noChangeArrowheads="1"/>
          </p:cNvSpPr>
          <p:nvPr/>
        </p:nvSpPr>
        <p:spPr bwMode="auto">
          <a:xfrm>
            <a:off x="2298700" y="1752600"/>
            <a:ext cx="1511300" cy="673100"/>
          </a:xfrm>
          <a:prstGeom prst="rect">
            <a:avLst/>
          </a:prstGeom>
          <a:solidFill>
            <a:schemeClr val="tx2"/>
          </a:solidFill>
          <a:ln w="12700">
            <a:solidFill>
              <a:srgbClr val="000000"/>
            </a:solidFill>
            <a:miter lim="800000"/>
            <a:headEnd/>
            <a:tailEnd/>
          </a:ln>
          <a:effectLst/>
        </p:spPr>
        <p:txBody>
          <a:bodyPr wrap="square" lIns="92075" tIns="46038" rIns="92075" bIns="46038" anchor="ctr">
            <a:noAutofit/>
          </a:bodyPr>
          <a:lstStyle/>
          <a:p>
            <a:pPr algn="ctr"/>
            <a:r>
              <a:rPr lang="en-GB" sz="1600" b="1">
                <a:solidFill>
                  <a:srgbClr val="000C0B"/>
                </a:solidFill>
              </a:rPr>
              <a:t>7 </a:t>
            </a:r>
            <a:r>
              <a:rPr lang="en-US" sz="1600" b="1">
                <a:solidFill>
                  <a:srgbClr val="000C0B"/>
                </a:solidFill>
              </a:rPr>
              <a:t>Dynamic testing</a:t>
            </a:r>
            <a:endParaRPr lang="en-GB" sz="1600" b="1">
              <a:solidFill>
                <a:srgbClr val="000C0B"/>
              </a:solidFill>
            </a:endParaRPr>
          </a:p>
        </p:txBody>
      </p:sp>
      <p:sp>
        <p:nvSpPr>
          <p:cNvPr id="20" name="Rectangle 20"/>
          <p:cNvSpPr>
            <a:spLocks noChangeArrowheads="1"/>
          </p:cNvSpPr>
          <p:nvPr/>
        </p:nvSpPr>
        <p:spPr bwMode="auto">
          <a:xfrm>
            <a:off x="3810000" y="17526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8 </a:t>
            </a:r>
            <a:r>
              <a:rPr lang="en-US" sz="1600" b="1">
                <a:solidFill>
                  <a:srgbClr val="000C0B"/>
                </a:solidFill>
              </a:rPr>
              <a:t>Test management</a:t>
            </a:r>
            <a:endParaRPr lang="en-GB" sz="1600" b="1">
              <a:solidFill>
                <a:srgbClr val="000C0B"/>
              </a:solidFill>
            </a:endParaRPr>
          </a:p>
        </p:txBody>
      </p:sp>
      <p:sp>
        <p:nvSpPr>
          <p:cNvPr id="21" name="Rectangle 15"/>
          <p:cNvSpPr>
            <a:spLocks noChangeArrowheads="1"/>
          </p:cNvSpPr>
          <p:nvPr/>
        </p:nvSpPr>
        <p:spPr bwMode="auto">
          <a:xfrm>
            <a:off x="5334000" y="10668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4 </a:t>
            </a:r>
            <a:r>
              <a:rPr lang="en-US" sz="1600" b="1">
                <a:solidFill>
                  <a:srgbClr val="000C0B"/>
                </a:solidFill>
              </a:rPr>
              <a:t>Management components</a:t>
            </a:r>
            <a:endParaRPr lang="en-GB" sz="1600" b="1">
              <a:solidFill>
                <a:srgbClr val="000C0B"/>
              </a:solidFill>
            </a:endParaRPr>
          </a:p>
        </p:txBody>
      </p:sp>
      <p:sp>
        <p:nvSpPr>
          <p:cNvPr id="22" name="Rectangle 17"/>
          <p:cNvSpPr>
            <a:spLocks noChangeArrowheads="1"/>
          </p:cNvSpPr>
          <p:nvPr/>
        </p:nvSpPr>
        <p:spPr bwMode="auto">
          <a:xfrm>
            <a:off x="5334000" y="17526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9 </a:t>
            </a:r>
          </a:p>
          <a:p>
            <a:pPr algn="ctr"/>
            <a:r>
              <a:rPr lang="en-GB" sz="1600" b="1">
                <a:solidFill>
                  <a:srgbClr val="000C0B"/>
                </a:solidFill>
              </a:rPr>
              <a:t>Tools</a:t>
            </a:r>
          </a:p>
        </p:txBody>
      </p:sp>
      <p:sp>
        <p:nvSpPr>
          <p:cNvPr id="23" name="Rectangle 16"/>
          <p:cNvSpPr>
            <a:spLocks noChangeArrowheads="1"/>
          </p:cNvSpPr>
          <p:nvPr/>
        </p:nvSpPr>
        <p:spPr bwMode="auto">
          <a:xfrm>
            <a:off x="6845300" y="10668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500" b="1">
                <a:solidFill>
                  <a:srgbClr val="000C0B"/>
                </a:solidFill>
              </a:rPr>
              <a:t>5 </a:t>
            </a:r>
            <a:r>
              <a:rPr lang="en-US" sz="1500" b="1">
                <a:solidFill>
                  <a:srgbClr val="000C0B"/>
                </a:solidFill>
              </a:rPr>
              <a:t>Standards and Organizing</a:t>
            </a:r>
            <a:endParaRPr lang="en-GB" sz="1500" b="1">
              <a:solidFill>
                <a:srgbClr val="000C0B"/>
              </a:solidFill>
            </a:endParaRPr>
          </a:p>
        </p:txBody>
      </p:sp>
      <p:sp>
        <p:nvSpPr>
          <p:cNvPr id="24" name="Rectangle 19"/>
          <p:cNvSpPr>
            <a:spLocks noChangeArrowheads="1"/>
          </p:cNvSpPr>
          <p:nvPr/>
        </p:nvSpPr>
        <p:spPr bwMode="auto">
          <a:xfrm>
            <a:off x="6845300" y="1752600"/>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600" b="1">
              <a:solidFill>
                <a:srgbClr val="000C0B"/>
              </a:solidFill>
            </a:endParaRPr>
          </a:p>
        </p:txBody>
      </p:sp>
    </p:spTree>
    <p:extLst>
      <p:ext uri="{BB962C8B-B14F-4D97-AF65-F5344CB8AC3E}">
        <p14:creationId xmlns:p14="http://schemas.microsoft.com/office/powerpoint/2010/main" val="2843078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References</a:t>
            </a:r>
          </a:p>
        </p:txBody>
      </p:sp>
      <p:sp>
        <p:nvSpPr>
          <p:cNvPr id="3" name="Content Placeholder 2"/>
          <p:cNvSpPr>
            <a:spLocks noGrp="1"/>
          </p:cNvSpPr>
          <p:nvPr>
            <p:ph idx="1"/>
          </p:nvPr>
        </p:nvSpPr>
        <p:spPr/>
        <p:txBody>
          <a:bodyPr/>
          <a:lstStyle/>
          <a:p>
            <a:r>
              <a:rPr lang="en-US"/>
              <a:t>Dorothy Grahamet, </a:t>
            </a:r>
            <a:r>
              <a:rPr lang="nl-NL"/>
              <a:t>Erik van Veenendaal, Isabel Evans, Rex Black. </a:t>
            </a:r>
            <a:r>
              <a:rPr lang="en-US" i="1"/>
              <a:t>Foundations of software testing: ISTQB Certification</a:t>
            </a:r>
          </a:p>
          <a:p>
            <a:endParaRPr lang="en-US"/>
          </a:p>
          <a:p>
            <a:r>
              <a:rPr lang="en-US"/>
              <a:t>Lee Copeland (2004). </a:t>
            </a:r>
            <a:r>
              <a:rPr lang="en-US" i="1"/>
              <a:t>A Practitioner's Guide to Software Test Design</a:t>
            </a:r>
            <a:r>
              <a:rPr lang="en-US"/>
              <a:t>. Artech House. ISBN:158053791x</a:t>
            </a:r>
          </a:p>
        </p:txBody>
      </p:sp>
      <p:sp>
        <p:nvSpPr>
          <p:cNvPr id="4" name="Slide Number Placeholder 3"/>
          <p:cNvSpPr>
            <a:spLocks noGrp="1"/>
          </p:cNvSpPr>
          <p:nvPr>
            <p:ph type="sldNum" sz="quarter" idx="12"/>
          </p:nvPr>
        </p:nvSpPr>
        <p:spPr/>
        <p:txBody>
          <a:bodyPr/>
          <a:lstStyle/>
          <a:p>
            <a:r>
              <a:rPr lang="en-US">
                <a:solidFill>
                  <a:srgbClr val="04617B">
                    <a:shade val="90000"/>
                  </a:srgbClr>
                </a:solidFill>
              </a:rPr>
              <a:t>Slide </a:t>
            </a:r>
            <a:fld id="{3900DC13-0C25-439E-AA75-E5DAAC4C3713}" type="slidenum">
              <a:rPr lang="en-US" smtClean="0">
                <a:solidFill>
                  <a:srgbClr val="04617B">
                    <a:shade val="90000"/>
                  </a:srgbClr>
                </a:solidFill>
              </a:rPr>
              <a:pPr/>
              <a:t>2</a:t>
            </a:fld>
            <a:endParaRPr lang="en-US">
              <a:solidFill>
                <a:srgbClr val="04617B">
                  <a:shade val="90000"/>
                </a:srgbClr>
              </a:solidFill>
            </a:endParaRPr>
          </a:p>
        </p:txBody>
      </p:sp>
    </p:spTree>
    <p:extLst>
      <p:ext uri="{BB962C8B-B14F-4D97-AF65-F5344CB8AC3E}">
        <p14:creationId xmlns:p14="http://schemas.microsoft.com/office/powerpoint/2010/main" val="3289210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ChangeArrowheads="1"/>
          </p:cNvSpPr>
          <p:nvPr/>
        </p:nvSpPr>
        <p:spPr bwMode="auto">
          <a:xfrm>
            <a:off x="838200" y="4495800"/>
            <a:ext cx="717452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306"/>
            <a:endParaRPr lang="en-US">
              <a:solidFill>
                <a:prstClr val="white"/>
              </a:solidFill>
            </a:endParaRPr>
          </a:p>
        </p:txBody>
      </p:sp>
      <p:sp>
        <p:nvSpPr>
          <p:cNvPr id="340995" name="Rectangle 3"/>
          <p:cNvSpPr>
            <a:spLocks noGrp="1" noChangeArrowheads="1"/>
          </p:cNvSpPr>
          <p:nvPr>
            <p:ph type="title"/>
          </p:nvPr>
        </p:nvSpPr>
        <p:spPr>
          <a:noFill/>
          <a:ln/>
        </p:spPr>
        <p:txBody>
          <a:bodyPr/>
          <a:lstStyle/>
          <a:p>
            <a:pPr algn="ctr">
              <a:lnSpc>
                <a:spcPct val="88000"/>
              </a:lnSpc>
            </a:pPr>
            <a:r>
              <a:rPr lang="en-GB" sz="3600">
                <a:latin typeface="Arial" charset="0"/>
              </a:rPr>
              <a:t>Contents</a:t>
            </a:r>
          </a:p>
        </p:txBody>
      </p:sp>
      <p:sp>
        <p:nvSpPr>
          <p:cNvPr id="340996" name="Rectangle 4"/>
          <p:cNvSpPr>
            <a:spLocks noGrp="1" noChangeArrowheads="1"/>
          </p:cNvSpPr>
          <p:nvPr>
            <p:ph type="body" idx="1"/>
          </p:nvPr>
        </p:nvSpPr>
        <p:spPr>
          <a:xfrm>
            <a:off x="530352" y="2935958"/>
            <a:ext cx="7772400" cy="3067506"/>
          </a:xfrm>
          <a:noFill/>
          <a:ln/>
        </p:spPr>
        <p:txBody>
          <a:bodyPr lIns="63500" tIns="25400" rIns="63500" bIns="25400">
            <a:spAutoFit/>
          </a:bodyPr>
          <a:lstStyle/>
          <a:p>
            <a:pPr algn="ctr"/>
            <a:r>
              <a:rPr lang="en-US" sz="2800" b="1">
                <a:effectLst>
                  <a:outerShdw blurRad="38100" dist="38100" dir="2700000" algn="tl">
                    <a:srgbClr val="000000">
                      <a:alpha val="43137"/>
                    </a:srgbClr>
                  </a:outerShdw>
                </a:effectLst>
              </a:rPr>
              <a:t>Dynamic techniques</a:t>
            </a:r>
          </a:p>
          <a:p>
            <a:pPr algn="ctr"/>
            <a:r>
              <a:rPr lang="en-US" sz="2800" b="1">
                <a:effectLst>
                  <a:outerShdw blurRad="38100" dist="38100" dir="2700000" algn="tl">
                    <a:srgbClr val="000000">
                      <a:alpha val="43137"/>
                    </a:srgbClr>
                  </a:outerShdw>
                </a:effectLst>
              </a:rPr>
              <a:t>Test condition – Test case – Test procedure</a:t>
            </a:r>
          </a:p>
          <a:p>
            <a:pPr algn="ctr"/>
            <a:r>
              <a:rPr lang="en-US" sz="2800" b="1">
                <a:effectLst>
                  <a:outerShdw blurRad="38100" dist="38100" dir="2700000" algn="tl">
                    <a:srgbClr val="000000">
                      <a:alpha val="43137"/>
                    </a:srgbClr>
                  </a:outerShdw>
                </a:effectLst>
              </a:rPr>
              <a:t>Black-box techniques</a:t>
            </a:r>
          </a:p>
          <a:p>
            <a:pPr algn="ctr"/>
            <a:r>
              <a:rPr lang="en-US" sz="2800" b="1">
                <a:effectLst>
                  <a:outerShdw blurRad="38100" dist="38100" dir="2700000" algn="tl">
                    <a:srgbClr val="000000">
                      <a:alpha val="43137"/>
                    </a:srgbClr>
                  </a:outerShdw>
                </a:effectLst>
              </a:rPr>
              <a:t>White-box techniques</a:t>
            </a:r>
          </a:p>
          <a:p>
            <a:pPr algn="ctr"/>
            <a:r>
              <a:rPr lang="en-US" sz="2800" b="1">
                <a:effectLst>
                  <a:outerShdw blurRad="38100" dist="38100" dir="2700000" algn="tl">
                    <a:srgbClr val="000000">
                      <a:alpha val="43137"/>
                    </a:srgbClr>
                  </a:outerShdw>
                </a:effectLst>
              </a:rPr>
              <a:t>Experience-based techniques</a:t>
            </a:r>
          </a:p>
          <a:p>
            <a:pPr algn="ctr"/>
            <a:r>
              <a:rPr lang="en-US" sz="2800" b="1">
                <a:effectLst>
                  <a:outerShdw blurRad="38100" dist="38100" dir="2700000" algn="tl">
                    <a:srgbClr val="000000">
                      <a:alpha val="43137"/>
                    </a:srgbClr>
                  </a:outerShdw>
                </a:effectLst>
              </a:rPr>
              <a:t>Choosing test techniques</a:t>
            </a:r>
          </a:p>
        </p:txBody>
      </p:sp>
      <p:grpSp>
        <p:nvGrpSpPr>
          <p:cNvPr id="21" name="Group 20"/>
          <p:cNvGrpSpPr/>
          <p:nvPr/>
        </p:nvGrpSpPr>
        <p:grpSpPr>
          <a:xfrm>
            <a:off x="6096000" y="152400"/>
            <a:ext cx="2743200" cy="914400"/>
            <a:chOff x="6096000" y="152400"/>
            <a:chExt cx="2743200" cy="914400"/>
          </a:xfrm>
        </p:grpSpPr>
        <p:sp>
          <p:nvSpPr>
            <p:cNvPr id="22" name="Rectangle 14"/>
            <p:cNvSpPr>
              <a:spLocks noChangeArrowheads="1"/>
            </p:cNvSpPr>
            <p:nvPr/>
          </p:nvSpPr>
          <p:spPr bwMode="auto">
            <a:xfrm>
              <a:off x="609600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1</a:t>
              </a:r>
            </a:p>
          </p:txBody>
        </p:sp>
        <p:sp>
          <p:nvSpPr>
            <p:cNvPr id="23"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2</a:t>
              </a:r>
            </a:p>
          </p:txBody>
        </p:sp>
        <p:sp>
          <p:nvSpPr>
            <p:cNvPr id="24" name="Rectangle 16"/>
            <p:cNvSpPr>
              <a:spLocks noChangeArrowheads="1"/>
            </p:cNvSpPr>
            <p:nvPr/>
          </p:nvSpPr>
          <p:spPr bwMode="auto">
            <a:xfrm>
              <a:off x="719328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3</a:t>
              </a:r>
            </a:p>
          </p:txBody>
        </p:sp>
        <p:sp>
          <p:nvSpPr>
            <p:cNvPr id="25"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26" name="Rectangle 18"/>
            <p:cNvSpPr>
              <a:spLocks noChangeArrowheads="1"/>
            </p:cNvSpPr>
            <p:nvPr/>
          </p:nvSpPr>
          <p:spPr bwMode="auto">
            <a:xfrm>
              <a:off x="6644640" y="6096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b="1">
                  <a:solidFill>
                    <a:srgbClr val="001412"/>
                  </a:solidFill>
                </a:rPr>
                <a:t>7</a:t>
              </a:r>
            </a:p>
          </p:txBody>
        </p:sp>
        <p:sp>
          <p:nvSpPr>
            <p:cNvPr id="27"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28"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29"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30"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p>
          </p:txBody>
        </p:sp>
        <p:sp>
          <p:nvSpPr>
            <p:cNvPr id="31"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Tree>
    <p:extLst>
      <p:ext uri="{BB962C8B-B14F-4D97-AF65-F5344CB8AC3E}">
        <p14:creationId xmlns:p14="http://schemas.microsoft.com/office/powerpoint/2010/main" val="26985685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09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White-box techniques</a:t>
            </a:r>
          </a:p>
        </p:txBody>
      </p:sp>
      <p:sp>
        <p:nvSpPr>
          <p:cNvPr id="3" name="Content Placeholder 2"/>
          <p:cNvSpPr>
            <a:spLocks noGrp="1"/>
          </p:cNvSpPr>
          <p:nvPr>
            <p:ph idx="1"/>
          </p:nvPr>
        </p:nvSpPr>
        <p:spPr/>
        <p:txBody>
          <a:bodyPr/>
          <a:lstStyle/>
          <a:p>
            <a:r>
              <a:rPr lang="en-US"/>
              <a:t>Structure-based approach  </a:t>
            </a:r>
          </a:p>
          <a:p>
            <a:pPr lvl="1"/>
            <a:r>
              <a:rPr lang="en-US"/>
              <a:t>based on the internal structure of a component or system</a:t>
            </a:r>
          </a:p>
          <a:p>
            <a:pPr lvl="1"/>
            <a:r>
              <a:rPr lang="en-US"/>
              <a:t>also called glass-box techniques</a:t>
            </a:r>
          </a:p>
        </p:txBody>
      </p:sp>
      <p:sp>
        <p:nvSpPr>
          <p:cNvPr id="7" name="Slide Number Placeholder 6"/>
          <p:cNvSpPr>
            <a:spLocks noGrp="1"/>
          </p:cNvSpPr>
          <p:nvPr>
            <p:ph type="sldNum" sz="quarter" idx="12"/>
          </p:nvPr>
        </p:nvSpPr>
        <p:spPr/>
        <p:txBody>
          <a:bodyPr/>
          <a:lstStyle/>
          <a:p>
            <a:r>
              <a:rPr lang="en-US"/>
              <a:t>Slide </a:t>
            </a:r>
            <a:fld id="{3900DC13-0C25-439E-AA75-E5DAAC4C3713}" type="slidenum">
              <a:rPr lang="en-US" smtClean="0"/>
              <a:pPr/>
              <a:t>4</a:t>
            </a:fld>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4650" y="3200400"/>
            <a:ext cx="219075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57200" y="3200400"/>
            <a:ext cx="6172200" cy="2569934"/>
          </a:xfrm>
          <a:prstGeom prst="rect">
            <a:avLst/>
          </a:prstGeom>
        </p:spPr>
        <p:txBody>
          <a:bodyPr wrap="square">
            <a:spAutoFit/>
          </a:bodyPr>
          <a:lstStyle/>
          <a:p>
            <a:pPr marL="274320" lvl="0" indent="-274320">
              <a:spcBef>
                <a:spcPts val="600"/>
              </a:spcBef>
              <a:buClr>
                <a:srgbClr val="0BD0D9"/>
              </a:buClr>
              <a:buSzPct val="95000"/>
              <a:buFont typeface="Wingdings 2"/>
              <a:buChar char=""/>
            </a:pPr>
            <a:r>
              <a:rPr lang="en-US" sz="2600">
                <a:solidFill>
                  <a:prstClr val="black"/>
                </a:solidFill>
                <a:latin typeface="Calibri"/>
              </a:rPr>
              <a:t>What we may be interested in structures? </a:t>
            </a:r>
          </a:p>
          <a:p>
            <a:pPr marL="640080" lvl="1" indent="-246888">
              <a:spcBef>
                <a:spcPts val="600"/>
              </a:spcBef>
              <a:buClr>
                <a:srgbClr val="0F6FC6"/>
              </a:buClr>
              <a:buSzPct val="85000"/>
              <a:buFont typeface="Wingdings 2"/>
              <a:buChar char=""/>
            </a:pPr>
            <a:r>
              <a:rPr lang="en-US" sz="2400">
                <a:solidFill>
                  <a:prstClr val="black"/>
                </a:solidFill>
                <a:latin typeface="Calibri"/>
              </a:rPr>
              <a:t>component level: program structures </a:t>
            </a:r>
          </a:p>
          <a:p>
            <a:pPr marL="640080" lvl="1" indent="-246888">
              <a:spcBef>
                <a:spcPts val="600"/>
              </a:spcBef>
              <a:buClr>
                <a:srgbClr val="0F6FC6"/>
              </a:buClr>
              <a:buSzPct val="85000"/>
              <a:buFont typeface="Wingdings 2"/>
              <a:buChar char=""/>
            </a:pPr>
            <a:r>
              <a:rPr lang="en-US" sz="2400">
                <a:solidFill>
                  <a:prstClr val="black"/>
                </a:solidFill>
                <a:latin typeface="Calibri"/>
              </a:rPr>
              <a:t>integration level: the way components interact with others </a:t>
            </a:r>
          </a:p>
          <a:p>
            <a:pPr marL="640080" lvl="1" indent="-246888">
              <a:spcBef>
                <a:spcPts val="600"/>
              </a:spcBef>
              <a:buClr>
                <a:srgbClr val="0F6FC6"/>
              </a:buClr>
              <a:buSzPct val="85000"/>
              <a:buFont typeface="Wingdings 2"/>
              <a:buChar char=""/>
            </a:pPr>
            <a:r>
              <a:rPr lang="en-US" sz="2400">
                <a:solidFill>
                  <a:prstClr val="black"/>
                </a:solidFill>
                <a:latin typeface="Calibri"/>
              </a:rPr>
              <a:t>system level: how user will interact with the system</a:t>
            </a:r>
          </a:p>
        </p:txBody>
      </p:sp>
    </p:spTree>
    <p:extLst>
      <p:ext uri="{BB962C8B-B14F-4D97-AF65-F5344CB8AC3E}">
        <p14:creationId xmlns:p14="http://schemas.microsoft.com/office/powerpoint/2010/main" val="3598020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White-box techniques</a:t>
            </a:r>
          </a:p>
        </p:txBody>
      </p:sp>
      <p:sp>
        <p:nvSpPr>
          <p:cNvPr id="3" name="Content Placeholder 2"/>
          <p:cNvSpPr>
            <a:spLocks noGrp="1"/>
          </p:cNvSpPr>
          <p:nvPr>
            <p:ph idx="1"/>
          </p:nvPr>
        </p:nvSpPr>
        <p:spPr/>
        <p:txBody>
          <a:bodyPr/>
          <a:lstStyle/>
          <a:p>
            <a:r>
              <a:rPr lang="en-US"/>
              <a:t>Some techniques</a:t>
            </a:r>
          </a:p>
          <a:p>
            <a:pPr lvl="1"/>
            <a:r>
              <a:rPr lang="en-US"/>
              <a:t>control flow testing</a:t>
            </a:r>
          </a:p>
          <a:p>
            <a:pPr lvl="2"/>
            <a:r>
              <a:rPr lang="en-US"/>
              <a:t>statement testing </a:t>
            </a:r>
          </a:p>
          <a:p>
            <a:pPr lvl="2"/>
            <a:r>
              <a:rPr lang="en-US"/>
              <a:t>decision testing</a:t>
            </a:r>
          </a:p>
          <a:p>
            <a:pPr lvl="2"/>
            <a:r>
              <a:rPr lang="en-US"/>
              <a:t>condition testing</a:t>
            </a:r>
          </a:p>
          <a:p>
            <a:pPr lvl="2"/>
            <a:r>
              <a:rPr lang="en-US"/>
              <a:t>decision/condition testing</a:t>
            </a:r>
          </a:p>
          <a:p>
            <a:pPr lvl="2"/>
            <a:r>
              <a:rPr lang="en-US"/>
              <a:t>multiple condition </a:t>
            </a:r>
            <a:r>
              <a:rPr lang="en-GB"/>
              <a:t>testing</a:t>
            </a:r>
            <a:endParaRPr lang="en-US"/>
          </a:p>
          <a:p>
            <a:pPr lvl="2"/>
            <a:r>
              <a:rPr lang="en-GB"/>
              <a:t>path testing</a:t>
            </a:r>
          </a:p>
          <a:p>
            <a:pPr lvl="1"/>
            <a:r>
              <a:rPr lang="en-US"/>
              <a:t>data flow testing</a:t>
            </a:r>
            <a:endParaRPr lang="en-GB"/>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5</a:t>
            </a:fld>
            <a:endParaRPr lang="en-US"/>
          </a:p>
        </p:txBody>
      </p:sp>
    </p:spTree>
    <p:extLst>
      <p:ext uri="{BB962C8B-B14F-4D97-AF65-F5344CB8AC3E}">
        <p14:creationId xmlns:p14="http://schemas.microsoft.com/office/powerpoint/2010/main" val="2201421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Control-flow graph</a:t>
            </a:r>
          </a:p>
        </p:txBody>
      </p:sp>
      <p:sp>
        <p:nvSpPr>
          <p:cNvPr id="3" name="Content Placeholder 2"/>
          <p:cNvSpPr>
            <a:spLocks noGrp="1"/>
          </p:cNvSpPr>
          <p:nvPr>
            <p:ph idx="1"/>
          </p:nvPr>
        </p:nvSpPr>
        <p:spPr/>
        <p:txBody>
          <a:bodyPr/>
          <a:lstStyle/>
          <a:p>
            <a:r>
              <a:rPr lang="en-US"/>
              <a:t>Flow graphs for control structures</a:t>
            </a:r>
          </a:p>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6</a:t>
            </a:fld>
            <a:endParaRPr lang="en-US"/>
          </a:p>
        </p:txBody>
      </p:sp>
      <p:pic>
        <p:nvPicPr>
          <p:cNvPr id="6" name="Picture 5"/>
          <p:cNvPicPr>
            <a:picLocks noChangeAspect="1"/>
          </p:cNvPicPr>
          <p:nvPr/>
        </p:nvPicPr>
        <p:blipFill>
          <a:blip r:embed="rId3"/>
          <a:stretch>
            <a:fillRect/>
          </a:stretch>
        </p:blipFill>
        <p:spPr>
          <a:xfrm>
            <a:off x="163575" y="2257568"/>
            <a:ext cx="8980425" cy="3340718"/>
          </a:xfrm>
          <a:prstGeom prst="rect">
            <a:avLst/>
          </a:prstGeom>
        </p:spPr>
      </p:pic>
    </p:spTree>
    <p:extLst>
      <p:ext uri="{BB962C8B-B14F-4D97-AF65-F5344CB8AC3E}">
        <p14:creationId xmlns:p14="http://schemas.microsoft.com/office/powerpoint/2010/main" val="2600187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Control-flow graph - Example</a:t>
            </a:r>
          </a:p>
        </p:txBody>
      </p:sp>
      <p:sp>
        <p:nvSpPr>
          <p:cNvPr id="13" name="Content Placeholder 5"/>
          <p:cNvSpPr>
            <a:spLocks noGrp="1"/>
          </p:cNvSpPr>
          <p:nvPr>
            <p:ph idx="1"/>
          </p:nvPr>
        </p:nvSpPr>
        <p:spPr>
          <a:xfrm>
            <a:off x="420832" y="3276600"/>
            <a:ext cx="4648200" cy="1447800"/>
          </a:xfrm>
        </p:spPr>
        <p:txBody>
          <a:bodyPr>
            <a:normAutofit fontScale="92500"/>
          </a:bodyPr>
          <a:lstStyle/>
          <a:p>
            <a:r>
              <a:rPr lang="en-US"/>
              <a:t>Two test cases: </a:t>
            </a:r>
          </a:p>
          <a:p>
            <a:pPr lvl="1"/>
            <a:r>
              <a:rPr lang="en-US"/>
              <a:t>one between £1,000 and £10,000</a:t>
            </a:r>
          </a:p>
          <a:p>
            <a:pPr lvl="1"/>
            <a:r>
              <a:rPr lang="en-US"/>
              <a:t>one  higher than £10,000</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8136" y="1600200"/>
            <a:ext cx="3976751"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600200"/>
            <a:ext cx="5178136"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7</a:t>
            </a:fld>
            <a:endParaRPr lang="en-US"/>
          </a:p>
        </p:txBody>
      </p:sp>
    </p:spTree>
    <p:extLst>
      <p:ext uri="{BB962C8B-B14F-4D97-AF65-F5344CB8AC3E}">
        <p14:creationId xmlns:p14="http://schemas.microsoft.com/office/powerpoint/2010/main" val="4117820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fade">
                                      <p:cBhvr>
                                        <p:cTn id="7" dur="500"/>
                                        <p:tgtEl>
                                          <p:spTgt spid="92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Statement testing (Level 1)</a:t>
            </a:r>
          </a:p>
        </p:txBody>
      </p:sp>
      <mc:AlternateContent xmlns:mc="http://schemas.openxmlformats.org/markup-compatibility/2006">
        <mc:Choice xmlns:a14="http://schemas.microsoft.com/office/drawing/2010/main" Requires="a14">
          <p:sp>
            <p:nvSpPr>
              <p:cNvPr id="8" name="Content Placeholder 7"/>
              <p:cNvSpPr>
                <a:spLocks noGrp="1"/>
              </p:cNvSpPr>
              <p:nvPr>
                <p:ph idx="1"/>
              </p:nvPr>
            </p:nvSpPr>
            <p:spPr>
              <a:xfrm>
                <a:off x="457200" y="1295400"/>
                <a:ext cx="7711007" cy="5257800"/>
              </a:xfrm>
            </p:spPr>
            <p:txBody>
              <a:bodyPr>
                <a:normAutofit/>
              </a:bodyPr>
              <a:lstStyle/>
              <a:p>
                <a:r>
                  <a:rPr lang="en-US" i="1" dirty="0"/>
                  <a:t>A test design technique in which test cases are designed to execute statements </a:t>
                </a:r>
                <a:r>
                  <a:rPr lang="en-US" dirty="0"/>
                  <a:t>[ISTQB Glossary]</a:t>
                </a:r>
              </a:p>
              <a:p>
                <a:r>
                  <a:rPr lang="en-US" dirty="0"/>
                  <a:t>Statement coverage</a:t>
                </a:r>
              </a:p>
              <a:p>
                <a:pPr lvl="1"/>
                <a:r>
                  <a:rPr lang="en-US" dirty="0"/>
                  <a:t>The percentage of executable statements exercised by a test suite</a:t>
                </a:r>
              </a:p>
              <a:p>
                <a:pPr lvl="2"/>
                <a:r>
                  <a:rPr lang="en-US" dirty="0"/>
                  <a:t>= </a:t>
                </a:r>
                <a14:m>
                  <m:oMath xmlns:m="http://schemas.openxmlformats.org/officeDocument/2006/math">
                    <m:f>
                      <m:fPr>
                        <m:ctrlPr>
                          <a:rPr lang="en-US" i="1" smtClean="0">
                            <a:latin typeface="Cambria Math" panose="02040503050406030204" pitchFamily="18" charset="0"/>
                          </a:rPr>
                        </m:ctrlPr>
                      </m:fPr>
                      <m:num>
                        <m:r>
                          <a:rPr lang="en-US">
                            <a:latin typeface="Cambria Math"/>
                          </a:rPr>
                          <m:t>𝑁𝑢𝑚𝑏𝑒𝑟</m:t>
                        </m:r>
                        <m:r>
                          <a:rPr lang="en-US">
                            <a:latin typeface="Cambria Math"/>
                          </a:rPr>
                          <m:t> </m:t>
                        </m:r>
                        <m:r>
                          <a:rPr lang="en-US">
                            <a:latin typeface="Cambria Math"/>
                          </a:rPr>
                          <m:t>𝑜𝑓</m:t>
                        </m:r>
                        <m:r>
                          <a:rPr lang="en-US">
                            <a:latin typeface="Cambria Math"/>
                          </a:rPr>
                          <m:t> </m:t>
                        </m:r>
                        <m:r>
                          <a:rPr lang="en-US">
                            <a:latin typeface="Cambria Math"/>
                          </a:rPr>
                          <m:t>𝑠𝑡𝑎𝑡𝑒𝑚𝑒𝑛𝑡𝑠</m:t>
                        </m:r>
                        <m:r>
                          <a:rPr lang="en-US">
                            <a:latin typeface="Cambria Math"/>
                          </a:rPr>
                          <m:t> </m:t>
                        </m:r>
                        <m:r>
                          <a:rPr lang="en-US">
                            <a:latin typeface="Cambria Math"/>
                          </a:rPr>
                          <m:t>𝑒𝑥𝑒𝑟𝑐𝑖𝑠𝑒𝑑</m:t>
                        </m:r>
                      </m:num>
                      <m:den>
                        <m:r>
                          <a:rPr lang="en-US">
                            <a:latin typeface="Cambria Math"/>
                          </a:rPr>
                          <m:t>𝑇𝑜𝑡𝑎𝑙</m:t>
                        </m:r>
                        <m:r>
                          <a:rPr lang="en-US">
                            <a:latin typeface="Cambria Math"/>
                          </a:rPr>
                          <m:t> </m:t>
                        </m:r>
                        <m:r>
                          <a:rPr lang="en-US">
                            <a:latin typeface="Cambria Math"/>
                          </a:rPr>
                          <m:t>𝑛𝑢𝑚𝑏𝑒𝑟</m:t>
                        </m:r>
                        <m:r>
                          <a:rPr lang="en-US">
                            <a:latin typeface="Cambria Math"/>
                          </a:rPr>
                          <m:t> </m:t>
                        </m:r>
                        <m:r>
                          <a:rPr lang="en-US">
                            <a:latin typeface="Cambria Math"/>
                          </a:rPr>
                          <m:t>𝑜𝑓</m:t>
                        </m:r>
                        <m:r>
                          <a:rPr lang="en-US">
                            <a:latin typeface="Cambria Math"/>
                          </a:rPr>
                          <m:t> </m:t>
                        </m:r>
                        <m:r>
                          <a:rPr lang="en-US">
                            <a:latin typeface="Cambria Math"/>
                          </a:rPr>
                          <m:t>𝑠𝑡𝑎𝑡𝑒𝑚𝑒𝑛𝑡𝑠</m:t>
                        </m:r>
                      </m:den>
                    </m:f>
                    <m:r>
                      <a:rPr lang="en-US" smtClean="0">
                        <a:latin typeface="Cambria Math"/>
                      </a:rPr>
                      <m:t>𝑥</m:t>
                    </m:r>
                    <m:r>
                      <a:rPr lang="en-US" smtClean="0">
                        <a:latin typeface="Cambria Math"/>
                      </a:rPr>
                      <m:t>100%</m:t>
                    </m:r>
                  </m:oMath>
                </a14:m>
                <a:endParaRPr lang="en-US" dirty="0"/>
              </a:p>
              <a:p>
                <a:pPr lvl="1"/>
                <a:r>
                  <a:rPr lang="en-US" dirty="0"/>
                  <a:t>Black-box testing: only 60% to 75% statement coverage</a:t>
                </a:r>
              </a:p>
              <a:p>
                <a:pPr lvl="1"/>
                <a:r>
                  <a:rPr lang="en-US" dirty="0"/>
                  <a:t>Typical ad hoc testing achieves 30%</a:t>
                </a:r>
              </a:p>
              <a:p>
                <a:pPr lvl="0"/>
                <a:r>
                  <a:rPr lang="en-US" dirty="0"/>
                  <a:t>How to get 100% statement coverage? </a:t>
                </a:r>
              </a:p>
              <a:p>
                <a:pPr lvl="1"/>
                <a:r>
                  <a:rPr lang="en-US" dirty="0"/>
                  <a:t>Find out the shortest number of paths which all the nodes will be covered</a:t>
                </a:r>
              </a:p>
            </p:txBody>
          </p:sp>
        </mc:Choice>
        <mc:Fallback>
          <p:sp>
            <p:nvSpPr>
              <p:cNvPr id="8" name="Content Placeholder 7"/>
              <p:cNvSpPr>
                <a:spLocks noGrp="1" noRot="1" noChangeAspect="1" noMove="1" noResize="1" noEditPoints="1" noAdjustHandles="1" noChangeArrowheads="1" noChangeShapeType="1" noTextEdit="1"/>
              </p:cNvSpPr>
              <p:nvPr>
                <p:ph idx="1"/>
              </p:nvPr>
            </p:nvSpPr>
            <p:spPr>
              <a:xfrm>
                <a:off x="457200" y="1295400"/>
                <a:ext cx="7711007" cy="5257800"/>
              </a:xfrm>
              <a:blipFill>
                <a:blip r:embed="rId3"/>
                <a:stretch>
                  <a:fillRect l="-949" t="-1044" r="-158"/>
                </a:stretch>
              </a:blipFill>
            </p:spPr>
            <p:txBody>
              <a:bodyPr/>
              <a:lstStyle/>
              <a:p>
                <a:r>
                  <a:rPr lang="en-US">
                    <a:noFill/>
                  </a:rPr>
                  <a:t> </a:t>
                </a:r>
              </a:p>
            </p:txBody>
          </p:sp>
        </mc:Fallback>
      </mc:AlternateContent>
      <p:sp>
        <p:nvSpPr>
          <p:cNvPr id="20" name="Slide Number Placeholder 19"/>
          <p:cNvSpPr>
            <a:spLocks noGrp="1"/>
          </p:cNvSpPr>
          <p:nvPr>
            <p:ph type="sldNum" sz="quarter" idx="12"/>
          </p:nvPr>
        </p:nvSpPr>
        <p:spPr/>
        <p:txBody>
          <a:bodyPr/>
          <a:lstStyle/>
          <a:p>
            <a:r>
              <a:rPr lang="en-US"/>
              <a:t>Slide </a:t>
            </a:r>
            <a:fld id="{3900DC13-0C25-439E-AA75-E5DAAC4C3713}" type="slidenum">
              <a:rPr lang="en-US" smtClean="0"/>
              <a:pPr/>
              <a:t>8</a:t>
            </a:fld>
            <a:endParaRPr lang="en-US"/>
          </a:p>
        </p:txBody>
      </p:sp>
      <p:grpSp>
        <p:nvGrpSpPr>
          <p:cNvPr id="4" name="Group 6"/>
          <p:cNvGrpSpPr>
            <a:grpSpLocks/>
          </p:cNvGrpSpPr>
          <p:nvPr/>
        </p:nvGrpSpPr>
        <p:grpSpPr bwMode="auto">
          <a:xfrm>
            <a:off x="7924805" y="1905000"/>
            <a:ext cx="1142554" cy="3736975"/>
            <a:chOff x="4903" y="929"/>
            <a:chExt cx="713" cy="2244"/>
          </a:xfrm>
        </p:grpSpPr>
        <p:sp>
          <p:nvSpPr>
            <p:cNvPr id="6" name="Line 7"/>
            <p:cNvSpPr>
              <a:spLocks noChangeShapeType="1"/>
            </p:cNvSpPr>
            <p:nvPr/>
          </p:nvSpPr>
          <p:spPr bwMode="auto">
            <a:xfrm>
              <a:off x="5046" y="1724"/>
              <a:ext cx="565"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8"/>
            <p:cNvSpPr>
              <a:spLocks noChangeShapeType="1"/>
            </p:cNvSpPr>
            <p:nvPr/>
          </p:nvSpPr>
          <p:spPr bwMode="auto">
            <a:xfrm>
              <a:off x="5150" y="1087"/>
              <a:ext cx="0" cy="193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AutoShape 9"/>
            <p:cNvSpPr>
              <a:spLocks noChangeArrowheads="1"/>
            </p:cNvSpPr>
            <p:nvPr/>
          </p:nvSpPr>
          <p:spPr bwMode="auto">
            <a:xfrm>
              <a:off x="4911" y="1480"/>
              <a:ext cx="479" cy="479"/>
            </a:xfrm>
            <a:prstGeom prst="diamond">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Rectangle 10"/>
            <p:cNvSpPr>
              <a:spLocks noChangeArrowheads="1"/>
            </p:cNvSpPr>
            <p:nvPr/>
          </p:nvSpPr>
          <p:spPr bwMode="auto">
            <a:xfrm>
              <a:off x="4903" y="929"/>
              <a:ext cx="495" cy="316"/>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Rectangle 11"/>
            <p:cNvSpPr>
              <a:spLocks noChangeArrowheads="1"/>
            </p:cNvSpPr>
            <p:nvPr/>
          </p:nvSpPr>
          <p:spPr bwMode="auto">
            <a:xfrm>
              <a:off x="4903" y="2177"/>
              <a:ext cx="495" cy="316"/>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Rectangle 12"/>
            <p:cNvSpPr>
              <a:spLocks noChangeArrowheads="1"/>
            </p:cNvSpPr>
            <p:nvPr/>
          </p:nvSpPr>
          <p:spPr bwMode="auto">
            <a:xfrm>
              <a:off x="4903" y="2857"/>
              <a:ext cx="495" cy="316"/>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Line 13"/>
            <p:cNvSpPr>
              <a:spLocks noChangeShapeType="1"/>
            </p:cNvSpPr>
            <p:nvPr/>
          </p:nvSpPr>
          <p:spPr bwMode="auto">
            <a:xfrm>
              <a:off x="5616" y="1735"/>
              <a:ext cx="0" cy="95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Line 14"/>
            <p:cNvSpPr>
              <a:spLocks noChangeShapeType="1"/>
            </p:cNvSpPr>
            <p:nvPr/>
          </p:nvSpPr>
          <p:spPr bwMode="auto">
            <a:xfrm>
              <a:off x="5262" y="2699"/>
              <a:ext cx="354" cy="0"/>
            </a:xfrm>
            <a:prstGeom prst="line">
              <a:avLst/>
            </a:prstGeom>
            <a:noFill/>
            <a:ln w="50800">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5" name="AutoShape 16"/>
          <p:cNvSpPr>
            <a:spLocks noChangeArrowheads="1"/>
          </p:cNvSpPr>
          <p:nvPr/>
        </p:nvSpPr>
        <p:spPr bwMode="auto">
          <a:xfrm>
            <a:off x="7937500" y="2822575"/>
            <a:ext cx="768350" cy="796925"/>
          </a:xfrm>
          <a:prstGeom prst="diamond">
            <a:avLst/>
          </a:prstGeom>
          <a:solidFill>
            <a:srgbClr val="00CC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Rectangle 17"/>
          <p:cNvSpPr>
            <a:spLocks noChangeArrowheads="1"/>
          </p:cNvSpPr>
          <p:nvPr/>
        </p:nvSpPr>
        <p:spPr bwMode="auto">
          <a:xfrm>
            <a:off x="7924800" y="1905000"/>
            <a:ext cx="793750" cy="525463"/>
          </a:xfrm>
          <a:prstGeom prst="rect">
            <a:avLst/>
          </a:prstGeom>
          <a:solidFill>
            <a:srgbClr val="00CC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Rectangle 18"/>
          <p:cNvSpPr>
            <a:spLocks noChangeArrowheads="1"/>
          </p:cNvSpPr>
          <p:nvPr/>
        </p:nvSpPr>
        <p:spPr bwMode="auto">
          <a:xfrm>
            <a:off x="7924800" y="3983038"/>
            <a:ext cx="793750" cy="527050"/>
          </a:xfrm>
          <a:prstGeom prst="rect">
            <a:avLst/>
          </a:prstGeom>
          <a:solidFill>
            <a:srgbClr val="00CC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Rectangle 19"/>
          <p:cNvSpPr>
            <a:spLocks noChangeArrowheads="1"/>
          </p:cNvSpPr>
          <p:nvPr/>
        </p:nvSpPr>
        <p:spPr bwMode="auto">
          <a:xfrm>
            <a:off x="7924800" y="5114925"/>
            <a:ext cx="793750" cy="527050"/>
          </a:xfrm>
          <a:prstGeom prst="rect">
            <a:avLst/>
          </a:prstGeom>
          <a:solidFill>
            <a:srgbClr val="00CC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Text Box 21"/>
          <p:cNvSpPr txBox="1">
            <a:spLocks noChangeArrowheads="1"/>
          </p:cNvSpPr>
          <p:nvPr/>
        </p:nvSpPr>
        <p:spPr bwMode="auto">
          <a:xfrm>
            <a:off x="8150225" y="2955925"/>
            <a:ext cx="35718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708" tIns="46854" rIns="93708" bIns="46854">
            <a:spAutoFit/>
          </a:bodyPr>
          <a:lstStyle>
            <a:lvl1pPr defTabSz="936625">
              <a:defRPr sz="2800">
                <a:solidFill>
                  <a:schemeClr val="tx1"/>
                </a:solidFill>
                <a:latin typeface="Arial" charset="0"/>
              </a:defRPr>
            </a:lvl1pPr>
            <a:lvl2pPr marL="742950" indent="-285750" defTabSz="936625">
              <a:defRPr sz="2800">
                <a:solidFill>
                  <a:schemeClr val="tx1"/>
                </a:solidFill>
                <a:latin typeface="Arial" charset="0"/>
              </a:defRPr>
            </a:lvl2pPr>
            <a:lvl3pPr marL="1143000" indent="-228600" defTabSz="936625">
              <a:defRPr sz="2800">
                <a:solidFill>
                  <a:schemeClr val="tx1"/>
                </a:solidFill>
                <a:latin typeface="Arial" charset="0"/>
              </a:defRPr>
            </a:lvl3pPr>
            <a:lvl4pPr marL="1600200" indent="-228600" defTabSz="936625">
              <a:defRPr sz="2800">
                <a:solidFill>
                  <a:schemeClr val="tx1"/>
                </a:solidFill>
                <a:latin typeface="Arial" charset="0"/>
              </a:defRPr>
            </a:lvl4pPr>
            <a:lvl5pPr marL="2057400" indent="-228600" defTabSz="936625">
              <a:defRPr sz="2800">
                <a:solidFill>
                  <a:schemeClr val="tx1"/>
                </a:solidFill>
                <a:latin typeface="Arial" charset="0"/>
              </a:defRPr>
            </a:lvl5pPr>
            <a:lvl6pPr marL="2514600" indent="-228600" defTabSz="936625" eaLnBrk="0" fontAlgn="base" hangingPunct="0">
              <a:spcBef>
                <a:spcPct val="0"/>
              </a:spcBef>
              <a:spcAft>
                <a:spcPct val="0"/>
              </a:spcAft>
              <a:defRPr sz="2800">
                <a:solidFill>
                  <a:schemeClr val="tx1"/>
                </a:solidFill>
                <a:latin typeface="Arial" charset="0"/>
              </a:defRPr>
            </a:lvl6pPr>
            <a:lvl7pPr marL="2971800" indent="-228600" defTabSz="936625" eaLnBrk="0" fontAlgn="base" hangingPunct="0">
              <a:spcBef>
                <a:spcPct val="0"/>
              </a:spcBef>
              <a:spcAft>
                <a:spcPct val="0"/>
              </a:spcAft>
              <a:defRPr sz="2800">
                <a:solidFill>
                  <a:schemeClr val="tx1"/>
                </a:solidFill>
                <a:latin typeface="Arial" charset="0"/>
              </a:defRPr>
            </a:lvl7pPr>
            <a:lvl8pPr marL="3429000" indent="-228600" defTabSz="936625" eaLnBrk="0" fontAlgn="base" hangingPunct="0">
              <a:spcBef>
                <a:spcPct val="0"/>
              </a:spcBef>
              <a:spcAft>
                <a:spcPct val="0"/>
              </a:spcAft>
              <a:defRPr sz="2800">
                <a:solidFill>
                  <a:schemeClr val="tx1"/>
                </a:solidFill>
                <a:latin typeface="Arial" charset="0"/>
              </a:defRPr>
            </a:lvl8pPr>
            <a:lvl9pPr marL="3886200" indent="-228600" defTabSz="936625" eaLnBrk="0" fontAlgn="base" hangingPunct="0">
              <a:spcBef>
                <a:spcPct val="0"/>
              </a:spcBef>
              <a:spcAft>
                <a:spcPct val="0"/>
              </a:spcAft>
              <a:defRPr sz="2800">
                <a:solidFill>
                  <a:schemeClr val="tx1"/>
                </a:solidFill>
                <a:latin typeface="Arial" charset="0"/>
              </a:defRPr>
            </a:lvl9pPr>
          </a:lstStyle>
          <a:p>
            <a:pPr algn="ctr"/>
            <a:r>
              <a:rPr lang="en-GB" sz="2500">
                <a:solidFill>
                  <a:srgbClr val="000000"/>
                </a:solidFill>
              </a:rPr>
              <a:t>?</a:t>
            </a:r>
          </a:p>
        </p:txBody>
      </p:sp>
    </p:spTree>
    <p:extLst>
      <p:ext uri="{BB962C8B-B14F-4D97-AF65-F5344CB8AC3E}">
        <p14:creationId xmlns:p14="http://schemas.microsoft.com/office/powerpoint/2010/main" val="3062198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9" name="Rectangle 3"/>
          <p:cNvSpPr>
            <a:spLocks noChangeArrowheads="1"/>
          </p:cNvSpPr>
          <p:nvPr/>
        </p:nvSpPr>
        <p:spPr bwMode="hidden">
          <a:xfrm>
            <a:off x="1625112" y="1985963"/>
            <a:ext cx="2129204" cy="452437"/>
          </a:xfrm>
          <a:prstGeom prst="rect">
            <a:avLst/>
          </a:prstGeom>
          <a:solidFill>
            <a:schemeClr val="accent3">
              <a:lumMod val="40000"/>
              <a:lumOff val="60000"/>
            </a:schemeClr>
          </a:solidFill>
          <a:ln w="12700">
            <a:solidFill>
              <a:schemeClr val="tx1"/>
            </a:solidFill>
            <a:miter lim="800000"/>
            <a:headEnd type="none" w="sm" len="sm"/>
            <a:tailEnd type="none" w="sm" len="sm"/>
          </a:ln>
          <a:effectLst/>
        </p:spPr>
        <p:txBody>
          <a:bodyPr wrap="none" anchor="ctr"/>
          <a:lstStyle/>
          <a:p>
            <a:endParaRPr lang="en-US"/>
          </a:p>
        </p:txBody>
      </p:sp>
      <p:sp>
        <p:nvSpPr>
          <p:cNvPr id="239620" name="Rectangle 4"/>
          <p:cNvSpPr>
            <a:spLocks noChangeArrowheads="1"/>
          </p:cNvSpPr>
          <p:nvPr/>
        </p:nvSpPr>
        <p:spPr bwMode="hidden">
          <a:xfrm>
            <a:off x="1625112" y="2405064"/>
            <a:ext cx="2129204" cy="452437"/>
          </a:xfrm>
          <a:prstGeom prst="rect">
            <a:avLst/>
          </a:prstGeom>
          <a:solidFill>
            <a:schemeClr val="accent3">
              <a:lumMod val="40000"/>
              <a:lumOff val="60000"/>
            </a:schemeClr>
          </a:solidFill>
          <a:ln w="12700">
            <a:solidFill>
              <a:schemeClr val="tx1"/>
            </a:solidFill>
            <a:miter lim="800000"/>
            <a:headEnd type="none" w="sm" len="sm"/>
            <a:tailEnd type="none" w="sm" len="sm"/>
          </a:ln>
          <a:effectLst/>
        </p:spPr>
        <p:txBody>
          <a:bodyPr wrap="none" anchor="ctr"/>
          <a:lstStyle/>
          <a:p>
            <a:endParaRPr lang="en-US"/>
          </a:p>
        </p:txBody>
      </p:sp>
      <p:sp>
        <p:nvSpPr>
          <p:cNvPr id="239621" name="Rectangle 5"/>
          <p:cNvSpPr>
            <a:spLocks noChangeArrowheads="1"/>
          </p:cNvSpPr>
          <p:nvPr/>
        </p:nvSpPr>
        <p:spPr bwMode="hidden">
          <a:xfrm>
            <a:off x="1625112" y="2863851"/>
            <a:ext cx="2129204" cy="454025"/>
          </a:xfrm>
          <a:prstGeom prst="rect">
            <a:avLst/>
          </a:prstGeom>
          <a:solidFill>
            <a:schemeClr val="accent3">
              <a:lumMod val="40000"/>
              <a:lumOff val="60000"/>
            </a:schemeClr>
          </a:solidFill>
          <a:ln w="12700">
            <a:solidFill>
              <a:schemeClr val="tx1"/>
            </a:solidFill>
            <a:miter lim="800000"/>
            <a:headEnd type="none" w="sm" len="sm"/>
            <a:tailEnd type="none" w="sm" len="sm"/>
          </a:ln>
          <a:effectLst/>
        </p:spPr>
        <p:txBody>
          <a:bodyPr wrap="none" anchor="ctr"/>
          <a:lstStyle/>
          <a:p>
            <a:endParaRPr lang="en-US"/>
          </a:p>
        </p:txBody>
      </p:sp>
      <p:sp>
        <p:nvSpPr>
          <p:cNvPr id="239622" name="Rectangle 6"/>
          <p:cNvSpPr>
            <a:spLocks noChangeArrowheads="1"/>
          </p:cNvSpPr>
          <p:nvPr/>
        </p:nvSpPr>
        <p:spPr bwMode="hidden">
          <a:xfrm>
            <a:off x="1625112" y="3322639"/>
            <a:ext cx="2129204" cy="452437"/>
          </a:xfrm>
          <a:prstGeom prst="rect">
            <a:avLst/>
          </a:prstGeom>
          <a:solidFill>
            <a:schemeClr val="accent3">
              <a:lumMod val="40000"/>
              <a:lumOff val="60000"/>
            </a:schemeClr>
          </a:solidFill>
          <a:ln w="12700">
            <a:solidFill>
              <a:schemeClr val="tx1"/>
            </a:solidFill>
            <a:miter lim="800000"/>
            <a:headEnd type="none" w="sm" len="sm"/>
            <a:tailEnd type="none" w="sm" len="sm"/>
          </a:ln>
          <a:effectLst/>
        </p:spPr>
        <p:txBody>
          <a:bodyPr wrap="none" anchor="ctr"/>
          <a:lstStyle/>
          <a:p>
            <a:endParaRPr lang="en-US"/>
          </a:p>
        </p:txBody>
      </p:sp>
      <p:sp>
        <p:nvSpPr>
          <p:cNvPr id="239623" name="Rectangle 7"/>
          <p:cNvSpPr>
            <a:spLocks noChangeArrowheads="1"/>
          </p:cNvSpPr>
          <p:nvPr/>
        </p:nvSpPr>
        <p:spPr bwMode="hidden">
          <a:xfrm>
            <a:off x="1625112" y="3781425"/>
            <a:ext cx="2129204" cy="452438"/>
          </a:xfrm>
          <a:prstGeom prst="rect">
            <a:avLst/>
          </a:prstGeom>
          <a:solidFill>
            <a:schemeClr val="accent3">
              <a:lumMod val="40000"/>
              <a:lumOff val="60000"/>
            </a:schemeClr>
          </a:solidFill>
          <a:ln w="12700">
            <a:solidFill>
              <a:schemeClr val="tx1"/>
            </a:solidFill>
            <a:miter lim="800000"/>
            <a:headEnd type="none" w="sm" len="sm"/>
            <a:tailEnd type="none" w="sm" len="sm"/>
          </a:ln>
          <a:effectLst/>
        </p:spPr>
        <p:txBody>
          <a:bodyPr wrap="none" anchor="ctr"/>
          <a:lstStyle/>
          <a:p>
            <a:endParaRPr lang="en-US"/>
          </a:p>
        </p:txBody>
      </p:sp>
      <p:sp>
        <p:nvSpPr>
          <p:cNvPr id="239639" name="Rectangle 23"/>
          <p:cNvSpPr>
            <a:spLocks noChangeArrowheads="1"/>
          </p:cNvSpPr>
          <p:nvPr/>
        </p:nvSpPr>
        <p:spPr bwMode="auto">
          <a:xfrm>
            <a:off x="1625112" y="1981200"/>
            <a:ext cx="2101362" cy="2219325"/>
          </a:xfrm>
          <a:prstGeom prst="rect">
            <a:avLst/>
          </a:prstGeom>
          <a:solidFill>
            <a:schemeClr val="accent3">
              <a:lumMod val="40000"/>
              <a:lumOff val="60000"/>
            </a:schemeClr>
          </a:solidFill>
          <a:ln>
            <a:noFill/>
          </a:ln>
          <a:effectLst/>
        </p:spPr>
        <p:txBody>
          <a:bodyPr lIns="65069" tIns="26027" rIns="65069" bIns="26027">
            <a:spAutoFit/>
          </a:bodyPr>
          <a:lstStyle/>
          <a:p>
            <a:pPr marL="350838" indent="-350838" defTabSz="936625">
              <a:lnSpc>
                <a:spcPct val="86000"/>
              </a:lnSpc>
              <a:spcBef>
                <a:spcPct val="40000"/>
              </a:spcBef>
            </a:pPr>
            <a:r>
              <a:rPr lang="en-GB" sz="2400" b="1">
                <a:solidFill>
                  <a:srgbClr val="000000"/>
                </a:solidFill>
              </a:rPr>
              <a:t>read(a)</a:t>
            </a:r>
          </a:p>
          <a:p>
            <a:pPr marL="350838" indent="-350838" defTabSz="936625">
              <a:lnSpc>
                <a:spcPct val="86000"/>
              </a:lnSpc>
              <a:spcBef>
                <a:spcPct val="40000"/>
              </a:spcBef>
            </a:pPr>
            <a:r>
              <a:rPr lang="en-GB" sz="2400" b="1">
                <a:solidFill>
                  <a:srgbClr val="000000"/>
                </a:solidFill>
              </a:rPr>
              <a:t>IF a &gt; 6 THEN</a:t>
            </a:r>
          </a:p>
          <a:p>
            <a:pPr marL="350838" indent="-350838" defTabSz="936625">
              <a:lnSpc>
                <a:spcPct val="86000"/>
              </a:lnSpc>
              <a:spcBef>
                <a:spcPct val="40000"/>
              </a:spcBef>
            </a:pPr>
            <a:r>
              <a:rPr lang="en-GB" sz="2400" b="1">
                <a:solidFill>
                  <a:srgbClr val="000000"/>
                </a:solidFill>
              </a:rPr>
              <a:t>    b = a</a:t>
            </a:r>
          </a:p>
          <a:p>
            <a:pPr marL="350838" indent="-350838" defTabSz="936625">
              <a:lnSpc>
                <a:spcPct val="86000"/>
              </a:lnSpc>
              <a:spcBef>
                <a:spcPct val="40000"/>
              </a:spcBef>
            </a:pPr>
            <a:r>
              <a:rPr lang="en-GB" sz="2400" b="1">
                <a:solidFill>
                  <a:srgbClr val="000000"/>
                </a:solidFill>
              </a:rPr>
              <a:t>ENDIF</a:t>
            </a:r>
          </a:p>
          <a:p>
            <a:pPr marL="350838" indent="-350838" defTabSz="936625">
              <a:lnSpc>
                <a:spcPct val="86000"/>
              </a:lnSpc>
              <a:spcBef>
                <a:spcPct val="40000"/>
              </a:spcBef>
            </a:pPr>
            <a:r>
              <a:rPr lang="en-GB" sz="2400" b="1">
                <a:solidFill>
                  <a:srgbClr val="000000"/>
                </a:solidFill>
              </a:rPr>
              <a:t>print b</a:t>
            </a:r>
            <a:endParaRPr lang="en-GB" sz="1800" b="1"/>
          </a:p>
        </p:txBody>
      </p:sp>
      <p:grpSp>
        <p:nvGrpSpPr>
          <p:cNvPr id="239640" name="Group 24"/>
          <p:cNvGrpSpPr>
            <a:grpSpLocks/>
          </p:cNvGrpSpPr>
          <p:nvPr/>
        </p:nvGrpSpPr>
        <p:grpSpPr bwMode="auto">
          <a:xfrm>
            <a:off x="1062405" y="1949450"/>
            <a:ext cx="492369" cy="2286000"/>
            <a:chOff x="432" y="1008"/>
            <a:chExt cx="336" cy="1440"/>
          </a:xfrm>
        </p:grpSpPr>
        <p:sp>
          <p:nvSpPr>
            <p:cNvPr id="239641" name="Rectangle 25"/>
            <p:cNvSpPr>
              <a:spLocks noChangeArrowheads="1"/>
            </p:cNvSpPr>
            <p:nvPr/>
          </p:nvSpPr>
          <p:spPr bwMode="auto">
            <a:xfrm>
              <a:off x="432" y="1008"/>
              <a:ext cx="336" cy="144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12" tIns="45705" rIns="91412" bIns="45705" anchor="ctr"/>
            <a:lstStyle/>
            <a:p>
              <a:pPr algn="ctr"/>
              <a:endParaRPr lang="en-US" i="1"/>
            </a:p>
          </p:txBody>
        </p:sp>
        <p:sp>
          <p:nvSpPr>
            <p:cNvPr id="239642" name="Rectangle 26"/>
            <p:cNvSpPr>
              <a:spLocks noChangeArrowheads="1"/>
            </p:cNvSpPr>
            <p:nvPr/>
          </p:nvSpPr>
          <p:spPr bwMode="auto">
            <a:xfrm>
              <a:off x="528" y="1008"/>
              <a:ext cx="240" cy="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12" tIns="45705" rIns="91412" bIns="45705" anchor="ctr"/>
            <a:lstStyle/>
            <a:p>
              <a:pPr marL="350838" indent="-350838" defTabSz="936625">
                <a:lnSpc>
                  <a:spcPct val="86000"/>
                </a:lnSpc>
                <a:spcBef>
                  <a:spcPct val="40000"/>
                </a:spcBef>
              </a:pPr>
              <a:r>
                <a:rPr lang="en-GB" sz="2400" b="1" i="1">
                  <a:solidFill>
                    <a:srgbClr val="000000"/>
                  </a:solidFill>
                </a:rPr>
                <a:t>1</a:t>
              </a:r>
            </a:p>
            <a:p>
              <a:pPr marL="350838" indent="-350838" defTabSz="936625">
                <a:lnSpc>
                  <a:spcPct val="86000"/>
                </a:lnSpc>
                <a:spcBef>
                  <a:spcPct val="40000"/>
                </a:spcBef>
              </a:pPr>
              <a:r>
                <a:rPr lang="en-GB" sz="2400" b="1" i="1">
                  <a:solidFill>
                    <a:srgbClr val="000000"/>
                  </a:solidFill>
                </a:rPr>
                <a:t>2</a:t>
              </a:r>
            </a:p>
            <a:p>
              <a:pPr marL="350838" indent="-350838" defTabSz="936625">
                <a:lnSpc>
                  <a:spcPct val="86000"/>
                </a:lnSpc>
                <a:spcBef>
                  <a:spcPct val="40000"/>
                </a:spcBef>
              </a:pPr>
              <a:r>
                <a:rPr lang="en-GB" sz="2400" b="1" i="1">
                  <a:solidFill>
                    <a:srgbClr val="000000"/>
                  </a:solidFill>
                </a:rPr>
                <a:t>3</a:t>
              </a:r>
            </a:p>
            <a:p>
              <a:pPr marL="350838" indent="-350838" defTabSz="936625">
                <a:lnSpc>
                  <a:spcPct val="86000"/>
                </a:lnSpc>
                <a:spcBef>
                  <a:spcPct val="40000"/>
                </a:spcBef>
              </a:pPr>
              <a:r>
                <a:rPr lang="en-GB" sz="2400" b="1" i="1">
                  <a:solidFill>
                    <a:srgbClr val="000000"/>
                  </a:solidFill>
                </a:rPr>
                <a:t>4</a:t>
              </a:r>
            </a:p>
            <a:p>
              <a:pPr marL="350838" indent="-350838" defTabSz="936625">
                <a:lnSpc>
                  <a:spcPct val="86000"/>
                </a:lnSpc>
                <a:spcBef>
                  <a:spcPct val="40000"/>
                </a:spcBef>
              </a:pPr>
              <a:r>
                <a:rPr lang="en-GB" sz="2400" b="1" i="1">
                  <a:solidFill>
                    <a:srgbClr val="000000"/>
                  </a:solidFill>
                </a:rPr>
                <a:t>5</a:t>
              </a:r>
              <a:endParaRPr lang="en-GB" sz="1800" b="1"/>
            </a:p>
          </p:txBody>
        </p:sp>
      </p:grpSp>
      <p:sp>
        <p:nvSpPr>
          <p:cNvPr id="3" name="Title 2"/>
          <p:cNvSpPr>
            <a:spLocks noGrp="1"/>
          </p:cNvSpPr>
          <p:nvPr>
            <p:ph type="title"/>
          </p:nvPr>
        </p:nvSpPr>
        <p:spPr/>
        <p:txBody>
          <a:bodyPr/>
          <a:lstStyle/>
          <a:p>
            <a:r>
              <a:rPr lang="en-US"/>
              <a:t>Statement coverage example 1</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9</a:t>
            </a:fld>
            <a:endParaRPr lang="en-US"/>
          </a:p>
        </p:txBody>
      </p:sp>
      <p:grpSp>
        <p:nvGrpSpPr>
          <p:cNvPr id="18" name="Group 17"/>
          <p:cNvGrpSpPr/>
          <p:nvPr/>
        </p:nvGrpSpPr>
        <p:grpSpPr>
          <a:xfrm>
            <a:off x="6248400" y="1381128"/>
            <a:ext cx="1358412" cy="3952872"/>
            <a:chOff x="6248400" y="1838328"/>
            <a:chExt cx="1358412" cy="3952872"/>
          </a:xfrm>
        </p:grpSpPr>
        <p:sp>
          <p:nvSpPr>
            <p:cNvPr id="2" name="Oval 1"/>
            <p:cNvSpPr/>
            <p:nvPr/>
          </p:nvSpPr>
          <p:spPr>
            <a:xfrm>
              <a:off x="6324600" y="1838328"/>
              <a:ext cx="534866" cy="46037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003399"/>
                  </a:solidFill>
                  <a:latin typeface="+mj-lt"/>
                </a:rPr>
                <a:t>1</a:t>
              </a:r>
            </a:p>
          </p:txBody>
        </p:sp>
        <p:sp>
          <p:nvSpPr>
            <p:cNvPr id="30" name="Oval 29"/>
            <p:cNvSpPr/>
            <p:nvPr/>
          </p:nvSpPr>
          <p:spPr>
            <a:xfrm>
              <a:off x="6324600" y="2784478"/>
              <a:ext cx="534866" cy="46037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003399"/>
                  </a:solidFill>
                  <a:latin typeface="+mj-lt"/>
                </a:rPr>
                <a:t>2</a:t>
              </a:r>
            </a:p>
          </p:txBody>
        </p:sp>
        <p:cxnSp>
          <p:nvCxnSpPr>
            <p:cNvPr id="6" name="Straight Arrow Connector 5"/>
            <p:cNvCxnSpPr>
              <a:stCxn id="2" idx="4"/>
              <a:endCxn id="30" idx="0"/>
            </p:cNvCxnSpPr>
            <p:nvPr/>
          </p:nvCxnSpPr>
          <p:spPr>
            <a:xfrm>
              <a:off x="6592033" y="2298702"/>
              <a:ext cx="0" cy="485776"/>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4" name="Oval 33"/>
            <p:cNvSpPr/>
            <p:nvPr/>
          </p:nvSpPr>
          <p:spPr>
            <a:xfrm>
              <a:off x="7071946" y="3702052"/>
              <a:ext cx="534866" cy="46037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003399"/>
                  </a:solidFill>
                  <a:latin typeface="+mj-lt"/>
                </a:rPr>
                <a:t>3</a:t>
              </a:r>
            </a:p>
          </p:txBody>
        </p:sp>
        <p:cxnSp>
          <p:nvCxnSpPr>
            <p:cNvPr id="35" name="Straight Arrow Connector 34"/>
            <p:cNvCxnSpPr>
              <a:stCxn id="30" idx="4"/>
              <a:endCxn id="34" idx="0"/>
            </p:cNvCxnSpPr>
            <p:nvPr/>
          </p:nvCxnSpPr>
          <p:spPr>
            <a:xfrm>
              <a:off x="6592033" y="3244852"/>
              <a:ext cx="747346" cy="45720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6592033" y="3244852"/>
              <a:ext cx="0" cy="1160462"/>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34" idx="4"/>
            </p:cNvCxnSpPr>
            <p:nvPr/>
          </p:nvCxnSpPr>
          <p:spPr>
            <a:xfrm flipH="1">
              <a:off x="6859466" y="4162426"/>
              <a:ext cx="479913" cy="485776"/>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44" name="Oval 43"/>
            <p:cNvSpPr/>
            <p:nvPr/>
          </p:nvSpPr>
          <p:spPr>
            <a:xfrm>
              <a:off x="6324600" y="4352925"/>
              <a:ext cx="534866" cy="46037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003399"/>
                  </a:solidFill>
                  <a:latin typeface="+mj-lt"/>
                </a:rPr>
                <a:t>4</a:t>
              </a:r>
            </a:p>
          </p:txBody>
        </p:sp>
        <p:sp>
          <p:nvSpPr>
            <p:cNvPr id="45" name="Oval 44"/>
            <p:cNvSpPr/>
            <p:nvPr/>
          </p:nvSpPr>
          <p:spPr>
            <a:xfrm>
              <a:off x="6324600" y="5330826"/>
              <a:ext cx="534866" cy="46037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003399"/>
                  </a:solidFill>
                  <a:latin typeface="+mj-lt"/>
                </a:rPr>
                <a:t>5</a:t>
              </a:r>
            </a:p>
          </p:txBody>
        </p:sp>
        <p:cxnSp>
          <p:nvCxnSpPr>
            <p:cNvPr id="46" name="Straight Arrow Connector 45"/>
            <p:cNvCxnSpPr>
              <a:endCxn id="45" idx="0"/>
            </p:cNvCxnSpPr>
            <p:nvPr/>
          </p:nvCxnSpPr>
          <p:spPr>
            <a:xfrm>
              <a:off x="6592033" y="4813299"/>
              <a:ext cx="0" cy="517527"/>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960897" y="3124200"/>
              <a:ext cx="335348" cy="461665"/>
            </a:xfrm>
            <a:prstGeom prst="rect">
              <a:avLst/>
            </a:prstGeom>
            <a:noFill/>
          </p:spPr>
          <p:txBody>
            <a:bodyPr wrap="none" rtlCol="0">
              <a:spAutoFit/>
            </a:bodyPr>
            <a:lstStyle/>
            <a:p>
              <a:pPr algn="ctr"/>
              <a:r>
                <a:rPr lang="en-US" sz="2400">
                  <a:solidFill>
                    <a:srgbClr val="003399"/>
                  </a:solidFill>
                  <a:latin typeface="+mj-lt"/>
                </a:rPr>
                <a:t>T</a:t>
              </a:r>
            </a:p>
          </p:txBody>
        </p:sp>
        <p:sp>
          <p:nvSpPr>
            <p:cNvPr id="17" name="Rectangle 16"/>
            <p:cNvSpPr/>
            <p:nvPr/>
          </p:nvSpPr>
          <p:spPr>
            <a:xfrm>
              <a:off x="6780860" y="2662535"/>
              <a:ext cx="779381" cy="461665"/>
            </a:xfrm>
            <a:prstGeom prst="rect">
              <a:avLst/>
            </a:prstGeom>
          </p:spPr>
          <p:txBody>
            <a:bodyPr wrap="none">
              <a:spAutoFit/>
            </a:bodyPr>
            <a:lstStyle/>
            <a:p>
              <a:pPr algn="ctr"/>
              <a:r>
                <a:rPr lang="en-GB" sz="2400">
                  <a:solidFill>
                    <a:srgbClr val="003399"/>
                  </a:solidFill>
                  <a:latin typeface="+mj-lt"/>
                </a:rPr>
                <a:t>a &gt; 6</a:t>
              </a:r>
              <a:endParaRPr lang="en-US" sz="2400">
                <a:solidFill>
                  <a:srgbClr val="003399"/>
                </a:solidFill>
                <a:latin typeface="+mj-lt"/>
              </a:endParaRPr>
            </a:p>
          </p:txBody>
        </p:sp>
        <p:sp>
          <p:nvSpPr>
            <p:cNvPr id="51" name="TextBox 50"/>
            <p:cNvSpPr txBox="1"/>
            <p:nvPr/>
          </p:nvSpPr>
          <p:spPr>
            <a:xfrm>
              <a:off x="6248400" y="3352800"/>
              <a:ext cx="325730" cy="461665"/>
            </a:xfrm>
            <a:prstGeom prst="rect">
              <a:avLst/>
            </a:prstGeom>
            <a:noFill/>
          </p:spPr>
          <p:txBody>
            <a:bodyPr wrap="none" rtlCol="0">
              <a:spAutoFit/>
            </a:bodyPr>
            <a:lstStyle/>
            <a:p>
              <a:pPr algn="ctr"/>
              <a:r>
                <a:rPr lang="en-US" sz="2400">
                  <a:solidFill>
                    <a:srgbClr val="003399"/>
                  </a:solidFill>
                  <a:latin typeface="+mj-lt"/>
                </a:rPr>
                <a:t>F</a:t>
              </a:r>
            </a:p>
          </p:txBody>
        </p:sp>
      </p:grpSp>
      <p:graphicFrame>
        <p:nvGraphicFramePr>
          <p:cNvPr id="7" name="Table 6"/>
          <p:cNvGraphicFramePr>
            <a:graphicFrameLocks noGrp="1"/>
          </p:cNvGraphicFramePr>
          <p:nvPr>
            <p:extLst>
              <p:ext uri="{D42A27DB-BD31-4B8C-83A1-F6EECF244321}">
                <p14:modId xmlns:p14="http://schemas.microsoft.com/office/powerpoint/2010/main" val="1484786076"/>
              </p:ext>
            </p:extLst>
          </p:nvPr>
        </p:nvGraphicFramePr>
        <p:xfrm>
          <a:off x="381000" y="5410200"/>
          <a:ext cx="8077200" cy="853440"/>
        </p:xfrm>
        <a:graphic>
          <a:graphicData uri="http://schemas.openxmlformats.org/drawingml/2006/table">
            <a:tbl>
              <a:tblPr firstRow="1" bandRow="1">
                <a:tableStyleId>{5C22544A-7EE6-4342-B048-85BDC9FD1C3A}</a:tableStyleId>
              </a:tblPr>
              <a:tblGrid>
                <a:gridCol w="428230">
                  <a:extLst>
                    <a:ext uri="{9D8B030D-6E8A-4147-A177-3AD203B41FA5}">
                      <a16:colId xmlns:a16="http://schemas.microsoft.com/office/drawing/2014/main" val="20000"/>
                    </a:ext>
                  </a:extLst>
                </a:gridCol>
                <a:gridCol w="1523038">
                  <a:extLst>
                    <a:ext uri="{9D8B030D-6E8A-4147-A177-3AD203B41FA5}">
                      <a16:colId xmlns:a16="http://schemas.microsoft.com/office/drawing/2014/main" val="20001"/>
                    </a:ext>
                  </a:extLst>
                </a:gridCol>
                <a:gridCol w="944332">
                  <a:extLst>
                    <a:ext uri="{9D8B030D-6E8A-4147-A177-3AD203B41FA5}">
                      <a16:colId xmlns:a16="http://schemas.microsoft.com/office/drawing/2014/main" val="20002"/>
                    </a:ext>
                  </a:extLst>
                </a:gridCol>
                <a:gridCol w="2667000">
                  <a:extLst>
                    <a:ext uri="{9D8B030D-6E8A-4147-A177-3AD203B41FA5}">
                      <a16:colId xmlns:a16="http://schemas.microsoft.com/office/drawing/2014/main" val="20003"/>
                    </a:ext>
                  </a:extLst>
                </a:gridCol>
                <a:gridCol w="2514600">
                  <a:extLst>
                    <a:ext uri="{9D8B030D-6E8A-4147-A177-3AD203B41FA5}">
                      <a16:colId xmlns:a16="http://schemas.microsoft.com/office/drawing/2014/main" val="20004"/>
                    </a:ext>
                  </a:extLst>
                </a:gridCol>
              </a:tblGrid>
              <a:tr h="370840">
                <a:tc>
                  <a:txBody>
                    <a:bodyPr/>
                    <a:lstStyle/>
                    <a:p>
                      <a:r>
                        <a:rPr lang="en-US" sz="2200">
                          <a:latin typeface="+mj-lt"/>
                        </a:rPr>
                        <a:t>#</a:t>
                      </a:r>
                    </a:p>
                  </a:txBody>
                  <a:tcPr/>
                </a:tc>
                <a:tc>
                  <a:txBody>
                    <a:bodyPr/>
                    <a:lstStyle/>
                    <a:p>
                      <a:r>
                        <a:rPr lang="en-US" sz="2200">
                          <a:latin typeface="+mj-lt"/>
                        </a:rPr>
                        <a:t>Condition</a:t>
                      </a:r>
                    </a:p>
                  </a:txBody>
                  <a:tcPr/>
                </a:tc>
                <a:tc>
                  <a:txBody>
                    <a:bodyPr/>
                    <a:lstStyle/>
                    <a:p>
                      <a:r>
                        <a:rPr lang="en-US" sz="2200">
                          <a:latin typeface="+mj-lt"/>
                        </a:rPr>
                        <a:t>Input</a:t>
                      </a:r>
                    </a:p>
                  </a:txBody>
                  <a:tcPr/>
                </a:tc>
                <a:tc>
                  <a:txBody>
                    <a:bodyPr/>
                    <a:lstStyle/>
                    <a:p>
                      <a:r>
                        <a:rPr lang="en-US" sz="2200">
                          <a:latin typeface="+mj-lt"/>
                        </a:rPr>
                        <a:t>Line number excuted</a:t>
                      </a:r>
                    </a:p>
                  </a:txBody>
                  <a:tcPr/>
                </a:tc>
                <a:tc>
                  <a:txBody>
                    <a:bodyPr/>
                    <a:lstStyle/>
                    <a:p>
                      <a:r>
                        <a:rPr lang="en-US" sz="2200">
                          <a:latin typeface="+mj-lt"/>
                        </a:rPr>
                        <a:t>Expected result</a:t>
                      </a:r>
                    </a:p>
                  </a:txBody>
                  <a:tcPr/>
                </a:tc>
                <a:extLst>
                  <a:ext uri="{0D108BD9-81ED-4DB2-BD59-A6C34878D82A}">
                    <a16:rowId xmlns:a16="http://schemas.microsoft.com/office/drawing/2014/main" val="10000"/>
                  </a:ext>
                </a:extLst>
              </a:tr>
              <a:tr h="370840">
                <a:tc>
                  <a:txBody>
                    <a:bodyPr/>
                    <a:lstStyle/>
                    <a:p>
                      <a:r>
                        <a:rPr lang="en-US" sz="2200">
                          <a:latin typeface="+mj-lt"/>
                        </a:rPr>
                        <a:t>1</a:t>
                      </a:r>
                    </a:p>
                  </a:txBody>
                  <a:tcPr/>
                </a:tc>
                <a:tc>
                  <a:txBody>
                    <a:bodyPr/>
                    <a:lstStyle/>
                    <a:p>
                      <a:r>
                        <a:rPr lang="en-US" sz="2200">
                          <a:latin typeface="+mj-lt"/>
                        </a:rPr>
                        <a:t>a&gt;6</a:t>
                      </a:r>
                    </a:p>
                  </a:txBody>
                  <a:tcPr/>
                </a:tc>
                <a:tc>
                  <a:txBody>
                    <a:bodyPr/>
                    <a:lstStyle/>
                    <a:p>
                      <a:r>
                        <a:rPr lang="en-US" sz="2200">
                          <a:latin typeface="+mj-lt"/>
                        </a:rPr>
                        <a:t>7</a:t>
                      </a:r>
                    </a:p>
                  </a:txBody>
                  <a:tcPr/>
                </a:tc>
                <a:tc>
                  <a:txBody>
                    <a:bodyPr/>
                    <a:lstStyle/>
                    <a:p>
                      <a:r>
                        <a:rPr lang="en-US" sz="2200">
                          <a:latin typeface="+mj-lt"/>
                        </a:rPr>
                        <a:t>1,2,3,4,5</a:t>
                      </a:r>
                    </a:p>
                  </a:txBody>
                  <a:tcPr/>
                </a:tc>
                <a:tc>
                  <a:txBody>
                    <a:bodyPr/>
                    <a:lstStyle/>
                    <a:p>
                      <a:r>
                        <a:rPr lang="en-US" sz="2200" dirty="0">
                          <a:latin typeface="+mj-lt"/>
                        </a:rPr>
                        <a:t>7 (not from code)</a:t>
                      </a:r>
                    </a:p>
                  </a:txBody>
                  <a:tcPr/>
                </a:tc>
                <a:extLst>
                  <a:ext uri="{0D108BD9-81ED-4DB2-BD59-A6C34878D82A}">
                    <a16:rowId xmlns:a16="http://schemas.microsoft.com/office/drawing/2014/main" val="10001"/>
                  </a:ext>
                </a:extLst>
              </a:tr>
            </a:tbl>
          </a:graphicData>
        </a:graphic>
      </p:graphicFrame>
      <p:sp>
        <p:nvSpPr>
          <p:cNvPr id="4" name="Rectangle 3"/>
          <p:cNvSpPr/>
          <p:nvPr/>
        </p:nvSpPr>
        <p:spPr>
          <a:xfrm>
            <a:off x="304800" y="4511131"/>
            <a:ext cx="6104748" cy="400110"/>
          </a:xfrm>
          <a:prstGeom prst="rect">
            <a:avLst/>
          </a:prstGeom>
        </p:spPr>
        <p:txBody>
          <a:bodyPr wrap="none">
            <a:spAutoFit/>
          </a:bodyPr>
          <a:lstStyle/>
          <a:p>
            <a:pPr lvl="0"/>
            <a:r>
              <a:rPr lang="en-US" sz="2000" dirty="0"/>
              <a:t>How many test cases to get 100% statement coverage? </a:t>
            </a:r>
          </a:p>
        </p:txBody>
      </p:sp>
    </p:spTree>
    <p:extLst>
      <p:ext uri="{BB962C8B-B14F-4D97-AF65-F5344CB8AC3E}">
        <p14:creationId xmlns:p14="http://schemas.microsoft.com/office/powerpoint/2010/main" val="42300814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373" y="1524000"/>
            <a:ext cx="8925373"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a:t>Statement coverage example 2</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10</a:t>
            </a:fld>
            <a:endParaRPr lang="en-US"/>
          </a:p>
        </p:txBody>
      </p:sp>
      <p:sp>
        <p:nvSpPr>
          <p:cNvPr id="12" name="Rectangle 11"/>
          <p:cNvSpPr/>
          <p:nvPr/>
        </p:nvSpPr>
        <p:spPr>
          <a:xfrm>
            <a:off x="4267200" y="2797076"/>
            <a:ext cx="4724400" cy="2308324"/>
          </a:xfrm>
          <a:prstGeom prst="rect">
            <a:avLst/>
          </a:prstGeom>
          <a:ln>
            <a:solidFill>
              <a:schemeClr val="accent1">
                <a:lumMod val="40000"/>
                <a:lumOff val="60000"/>
              </a:schemeClr>
            </a:solidFill>
          </a:ln>
        </p:spPr>
        <p:txBody>
          <a:bodyPr wrap="square">
            <a:spAutoFit/>
          </a:bodyPr>
          <a:lstStyle/>
          <a:p>
            <a:r>
              <a:rPr lang="en-US" sz="2400" b="1">
                <a:latin typeface="+mj-lt"/>
              </a:rPr>
              <a:t>A program for calculating the mean and maximum of three integers.</a:t>
            </a:r>
          </a:p>
          <a:p>
            <a:pPr marL="347663" indent="-347663">
              <a:buNone/>
            </a:pPr>
            <a:r>
              <a:rPr lang="en-US" sz="2400" b="1">
                <a:latin typeface="+mj-lt"/>
              </a:rPr>
              <a:t>a. How many test cases will you need to achieve 100% statement coverage?</a:t>
            </a:r>
          </a:p>
          <a:p>
            <a:pPr marL="347663" indent="-347663">
              <a:buNone/>
            </a:pPr>
            <a:r>
              <a:rPr lang="en-US" sz="2400" b="1">
                <a:latin typeface="+mj-lt"/>
              </a:rPr>
              <a:t>b. What will the test cases be?</a:t>
            </a:r>
          </a:p>
        </p:txBody>
      </p:sp>
    </p:spTree>
    <p:extLst>
      <p:ext uri="{BB962C8B-B14F-4D97-AF65-F5344CB8AC3E}">
        <p14:creationId xmlns:p14="http://schemas.microsoft.com/office/powerpoint/2010/main" val="65052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Statement coverage example 2 - Solution</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11</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73" y="1524000"/>
            <a:ext cx="8925373"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Group 2"/>
          <p:cNvGrpSpPr/>
          <p:nvPr/>
        </p:nvGrpSpPr>
        <p:grpSpPr>
          <a:xfrm>
            <a:off x="4523517" y="1886987"/>
            <a:ext cx="4048403" cy="4876802"/>
            <a:chOff x="4523517" y="1886987"/>
            <a:chExt cx="4048403" cy="4876802"/>
          </a:xfrm>
        </p:grpSpPr>
        <p:sp>
          <p:nvSpPr>
            <p:cNvPr id="7" name="Oval 6"/>
            <p:cNvSpPr/>
            <p:nvPr/>
          </p:nvSpPr>
          <p:spPr>
            <a:xfrm>
              <a:off x="6072010" y="1886987"/>
              <a:ext cx="640047" cy="656135"/>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solidFill>
                    <a:srgbClr val="003399"/>
                  </a:solidFill>
                  <a:latin typeface="+mj-lt"/>
                </a:rPr>
                <a:t>1-4</a:t>
              </a:r>
            </a:p>
          </p:txBody>
        </p:sp>
        <p:sp>
          <p:nvSpPr>
            <p:cNvPr id="8" name="Oval 7"/>
            <p:cNvSpPr/>
            <p:nvPr/>
          </p:nvSpPr>
          <p:spPr>
            <a:xfrm>
              <a:off x="6124601" y="3028900"/>
              <a:ext cx="534866" cy="46037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solidFill>
                    <a:srgbClr val="003399"/>
                  </a:solidFill>
                  <a:latin typeface="+mj-lt"/>
                </a:rPr>
                <a:t>5</a:t>
              </a:r>
            </a:p>
          </p:txBody>
        </p:sp>
        <p:cxnSp>
          <p:nvCxnSpPr>
            <p:cNvPr id="9" name="Straight Arrow Connector 8"/>
            <p:cNvCxnSpPr>
              <a:stCxn id="7" idx="4"/>
              <a:endCxn id="8" idx="0"/>
            </p:cNvCxnSpPr>
            <p:nvPr/>
          </p:nvCxnSpPr>
          <p:spPr>
            <a:xfrm>
              <a:off x="6392034" y="2543122"/>
              <a:ext cx="0" cy="485778"/>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7440113" y="3911846"/>
              <a:ext cx="534866" cy="46037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solidFill>
                    <a:srgbClr val="003399"/>
                  </a:solidFill>
                  <a:latin typeface="+mj-lt"/>
                </a:rPr>
                <a:t>6</a:t>
              </a:r>
            </a:p>
          </p:txBody>
        </p:sp>
        <p:cxnSp>
          <p:nvCxnSpPr>
            <p:cNvPr id="11" name="Straight Arrow Connector 10"/>
            <p:cNvCxnSpPr>
              <a:stCxn id="8" idx="4"/>
              <a:endCxn id="10" idx="0"/>
            </p:cNvCxnSpPr>
            <p:nvPr/>
          </p:nvCxnSpPr>
          <p:spPr>
            <a:xfrm>
              <a:off x="6392034" y="3489274"/>
              <a:ext cx="1315512" cy="422572"/>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endCxn id="13" idx="0"/>
            </p:cNvCxnSpPr>
            <p:nvPr/>
          </p:nvCxnSpPr>
          <p:spPr>
            <a:xfrm flipH="1">
              <a:off x="5216547" y="3489274"/>
              <a:ext cx="1175488" cy="532276"/>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4949114" y="4021550"/>
              <a:ext cx="534866" cy="46037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solidFill>
                    <a:srgbClr val="003399"/>
                  </a:solidFill>
                  <a:latin typeface="+mj-lt"/>
                </a:rPr>
                <a:t>11</a:t>
              </a:r>
            </a:p>
          </p:txBody>
        </p:sp>
        <p:sp>
          <p:nvSpPr>
            <p:cNvPr id="14" name="TextBox 13"/>
            <p:cNvSpPr txBox="1"/>
            <p:nvPr/>
          </p:nvSpPr>
          <p:spPr>
            <a:xfrm>
              <a:off x="6935710" y="3368622"/>
              <a:ext cx="112210" cy="276999"/>
            </a:xfrm>
            <a:prstGeom prst="rect">
              <a:avLst/>
            </a:prstGeom>
            <a:noFill/>
          </p:spPr>
          <p:txBody>
            <a:bodyPr wrap="none" lIns="0" tIns="0" rIns="0" bIns="0" rtlCol="0">
              <a:spAutoFit/>
            </a:bodyPr>
            <a:lstStyle/>
            <a:p>
              <a:pPr algn="ctr"/>
              <a:r>
                <a:rPr lang="en-US">
                  <a:solidFill>
                    <a:srgbClr val="003399"/>
                  </a:solidFill>
                  <a:latin typeface="+mj-lt"/>
                </a:rPr>
                <a:t>T</a:t>
              </a:r>
            </a:p>
          </p:txBody>
        </p:sp>
        <p:sp>
          <p:nvSpPr>
            <p:cNvPr id="15" name="Rectangle 14"/>
            <p:cNvSpPr/>
            <p:nvPr/>
          </p:nvSpPr>
          <p:spPr>
            <a:xfrm>
              <a:off x="6783799" y="2906957"/>
              <a:ext cx="373500" cy="276999"/>
            </a:xfrm>
            <a:prstGeom prst="rect">
              <a:avLst/>
            </a:prstGeom>
          </p:spPr>
          <p:txBody>
            <a:bodyPr wrap="none" lIns="0" tIns="0" rIns="0" bIns="0">
              <a:spAutoFit/>
            </a:bodyPr>
            <a:lstStyle/>
            <a:p>
              <a:pPr algn="ctr"/>
              <a:r>
                <a:rPr lang="en-GB">
                  <a:solidFill>
                    <a:srgbClr val="003399"/>
                  </a:solidFill>
                  <a:latin typeface="+mj-lt"/>
                </a:rPr>
                <a:t>A&gt;B</a:t>
              </a:r>
              <a:endParaRPr lang="en-US">
                <a:solidFill>
                  <a:srgbClr val="003399"/>
                </a:solidFill>
                <a:latin typeface="+mj-lt"/>
              </a:endParaRPr>
            </a:p>
          </p:txBody>
        </p:sp>
        <p:sp>
          <p:nvSpPr>
            <p:cNvPr id="16" name="TextBox 15"/>
            <p:cNvSpPr txBox="1"/>
            <p:nvPr/>
          </p:nvSpPr>
          <p:spPr>
            <a:xfrm>
              <a:off x="5799122" y="3438790"/>
              <a:ext cx="105798" cy="276999"/>
            </a:xfrm>
            <a:prstGeom prst="rect">
              <a:avLst/>
            </a:prstGeom>
            <a:noFill/>
          </p:spPr>
          <p:txBody>
            <a:bodyPr wrap="none" lIns="0" tIns="0" rIns="0" bIns="0" rtlCol="0">
              <a:spAutoFit/>
            </a:bodyPr>
            <a:lstStyle/>
            <a:p>
              <a:pPr algn="ctr"/>
              <a:r>
                <a:rPr lang="en-US">
                  <a:solidFill>
                    <a:srgbClr val="003399"/>
                  </a:solidFill>
                  <a:latin typeface="+mj-lt"/>
                </a:rPr>
                <a:t>F</a:t>
              </a:r>
            </a:p>
          </p:txBody>
        </p:sp>
        <p:sp>
          <p:nvSpPr>
            <p:cNvPr id="17" name="Oval 16"/>
            <p:cNvSpPr/>
            <p:nvPr/>
          </p:nvSpPr>
          <p:spPr>
            <a:xfrm>
              <a:off x="8037054" y="4798281"/>
              <a:ext cx="534866" cy="46037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solidFill>
                    <a:srgbClr val="003399"/>
                  </a:solidFill>
                  <a:latin typeface="+mj-lt"/>
                </a:rPr>
                <a:t>7</a:t>
              </a:r>
            </a:p>
          </p:txBody>
        </p:sp>
        <p:cxnSp>
          <p:nvCxnSpPr>
            <p:cNvPr id="18" name="Straight Arrow Connector 17"/>
            <p:cNvCxnSpPr>
              <a:stCxn id="10" idx="4"/>
              <a:endCxn id="17" idx="0"/>
            </p:cNvCxnSpPr>
            <p:nvPr/>
          </p:nvCxnSpPr>
          <p:spPr>
            <a:xfrm>
              <a:off x="7707546" y="4372220"/>
              <a:ext cx="596941" cy="42606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0" idx="4"/>
            </p:cNvCxnSpPr>
            <p:nvPr/>
          </p:nvCxnSpPr>
          <p:spPr>
            <a:xfrm flipH="1">
              <a:off x="7333873" y="4372220"/>
              <a:ext cx="373673" cy="486198"/>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7071463" y="4858418"/>
              <a:ext cx="534866" cy="46037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solidFill>
                    <a:srgbClr val="003399"/>
                  </a:solidFill>
                  <a:latin typeface="+mj-lt"/>
                </a:rPr>
                <a:t>9</a:t>
              </a:r>
            </a:p>
          </p:txBody>
        </p:sp>
        <p:sp>
          <p:nvSpPr>
            <p:cNvPr id="21" name="TextBox 20"/>
            <p:cNvSpPr txBox="1"/>
            <p:nvPr/>
          </p:nvSpPr>
          <p:spPr>
            <a:xfrm>
              <a:off x="7980949" y="4280566"/>
              <a:ext cx="112210" cy="276999"/>
            </a:xfrm>
            <a:prstGeom prst="rect">
              <a:avLst/>
            </a:prstGeom>
            <a:noFill/>
          </p:spPr>
          <p:txBody>
            <a:bodyPr wrap="none" lIns="0" tIns="0" rIns="0" bIns="0" rtlCol="0">
              <a:spAutoFit/>
            </a:bodyPr>
            <a:lstStyle/>
            <a:p>
              <a:pPr algn="ctr"/>
              <a:r>
                <a:rPr lang="en-US">
                  <a:solidFill>
                    <a:srgbClr val="003399"/>
                  </a:solidFill>
                  <a:latin typeface="+mj-lt"/>
                </a:rPr>
                <a:t>T</a:t>
              </a:r>
            </a:p>
          </p:txBody>
        </p:sp>
        <p:sp>
          <p:nvSpPr>
            <p:cNvPr id="22" name="Rectangle 21"/>
            <p:cNvSpPr/>
            <p:nvPr/>
          </p:nvSpPr>
          <p:spPr>
            <a:xfrm>
              <a:off x="7974979" y="3865034"/>
              <a:ext cx="424796" cy="276999"/>
            </a:xfrm>
            <a:prstGeom prst="rect">
              <a:avLst/>
            </a:prstGeom>
          </p:spPr>
          <p:txBody>
            <a:bodyPr wrap="none" lIns="0" tIns="0" rIns="0" bIns="0">
              <a:spAutoFit/>
            </a:bodyPr>
            <a:lstStyle/>
            <a:p>
              <a:pPr algn="ctr"/>
              <a:r>
                <a:rPr lang="en-GB">
                  <a:solidFill>
                    <a:srgbClr val="003399"/>
                  </a:solidFill>
                  <a:latin typeface="+mj-lt"/>
                </a:rPr>
                <a:t>A&gt;C </a:t>
              </a:r>
              <a:endParaRPr lang="en-US">
                <a:solidFill>
                  <a:srgbClr val="003399"/>
                </a:solidFill>
                <a:latin typeface="+mj-lt"/>
              </a:endParaRPr>
            </a:p>
          </p:txBody>
        </p:sp>
        <p:sp>
          <p:nvSpPr>
            <p:cNvPr id="23" name="TextBox 22"/>
            <p:cNvSpPr txBox="1"/>
            <p:nvPr/>
          </p:nvSpPr>
          <p:spPr>
            <a:xfrm>
              <a:off x="7352720" y="4353190"/>
              <a:ext cx="105798" cy="276999"/>
            </a:xfrm>
            <a:prstGeom prst="rect">
              <a:avLst/>
            </a:prstGeom>
            <a:noFill/>
          </p:spPr>
          <p:txBody>
            <a:bodyPr wrap="none" lIns="0" tIns="0" rIns="0" bIns="0" rtlCol="0">
              <a:spAutoFit/>
            </a:bodyPr>
            <a:lstStyle/>
            <a:p>
              <a:pPr algn="ctr"/>
              <a:r>
                <a:rPr lang="en-US">
                  <a:solidFill>
                    <a:srgbClr val="003399"/>
                  </a:solidFill>
                  <a:latin typeface="+mj-lt"/>
                </a:rPr>
                <a:t>F</a:t>
              </a:r>
            </a:p>
          </p:txBody>
        </p:sp>
        <p:sp>
          <p:nvSpPr>
            <p:cNvPr id="24" name="Rectangle 23"/>
            <p:cNvSpPr/>
            <p:nvPr/>
          </p:nvSpPr>
          <p:spPr>
            <a:xfrm>
              <a:off x="5487892" y="3883050"/>
              <a:ext cx="416781" cy="276999"/>
            </a:xfrm>
            <a:prstGeom prst="rect">
              <a:avLst/>
            </a:prstGeom>
          </p:spPr>
          <p:txBody>
            <a:bodyPr wrap="none" lIns="0" tIns="0" rIns="0" bIns="0">
              <a:spAutoFit/>
            </a:bodyPr>
            <a:lstStyle/>
            <a:p>
              <a:pPr algn="ctr"/>
              <a:r>
                <a:rPr lang="en-GB">
                  <a:solidFill>
                    <a:srgbClr val="003399"/>
                  </a:solidFill>
                  <a:latin typeface="+mj-lt"/>
                </a:rPr>
                <a:t>B&gt;C </a:t>
              </a:r>
              <a:endParaRPr lang="en-US">
                <a:solidFill>
                  <a:srgbClr val="003399"/>
                </a:solidFill>
                <a:latin typeface="+mj-lt"/>
              </a:endParaRPr>
            </a:p>
          </p:txBody>
        </p:sp>
        <p:sp>
          <p:nvSpPr>
            <p:cNvPr id="25" name="Oval 24"/>
            <p:cNvSpPr/>
            <p:nvPr/>
          </p:nvSpPr>
          <p:spPr>
            <a:xfrm>
              <a:off x="5489108" y="4911563"/>
              <a:ext cx="534866" cy="46037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solidFill>
                    <a:srgbClr val="003399"/>
                  </a:solidFill>
                  <a:latin typeface="+mj-lt"/>
                </a:rPr>
                <a:t>12</a:t>
              </a:r>
            </a:p>
          </p:txBody>
        </p:sp>
        <p:cxnSp>
          <p:nvCxnSpPr>
            <p:cNvPr id="26" name="Straight Arrow Connector 25"/>
            <p:cNvCxnSpPr>
              <a:stCxn id="13" idx="4"/>
              <a:endCxn id="25" idx="0"/>
            </p:cNvCxnSpPr>
            <p:nvPr/>
          </p:nvCxnSpPr>
          <p:spPr>
            <a:xfrm>
              <a:off x="5216547" y="4481924"/>
              <a:ext cx="539994" cy="429639"/>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3" idx="4"/>
            </p:cNvCxnSpPr>
            <p:nvPr/>
          </p:nvCxnSpPr>
          <p:spPr>
            <a:xfrm flipH="1">
              <a:off x="4785928" y="4481924"/>
              <a:ext cx="430619" cy="489776"/>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8" name="Oval 27"/>
            <p:cNvSpPr/>
            <p:nvPr/>
          </p:nvSpPr>
          <p:spPr>
            <a:xfrm>
              <a:off x="4523517" y="4971700"/>
              <a:ext cx="534866" cy="46037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solidFill>
                    <a:srgbClr val="003399"/>
                  </a:solidFill>
                  <a:latin typeface="+mj-lt"/>
                </a:rPr>
                <a:t>14</a:t>
              </a:r>
            </a:p>
          </p:txBody>
        </p:sp>
        <p:sp>
          <p:nvSpPr>
            <p:cNvPr id="29" name="TextBox 28"/>
            <p:cNvSpPr txBox="1"/>
            <p:nvPr/>
          </p:nvSpPr>
          <p:spPr>
            <a:xfrm>
              <a:off x="5487910" y="4393848"/>
              <a:ext cx="112210" cy="276999"/>
            </a:xfrm>
            <a:prstGeom prst="rect">
              <a:avLst/>
            </a:prstGeom>
            <a:noFill/>
          </p:spPr>
          <p:txBody>
            <a:bodyPr wrap="none" lIns="0" tIns="0" rIns="0" bIns="0" rtlCol="0">
              <a:spAutoFit/>
            </a:bodyPr>
            <a:lstStyle/>
            <a:p>
              <a:pPr algn="ctr"/>
              <a:r>
                <a:rPr lang="en-US">
                  <a:solidFill>
                    <a:srgbClr val="003399"/>
                  </a:solidFill>
                  <a:latin typeface="+mj-lt"/>
                </a:rPr>
                <a:t>T</a:t>
              </a:r>
            </a:p>
          </p:txBody>
        </p:sp>
        <p:sp>
          <p:nvSpPr>
            <p:cNvPr id="30" name="TextBox 29"/>
            <p:cNvSpPr txBox="1"/>
            <p:nvPr/>
          </p:nvSpPr>
          <p:spPr>
            <a:xfrm>
              <a:off x="4838120" y="4429390"/>
              <a:ext cx="105798" cy="276999"/>
            </a:xfrm>
            <a:prstGeom prst="rect">
              <a:avLst/>
            </a:prstGeom>
            <a:noFill/>
          </p:spPr>
          <p:txBody>
            <a:bodyPr wrap="none" lIns="0" tIns="0" rIns="0" bIns="0" rtlCol="0">
              <a:spAutoFit/>
            </a:bodyPr>
            <a:lstStyle/>
            <a:p>
              <a:pPr algn="ctr"/>
              <a:r>
                <a:rPr lang="en-US">
                  <a:solidFill>
                    <a:srgbClr val="003399"/>
                  </a:solidFill>
                  <a:latin typeface="+mj-lt"/>
                </a:rPr>
                <a:t>F</a:t>
              </a:r>
            </a:p>
          </p:txBody>
        </p:sp>
        <p:sp>
          <p:nvSpPr>
            <p:cNvPr id="31" name="Oval 30"/>
            <p:cNvSpPr/>
            <p:nvPr/>
          </p:nvSpPr>
          <p:spPr>
            <a:xfrm>
              <a:off x="6226514" y="6230389"/>
              <a:ext cx="844949" cy="5334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solidFill>
                    <a:srgbClr val="003399"/>
                  </a:solidFill>
                  <a:latin typeface="+mj-lt"/>
                </a:rPr>
                <a:t>15</a:t>
              </a:r>
            </a:p>
          </p:txBody>
        </p:sp>
        <p:cxnSp>
          <p:nvCxnSpPr>
            <p:cNvPr id="32" name="Straight Arrow Connector 31"/>
            <p:cNvCxnSpPr>
              <a:stCxn id="28" idx="4"/>
              <a:endCxn id="31" idx="0"/>
            </p:cNvCxnSpPr>
            <p:nvPr/>
          </p:nvCxnSpPr>
          <p:spPr>
            <a:xfrm>
              <a:off x="4790950" y="5432074"/>
              <a:ext cx="1858039" cy="79831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5" idx="4"/>
              <a:endCxn id="31" idx="0"/>
            </p:cNvCxnSpPr>
            <p:nvPr/>
          </p:nvCxnSpPr>
          <p:spPr>
            <a:xfrm>
              <a:off x="5756541" y="5371937"/>
              <a:ext cx="892448" cy="858452"/>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0" idx="4"/>
              <a:endCxn id="31" idx="0"/>
            </p:cNvCxnSpPr>
            <p:nvPr/>
          </p:nvCxnSpPr>
          <p:spPr>
            <a:xfrm flipH="1">
              <a:off x="6648989" y="5318792"/>
              <a:ext cx="689907" cy="911597"/>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7" idx="4"/>
              <a:endCxn id="31" idx="0"/>
            </p:cNvCxnSpPr>
            <p:nvPr/>
          </p:nvCxnSpPr>
          <p:spPr>
            <a:xfrm flipH="1">
              <a:off x="6648989" y="5258655"/>
              <a:ext cx="1655498" cy="971734"/>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9359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a:spLocks noGrp="1"/>
          </p:cNvSpPr>
          <p:nvPr>
            <p:ph type="title"/>
          </p:nvPr>
        </p:nvSpPr>
        <p:spPr/>
        <p:txBody>
          <a:bodyPr>
            <a:normAutofit fontScale="90000"/>
          </a:bodyPr>
          <a:lstStyle/>
          <a:p>
            <a:r>
              <a:rPr lang="en-US" dirty="0"/>
              <a:t>Statement coverage example 2 - Solution</a:t>
            </a:r>
          </a:p>
        </p:txBody>
      </p:sp>
      <p:sp>
        <p:nvSpPr>
          <p:cNvPr id="12" name="Content Placeholder 11"/>
          <p:cNvSpPr>
            <a:spLocks noGrp="1"/>
          </p:cNvSpPr>
          <p:nvPr>
            <p:ph idx="1"/>
          </p:nvPr>
        </p:nvSpPr>
        <p:spPr/>
        <p:txBody>
          <a:bodyPr/>
          <a:lstStyle/>
          <a:p>
            <a:r>
              <a:rPr lang="en-US"/>
              <a:t>Design test case</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12</a:t>
            </a:fld>
            <a:endParaRPr lang="en-US"/>
          </a:p>
        </p:txBody>
      </p:sp>
      <p:graphicFrame>
        <p:nvGraphicFramePr>
          <p:cNvPr id="13" name="Content Placeholder 3"/>
          <p:cNvGraphicFramePr>
            <a:graphicFrameLocks/>
          </p:cNvGraphicFramePr>
          <p:nvPr>
            <p:extLst>
              <p:ext uri="{D42A27DB-BD31-4B8C-83A1-F6EECF244321}">
                <p14:modId xmlns:p14="http://schemas.microsoft.com/office/powerpoint/2010/main" val="2699979179"/>
              </p:ext>
            </p:extLst>
          </p:nvPr>
        </p:nvGraphicFramePr>
        <p:xfrm>
          <a:off x="223599" y="2057400"/>
          <a:ext cx="8484320" cy="2880360"/>
        </p:xfrm>
        <a:graphic>
          <a:graphicData uri="http://schemas.openxmlformats.org/drawingml/2006/table">
            <a:tbl>
              <a:tblPr firstRow="1" bandRow="1">
                <a:tableStyleId>{5C22544A-7EE6-4342-B048-85BDC9FD1C3A}</a:tableStyleId>
              </a:tblPr>
              <a:tblGrid>
                <a:gridCol w="386001">
                  <a:extLst>
                    <a:ext uri="{9D8B030D-6E8A-4147-A177-3AD203B41FA5}">
                      <a16:colId xmlns:a16="http://schemas.microsoft.com/office/drawing/2014/main" val="20000"/>
                    </a:ext>
                  </a:extLst>
                </a:gridCol>
                <a:gridCol w="2193864">
                  <a:extLst>
                    <a:ext uri="{9D8B030D-6E8A-4147-A177-3AD203B41FA5}">
                      <a16:colId xmlns:a16="http://schemas.microsoft.com/office/drawing/2014/main" val="20001"/>
                    </a:ext>
                  </a:extLst>
                </a:gridCol>
                <a:gridCol w="625537">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54518">
                  <a:extLst>
                    <a:ext uri="{9D8B030D-6E8A-4147-A177-3AD203B41FA5}">
                      <a16:colId xmlns:a16="http://schemas.microsoft.com/office/drawing/2014/main" val="20004"/>
                    </a:ext>
                  </a:extLst>
                </a:gridCol>
                <a:gridCol w="2057400">
                  <a:extLst>
                    <a:ext uri="{9D8B030D-6E8A-4147-A177-3AD203B41FA5}">
                      <a16:colId xmlns:a16="http://schemas.microsoft.com/office/drawing/2014/main" val="20005"/>
                    </a:ext>
                  </a:extLst>
                </a:gridCol>
                <a:gridCol w="990600">
                  <a:extLst>
                    <a:ext uri="{9D8B030D-6E8A-4147-A177-3AD203B41FA5}">
                      <a16:colId xmlns:a16="http://schemas.microsoft.com/office/drawing/2014/main" val="20006"/>
                    </a:ext>
                  </a:extLst>
                </a:gridCol>
                <a:gridCol w="1143000">
                  <a:extLst>
                    <a:ext uri="{9D8B030D-6E8A-4147-A177-3AD203B41FA5}">
                      <a16:colId xmlns:a16="http://schemas.microsoft.com/office/drawing/2014/main" val="20007"/>
                    </a:ext>
                  </a:extLst>
                </a:gridCol>
              </a:tblGrid>
              <a:tr h="370840">
                <a:tc rowSpan="3">
                  <a:txBody>
                    <a:bodyPr/>
                    <a:lstStyle/>
                    <a:p>
                      <a:pPr algn="ctr"/>
                      <a:r>
                        <a:rPr lang="en-US" sz="2400">
                          <a:latin typeface="+mj-lt"/>
                        </a:rPr>
                        <a:t>#</a:t>
                      </a:r>
                    </a:p>
                  </a:txBody>
                  <a:tcPr/>
                </a:tc>
                <a:tc rowSpan="3">
                  <a:txBody>
                    <a:bodyPr/>
                    <a:lstStyle/>
                    <a:p>
                      <a:pPr algn="ctr"/>
                      <a:r>
                        <a:rPr lang="en-US" sz="2400">
                          <a:latin typeface="+mj-lt"/>
                        </a:rPr>
                        <a:t>Test</a:t>
                      </a:r>
                      <a:r>
                        <a:rPr lang="en-US" sz="2400" baseline="0">
                          <a:latin typeface="+mj-lt"/>
                        </a:rPr>
                        <a:t> condition</a:t>
                      </a:r>
                      <a:endParaRPr lang="en-US" sz="2400">
                        <a:latin typeface="+mj-lt"/>
                      </a:endParaRPr>
                    </a:p>
                  </a:txBody>
                  <a:tcPr/>
                </a:tc>
                <a:tc gridSpan="3">
                  <a:txBody>
                    <a:bodyPr/>
                    <a:lstStyle/>
                    <a:p>
                      <a:pPr algn="ctr"/>
                      <a:r>
                        <a:rPr lang="en-US" sz="2400">
                          <a:latin typeface="+mj-lt"/>
                        </a:rPr>
                        <a:t>Input</a:t>
                      </a:r>
                    </a:p>
                  </a:txBody>
                  <a:tcPr/>
                </a:tc>
                <a:tc hMerge="1">
                  <a:txBody>
                    <a:bodyPr/>
                    <a:lstStyle/>
                    <a:p>
                      <a:pPr algn="ctr"/>
                      <a:endParaRPr lang="en-US" sz="2400">
                        <a:latin typeface="+mj-lt"/>
                      </a:endParaRPr>
                    </a:p>
                  </a:txBody>
                  <a:tcPr/>
                </a:tc>
                <a:tc hMerge="1">
                  <a:txBody>
                    <a:bodyPr/>
                    <a:lstStyle/>
                    <a:p>
                      <a:pPr algn="ctr"/>
                      <a:endParaRPr lang="en-US" sz="2400">
                        <a:latin typeface="+mj-lt"/>
                      </a:endParaRPr>
                    </a:p>
                  </a:txBody>
                  <a:tcPr/>
                </a:tc>
                <a:tc row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a:latin typeface="+mj-lt"/>
                        </a:rPr>
                        <a:t>Line number executed</a:t>
                      </a:r>
                    </a:p>
                  </a:txBody>
                  <a:tcPr/>
                </a:tc>
                <a:tc rowSpan="2" gridSpan="2">
                  <a:txBody>
                    <a:bodyPr/>
                    <a:lstStyle/>
                    <a:p>
                      <a:pPr algn="ctr"/>
                      <a:r>
                        <a:rPr lang="en-US" sz="2400">
                          <a:latin typeface="+mj-lt"/>
                        </a:rPr>
                        <a:t>Expected</a:t>
                      </a:r>
                      <a:r>
                        <a:rPr lang="en-US" sz="2400" baseline="0">
                          <a:latin typeface="+mj-lt"/>
                        </a:rPr>
                        <a:t> result</a:t>
                      </a:r>
                      <a:endParaRPr lang="en-US" sz="2400">
                        <a:latin typeface="+mj-lt"/>
                      </a:endParaRPr>
                    </a:p>
                  </a:txBody>
                  <a:tcPr/>
                </a:tc>
                <a:tc rowSpan="2" hMerge="1">
                  <a:txBody>
                    <a:bodyPr/>
                    <a:lstStyle/>
                    <a:p>
                      <a:pPr algn="r"/>
                      <a:endParaRPr lang="en-US" sz="2400">
                        <a:latin typeface="+mj-lt"/>
                      </a:endParaRPr>
                    </a:p>
                  </a:txBody>
                  <a:tcPr/>
                </a:tc>
                <a:extLst>
                  <a:ext uri="{0D108BD9-81ED-4DB2-BD59-A6C34878D82A}">
                    <a16:rowId xmlns:a16="http://schemas.microsoft.com/office/drawing/2014/main" val="10000"/>
                  </a:ext>
                </a:extLst>
              </a:tr>
              <a:tr h="137160">
                <a:tc vMerge="1">
                  <a:txBody>
                    <a:bodyPr/>
                    <a:lstStyle/>
                    <a:p>
                      <a:endParaRPr lang="en-US" sz="2400">
                        <a:latin typeface="+mj-lt"/>
                      </a:endParaRPr>
                    </a:p>
                  </a:txBody>
                  <a:tcPr/>
                </a:tc>
                <a:tc vMerge="1">
                  <a:txBody>
                    <a:bodyPr/>
                    <a:lstStyle/>
                    <a:p>
                      <a:endParaRPr lang="en-US" sz="2400">
                        <a:latin typeface="+mj-lt"/>
                      </a:endParaRPr>
                    </a:p>
                  </a:txBody>
                  <a:tcPr/>
                </a:tc>
                <a:tc rowSpan="2">
                  <a:txBody>
                    <a:bodyPr/>
                    <a:lstStyle/>
                    <a:p>
                      <a:pPr algn="ctr"/>
                      <a:r>
                        <a:rPr lang="en-US" sz="2400">
                          <a:latin typeface="+mj-lt"/>
                        </a:rPr>
                        <a:t>A</a:t>
                      </a:r>
                    </a:p>
                  </a:txBody>
                  <a:tcPr/>
                </a:tc>
                <a:tc rowSpan="2">
                  <a:txBody>
                    <a:bodyPr/>
                    <a:lstStyle/>
                    <a:p>
                      <a:pPr algn="ctr"/>
                      <a:r>
                        <a:rPr lang="en-US" sz="2400">
                          <a:latin typeface="+mj-lt"/>
                        </a:rPr>
                        <a:t>B</a:t>
                      </a:r>
                    </a:p>
                  </a:txBody>
                  <a:tcPr/>
                </a:tc>
                <a:tc rowSpan="2">
                  <a:txBody>
                    <a:bodyPr/>
                    <a:lstStyle/>
                    <a:p>
                      <a:pPr algn="ctr"/>
                      <a:r>
                        <a:rPr lang="en-US" sz="2400">
                          <a:latin typeface="+mj-lt"/>
                        </a:rPr>
                        <a:t>C</a:t>
                      </a:r>
                    </a:p>
                  </a:txBody>
                  <a:tcPr/>
                </a:tc>
                <a:tc vMerge="1">
                  <a:txBody>
                    <a:bodyPr/>
                    <a:lstStyle/>
                    <a:p>
                      <a:pPr algn="l"/>
                      <a:endParaRPr lang="en-US" sz="2400">
                        <a:latin typeface="+mj-lt"/>
                      </a:endParaRPr>
                    </a:p>
                  </a:txBody>
                  <a:tcPr/>
                </a:tc>
                <a:tc gridSpan="2" vMerge="1">
                  <a:txBody>
                    <a:bodyPr/>
                    <a:lstStyle/>
                    <a:p>
                      <a:pPr algn="r"/>
                      <a:endParaRPr lang="en-US" sz="2400">
                        <a:latin typeface="+mj-lt"/>
                      </a:endParaRPr>
                    </a:p>
                  </a:txBody>
                  <a:tcPr/>
                </a:tc>
                <a:tc hMerge="1" vMerge="1">
                  <a:txBody>
                    <a:bodyPr/>
                    <a:lstStyle/>
                    <a:p>
                      <a:pPr algn="r"/>
                      <a:endParaRPr lang="en-US" sz="2400">
                        <a:latin typeface="+mj-lt"/>
                      </a:endParaRPr>
                    </a:p>
                  </a:txBody>
                  <a:tcPr/>
                </a:tc>
                <a:extLst>
                  <a:ext uri="{0D108BD9-81ED-4DB2-BD59-A6C34878D82A}">
                    <a16:rowId xmlns:a16="http://schemas.microsoft.com/office/drawing/2014/main" val="10001"/>
                  </a:ext>
                </a:extLst>
              </a:tr>
              <a:tr h="39624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kumimoji="0" lang="en-US" sz="2400" kern="1200">
                          <a:solidFill>
                            <a:schemeClr val="dk1"/>
                          </a:solidFill>
                          <a:latin typeface="+mn-lt"/>
                          <a:ea typeface="+mn-ea"/>
                          <a:cs typeface="+mn-cs"/>
                        </a:rPr>
                        <a:t>Max</a:t>
                      </a:r>
                    </a:p>
                  </a:txBody>
                  <a:tcPr/>
                </a:tc>
                <a:tc>
                  <a:txBody>
                    <a:bodyPr/>
                    <a:lstStyle/>
                    <a:p>
                      <a:pPr algn="r"/>
                      <a:r>
                        <a:rPr kumimoji="0" lang="en-US" sz="2400" kern="1200">
                          <a:solidFill>
                            <a:schemeClr val="dk1"/>
                          </a:solidFill>
                          <a:latin typeface="+mn-lt"/>
                          <a:ea typeface="+mn-ea"/>
                          <a:cs typeface="+mn-cs"/>
                        </a:rPr>
                        <a:t>Mean</a:t>
                      </a:r>
                      <a:endParaRPr lang="en-US" sz="2400">
                        <a:latin typeface="+mj-lt"/>
                      </a:endParaRPr>
                    </a:p>
                  </a:txBody>
                  <a:tcPr/>
                </a:tc>
                <a:extLst>
                  <a:ext uri="{0D108BD9-81ED-4DB2-BD59-A6C34878D82A}">
                    <a16:rowId xmlns:a16="http://schemas.microsoft.com/office/drawing/2014/main" val="10002"/>
                  </a:ext>
                </a:extLst>
              </a:tr>
              <a:tr h="370840">
                <a:tc>
                  <a:txBody>
                    <a:bodyPr/>
                    <a:lstStyle/>
                    <a:p>
                      <a:r>
                        <a:rPr lang="en-US" sz="2400">
                          <a:latin typeface="+mj-lt"/>
                        </a:rPr>
                        <a:t>1</a:t>
                      </a:r>
                    </a:p>
                  </a:txBody>
                  <a:tcPr/>
                </a:tc>
                <a:tc>
                  <a:txBody>
                    <a:bodyPr/>
                    <a:lstStyle/>
                    <a:p>
                      <a:r>
                        <a:rPr lang="en-US" sz="2400">
                          <a:latin typeface="+mj-lt"/>
                        </a:rPr>
                        <a:t>A&gt;B</a:t>
                      </a:r>
                      <a:r>
                        <a:rPr lang="en-US" sz="2400" baseline="0">
                          <a:latin typeface="+mj-lt"/>
                        </a:rPr>
                        <a:t> and A&gt;C</a:t>
                      </a:r>
                      <a:endParaRPr lang="en-US" sz="2400">
                        <a:latin typeface="+mj-lt"/>
                      </a:endParaRPr>
                    </a:p>
                  </a:txBody>
                  <a:tcPr/>
                </a:tc>
                <a:tc>
                  <a:txBody>
                    <a:bodyPr/>
                    <a:lstStyle/>
                    <a:p>
                      <a:pPr algn="ctr"/>
                      <a:r>
                        <a:rPr lang="en-US" sz="2400" dirty="0">
                          <a:latin typeface="+mj-lt"/>
                        </a:rPr>
                        <a:t>5</a:t>
                      </a:r>
                    </a:p>
                  </a:txBody>
                  <a:tcPr/>
                </a:tc>
                <a:tc>
                  <a:txBody>
                    <a:bodyPr/>
                    <a:lstStyle/>
                    <a:p>
                      <a:pPr algn="ctr"/>
                      <a:r>
                        <a:rPr lang="en-US" sz="2400" dirty="0">
                          <a:latin typeface="+mj-lt"/>
                        </a:rPr>
                        <a:t>2</a:t>
                      </a:r>
                    </a:p>
                  </a:txBody>
                  <a:tcPr/>
                </a:tc>
                <a:tc>
                  <a:txBody>
                    <a:bodyPr/>
                    <a:lstStyle/>
                    <a:p>
                      <a:pPr algn="ctr"/>
                      <a:r>
                        <a:rPr lang="en-US" sz="2400" dirty="0">
                          <a:latin typeface="+mj-lt"/>
                        </a:rPr>
                        <a:t>3</a:t>
                      </a:r>
                    </a:p>
                  </a:txBody>
                  <a:tcPr/>
                </a:tc>
                <a:tc>
                  <a:txBody>
                    <a:bodyPr/>
                    <a:lstStyle/>
                    <a:p>
                      <a:pPr algn="l"/>
                      <a:r>
                        <a:rPr lang="en-US" sz="2400" dirty="0">
                          <a:latin typeface="+mj-lt"/>
                        </a:rPr>
                        <a:t>1-4,5,6,7,15</a:t>
                      </a:r>
                    </a:p>
                  </a:txBody>
                  <a:tcPr/>
                </a:tc>
                <a:tc>
                  <a:txBody>
                    <a:bodyPr/>
                    <a:lstStyle/>
                    <a:p>
                      <a:pPr algn="r"/>
                      <a:r>
                        <a:rPr lang="en-US" sz="2400" dirty="0">
                          <a:latin typeface="+mj-lt"/>
                        </a:rPr>
                        <a:t>5</a:t>
                      </a:r>
                    </a:p>
                  </a:txBody>
                  <a:tcPr/>
                </a:tc>
                <a:tc>
                  <a:txBody>
                    <a:bodyPr/>
                    <a:lstStyle/>
                    <a:p>
                      <a:pPr algn="r"/>
                      <a:r>
                        <a:rPr lang="en-US" sz="2400" dirty="0">
                          <a:latin typeface="+mj-lt"/>
                        </a:rPr>
                        <a:t>3.33</a:t>
                      </a:r>
                    </a:p>
                  </a:txBody>
                  <a:tcPr/>
                </a:tc>
                <a:extLst>
                  <a:ext uri="{0D108BD9-81ED-4DB2-BD59-A6C34878D82A}">
                    <a16:rowId xmlns:a16="http://schemas.microsoft.com/office/drawing/2014/main" val="10003"/>
                  </a:ext>
                </a:extLst>
              </a:tr>
              <a:tr h="370840">
                <a:tc>
                  <a:txBody>
                    <a:bodyPr/>
                    <a:lstStyle/>
                    <a:p>
                      <a:r>
                        <a:rPr lang="en-US" sz="2400">
                          <a:latin typeface="+mj-lt"/>
                        </a:rPr>
                        <a:t>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400" kern="1200">
                          <a:solidFill>
                            <a:schemeClr val="dk1"/>
                          </a:solidFill>
                          <a:latin typeface="+mj-lt"/>
                          <a:ea typeface="+mn-ea"/>
                          <a:cs typeface="+mn-cs"/>
                        </a:rPr>
                        <a:t>A&gt;B</a:t>
                      </a:r>
                      <a:r>
                        <a:rPr kumimoji="0" lang="en-US" sz="2400" kern="1200" baseline="0">
                          <a:solidFill>
                            <a:schemeClr val="dk1"/>
                          </a:solidFill>
                          <a:latin typeface="+mj-lt"/>
                          <a:ea typeface="+mn-ea"/>
                          <a:cs typeface="+mn-cs"/>
                        </a:rPr>
                        <a:t> and A&lt;=C</a:t>
                      </a:r>
                      <a:endParaRPr kumimoji="0" lang="en-US" sz="2400" kern="1200">
                        <a:solidFill>
                          <a:schemeClr val="dk1"/>
                        </a:solidFill>
                        <a:latin typeface="+mj-lt"/>
                        <a:ea typeface="+mn-ea"/>
                        <a:cs typeface="+mn-cs"/>
                      </a:endParaRPr>
                    </a:p>
                  </a:txBody>
                  <a:tcPr/>
                </a:tc>
                <a:tc>
                  <a:txBody>
                    <a:bodyPr/>
                    <a:lstStyle/>
                    <a:p>
                      <a:pPr algn="ctr"/>
                      <a:r>
                        <a:rPr lang="en-US" sz="2400">
                          <a:latin typeface="+mj-lt"/>
                        </a:rPr>
                        <a:t>5</a:t>
                      </a:r>
                    </a:p>
                  </a:txBody>
                  <a:tcPr/>
                </a:tc>
                <a:tc>
                  <a:txBody>
                    <a:bodyPr/>
                    <a:lstStyle/>
                    <a:p>
                      <a:pPr algn="ctr"/>
                      <a:r>
                        <a:rPr lang="en-US" sz="2400">
                          <a:latin typeface="+mj-lt"/>
                        </a:rPr>
                        <a:t>2</a:t>
                      </a:r>
                    </a:p>
                  </a:txBody>
                  <a:tcPr/>
                </a:tc>
                <a:tc>
                  <a:txBody>
                    <a:bodyPr/>
                    <a:lstStyle/>
                    <a:p>
                      <a:pPr algn="ctr"/>
                      <a:r>
                        <a:rPr lang="en-US" sz="2400" dirty="0">
                          <a:latin typeface="+mj-lt"/>
                        </a:rPr>
                        <a:t>7</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400" kern="1200" dirty="0">
                          <a:solidFill>
                            <a:schemeClr val="dk1"/>
                          </a:solidFill>
                          <a:latin typeface="+mj-lt"/>
                          <a:ea typeface="+mn-ea"/>
                          <a:cs typeface="+mn-cs"/>
                        </a:rPr>
                        <a:t>1-4,5,6,9,15</a:t>
                      </a:r>
                    </a:p>
                  </a:txBody>
                  <a:tcPr/>
                </a:tc>
                <a:tc>
                  <a:txBody>
                    <a:bodyPr/>
                    <a:lstStyle/>
                    <a:p>
                      <a:pPr algn="r"/>
                      <a:r>
                        <a:rPr lang="en-US" sz="2400">
                          <a:latin typeface="+mj-lt"/>
                        </a:rPr>
                        <a:t>7</a:t>
                      </a:r>
                    </a:p>
                  </a:txBody>
                  <a:tcPr/>
                </a:tc>
                <a:tc>
                  <a:txBody>
                    <a:bodyPr/>
                    <a:lstStyle/>
                    <a:p>
                      <a:pPr algn="r"/>
                      <a:r>
                        <a:rPr lang="en-US" sz="2400">
                          <a:latin typeface="+mj-lt"/>
                        </a:rPr>
                        <a:t>4.66</a:t>
                      </a:r>
                    </a:p>
                  </a:txBody>
                  <a:tcPr/>
                </a:tc>
                <a:extLst>
                  <a:ext uri="{0D108BD9-81ED-4DB2-BD59-A6C34878D82A}">
                    <a16:rowId xmlns:a16="http://schemas.microsoft.com/office/drawing/2014/main" val="10004"/>
                  </a:ext>
                </a:extLst>
              </a:tr>
              <a:tr h="370840">
                <a:tc>
                  <a:txBody>
                    <a:bodyPr/>
                    <a:lstStyle/>
                    <a:p>
                      <a:r>
                        <a:rPr lang="en-US" sz="2400">
                          <a:latin typeface="+mj-lt"/>
                        </a:rPr>
                        <a:t>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400" kern="1200">
                          <a:solidFill>
                            <a:schemeClr val="dk1"/>
                          </a:solidFill>
                          <a:latin typeface="+mj-lt"/>
                          <a:ea typeface="+mn-ea"/>
                          <a:cs typeface="+mn-cs"/>
                        </a:rPr>
                        <a:t>A&lt;=B</a:t>
                      </a:r>
                      <a:r>
                        <a:rPr kumimoji="0" lang="en-US" sz="2400" kern="1200" baseline="0">
                          <a:solidFill>
                            <a:schemeClr val="dk1"/>
                          </a:solidFill>
                          <a:latin typeface="+mj-lt"/>
                          <a:ea typeface="+mn-ea"/>
                          <a:cs typeface="+mn-cs"/>
                        </a:rPr>
                        <a:t> and B&gt;C</a:t>
                      </a:r>
                      <a:endParaRPr kumimoji="0" lang="en-US" sz="2400" kern="1200">
                        <a:solidFill>
                          <a:schemeClr val="dk1"/>
                        </a:solidFill>
                        <a:latin typeface="+mj-lt"/>
                        <a:ea typeface="+mn-ea"/>
                        <a:cs typeface="+mn-cs"/>
                      </a:endParaRPr>
                    </a:p>
                  </a:txBody>
                  <a:tcPr/>
                </a:tc>
                <a:tc>
                  <a:txBody>
                    <a:bodyPr/>
                    <a:lstStyle/>
                    <a:p>
                      <a:pPr algn="ctr"/>
                      <a:r>
                        <a:rPr lang="en-US" sz="2400">
                          <a:latin typeface="+mj-lt"/>
                        </a:rPr>
                        <a:t>5</a:t>
                      </a:r>
                    </a:p>
                  </a:txBody>
                  <a:tcPr/>
                </a:tc>
                <a:tc>
                  <a:txBody>
                    <a:bodyPr/>
                    <a:lstStyle/>
                    <a:p>
                      <a:pPr algn="ctr"/>
                      <a:r>
                        <a:rPr lang="en-US" sz="2400">
                          <a:latin typeface="+mj-lt"/>
                        </a:rPr>
                        <a:t>7</a:t>
                      </a:r>
                    </a:p>
                  </a:txBody>
                  <a:tcPr/>
                </a:tc>
                <a:tc>
                  <a:txBody>
                    <a:bodyPr/>
                    <a:lstStyle/>
                    <a:p>
                      <a:pPr algn="ctr"/>
                      <a:r>
                        <a:rPr lang="en-US" sz="2400">
                          <a:latin typeface="+mj-lt"/>
                        </a:rPr>
                        <a:t>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400" kern="1200">
                          <a:solidFill>
                            <a:schemeClr val="dk1"/>
                          </a:solidFill>
                          <a:latin typeface="+mj-lt"/>
                          <a:ea typeface="+mn-ea"/>
                          <a:cs typeface="+mn-cs"/>
                        </a:rPr>
                        <a:t>1-4,5,11,12,15</a:t>
                      </a:r>
                    </a:p>
                  </a:txBody>
                  <a:tcPr/>
                </a:tc>
                <a:tc>
                  <a:txBody>
                    <a:bodyPr/>
                    <a:lstStyle/>
                    <a:p>
                      <a:pPr algn="r"/>
                      <a:r>
                        <a:rPr lang="en-US" sz="2400">
                          <a:latin typeface="+mj-lt"/>
                        </a:rPr>
                        <a:t>7</a:t>
                      </a:r>
                    </a:p>
                  </a:txBody>
                  <a:tcPr/>
                </a:tc>
                <a:tc>
                  <a:txBody>
                    <a:bodyPr/>
                    <a:lstStyle/>
                    <a:p>
                      <a:pPr algn="r"/>
                      <a:r>
                        <a:rPr lang="en-US" sz="2400">
                          <a:latin typeface="+mj-lt"/>
                        </a:rPr>
                        <a:t>5.33</a:t>
                      </a:r>
                    </a:p>
                  </a:txBody>
                  <a:tcPr/>
                </a:tc>
                <a:extLst>
                  <a:ext uri="{0D108BD9-81ED-4DB2-BD59-A6C34878D82A}">
                    <a16:rowId xmlns:a16="http://schemas.microsoft.com/office/drawing/2014/main" val="10005"/>
                  </a:ext>
                </a:extLst>
              </a:tr>
              <a:tr h="370840">
                <a:tc>
                  <a:txBody>
                    <a:bodyPr/>
                    <a:lstStyle/>
                    <a:p>
                      <a:r>
                        <a:rPr lang="en-US" sz="2400">
                          <a:latin typeface="+mj-lt"/>
                        </a:rPr>
                        <a:t>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400" kern="1200">
                          <a:solidFill>
                            <a:schemeClr val="dk1"/>
                          </a:solidFill>
                          <a:latin typeface="+mj-lt"/>
                          <a:ea typeface="+mn-ea"/>
                          <a:cs typeface="+mn-cs"/>
                        </a:rPr>
                        <a:t>A&lt;=B</a:t>
                      </a:r>
                      <a:r>
                        <a:rPr kumimoji="0" lang="en-US" sz="2400" kern="1200" baseline="0">
                          <a:solidFill>
                            <a:schemeClr val="dk1"/>
                          </a:solidFill>
                          <a:latin typeface="+mj-lt"/>
                          <a:ea typeface="+mn-ea"/>
                          <a:cs typeface="+mn-cs"/>
                        </a:rPr>
                        <a:t> and B&lt;=C</a:t>
                      </a:r>
                      <a:endParaRPr kumimoji="0" lang="en-US" sz="2400" kern="1200">
                        <a:solidFill>
                          <a:schemeClr val="dk1"/>
                        </a:solidFill>
                        <a:latin typeface="+mj-lt"/>
                        <a:ea typeface="+mn-ea"/>
                        <a:cs typeface="+mn-cs"/>
                      </a:endParaRPr>
                    </a:p>
                  </a:txBody>
                  <a:tcPr/>
                </a:tc>
                <a:tc>
                  <a:txBody>
                    <a:bodyPr/>
                    <a:lstStyle/>
                    <a:p>
                      <a:pPr algn="ctr"/>
                      <a:r>
                        <a:rPr lang="en-US" sz="2400">
                          <a:latin typeface="+mj-lt"/>
                        </a:rPr>
                        <a:t>5</a:t>
                      </a:r>
                    </a:p>
                  </a:txBody>
                  <a:tcPr/>
                </a:tc>
                <a:tc>
                  <a:txBody>
                    <a:bodyPr/>
                    <a:lstStyle/>
                    <a:p>
                      <a:pPr algn="ctr"/>
                      <a:r>
                        <a:rPr lang="en-US" sz="2400">
                          <a:latin typeface="+mj-lt"/>
                        </a:rPr>
                        <a:t>6</a:t>
                      </a:r>
                    </a:p>
                  </a:txBody>
                  <a:tcPr/>
                </a:tc>
                <a:tc>
                  <a:txBody>
                    <a:bodyPr/>
                    <a:lstStyle/>
                    <a:p>
                      <a:pPr algn="ctr"/>
                      <a:r>
                        <a:rPr lang="en-US" sz="2400">
                          <a:latin typeface="+mj-lt"/>
                        </a:rPr>
                        <a:t>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400" kern="1200">
                          <a:solidFill>
                            <a:schemeClr val="dk1"/>
                          </a:solidFill>
                          <a:latin typeface="+mj-lt"/>
                          <a:ea typeface="+mn-ea"/>
                          <a:cs typeface="+mn-cs"/>
                        </a:rPr>
                        <a:t>1-4,5,11,14,15</a:t>
                      </a:r>
                    </a:p>
                  </a:txBody>
                  <a:tcPr/>
                </a:tc>
                <a:tc>
                  <a:txBody>
                    <a:bodyPr/>
                    <a:lstStyle/>
                    <a:p>
                      <a:pPr algn="r"/>
                      <a:r>
                        <a:rPr lang="en-US" sz="2400">
                          <a:latin typeface="+mj-lt"/>
                        </a:rPr>
                        <a:t>8</a:t>
                      </a:r>
                    </a:p>
                  </a:txBody>
                  <a:tcPr/>
                </a:tc>
                <a:tc>
                  <a:txBody>
                    <a:bodyPr/>
                    <a:lstStyle/>
                    <a:p>
                      <a:pPr algn="r"/>
                      <a:r>
                        <a:rPr lang="en-US" sz="2400" dirty="0">
                          <a:latin typeface="+mj-lt"/>
                        </a:rPr>
                        <a:t>6.33</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29683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Statement coverage exercise</a:t>
            </a:r>
          </a:p>
        </p:txBody>
      </p:sp>
      <p:pic>
        <p:nvPicPr>
          <p:cNvPr id="13315" name="Picture 3"/>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bwMode="auto">
          <a:xfrm>
            <a:off x="-27432" y="1371600"/>
            <a:ext cx="5372911" cy="5369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p:cNvSpPr>
            <a:spLocks noGrp="1"/>
          </p:cNvSpPr>
          <p:nvPr>
            <p:ph idx="1"/>
          </p:nvPr>
        </p:nvSpPr>
        <p:spPr>
          <a:xfrm>
            <a:off x="4876800" y="1295400"/>
            <a:ext cx="4191000" cy="4876800"/>
          </a:xfrm>
          <a:ln>
            <a:solidFill>
              <a:schemeClr val="accent1">
                <a:lumMod val="40000"/>
                <a:lumOff val="60000"/>
              </a:schemeClr>
            </a:solidFill>
          </a:ln>
        </p:spPr>
        <p:txBody>
          <a:bodyPr>
            <a:noAutofit/>
          </a:bodyPr>
          <a:lstStyle/>
          <a:p>
            <a:pPr marL="0" indent="0">
              <a:buNone/>
            </a:pPr>
            <a:r>
              <a:rPr lang="en-US" sz="1800" b="1" dirty="0"/>
              <a:t>A program evaluates grades for students:</a:t>
            </a:r>
          </a:p>
          <a:p>
            <a:r>
              <a:rPr lang="en-US" sz="1800" b="1" dirty="0"/>
              <a:t>If </a:t>
            </a:r>
            <a:r>
              <a:rPr lang="en-US" sz="1800" b="1" dirty="0" err="1"/>
              <a:t>StudentScore</a:t>
            </a:r>
            <a:r>
              <a:rPr lang="en-US" sz="1800" b="1" dirty="0"/>
              <a:t>&lt;=39, print "Fail".</a:t>
            </a:r>
            <a:endParaRPr lang="en-US" sz="1800" dirty="0"/>
          </a:p>
          <a:p>
            <a:r>
              <a:rPr lang="en-US" sz="1800" b="1" dirty="0"/>
              <a:t>If </a:t>
            </a:r>
            <a:r>
              <a:rPr lang="en-US" sz="1800" b="1" dirty="0" err="1"/>
              <a:t>StudentScore</a:t>
            </a:r>
            <a:r>
              <a:rPr lang="en-US" sz="1800" b="1" dirty="0"/>
              <a:t> between 39 and 60, print “Pass”</a:t>
            </a:r>
          </a:p>
          <a:p>
            <a:pPr>
              <a:defRPr/>
            </a:pPr>
            <a:r>
              <a:rPr lang="en-US" sz="1800" b="1" dirty="0"/>
              <a:t>If </a:t>
            </a:r>
            <a:r>
              <a:rPr lang="en-US" sz="1800" b="1" dirty="0" err="1"/>
              <a:t>StudentScore</a:t>
            </a:r>
            <a:r>
              <a:rPr lang="en-US" sz="1800" b="1" dirty="0"/>
              <a:t> between 59 and 80, print  “Merit” </a:t>
            </a:r>
          </a:p>
          <a:p>
            <a:pPr>
              <a:defRPr/>
            </a:pPr>
            <a:r>
              <a:rPr lang="en-US" sz="1800" b="1" dirty="0"/>
              <a:t>If </a:t>
            </a:r>
            <a:r>
              <a:rPr lang="en-US" sz="1800" b="1" dirty="0" err="1"/>
              <a:t>StudentScore</a:t>
            </a:r>
            <a:r>
              <a:rPr lang="en-US" sz="1800" b="1" dirty="0"/>
              <a:t>&gt;79, print “Distinction”</a:t>
            </a:r>
          </a:p>
          <a:p>
            <a:pPr marL="3175" indent="0">
              <a:buNone/>
            </a:pPr>
            <a:r>
              <a:rPr lang="en-US" sz="1800" b="1" dirty="0"/>
              <a:t>a. How many test cases will you  need to achieve 100% statement coverage? Design test case.</a:t>
            </a:r>
          </a:p>
          <a:p>
            <a:pPr marL="3175" indent="0">
              <a:buNone/>
            </a:pPr>
            <a:r>
              <a:rPr lang="en-US" sz="1800" b="1" dirty="0"/>
              <a:t>b. Suppose we ran two test cases: </a:t>
            </a:r>
            <a:r>
              <a:rPr lang="en-US" sz="1800" b="1" dirty="0" err="1"/>
              <a:t>StudentScore</a:t>
            </a:r>
            <a:r>
              <a:rPr lang="en-US" sz="1800" b="1" dirty="0"/>
              <a:t> = 50 and </a:t>
            </a:r>
            <a:r>
              <a:rPr lang="en-US" sz="1800" b="1" dirty="0" err="1"/>
              <a:t>StudentScore</a:t>
            </a:r>
            <a:r>
              <a:rPr lang="en-US" sz="1800" b="1" dirty="0"/>
              <a:t> = 30, which lines of pseudo code will not be exercised? How much is statement coverage?</a:t>
            </a:r>
          </a:p>
        </p:txBody>
      </p:sp>
      <p:sp>
        <p:nvSpPr>
          <p:cNvPr id="7" name="Slide Number Placeholder 6"/>
          <p:cNvSpPr>
            <a:spLocks noGrp="1"/>
          </p:cNvSpPr>
          <p:nvPr>
            <p:ph type="sldNum" sz="quarter" idx="12"/>
          </p:nvPr>
        </p:nvSpPr>
        <p:spPr/>
        <p:txBody>
          <a:bodyPr/>
          <a:lstStyle/>
          <a:p>
            <a:r>
              <a:rPr lang="en-US"/>
              <a:t>Slide </a:t>
            </a:r>
            <a:fld id="{3900DC13-0C25-439E-AA75-E5DAAC4C3713}" type="slidenum">
              <a:rPr lang="en-US" smtClean="0"/>
              <a:pPr/>
              <a:t>13</a:t>
            </a:fld>
            <a:endParaRPr lang="en-US"/>
          </a:p>
        </p:txBody>
      </p:sp>
    </p:spTree>
    <p:extLst>
      <p:ext uri="{BB962C8B-B14F-4D97-AF65-F5344CB8AC3E}">
        <p14:creationId xmlns:p14="http://schemas.microsoft.com/office/powerpoint/2010/main" val="2790846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Statement coverage exercise: Solution</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14</a:t>
            </a:fld>
            <a:endParaRPr lang="en-US"/>
          </a:p>
        </p:txBody>
      </p:sp>
    </p:spTree>
    <p:extLst>
      <p:ext uri="{BB962C8B-B14F-4D97-AF65-F5344CB8AC3E}">
        <p14:creationId xmlns:p14="http://schemas.microsoft.com/office/powerpoint/2010/main" val="615052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Statement coverage problems</a:t>
            </a:r>
          </a:p>
        </p:txBody>
      </p:sp>
      <p:sp>
        <p:nvSpPr>
          <p:cNvPr id="3" name="Content Placeholder 2"/>
          <p:cNvSpPr>
            <a:spLocks noGrp="1"/>
          </p:cNvSpPr>
          <p:nvPr>
            <p:ph idx="1"/>
          </p:nvPr>
        </p:nvSpPr>
        <p:spPr/>
        <p:txBody>
          <a:bodyPr/>
          <a:lstStyle/>
          <a:p>
            <a:r>
              <a:rPr lang="en-US"/>
              <a:t>Statement coverage can be achieved without branch coverage</a:t>
            </a:r>
          </a:p>
          <a:p>
            <a:pPr lvl="1"/>
            <a:r>
              <a:rPr lang="en-US"/>
              <a:t>important cases may be missed</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15</a:t>
            </a:fld>
            <a:endParaRPr lang="en-US"/>
          </a:p>
        </p:txBody>
      </p:sp>
    </p:spTree>
    <p:extLst>
      <p:ext uri="{BB962C8B-B14F-4D97-AF65-F5344CB8AC3E}">
        <p14:creationId xmlns:p14="http://schemas.microsoft.com/office/powerpoint/2010/main" val="1895610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Decision testing (Level 2)</a:t>
            </a:r>
          </a:p>
        </p:txBody>
      </p:sp>
      <p:sp>
        <p:nvSpPr>
          <p:cNvPr id="3" name="Content Placeholder 2"/>
          <p:cNvSpPr>
            <a:spLocks noGrp="1"/>
          </p:cNvSpPr>
          <p:nvPr>
            <p:ph idx="1"/>
          </p:nvPr>
        </p:nvSpPr>
        <p:spPr/>
        <p:txBody>
          <a:bodyPr>
            <a:normAutofit/>
          </a:bodyPr>
          <a:lstStyle/>
          <a:p>
            <a:r>
              <a:rPr lang="en-US" i="1"/>
              <a:t>A test design technique in which test cases are designed to execute </a:t>
            </a:r>
            <a:r>
              <a:rPr lang="en-US" b="1" i="1"/>
              <a:t>decision outcomes </a:t>
            </a:r>
            <a:r>
              <a:rPr lang="en-US" i="1"/>
              <a:t>[ISTQB Glossary]</a:t>
            </a:r>
          </a:p>
          <a:p>
            <a:pPr lvl="1"/>
            <a:r>
              <a:rPr lang="en-US" u="sng"/>
              <a:t>decision</a:t>
            </a:r>
            <a:r>
              <a:rPr lang="en-US"/>
              <a:t>: a logical expression which can be composed of several logical operators like "or", "and", "xor"</a:t>
            </a:r>
          </a:p>
          <a:p>
            <a:pPr lvl="1"/>
            <a:r>
              <a:rPr lang="en-US" u="sng"/>
              <a:t>decision outcome</a:t>
            </a:r>
            <a:r>
              <a:rPr lang="en-US"/>
              <a:t>: each exit from a decision</a:t>
            </a:r>
          </a:p>
          <a:p>
            <a:pPr lvl="2"/>
            <a:r>
              <a:rPr lang="en-US"/>
              <a:t>two or more possible decision outcomes</a:t>
            </a:r>
          </a:p>
          <a:p>
            <a:endParaRPr lang="en-US"/>
          </a:p>
          <a:p>
            <a:endParaRPr lang="en-US"/>
          </a:p>
          <a:p>
            <a:endParaRPr lang="en-US"/>
          </a:p>
          <a:p>
            <a:endParaRPr lang="en-US"/>
          </a:p>
          <a:p>
            <a:r>
              <a:rPr lang="en-US"/>
              <a:t>Known as 'Branch testing', 'Basis path testing'</a:t>
            </a:r>
          </a:p>
        </p:txBody>
      </p:sp>
      <p:grpSp>
        <p:nvGrpSpPr>
          <p:cNvPr id="4" name="Group 1031"/>
          <p:cNvGrpSpPr>
            <a:grpSpLocks/>
          </p:cNvGrpSpPr>
          <p:nvPr/>
        </p:nvGrpSpPr>
        <p:grpSpPr bwMode="auto">
          <a:xfrm>
            <a:off x="7636229" y="2589212"/>
            <a:ext cx="1360488" cy="3735388"/>
            <a:chOff x="4903" y="929"/>
            <a:chExt cx="849" cy="2244"/>
          </a:xfrm>
        </p:grpSpPr>
        <p:sp>
          <p:nvSpPr>
            <p:cNvPr id="5" name="Line 1032"/>
            <p:cNvSpPr>
              <a:spLocks noChangeShapeType="1"/>
            </p:cNvSpPr>
            <p:nvPr/>
          </p:nvSpPr>
          <p:spPr bwMode="auto">
            <a:xfrm>
              <a:off x="5186" y="1724"/>
              <a:ext cx="565"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Line 1033"/>
            <p:cNvSpPr>
              <a:spLocks noChangeShapeType="1"/>
            </p:cNvSpPr>
            <p:nvPr/>
          </p:nvSpPr>
          <p:spPr bwMode="auto">
            <a:xfrm>
              <a:off x="5150" y="1087"/>
              <a:ext cx="0" cy="193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AutoShape 1034"/>
            <p:cNvSpPr>
              <a:spLocks noChangeArrowheads="1"/>
            </p:cNvSpPr>
            <p:nvPr/>
          </p:nvSpPr>
          <p:spPr bwMode="auto">
            <a:xfrm>
              <a:off x="4911" y="1480"/>
              <a:ext cx="479" cy="479"/>
            </a:xfrm>
            <a:prstGeom prst="diamond">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Rectangle 1035"/>
            <p:cNvSpPr>
              <a:spLocks noChangeArrowheads="1"/>
            </p:cNvSpPr>
            <p:nvPr/>
          </p:nvSpPr>
          <p:spPr bwMode="auto">
            <a:xfrm>
              <a:off x="4903" y="929"/>
              <a:ext cx="495" cy="316"/>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Rectangle 1036"/>
            <p:cNvSpPr>
              <a:spLocks noChangeArrowheads="1"/>
            </p:cNvSpPr>
            <p:nvPr/>
          </p:nvSpPr>
          <p:spPr bwMode="auto">
            <a:xfrm>
              <a:off x="4903" y="2177"/>
              <a:ext cx="495" cy="316"/>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Rectangle 1037"/>
            <p:cNvSpPr>
              <a:spLocks noChangeArrowheads="1"/>
            </p:cNvSpPr>
            <p:nvPr/>
          </p:nvSpPr>
          <p:spPr bwMode="auto">
            <a:xfrm>
              <a:off x="4903" y="2857"/>
              <a:ext cx="495" cy="316"/>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Line 1038"/>
            <p:cNvSpPr>
              <a:spLocks noChangeShapeType="1"/>
            </p:cNvSpPr>
            <p:nvPr/>
          </p:nvSpPr>
          <p:spPr bwMode="auto">
            <a:xfrm>
              <a:off x="5748" y="1735"/>
              <a:ext cx="0" cy="958"/>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Line 1039"/>
            <p:cNvSpPr>
              <a:spLocks noChangeShapeType="1"/>
            </p:cNvSpPr>
            <p:nvPr/>
          </p:nvSpPr>
          <p:spPr bwMode="auto">
            <a:xfrm>
              <a:off x="5187" y="2699"/>
              <a:ext cx="565" cy="0"/>
            </a:xfrm>
            <a:prstGeom prst="line">
              <a:avLst/>
            </a:prstGeom>
            <a:noFill/>
            <a:ln w="50800">
              <a:solidFill>
                <a:schemeClr val="accent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3" name="Group 1040"/>
          <p:cNvGrpSpPr>
            <a:grpSpLocks/>
          </p:cNvGrpSpPr>
          <p:nvPr/>
        </p:nvGrpSpPr>
        <p:grpSpPr bwMode="auto">
          <a:xfrm>
            <a:off x="8090254" y="3913187"/>
            <a:ext cx="906463" cy="1622425"/>
            <a:chOff x="5233" y="1808"/>
            <a:chExt cx="571" cy="1022"/>
          </a:xfrm>
        </p:grpSpPr>
        <p:sp>
          <p:nvSpPr>
            <p:cNvPr id="14" name="Line 1041"/>
            <p:cNvSpPr>
              <a:spLocks noChangeShapeType="1"/>
            </p:cNvSpPr>
            <p:nvPr/>
          </p:nvSpPr>
          <p:spPr bwMode="auto">
            <a:xfrm>
              <a:off x="5233" y="1808"/>
              <a:ext cx="570" cy="0"/>
            </a:xfrm>
            <a:prstGeom prst="line">
              <a:avLst/>
            </a:prstGeom>
            <a:noFill/>
            <a:ln w="508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Line 1042"/>
            <p:cNvSpPr>
              <a:spLocks noChangeShapeType="1"/>
            </p:cNvSpPr>
            <p:nvPr/>
          </p:nvSpPr>
          <p:spPr bwMode="auto">
            <a:xfrm>
              <a:off x="5800" y="1820"/>
              <a:ext cx="0" cy="1004"/>
            </a:xfrm>
            <a:prstGeom prst="line">
              <a:avLst/>
            </a:prstGeom>
            <a:noFill/>
            <a:ln w="508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Line 1043"/>
            <p:cNvSpPr>
              <a:spLocks noChangeShapeType="1"/>
            </p:cNvSpPr>
            <p:nvPr/>
          </p:nvSpPr>
          <p:spPr bwMode="auto">
            <a:xfrm>
              <a:off x="5234" y="2830"/>
              <a:ext cx="570" cy="0"/>
            </a:xfrm>
            <a:prstGeom prst="line">
              <a:avLst/>
            </a:prstGeom>
            <a:noFill/>
            <a:ln w="50800">
              <a:solidFill>
                <a:srgbClr val="C00000"/>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7" name="Line 1044"/>
          <p:cNvSpPr>
            <a:spLocks noChangeShapeType="1"/>
          </p:cNvSpPr>
          <p:nvPr/>
        </p:nvSpPr>
        <p:spPr bwMode="auto">
          <a:xfrm>
            <a:off x="8031517" y="2947987"/>
            <a:ext cx="0" cy="762000"/>
          </a:xfrm>
          <a:prstGeom prst="line">
            <a:avLst/>
          </a:prstGeom>
          <a:noFill/>
          <a:ln w="50800">
            <a:solidFill>
              <a:srgbClr val="00CC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1045"/>
          <p:cNvSpPr>
            <a:spLocks noChangeShapeType="1"/>
          </p:cNvSpPr>
          <p:nvPr/>
        </p:nvSpPr>
        <p:spPr bwMode="auto">
          <a:xfrm>
            <a:off x="8031517" y="4092575"/>
            <a:ext cx="0" cy="760412"/>
          </a:xfrm>
          <a:prstGeom prst="line">
            <a:avLst/>
          </a:prstGeom>
          <a:noFill/>
          <a:ln w="508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Line 1046"/>
          <p:cNvSpPr>
            <a:spLocks noChangeShapeType="1"/>
          </p:cNvSpPr>
          <p:nvPr/>
        </p:nvSpPr>
        <p:spPr bwMode="auto">
          <a:xfrm>
            <a:off x="8031517" y="5081587"/>
            <a:ext cx="0" cy="762000"/>
          </a:xfrm>
          <a:prstGeom prst="line">
            <a:avLst/>
          </a:prstGeom>
          <a:noFill/>
          <a:ln w="508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1047"/>
          <p:cNvSpPr>
            <a:spLocks noChangeShapeType="1"/>
          </p:cNvSpPr>
          <p:nvPr/>
        </p:nvSpPr>
        <p:spPr bwMode="auto">
          <a:xfrm>
            <a:off x="8031517" y="2947987"/>
            <a:ext cx="0" cy="762000"/>
          </a:xfrm>
          <a:prstGeom prst="line">
            <a:avLst/>
          </a:prstGeom>
          <a:noFill/>
          <a:ln w="508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AutoShape 1048"/>
          <p:cNvSpPr>
            <a:spLocks noChangeArrowheads="1"/>
          </p:cNvSpPr>
          <p:nvPr/>
        </p:nvSpPr>
        <p:spPr bwMode="auto">
          <a:xfrm>
            <a:off x="7648929" y="3506787"/>
            <a:ext cx="768350" cy="796925"/>
          </a:xfrm>
          <a:prstGeom prst="diamond">
            <a:avLst/>
          </a:prstGeom>
          <a:solidFill>
            <a:srgbClr val="92D050"/>
          </a:solidFill>
          <a:ln w="12700">
            <a:solidFill>
              <a:schemeClr val="tx1"/>
            </a:solidFill>
            <a:miter lim="800000"/>
            <a:headEnd/>
            <a:tailEnd/>
          </a:ln>
          <a:effectLst/>
        </p:spPr>
        <p:txBody>
          <a:bodyPr wrap="none" anchor="ctr"/>
          <a:lstStyle/>
          <a:p>
            <a:endParaRPr lang="en-US"/>
          </a:p>
        </p:txBody>
      </p:sp>
      <p:sp>
        <p:nvSpPr>
          <p:cNvPr id="22" name="Rectangle 1049"/>
          <p:cNvSpPr>
            <a:spLocks noChangeArrowheads="1"/>
          </p:cNvSpPr>
          <p:nvPr/>
        </p:nvSpPr>
        <p:spPr bwMode="auto">
          <a:xfrm>
            <a:off x="7636229" y="2589212"/>
            <a:ext cx="793750" cy="525463"/>
          </a:xfrm>
          <a:prstGeom prst="rect">
            <a:avLst/>
          </a:prstGeom>
          <a:solidFill>
            <a:srgbClr val="92D050"/>
          </a:solidFill>
          <a:ln w="12700">
            <a:solidFill>
              <a:schemeClr val="tx1"/>
            </a:solidFill>
            <a:miter lim="800000"/>
            <a:headEnd/>
            <a:tailEnd/>
          </a:ln>
          <a:effectLst/>
        </p:spPr>
        <p:txBody>
          <a:bodyPr wrap="none" anchor="ctr"/>
          <a:lstStyle/>
          <a:p>
            <a:endParaRPr lang="en-US"/>
          </a:p>
        </p:txBody>
      </p:sp>
      <p:sp>
        <p:nvSpPr>
          <p:cNvPr id="23" name="Rectangle 1050"/>
          <p:cNvSpPr>
            <a:spLocks noChangeArrowheads="1"/>
          </p:cNvSpPr>
          <p:nvPr/>
        </p:nvSpPr>
        <p:spPr bwMode="auto">
          <a:xfrm>
            <a:off x="7636229" y="4667250"/>
            <a:ext cx="793750" cy="525462"/>
          </a:xfrm>
          <a:prstGeom prst="rect">
            <a:avLst/>
          </a:prstGeom>
          <a:solidFill>
            <a:srgbClr val="92D050"/>
          </a:solidFill>
          <a:ln w="12700">
            <a:solidFill>
              <a:schemeClr val="tx1"/>
            </a:solidFill>
            <a:miter lim="800000"/>
            <a:headEnd/>
            <a:tailEnd/>
          </a:ln>
          <a:effectLst/>
        </p:spPr>
        <p:txBody>
          <a:bodyPr wrap="none" anchor="ctr"/>
          <a:lstStyle/>
          <a:p>
            <a:endParaRPr lang="en-US"/>
          </a:p>
        </p:txBody>
      </p:sp>
      <p:sp>
        <p:nvSpPr>
          <p:cNvPr id="24" name="Line 1051"/>
          <p:cNvSpPr>
            <a:spLocks noChangeShapeType="1"/>
          </p:cNvSpPr>
          <p:nvPr/>
        </p:nvSpPr>
        <p:spPr bwMode="auto">
          <a:xfrm>
            <a:off x="8031517" y="5538787"/>
            <a:ext cx="0" cy="381000"/>
          </a:xfrm>
          <a:prstGeom prst="line">
            <a:avLst/>
          </a:prstGeom>
          <a:noFill/>
          <a:ln w="508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Rectangle 1052"/>
          <p:cNvSpPr>
            <a:spLocks noChangeArrowheads="1"/>
          </p:cNvSpPr>
          <p:nvPr/>
        </p:nvSpPr>
        <p:spPr bwMode="auto">
          <a:xfrm>
            <a:off x="7636229" y="5799137"/>
            <a:ext cx="793750" cy="525463"/>
          </a:xfrm>
          <a:prstGeom prst="rect">
            <a:avLst/>
          </a:prstGeom>
          <a:solidFill>
            <a:srgbClr val="92D050"/>
          </a:solidFill>
          <a:ln w="12700">
            <a:solidFill>
              <a:schemeClr val="tx1"/>
            </a:solidFill>
            <a:miter lim="800000"/>
            <a:headEnd/>
            <a:tailEnd/>
          </a:ln>
          <a:effectLst/>
        </p:spPr>
        <p:txBody>
          <a:bodyPr wrap="none" anchor="ctr"/>
          <a:lstStyle/>
          <a:p>
            <a:endParaRPr lang="en-US"/>
          </a:p>
        </p:txBody>
      </p:sp>
      <p:sp>
        <p:nvSpPr>
          <p:cNvPr id="26" name="Text Box 1054"/>
          <p:cNvSpPr txBox="1">
            <a:spLocks noChangeArrowheads="1"/>
          </p:cNvSpPr>
          <p:nvPr/>
        </p:nvSpPr>
        <p:spPr bwMode="auto">
          <a:xfrm>
            <a:off x="7315200" y="4127500"/>
            <a:ext cx="707145" cy="40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708" tIns="46854" rIns="93708" bIns="46854">
            <a:spAutoFit/>
          </a:bodyPr>
          <a:lstStyle>
            <a:lvl1pPr defTabSz="936625">
              <a:defRPr sz="2800">
                <a:solidFill>
                  <a:schemeClr val="tx1"/>
                </a:solidFill>
                <a:latin typeface="Arial" charset="0"/>
              </a:defRPr>
            </a:lvl1pPr>
            <a:lvl2pPr marL="742950" indent="-285750" defTabSz="936625">
              <a:defRPr sz="2800">
                <a:solidFill>
                  <a:schemeClr val="tx1"/>
                </a:solidFill>
                <a:latin typeface="Arial" charset="0"/>
              </a:defRPr>
            </a:lvl2pPr>
            <a:lvl3pPr marL="1143000" indent="-228600" defTabSz="936625">
              <a:defRPr sz="2800">
                <a:solidFill>
                  <a:schemeClr val="tx1"/>
                </a:solidFill>
                <a:latin typeface="Arial" charset="0"/>
              </a:defRPr>
            </a:lvl3pPr>
            <a:lvl4pPr marL="1600200" indent="-228600" defTabSz="936625">
              <a:defRPr sz="2800">
                <a:solidFill>
                  <a:schemeClr val="tx1"/>
                </a:solidFill>
                <a:latin typeface="Arial" charset="0"/>
              </a:defRPr>
            </a:lvl4pPr>
            <a:lvl5pPr marL="2057400" indent="-228600" defTabSz="936625">
              <a:defRPr sz="2800">
                <a:solidFill>
                  <a:schemeClr val="tx1"/>
                </a:solidFill>
                <a:latin typeface="Arial" charset="0"/>
              </a:defRPr>
            </a:lvl5pPr>
            <a:lvl6pPr marL="2514600" indent="-228600" defTabSz="936625" eaLnBrk="0" fontAlgn="base" hangingPunct="0">
              <a:spcBef>
                <a:spcPct val="0"/>
              </a:spcBef>
              <a:spcAft>
                <a:spcPct val="0"/>
              </a:spcAft>
              <a:defRPr sz="2800">
                <a:solidFill>
                  <a:schemeClr val="tx1"/>
                </a:solidFill>
                <a:latin typeface="Arial" charset="0"/>
              </a:defRPr>
            </a:lvl6pPr>
            <a:lvl7pPr marL="2971800" indent="-228600" defTabSz="936625" eaLnBrk="0" fontAlgn="base" hangingPunct="0">
              <a:spcBef>
                <a:spcPct val="0"/>
              </a:spcBef>
              <a:spcAft>
                <a:spcPct val="0"/>
              </a:spcAft>
              <a:defRPr sz="2800">
                <a:solidFill>
                  <a:schemeClr val="tx1"/>
                </a:solidFill>
                <a:latin typeface="Arial" charset="0"/>
              </a:defRPr>
            </a:lvl7pPr>
            <a:lvl8pPr marL="3429000" indent="-228600" defTabSz="936625" eaLnBrk="0" fontAlgn="base" hangingPunct="0">
              <a:spcBef>
                <a:spcPct val="0"/>
              </a:spcBef>
              <a:spcAft>
                <a:spcPct val="0"/>
              </a:spcAft>
              <a:defRPr sz="2800">
                <a:solidFill>
                  <a:schemeClr val="tx1"/>
                </a:solidFill>
                <a:latin typeface="Arial" charset="0"/>
              </a:defRPr>
            </a:lvl8pPr>
            <a:lvl9pPr marL="3886200" indent="-228600" defTabSz="936625" eaLnBrk="0" fontAlgn="base" hangingPunct="0">
              <a:spcBef>
                <a:spcPct val="0"/>
              </a:spcBef>
              <a:spcAft>
                <a:spcPct val="0"/>
              </a:spcAft>
              <a:defRPr sz="2800">
                <a:solidFill>
                  <a:schemeClr val="tx1"/>
                </a:solidFill>
                <a:latin typeface="Arial" charset="0"/>
              </a:defRPr>
            </a:lvl9pPr>
          </a:lstStyle>
          <a:p>
            <a:pPr algn="ctr"/>
            <a:r>
              <a:rPr lang="en-GB" sz="2000">
                <a:solidFill>
                  <a:srgbClr val="00CC66"/>
                </a:solidFill>
              </a:rPr>
              <a:t>True</a:t>
            </a:r>
          </a:p>
        </p:txBody>
      </p:sp>
      <p:sp>
        <p:nvSpPr>
          <p:cNvPr id="27" name="Text Box 1055"/>
          <p:cNvSpPr txBox="1">
            <a:spLocks noChangeArrowheads="1"/>
          </p:cNvSpPr>
          <p:nvPr/>
        </p:nvSpPr>
        <p:spPr bwMode="auto">
          <a:xfrm>
            <a:off x="8315679" y="3487737"/>
            <a:ext cx="817623" cy="40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708" tIns="46854" rIns="93708" bIns="46854">
            <a:spAutoFit/>
          </a:bodyPr>
          <a:lstStyle>
            <a:lvl1pPr defTabSz="936625">
              <a:defRPr sz="2800">
                <a:solidFill>
                  <a:schemeClr val="tx1"/>
                </a:solidFill>
                <a:latin typeface="Arial" charset="0"/>
              </a:defRPr>
            </a:lvl1pPr>
            <a:lvl2pPr marL="742950" indent="-285750" defTabSz="936625">
              <a:defRPr sz="2800">
                <a:solidFill>
                  <a:schemeClr val="tx1"/>
                </a:solidFill>
                <a:latin typeface="Arial" charset="0"/>
              </a:defRPr>
            </a:lvl2pPr>
            <a:lvl3pPr marL="1143000" indent="-228600" defTabSz="936625">
              <a:defRPr sz="2800">
                <a:solidFill>
                  <a:schemeClr val="tx1"/>
                </a:solidFill>
                <a:latin typeface="Arial" charset="0"/>
              </a:defRPr>
            </a:lvl3pPr>
            <a:lvl4pPr marL="1600200" indent="-228600" defTabSz="936625">
              <a:defRPr sz="2800">
                <a:solidFill>
                  <a:schemeClr val="tx1"/>
                </a:solidFill>
                <a:latin typeface="Arial" charset="0"/>
              </a:defRPr>
            </a:lvl4pPr>
            <a:lvl5pPr marL="2057400" indent="-228600" defTabSz="936625">
              <a:defRPr sz="2800">
                <a:solidFill>
                  <a:schemeClr val="tx1"/>
                </a:solidFill>
                <a:latin typeface="Arial" charset="0"/>
              </a:defRPr>
            </a:lvl5pPr>
            <a:lvl6pPr marL="2514600" indent="-228600" defTabSz="936625" eaLnBrk="0" fontAlgn="base" hangingPunct="0">
              <a:spcBef>
                <a:spcPct val="0"/>
              </a:spcBef>
              <a:spcAft>
                <a:spcPct val="0"/>
              </a:spcAft>
              <a:defRPr sz="2800">
                <a:solidFill>
                  <a:schemeClr val="tx1"/>
                </a:solidFill>
                <a:latin typeface="Arial" charset="0"/>
              </a:defRPr>
            </a:lvl6pPr>
            <a:lvl7pPr marL="2971800" indent="-228600" defTabSz="936625" eaLnBrk="0" fontAlgn="base" hangingPunct="0">
              <a:spcBef>
                <a:spcPct val="0"/>
              </a:spcBef>
              <a:spcAft>
                <a:spcPct val="0"/>
              </a:spcAft>
              <a:defRPr sz="2800">
                <a:solidFill>
                  <a:schemeClr val="tx1"/>
                </a:solidFill>
                <a:latin typeface="Arial" charset="0"/>
              </a:defRPr>
            </a:lvl7pPr>
            <a:lvl8pPr marL="3429000" indent="-228600" defTabSz="936625" eaLnBrk="0" fontAlgn="base" hangingPunct="0">
              <a:spcBef>
                <a:spcPct val="0"/>
              </a:spcBef>
              <a:spcAft>
                <a:spcPct val="0"/>
              </a:spcAft>
              <a:defRPr sz="2800">
                <a:solidFill>
                  <a:schemeClr val="tx1"/>
                </a:solidFill>
                <a:latin typeface="Arial" charset="0"/>
              </a:defRPr>
            </a:lvl8pPr>
            <a:lvl9pPr marL="3886200" indent="-228600" defTabSz="936625" eaLnBrk="0" fontAlgn="base" hangingPunct="0">
              <a:spcBef>
                <a:spcPct val="0"/>
              </a:spcBef>
              <a:spcAft>
                <a:spcPct val="0"/>
              </a:spcAft>
              <a:defRPr sz="2800">
                <a:solidFill>
                  <a:schemeClr val="tx1"/>
                </a:solidFill>
                <a:latin typeface="Arial" charset="0"/>
              </a:defRPr>
            </a:lvl9pPr>
          </a:lstStyle>
          <a:p>
            <a:pPr algn="ctr"/>
            <a:r>
              <a:rPr lang="en-GB" sz="2000">
                <a:solidFill>
                  <a:srgbClr val="00CC66"/>
                </a:solidFill>
              </a:rPr>
              <a:t>False</a:t>
            </a:r>
          </a:p>
        </p:txBody>
      </p:sp>
      <p:sp>
        <p:nvSpPr>
          <p:cNvPr id="28" name="Text Box 1056"/>
          <p:cNvSpPr txBox="1">
            <a:spLocks noChangeArrowheads="1"/>
          </p:cNvSpPr>
          <p:nvPr/>
        </p:nvSpPr>
        <p:spPr bwMode="auto">
          <a:xfrm>
            <a:off x="7874354" y="3648075"/>
            <a:ext cx="35718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708" tIns="46854" rIns="93708" bIns="46854">
            <a:spAutoFit/>
          </a:bodyPr>
          <a:lstStyle>
            <a:lvl1pPr defTabSz="936625">
              <a:defRPr sz="2800">
                <a:solidFill>
                  <a:schemeClr val="tx1"/>
                </a:solidFill>
                <a:latin typeface="Arial" charset="0"/>
              </a:defRPr>
            </a:lvl1pPr>
            <a:lvl2pPr marL="742950" indent="-285750" defTabSz="936625">
              <a:defRPr sz="2800">
                <a:solidFill>
                  <a:schemeClr val="tx1"/>
                </a:solidFill>
                <a:latin typeface="Arial" charset="0"/>
              </a:defRPr>
            </a:lvl2pPr>
            <a:lvl3pPr marL="1143000" indent="-228600" defTabSz="936625">
              <a:defRPr sz="2800">
                <a:solidFill>
                  <a:schemeClr val="tx1"/>
                </a:solidFill>
                <a:latin typeface="Arial" charset="0"/>
              </a:defRPr>
            </a:lvl3pPr>
            <a:lvl4pPr marL="1600200" indent="-228600" defTabSz="936625">
              <a:defRPr sz="2800">
                <a:solidFill>
                  <a:schemeClr val="tx1"/>
                </a:solidFill>
                <a:latin typeface="Arial" charset="0"/>
              </a:defRPr>
            </a:lvl4pPr>
            <a:lvl5pPr marL="2057400" indent="-228600" defTabSz="936625">
              <a:defRPr sz="2800">
                <a:solidFill>
                  <a:schemeClr val="tx1"/>
                </a:solidFill>
                <a:latin typeface="Arial" charset="0"/>
              </a:defRPr>
            </a:lvl5pPr>
            <a:lvl6pPr marL="2514600" indent="-228600" defTabSz="936625" eaLnBrk="0" fontAlgn="base" hangingPunct="0">
              <a:spcBef>
                <a:spcPct val="0"/>
              </a:spcBef>
              <a:spcAft>
                <a:spcPct val="0"/>
              </a:spcAft>
              <a:defRPr sz="2800">
                <a:solidFill>
                  <a:schemeClr val="tx1"/>
                </a:solidFill>
                <a:latin typeface="Arial" charset="0"/>
              </a:defRPr>
            </a:lvl6pPr>
            <a:lvl7pPr marL="2971800" indent="-228600" defTabSz="936625" eaLnBrk="0" fontAlgn="base" hangingPunct="0">
              <a:spcBef>
                <a:spcPct val="0"/>
              </a:spcBef>
              <a:spcAft>
                <a:spcPct val="0"/>
              </a:spcAft>
              <a:defRPr sz="2800">
                <a:solidFill>
                  <a:schemeClr val="tx1"/>
                </a:solidFill>
                <a:latin typeface="Arial" charset="0"/>
              </a:defRPr>
            </a:lvl7pPr>
            <a:lvl8pPr marL="3429000" indent="-228600" defTabSz="936625" eaLnBrk="0" fontAlgn="base" hangingPunct="0">
              <a:spcBef>
                <a:spcPct val="0"/>
              </a:spcBef>
              <a:spcAft>
                <a:spcPct val="0"/>
              </a:spcAft>
              <a:defRPr sz="2800">
                <a:solidFill>
                  <a:schemeClr val="tx1"/>
                </a:solidFill>
                <a:latin typeface="Arial" charset="0"/>
              </a:defRPr>
            </a:lvl8pPr>
            <a:lvl9pPr marL="3886200" indent="-228600" defTabSz="936625" eaLnBrk="0" fontAlgn="base" hangingPunct="0">
              <a:spcBef>
                <a:spcPct val="0"/>
              </a:spcBef>
              <a:spcAft>
                <a:spcPct val="0"/>
              </a:spcAft>
              <a:defRPr sz="2800">
                <a:solidFill>
                  <a:schemeClr val="tx1"/>
                </a:solidFill>
                <a:latin typeface="Arial" charset="0"/>
              </a:defRPr>
            </a:lvl9pPr>
          </a:lstStyle>
          <a:p>
            <a:pPr algn="ctr"/>
            <a:r>
              <a:rPr lang="en-GB" sz="2500">
                <a:solidFill>
                  <a:srgbClr val="000000"/>
                </a:solidFill>
              </a:rPr>
              <a:t>?</a:t>
            </a:r>
          </a:p>
        </p:txBody>
      </p:sp>
      <p:sp>
        <p:nvSpPr>
          <p:cNvPr id="33" name="Oval 32"/>
          <p:cNvSpPr/>
          <p:nvPr/>
        </p:nvSpPr>
        <p:spPr>
          <a:xfrm>
            <a:off x="1567364" y="3978829"/>
            <a:ext cx="1175836" cy="537865"/>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1589909" y="4946084"/>
            <a:ext cx="2905891" cy="69271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5391561" y="4055029"/>
            <a:ext cx="1237839" cy="461665"/>
          </a:xfrm>
          <a:prstGeom prst="rect">
            <a:avLst/>
          </a:prstGeom>
          <a:solidFill>
            <a:srgbClr val="CCD5EA"/>
          </a:solidFill>
        </p:spPr>
        <p:txBody>
          <a:bodyPr wrap="none">
            <a:spAutoFit/>
          </a:bodyPr>
          <a:lstStyle/>
          <a:p>
            <a:r>
              <a:rPr lang="en-US" sz="2400" b="1">
                <a:latin typeface="+mj-lt"/>
              </a:rPr>
              <a:t>decision</a:t>
            </a:r>
          </a:p>
        </p:txBody>
      </p:sp>
      <p:cxnSp>
        <p:nvCxnSpPr>
          <p:cNvPr id="39" name="Straight Arrow Connector 38"/>
          <p:cNvCxnSpPr>
            <a:stCxn id="34" idx="1"/>
            <a:endCxn id="33" idx="6"/>
          </p:cNvCxnSpPr>
          <p:nvPr/>
        </p:nvCxnSpPr>
        <p:spPr>
          <a:xfrm flipH="1" flipV="1">
            <a:off x="2743200" y="4247762"/>
            <a:ext cx="2648361" cy="3810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34" idx="1"/>
          </p:cNvCxnSpPr>
          <p:nvPr/>
        </p:nvCxnSpPr>
        <p:spPr>
          <a:xfrm flipH="1">
            <a:off x="4083618" y="4285862"/>
            <a:ext cx="1307943" cy="660222"/>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1175474" y="3942098"/>
            <a:ext cx="1500732" cy="584775"/>
          </a:xfrm>
          <a:prstGeom prst="rect">
            <a:avLst/>
          </a:prstGeom>
        </p:spPr>
        <p:txBody>
          <a:bodyPr wrap="none">
            <a:spAutoFit/>
          </a:bodyPr>
          <a:lstStyle/>
          <a:p>
            <a:r>
              <a:rPr lang="en-US" sz="3200">
                <a:latin typeface="+mj-lt"/>
              </a:rPr>
              <a:t>IF  A &gt; 1</a:t>
            </a:r>
          </a:p>
        </p:txBody>
      </p:sp>
      <p:sp>
        <p:nvSpPr>
          <p:cNvPr id="52" name="Rectangle 51"/>
          <p:cNvSpPr/>
          <p:nvPr/>
        </p:nvSpPr>
        <p:spPr>
          <a:xfrm>
            <a:off x="1175474" y="5008898"/>
            <a:ext cx="3254417" cy="584775"/>
          </a:xfrm>
          <a:prstGeom prst="rect">
            <a:avLst/>
          </a:prstGeom>
        </p:spPr>
        <p:txBody>
          <a:bodyPr wrap="none">
            <a:spAutoFit/>
          </a:bodyPr>
          <a:lstStyle/>
          <a:p>
            <a:r>
              <a:rPr lang="en-US" sz="3200">
                <a:latin typeface="+mj-lt"/>
              </a:rPr>
              <a:t>IF  A &gt; 1 AND X = 2</a:t>
            </a:r>
          </a:p>
        </p:txBody>
      </p:sp>
      <p:sp>
        <p:nvSpPr>
          <p:cNvPr id="31" name="Slide Number Placeholder 30"/>
          <p:cNvSpPr>
            <a:spLocks noGrp="1"/>
          </p:cNvSpPr>
          <p:nvPr>
            <p:ph type="sldNum" sz="quarter" idx="12"/>
          </p:nvPr>
        </p:nvSpPr>
        <p:spPr/>
        <p:txBody>
          <a:bodyPr/>
          <a:lstStyle/>
          <a:p>
            <a:r>
              <a:rPr lang="en-US"/>
              <a:t>Slide </a:t>
            </a:r>
            <a:fld id="{3900DC13-0C25-439E-AA75-E5DAAC4C3713}" type="slidenum">
              <a:rPr lang="en-US" smtClean="0"/>
              <a:pPr/>
              <a:t>16</a:t>
            </a:fld>
            <a:endParaRPr lang="en-US"/>
          </a:p>
        </p:txBody>
      </p:sp>
    </p:spTree>
    <p:extLst>
      <p:ext uri="{BB962C8B-B14F-4D97-AF65-F5344CB8AC3E}">
        <p14:creationId xmlns:p14="http://schemas.microsoft.com/office/powerpoint/2010/main" val="1393914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2"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right)">
                                      <p:cBhvr>
                                        <p:cTn id="19" dur="500"/>
                                        <p:tgtEl>
                                          <p:spTgt spid="34"/>
                                        </p:tgtEl>
                                      </p:cBhvr>
                                    </p:animEffect>
                                  </p:childTnLst>
                                </p:cTn>
                              </p:par>
                              <p:par>
                                <p:cTn id="20" presetID="22" presetClass="entr" presetSubtype="2" fill="hold" nodeType="with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wipe(right)">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par>
                          <p:cTn id="31" fill="hold">
                            <p:stCondLst>
                              <p:cond delay="0"/>
                            </p:stCondLst>
                            <p:childTnLst>
                              <p:par>
                                <p:cTn id="32" presetID="22" presetClass="entr" presetSubtype="2" fill="hold" nodeType="after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wipe(right)">
                                      <p:cBhvr>
                                        <p:cTn id="34" dur="500"/>
                                        <p:tgtEl>
                                          <p:spTgt spid="41"/>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3" end="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6" grpId="0" animBg="1"/>
      <p:bldP spid="34" grpId="0" animBg="1"/>
      <p:bldP spid="49" grpId="0"/>
      <p:bldP spid="5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Decision testing (cont’d)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lang="en-US"/>
                  <a:t>Decision coverage</a:t>
                </a:r>
              </a:p>
              <a:p>
                <a:pPr lvl="1"/>
                <a:r>
                  <a:rPr lang="en-US"/>
                  <a:t>percentage of decision outcomes exercised</a:t>
                </a:r>
              </a:p>
              <a:p>
                <a:pPr marL="667512" lvl="2" indent="0">
                  <a:buNone/>
                </a:pPr>
                <a:r>
                  <a:rPr lang="en-US"/>
                  <a:t>=</a:t>
                </a:r>
                <a14:m>
                  <m:oMath xmlns:m="http://schemas.openxmlformats.org/officeDocument/2006/math">
                    <m:f>
                      <m:fPr>
                        <m:ctrlPr>
                          <a:rPr lang="en-US" i="1">
                            <a:latin typeface="Cambria Math" panose="02040503050406030204" pitchFamily="18" charset="0"/>
                          </a:rPr>
                        </m:ctrlPr>
                      </m:fPr>
                      <m:num>
                        <m:r>
                          <a:rPr lang="en-US">
                            <a:latin typeface="Cambria Math"/>
                          </a:rPr>
                          <m:t>𝑁𝑢𝑚𝑏𝑒𝑟</m:t>
                        </m:r>
                        <m:r>
                          <a:rPr lang="en-US">
                            <a:latin typeface="Cambria Math"/>
                          </a:rPr>
                          <m:t> </m:t>
                        </m:r>
                        <m:r>
                          <a:rPr lang="en-US">
                            <a:latin typeface="Cambria Math"/>
                          </a:rPr>
                          <m:t>𝑜𝑓</m:t>
                        </m:r>
                        <m:r>
                          <a:rPr lang="en-US">
                            <a:latin typeface="Cambria Math"/>
                          </a:rPr>
                          <m:t> </m:t>
                        </m:r>
                        <m:r>
                          <a:rPr lang="en-US">
                            <a:latin typeface="Cambria Math"/>
                          </a:rPr>
                          <m:t>𝑑𝑒𝑐𝑖𝑠𝑖𝑜𝑛</m:t>
                        </m:r>
                        <m:r>
                          <a:rPr lang="en-US">
                            <a:latin typeface="Cambria Math"/>
                          </a:rPr>
                          <m:t> </m:t>
                        </m:r>
                        <m:r>
                          <a:rPr lang="en-US">
                            <a:latin typeface="Cambria Math"/>
                          </a:rPr>
                          <m:t>𝑜𝑢𝑡𝑐𝑜𝑚𝑒𝑠</m:t>
                        </m:r>
                        <m:r>
                          <a:rPr lang="en-US">
                            <a:latin typeface="Cambria Math"/>
                          </a:rPr>
                          <m:t> </m:t>
                        </m:r>
                        <m:r>
                          <a:rPr lang="en-US">
                            <a:latin typeface="Cambria Math"/>
                          </a:rPr>
                          <m:t>𝑒𝑥𝑒𝑟𝑐𝑖𝑠𝑒𝑑</m:t>
                        </m:r>
                      </m:num>
                      <m:den>
                        <m:r>
                          <a:rPr lang="en-US">
                            <a:latin typeface="Cambria Math"/>
                          </a:rPr>
                          <m:t>𝑇𝑜𝑡𝑎𝑙</m:t>
                        </m:r>
                        <m:r>
                          <a:rPr lang="en-US">
                            <a:latin typeface="Cambria Math"/>
                          </a:rPr>
                          <m:t> </m:t>
                        </m:r>
                        <m:r>
                          <a:rPr lang="en-US">
                            <a:latin typeface="Cambria Math"/>
                          </a:rPr>
                          <m:t>𝑛𝑢𝑚𝑏𝑒𝑟</m:t>
                        </m:r>
                        <m:r>
                          <a:rPr lang="en-US">
                            <a:latin typeface="Cambria Math"/>
                          </a:rPr>
                          <m:t> </m:t>
                        </m:r>
                        <m:r>
                          <a:rPr lang="en-US">
                            <a:latin typeface="Cambria Math"/>
                          </a:rPr>
                          <m:t>𝑜𝑓</m:t>
                        </m:r>
                        <m:r>
                          <a:rPr lang="en-US">
                            <a:latin typeface="Cambria Math"/>
                          </a:rPr>
                          <m:t> </m:t>
                        </m:r>
                        <m:r>
                          <a:rPr lang="en-US">
                            <a:latin typeface="Cambria Math"/>
                          </a:rPr>
                          <m:t>𝑑𝑒𝑐𝑖𝑠𝑖𝑜𝑛</m:t>
                        </m:r>
                        <m:r>
                          <a:rPr lang="en-US">
                            <a:latin typeface="Cambria Math"/>
                          </a:rPr>
                          <m:t> </m:t>
                        </m:r>
                        <m:r>
                          <a:rPr lang="en-US">
                            <a:latin typeface="Cambria Math"/>
                          </a:rPr>
                          <m:t>𝑜𝑢𝑡𝑐𝑜𝑚𝑒𝑠</m:t>
                        </m:r>
                      </m:den>
                    </m:f>
                    <m:r>
                      <a:rPr lang="en-US">
                        <a:latin typeface="Cambria Math"/>
                      </a:rPr>
                      <m:t>𝑥</m:t>
                    </m:r>
                    <m:r>
                      <a:rPr lang="en-US">
                        <a:latin typeface="Cambria Math"/>
                      </a:rPr>
                      <m:t>100%</m:t>
                    </m:r>
                  </m:oMath>
                </a14:m>
                <a:endParaRPr lang="en-US"/>
              </a:p>
              <a:p>
                <a:pPr lvl="1"/>
                <a:r>
                  <a:rPr lang="en-US"/>
                  <a:t>specification-based may achieve only 40% to 60% decision coverage</a:t>
                </a:r>
              </a:p>
              <a:p>
                <a:pPr lvl="1"/>
                <a:r>
                  <a:rPr lang="en-US"/>
                  <a:t>typical ad hoc testing achieves 20%</a:t>
                </a:r>
              </a:p>
              <a:p>
                <a:pPr lvl="1"/>
                <a:r>
                  <a:rPr lang="en-US"/>
                  <a:t>100% decision coverage guarantees 100% statement coverage, but not vice versa</a:t>
                </a:r>
              </a:p>
              <a:p>
                <a:r>
                  <a:rPr lang="en-US"/>
                  <a:t>How to get 100% decision corverage?</a:t>
                </a:r>
              </a:p>
              <a:p>
                <a:pPr lvl="1"/>
                <a:r>
                  <a:rPr lang="en-US"/>
                  <a:t>Find out the minimum number of paths which will ensure covering of all the </a:t>
                </a:r>
                <a:r>
                  <a:rPr lang="en-US" u="sng"/>
                  <a:t>edges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l="-873" t="-928"/>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17</a:t>
            </a:fld>
            <a:endParaRPr lang="en-US"/>
          </a:p>
        </p:txBody>
      </p:sp>
    </p:spTree>
    <p:extLst>
      <p:ext uri="{BB962C8B-B14F-4D97-AF65-F5344CB8AC3E}">
        <p14:creationId xmlns:p14="http://schemas.microsoft.com/office/powerpoint/2010/main" val="3096115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4434" name="Text Box 2"/>
          <p:cNvSpPr txBox="1">
            <a:spLocks noChangeArrowheads="1"/>
          </p:cNvSpPr>
          <p:nvPr/>
        </p:nvSpPr>
        <p:spPr bwMode="auto">
          <a:xfrm>
            <a:off x="625720" y="1524001"/>
            <a:ext cx="283334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GB" sz="2400">
                <a:solidFill>
                  <a:srgbClr val="000099"/>
                </a:solidFill>
              </a:rPr>
              <a:t>Read A</a:t>
            </a:r>
          </a:p>
          <a:p>
            <a:r>
              <a:rPr lang="en-GB" sz="2400">
                <a:solidFill>
                  <a:srgbClr val="000099"/>
                </a:solidFill>
              </a:rPr>
              <a:t>IF A &gt; 0 THEN</a:t>
            </a:r>
          </a:p>
          <a:p>
            <a:r>
              <a:rPr lang="en-GB" sz="2400">
                <a:solidFill>
                  <a:srgbClr val="000099"/>
                </a:solidFill>
              </a:rPr>
              <a:t>     IF A  = 21 THEN</a:t>
            </a:r>
          </a:p>
          <a:p>
            <a:r>
              <a:rPr lang="en-GB" sz="2400">
                <a:solidFill>
                  <a:srgbClr val="000099"/>
                </a:solidFill>
              </a:rPr>
              <a:t>	Print “Key”</a:t>
            </a:r>
          </a:p>
          <a:p>
            <a:r>
              <a:rPr lang="en-GB" sz="2400">
                <a:solidFill>
                  <a:srgbClr val="000099"/>
                </a:solidFill>
              </a:rPr>
              <a:t>     ENDIF</a:t>
            </a:r>
          </a:p>
          <a:p>
            <a:r>
              <a:rPr lang="en-GB" sz="2400">
                <a:solidFill>
                  <a:srgbClr val="000099"/>
                </a:solidFill>
              </a:rPr>
              <a:t>ENDIF</a:t>
            </a:r>
          </a:p>
        </p:txBody>
      </p:sp>
      <p:sp>
        <p:nvSpPr>
          <p:cNvPr id="274435" name="Text Box 3"/>
          <p:cNvSpPr txBox="1">
            <a:spLocks noChangeArrowheads="1"/>
          </p:cNvSpPr>
          <p:nvPr/>
        </p:nvSpPr>
        <p:spPr bwMode="auto">
          <a:xfrm>
            <a:off x="625720" y="1524001"/>
            <a:ext cx="215206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endParaRPr lang="en-GB" sz="2400">
              <a:solidFill>
                <a:srgbClr val="000099"/>
              </a:solidFill>
            </a:endParaRPr>
          </a:p>
          <a:p>
            <a:r>
              <a:rPr lang="en-GB" sz="2400">
                <a:solidFill>
                  <a:srgbClr val="000099"/>
                </a:solidFill>
              </a:rPr>
              <a:t>IF A &gt; 0 THEN</a:t>
            </a:r>
          </a:p>
          <a:p>
            <a:r>
              <a:rPr lang="en-GB" sz="2400">
                <a:solidFill>
                  <a:srgbClr val="000099"/>
                </a:solidFill>
              </a:rPr>
              <a:t>    </a:t>
            </a:r>
          </a:p>
          <a:p>
            <a:r>
              <a:rPr lang="en-GB" sz="2400">
                <a:solidFill>
                  <a:srgbClr val="000099"/>
                </a:solidFill>
              </a:rPr>
              <a:t>	</a:t>
            </a:r>
          </a:p>
          <a:p>
            <a:r>
              <a:rPr lang="en-GB" sz="2400">
                <a:solidFill>
                  <a:srgbClr val="000099"/>
                </a:solidFill>
              </a:rPr>
              <a:t>     </a:t>
            </a:r>
          </a:p>
          <a:p>
            <a:r>
              <a:rPr lang="en-GB" sz="2400">
                <a:solidFill>
                  <a:srgbClr val="000099"/>
                </a:solidFill>
              </a:rPr>
              <a:t>ENDIF</a:t>
            </a:r>
          </a:p>
        </p:txBody>
      </p:sp>
      <p:sp>
        <p:nvSpPr>
          <p:cNvPr id="274436" name="Text Box 4"/>
          <p:cNvSpPr txBox="1">
            <a:spLocks noChangeArrowheads="1"/>
          </p:cNvSpPr>
          <p:nvPr/>
        </p:nvSpPr>
        <p:spPr bwMode="auto">
          <a:xfrm>
            <a:off x="625719" y="1524001"/>
            <a:ext cx="256192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endParaRPr lang="en-GB" sz="2400">
              <a:solidFill>
                <a:srgbClr val="000099"/>
              </a:solidFill>
            </a:endParaRPr>
          </a:p>
          <a:p>
            <a:endParaRPr lang="en-GB" sz="2400">
              <a:solidFill>
                <a:srgbClr val="000099"/>
              </a:solidFill>
            </a:endParaRPr>
          </a:p>
          <a:p>
            <a:r>
              <a:rPr lang="en-GB" sz="2400">
                <a:solidFill>
                  <a:srgbClr val="000099"/>
                </a:solidFill>
              </a:rPr>
              <a:t>     </a:t>
            </a:r>
          </a:p>
          <a:p>
            <a:r>
              <a:rPr lang="en-GB" sz="2400">
                <a:solidFill>
                  <a:srgbClr val="000099"/>
                </a:solidFill>
              </a:rPr>
              <a:t>	Print “Key”</a:t>
            </a:r>
          </a:p>
          <a:p>
            <a:r>
              <a:rPr lang="en-GB" sz="2400">
                <a:solidFill>
                  <a:srgbClr val="000099"/>
                </a:solidFill>
              </a:rPr>
              <a:t>   </a:t>
            </a:r>
          </a:p>
          <a:p>
            <a:endParaRPr lang="en-GB" sz="2400">
              <a:solidFill>
                <a:srgbClr val="000099"/>
              </a:solidFill>
            </a:endParaRPr>
          </a:p>
        </p:txBody>
      </p:sp>
      <p:sp>
        <p:nvSpPr>
          <p:cNvPr id="274437" name="Text Box 5"/>
          <p:cNvSpPr txBox="1">
            <a:spLocks noChangeArrowheads="1"/>
          </p:cNvSpPr>
          <p:nvPr/>
        </p:nvSpPr>
        <p:spPr bwMode="auto">
          <a:xfrm>
            <a:off x="625720" y="1524001"/>
            <a:ext cx="283334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endParaRPr lang="en-GB" sz="2400">
              <a:solidFill>
                <a:srgbClr val="000099"/>
              </a:solidFill>
            </a:endParaRPr>
          </a:p>
          <a:p>
            <a:endParaRPr lang="en-GB" sz="2400">
              <a:solidFill>
                <a:srgbClr val="000099"/>
              </a:solidFill>
            </a:endParaRPr>
          </a:p>
          <a:p>
            <a:r>
              <a:rPr lang="en-GB" sz="2400">
                <a:solidFill>
                  <a:srgbClr val="000099"/>
                </a:solidFill>
              </a:rPr>
              <a:t>     IF A  = 21 THEN</a:t>
            </a:r>
          </a:p>
          <a:p>
            <a:r>
              <a:rPr lang="en-GB" sz="2400">
                <a:solidFill>
                  <a:srgbClr val="000099"/>
                </a:solidFill>
              </a:rPr>
              <a:t>	</a:t>
            </a:r>
          </a:p>
          <a:p>
            <a:r>
              <a:rPr lang="en-GB" sz="2400">
                <a:solidFill>
                  <a:srgbClr val="000099"/>
                </a:solidFill>
              </a:rPr>
              <a:t>     ENDIF</a:t>
            </a:r>
          </a:p>
          <a:p>
            <a:endParaRPr lang="en-GB" sz="2400">
              <a:solidFill>
                <a:srgbClr val="000099"/>
              </a:solidFill>
            </a:endParaRPr>
          </a:p>
        </p:txBody>
      </p:sp>
      <p:sp>
        <p:nvSpPr>
          <p:cNvPr id="48134" name="Rectangle 6"/>
          <p:cNvSpPr>
            <a:spLocks noGrp="1" noChangeArrowheads="1"/>
          </p:cNvSpPr>
          <p:nvPr>
            <p:ph type="title"/>
          </p:nvPr>
        </p:nvSpPr>
        <p:spPr/>
        <p:txBody>
          <a:bodyPr/>
          <a:lstStyle/>
          <a:p>
            <a:r>
              <a:rPr lang="en-US"/>
              <a:t>Decision testing example 1</a:t>
            </a:r>
            <a:endParaRPr lang="en-GB"/>
          </a:p>
        </p:txBody>
      </p:sp>
      <p:sp>
        <p:nvSpPr>
          <p:cNvPr id="274439" name="Rectangle 7"/>
          <p:cNvSpPr>
            <a:spLocks noGrp="1" noChangeArrowheads="1"/>
          </p:cNvSpPr>
          <p:nvPr>
            <p:ph type="body" idx="1"/>
          </p:nvPr>
        </p:nvSpPr>
        <p:spPr>
          <a:xfrm>
            <a:off x="304800" y="3886200"/>
            <a:ext cx="5058508" cy="1189831"/>
          </a:xfrm>
        </p:spPr>
        <p:txBody>
          <a:bodyPr/>
          <a:lstStyle/>
          <a:p>
            <a:pPr>
              <a:defRPr/>
            </a:pPr>
            <a:r>
              <a:rPr lang="en-GB" b="1"/>
              <a:t>Minimum tests to achieve with decision coverage: ____</a:t>
            </a:r>
          </a:p>
        </p:txBody>
      </p:sp>
      <p:sp>
        <p:nvSpPr>
          <p:cNvPr id="274442" name="Text Box 10"/>
          <p:cNvSpPr txBox="1">
            <a:spLocks noChangeArrowheads="1"/>
          </p:cNvSpPr>
          <p:nvPr/>
        </p:nvSpPr>
        <p:spPr bwMode="hidden">
          <a:xfrm>
            <a:off x="3424958" y="4191000"/>
            <a:ext cx="3850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b="1"/>
              <a:t>3</a:t>
            </a:r>
          </a:p>
        </p:txBody>
      </p:sp>
      <p:sp>
        <p:nvSpPr>
          <p:cNvPr id="274443" name="Text Box 11"/>
          <p:cNvSpPr txBox="1">
            <a:spLocks noChangeArrowheads="1"/>
          </p:cNvSpPr>
          <p:nvPr/>
        </p:nvSpPr>
        <p:spPr bwMode="auto">
          <a:xfrm>
            <a:off x="625720" y="1524000"/>
            <a:ext cx="11951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GB" sz="2400">
                <a:solidFill>
                  <a:srgbClr val="000099"/>
                </a:solidFill>
              </a:rPr>
              <a:t>Read A</a:t>
            </a:r>
          </a:p>
        </p:txBody>
      </p:sp>
      <p:grpSp>
        <p:nvGrpSpPr>
          <p:cNvPr id="274444" name="Group 12"/>
          <p:cNvGrpSpPr>
            <a:grpSpLocks/>
          </p:cNvGrpSpPr>
          <p:nvPr/>
        </p:nvGrpSpPr>
        <p:grpSpPr bwMode="auto">
          <a:xfrm>
            <a:off x="7513027" y="2819218"/>
            <a:ext cx="1554773" cy="2008188"/>
            <a:chOff x="4927" y="908"/>
            <a:chExt cx="1061" cy="1265"/>
          </a:xfrm>
        </p:grpSpPr>
        <p:sp>
          <p:nvSpPr>
            <p:cNvPr id="48156" name="Line 13"/>
            <p:cNvSpPr>
              <a:spLocks noChangeShapeType="1"/>
            </p:cNvSpPr>
            <p:nvPr/>
          </p:nvSpPr>
          <p:spPr bwMode="auto">
            <a:xfrm flipH="1">
              <a:off x="5745" y="1137"/>
              <a:ext cx="1" cy="1036"/>
            </a:xfrm>
            <a:prstGeom prst="line">
              <a:avLst/>
            </a:prstGeom>
            <a:noFill/>
            <a:ln w="50800">
              <a:solidFill>
                <a:srgbClr val="00CC66"/>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latin typeface="+mj-lt"/>
              </a:endParaRPr>
            </a:p>
          </p:txBody>
        </p:sp>
        <p:sp>
          <p:nvSpPr>
            <p:cNvPr id="48157" name="Line 14"/>
            <p:cNvSpPr>
              <a:spLocks noChangeShapeType="1"/>
            </p:cNvSpPr>
            <p:nvPr/>
          </p:nvSpPr>
          <p:spPr bwMode="auto">
            <a:xfrm>
              <a:off x="5162" y="1152"/>
              <a:ext cx="584" cy="0"/>
            </a:xfrm>
            <a:prstGeom prst="line">
              <a:avLst/>
            </a:prstGeom>
            <a:noFill/>
            <a:ln w="50800">
              <a:solidFill>
                <a:srgbClr val="00CC66"/>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latin typeface="+mj-lt"/>
              </a:endParaRPr>
            </a:p>
          </p:txBody>
        </p:sp>
        <p:sp>
          <p:nvSpPr>
            <p:cNvPr id="48158" name="Rectangle 15"/>
            <p:cNvSpPr>
              <a:spLocks noChangeArrowheads="1"/>
            </p:cNvSpPr>
            <p:nvPr/>
          </p:nvSpPr>
          <p:spPr bwMode="auto">
            <a:xfrm>
              <a:off x="5488" y="1423"/>
              <a:ext cx="500" cy="331"/>
            </a:xfrm>
            <a:prstGeom prst="rect">
              <a:avLst/>
            </a:prstGeom>
            <a:solidFill>
              <a:srgbClr val="92D05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0">
                  <a:latin typeface="+mj-lt"/>
                </a:rPr>
                <a:t>Print</a:t>
              </a:r>
            </a:p>
          </p:txBody>
        </p:sp>
        <p:sp>
          <p:nvSpPr>
            <p:cNvPr id="48159" name="Line 16"/>
            <p:cNvSpPr>
              <a:spLocks noChangeShapeType="1"/>
            </p:cNvSpPr>
            <p:nvPr/>
          </p:nvSpPr>
          <p:spPr bwMode="auto">
            <a:xfrm flipH="1">
              <a:off x="4927" y="2150"/>
              <a:ext cx="818" cy="0"/>
            </a:xfrm>
            <a:prstGeom prst="line">
              <a:avLst/>
            </a:prstGeom>
            <a:noFill/>
            <a:ln w="50800">
              <a:solidFill>
                <a:srgbClr val="00CC66"/>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latin typeface="+mj-lt"/>
              </a:endParaRPr>
            </a:p>
          </p:txBody>
        </p:sp>
        <p:sp>
          <p:nvSpPr>
            <p:cNvPr id="48160" name="Text Box 17"/>
            <p:cNvSpPr txBox="1">
              <a:spLocks noChangeArrowheads="1"/>
            </p:cNvSpPr>
            <p:nvPr/>
          </p:nvSpPr>
          <p:spPr bwMode="auto">
            <a:xfrm>
              <a:off x="5075" y="908"/>
              <a:ext cx="36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sz="2000" b="1">
                  <a:latin typeface="+mj-lt"/>
                </a:rPr>
                <a:t>Yes</a:t>
              </a:r>
            </a:p>
          </p:txBody>
        </p:sp>
      </p:grpSp>
      <p:grpSp>
        <p:nvGrpSpPr>
          <p:cNvPr id="274450" name="Group 18"/>
          <p:cNvGrpSpPr>
            <a:grpSpLocks/>
          </p:cNvGrpSpPr>
          <p:nvPr/>
        </p:nvGrpSpPr>
        <p:grpSpPr bwMode="auto">
          <a:xfrm>
            <a:off x="6330461" y="2785881"/>
            <a:ext cx="1535723" cy="2025650"/>
            <a:chOff x="4120" y="887"/>
            <a:chExt cx="1048" cy="1276"/>
          </a:xfrm>
        </p:grpSpPr>
        <p:sp>
          <p:nvSpPr>
            <p:cNvPr id="48150" name="Line 19"/>
            <p:cNvSpPr>
              <a:spLocks noChangeShapeType="1"/>
            </p:cNvSpPr>
            <p:nvPr/>
          </p:nvSpPr>
          <p:spPr bwMode="auto">
            <a:xfrm>
              <a:off x="4927" y="1392"/>
              <a:ext cx="0" cy="771"/>
            </a:xfrm>
            <a:prstGeom prst="line">
              <a:avLst/>
            </a:prstGeom>
            <a:noFill/>
            <a:ln w="50800">
              <a:solidFill>
                <a:srgbClr val="00CC66"/>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latin typeface="+mj-lt"/>
              </a:endParaRPr>
            </a:p>
          </p:txBody>
        </p:sp>
        <p:sp>
          <p:nvSpPr>
            <p:cNvPr id="48151" name="Line 20"/>
            <p:cNvSpPr>
              <a:spLocks noChangeShapeType="1"/>
            </p:cNvSpPr>
            <p:nvPr/>
          </p:nvSpPr>
          <p:spPr bwMode="auto">
            <a:xfrm flipH="1">
              <a:off x="4120" y="2154"/>
              <a:ext cx="807" cy="0"/>
            </a:xfrm>
            <a:prstGeom prst="line">
              <a:avLst/>
            </a:prstGeom>
            <a:noFill/>
            <a:ln w="50800">
              <a:solidFill>
                <a:srgbClr val="00CC66"/>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latin typeface="+mj-lt"/>
              </a:endParaRPr>
            </a:p>
          </p:txBody>
        </p:sp>
        <p:sp>
          <p:nvSpPr>
            <p:cNvPr id="48152" name="Line 21"/>
            <p:cNvSpPr>
              <a:spLocks noChangeShapeType="1"/>
            </p:cNvSpPr>
            <p:nvPr/>
          </p:nvSpPr>
          <p:spPr bwMode="auto">
            <a:xfrm>
              <a:off x="4360" y="1130"/>
              <a:ext cx="324" cy="0"/>
            </a:xfrm>
            <a:prstGeom prst="line">
              <a:avLst/>
            </a:prstGeom>
            <a:noFill/>
            <a:ln w="50800">
              <a:solidFill>
                <a:srgbClr val="00CC66"/>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latin typeface="+mj-lt"/>
              </a:endParaRPr>
            </a:p>
          </p:txBody>
        </p:sp>
        <p:sp>
          <p:nvSpPr>
            <p:cNvPr id="48153" name="AutoShape 22"/>
            <p:cNvSpPr>
              <a:spLocks noChangeArrowheads="1"/>
            </p:cNvSpPr>
            <p:nvPr/>
          </p:nvSpPr>
          <p:spPr bwMode="auto">
            <a:xfrm>
              <a:off x="4684" y="890"/>
              <a:ext cx="484" cy="502"/>
            </a:xfrm>
            <a:prstGeom prst="diamond">
              <a:avLst/>
            </a:prstGeom>
            <a:solidFill>
              <a:srgbClr val="92D05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b="1">
                  <a:solidFill>
                    <a:srgbClr val="000000"/>
                  </a:solidFill>
                  <a:latin typeface="+mj-lt"/>
                </a:rPr>
                <a:t>A=21</a:t>
              </a:r>
            </a:p>
          </p:txBody>
        </p:sp>
        <p:sp>
          <p:nvSpPr>
            <p:cNvPr id="48154" name="Text Box 23"/>
            <p:cNvSpPr txBox="1">
              <a:spLocks noChangeArrowheads="1"/>
            </p:cNvSpPr>
            <p:nvPr/>
          </p:nvSpPr>
          <p:spPr bwMode="auto">
            <a:xfrm>
              <a:off x="4231" y="887"/>
              <a:ext cx="36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sz="2000" b="1">
                  <a:latin typeface="+mj-lt"/>
                </a:rPr>
                <a:t>Yes</a:t>
              </a:r>
            </a:p>
          </p:txBody>
        </p:sp>
        <p:sp>
          <p:nvSpPr>
            <p:cNvPr id="48155" name="Text Box 24"/>
            <p:cNvSpPr txBox="1">
              <a:spLocks noChangeArrowheads="1"/>
            </p:cNvSpPr>
            <p:nvPr/>
          </p:nvSpPr>
          <p:spPr bwMode="auto">
            <a:xfrm>
              <a:off x="4605" y="1337"/>
              <a:ext cx="33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sz="2000" b="1">
                  <a:latin typeface="+mj-lt"/>
                </a:rPr>
                <a:t>No</a:t>
              </a:r>
            </a:p>
          </p:txBody>
        </p:sp>
      </p:grpSp>
      <p:grpSp>
        <p:nvGrpSpPr>
          <p:cNvPr id="274457" name="Group 25"/>
          <p:cNvGrpSpPr>
            <a:grpSpLocks/>
          </p:cNvGrpSpPr>
          <p:nvPr/>
        </p:nvGrpSpPr>
        <p:grpSpPr bwMode="auto">
          <a:xfrm>
            <a:off x="5832230" y="2793818"/>
            <a:ext cx="879231" cy="2959100"/>
            <a:chOff x="3780" y="892"/>
            <a:chExt cx="600" cy="1864"/>
          </a:xfrm>
          <a:solidFill>
            <a:srgbClr val="92D050"/>
          </a:solidFill>
        </p:grpSpPr>
        <p:sp>
          <p:nvSpPr>
            <p:cNvPr id="48146" name="Line 26"/>
            <p:cNvSpPr>
              <a:spLocks noChangeShapeType="1"/>
            </p:cNvSpPr>
            <p:nvPr/>
          </p:nvSpPr>
          <p:spPr bwMode="auto">
            <a:xfrm>
              <a:off x="4119" y="1344"/>
              <a:ext cx="0" cy="1095"/>
            </a:xfrm>
            <a:prstGeom prst="line">
              <a:avLst/>
            </a:prstGeom>
            <a:grpFill/>
            <a:ln w="50800">
              <a:solidFill>
                <a:srgbClr val="00CC66"/>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latin typeface="+mj-lt"/>
              </a:endParaRPr>
            </a:p>
          </p:txBody>
        </p:sp>
        <p:sp>
          <p:nvSpPr>
            <p:cNvPr id="48147" name="Rectangle 27"/>
            <p:cNvSpPr>
              <a:spLocks noChangeArrowheads="1"/>
            </p:cNvSpPr>
            <p:nvPr/>
          </p:nvSpPr>
          <p:spPr bwMode="auto">
            <a:xfrm>
              <a:off x="3880" y="2425"/>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mj-lt"/>
                </a:rPr>
                <a:t>End</a:t>
              </a:r>
            </a:p>
          </p:txBody>
        </p:sp>
        <p:sp>
          <p:nvSpPr>
            <p:cNvPr id="48148" name="AutoShape 28"/>
            <p:cNvSpPr>
              <a:spLocks noChangeArrowheads="1"/>
            </p:cNvSpPr>
            <p:nvPr/>
          </p:nvSpPr>
          <p:spPr bwMode="auto">
            <a:xfrm>
              <a:off x="3876" y="892"/>
              <a:ext cx="484" cy="502"/>
            </a:xfrm>
            <a:prstGeom prst="diamond">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b="1">
                  <a:solidFill>
                    <a:srgbClr val="000000"/>
                  </a:solidFill>
                  <a:latin typeface="+mj-lt"/>
                </a:rPr>
                <a:t>A&gt;0</a:t>
              </a:r>
            </a:p>
          </p:txBody>
        </p:sp>
        <p:sp>
          <p:nvSpPr>
            <p:cNvPr id="48149" name="Text Box 29"/>
            <p:cNvSpPr txBox="1">
              <a:spLocks noChangeArrowheads="1"/>
            </p:cNvSpPr>
            <p:nvPr/>
          </p:nvSpPr>
          <p:spPr bwMode="auto">
            <a:xfrm>
              <a:off x="3780" y="1353"/>
              <a:ext cx="335" cy="252"/>
            </a:xfrm>
            <a:prstGeom prst="rect">
              <a:avLst/>
            </a:prstGeom>
            <a:no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sz="2000" b="1">
                  <a:latin typeface="+mj-lt"/>
                </a:rPr>
                <a:t>No</a:t>
              </a:r>
            </a:p>
          </p:txBody>
        </p:sp>
      </p:grpSp>
      <p:grpSp>
        <p:nvGrpSpPr>
          <p:cNvPr id="274462" name="Group 30"/>
          <p:cNvGrpSpPr>
            <a:grpSpLocks/>
          </p:cNvGrpSpPr>
          <p:nvPr/>
        </p:nvGrpSpPr>
        <p:grpSpPr bwMode="auto">
          <a:xfrm>
            <a:off x="5961184" y="1876244"/>
            <a:ext cx="732692" cy="917575"/>
            <a:chOff x="3868" y="314"/>
            <a:chExt cx="500" cy="578"/>
          </a:xfrm>
          <a:solidFill>
            <a:srgbClr val="92D050"/>
          </a:solidFill>
        </p:grpSpPr>
        <p:sp>
          <p:nvSpPr>
            <p:cNvPr id="48144" name="Line 31"/>
            <p:cNvSpPr>
              <a:spLocks noChangeShapeType="1"/>
            </p:cNvSpPr>
            <p:nvPr/>
          </p:nvSpPr>
          <p:spPr bwMode="auto">
            <a:xfrm>
              <a:off x="4116" y="590"/>
              <a:ext cx="0" cy="302"/>
            </a:xfrm>
            <a:prstGeom prst="line">
              <a:avLst/>
            </a:prstGeom>
            <a:grpFill/>
            <a:ln w="50800">
              <a:solidFill>
                <a:srgbClr val="00CC66"/>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latin typeface="+mj-lt"/>
              </a:endParaRPr>
            </a:p>
          </p:txBody>
        </p:sp>
        <p:sp>
          <p:nvSpPr>
            <p:cNvPr id="48145" name="Rectangle 32"/>
            <p:cNvSpPr>
              <a:spLocks noChangeArrowheads="1"/>
            </p:cNvSpPr>
            <p:nvPr/>
          </p:nvSpPr>
          <p:spPr bwMode="auto">
            <a:xfrm>
              <a:off x="3868" y="314"/>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0">
                  <a:latin typeface="+mj-lt"/>
                </a:rPr>
                <a:t>Read</a:t>
              </a:r>
            </a:p>
          </p:txBody>
        </p:sp>
      </p:grpSp>
      <p:graphicFrame>
        <p:nvGraphicFramePr>
          <p:cNvPr id="9" name="Table 8"/>
          <p:cNvGraphicFramePr>
            <a:graphicFrameLocks noGrp="1"/>
          </p:cNvGraphicFramePr>
          <p:nvPr>
            <p:extLst>
              <p:ext uri="{D42A27DB-BD31-4B8C-83A1-F6EECF244321}">
                <p14:modId xmlns:p14="http://schemas.microsoft.com/office/powerpoint/2010/main" val="3420877633"/>
              </p:ext>
            </p:extLst>
          </p:nvPr>
        </p:nvGraphicFramePr>
        <p:xfrm>
          <a:off x="304800" y="5105400"/>
          <a:ext cx="5516509" cy="1584960"/>
        </p:xfrm>
        <a:graphic>
          <a:graphicData uri="http://schemas.openxmlformats.org/drawingml/2006/table">
            <a:tbl>
              <a:tblPr firstRow="1" bandRow="1">
                <a:tableStyleId>{5C22544A-7EE6-4342-B048-85BDC9FD1C3A}</a:tableStyleId>
              </a:tblPr>
              <a:tblGrid>
                <a:gridCol w="296231">
                  <a:extLst>
                    <a:ext uri="{9D8B030D-6E8A-4147-A177-3AD203B41FA5}">
                      <a16:colId xmlns:a16="http://schemas.microsoft.com/office/drawing/2014/main" val="20000"/>
                    </a:ext>
                  </a:extLst>
                </a:gridCol>
                <a:gridCol w="2237105">
                  <a:extLst>
                    <a:ext uri="{9D8B030D-6E8A-4147-A177-3AD203B41FA5}">
                      <a16:colId xmlns:a16="http://schemas.microsoft.com/office/drawing/2014/main" val="20001"/>
                    </a:ext>
                  </a:extLst>
                </a:gridCol>
                <a:gridCol w="976699">
                  <a:extLst>
                    <a:ext uri="{9D8B030D-6E8A-4147-A177-3AD203B41FA5}">
                      <a16:colId xmlns:a16="http://schemas.microsoft.com/office/drawing/2014/main" val="20002"/>
                    </a:ext>
                  </a:extLst>
                </a:gridCol>
                <a:gridCol w="2006474">
                  <a:extLst>
                    <a:ext uri="{9D8B030D-6E8A-4147-A177-3AD203B41FA5}">
                      <a16:colId xmlns:a16="http://schemas.microsoft.com/office/drawing/2014/main" val="20003"/>
                    </a:ext>
                  </a:extLst>
                </a:gridCol>
              </a:tblGrid>
              <a:tr h="370840">
                <a:tc>
                  <a:txBody>
                    <a:bodyPr/>
                    <a:lstStyle/>
                    <a:p>
                      <a:r>
                        <a:rPr lang="en-US" sz="2000">
                          <a:latin typeface="+mj-lt"/>
                        </a:rPr>
                        <a:t>#</a:t>
                      </a:r>
                    </a:p>
                  </a:txBody>
                  <a:tcPr/>
                </a:tc>
                <a:tc>
                  <a:txBody>
                    <a:bodyPr/>
                    <a:lstStyle/>
                    <a:p>
                      <a:r>
                        <a:rPr lang="en-US" sz="2000">
                          <a:latin typeface="+mj-lt"/>
                        </a:rPr>
                        <a:t>Cases</a:t>
                      </a:r>
                    </a:p>
                  </a:txBody>
                  <a:tcPr/>
                </a:tc>
                <a:tc>
                  <a:txBody>
                    <a:bodyPr/>
                    <a:lstStyle/>
                    <a:p>
                      <a:r>
                        <a:rPr lang="en-US" sz="2000">
                          <a:latin typeface="+mj-lt"/>
                        </a:rPr>
                        <a:t>Inputs</a:t>
                      </a:r>
                    </a:p>
                  </a:txBody>
                  <a:tcPr/>
                </a:tc>
                <a:tc>
                  <a:txBody>
                    <a:bodyPr/>
                    <a:lstStyle/>
                    <a:p>
                      <a:r>
                        <a:rPr lang="en-US" sz="2000">
                          <a:latin typeface="+mj-lt"/>
                        </a:rPr>
                        <a:t>Expected result</a:t>
                      </a:r>
                    </a:p>
                  </a:txBody>
                  <a:tcPr/>
                </a:tc>
                <a:extLst>
                  <a:ext uri="{0D108BD9-81ED-4DB2-BD59-A6C34878D82A}">
                    <a16:rowId xmlns:a16="http://schemas.microsoft.com/office/drawing/2014/main" val="10000"/>
                  </a:ext>
                </a:extLst>
              </a:tr>
              <a:tr h="370840">
                <a:tc>
                  <a:txBody>
                    <a:bodyPr/>
                    <a:lstStyle/>
                    <a:p>
                      <a:r>
                        <a:rPr lang="en-US" sz="2000">
                          <a:latin typeface="+mj-lt"/>
                        </a:rPr>
                        <a:t>1</a:t>
                      </a:r>
                    </a:p>
                  </a:txBody>
                  <a:tcPr/>
                </a:tc>
                <a:tc>
                  <a:txBody>
                    <a:bodyPr/>
                    <a:lstStyle/>
                    <a:p>
                      <a:r>
                        <a:rPr lang="en-US" sz="2000">
                          <a:latin typeface="+mj-lt"/>
                        </a:rPr>
                        <a:t>A&gt;0(F)</a:t>
                      </a:r>
                    </a:p>
                  </a:txBody>
                  <a:tcPr/>
                </a:tc>
                <a:tc>
                  <a:txBody>
                    <a:bodyPr/>
                    <a:lstStyle/>
                    <a:p>
                      <a:r>
                        <a:rPr lang="en-US" sz="2000">
                          <a:latin typeface="+mj-lt"/>
                        </a:rPr>
                        <a:t>A=-5</a:t>
                      </a:r>
                    </a:p>
                  </a:txBody>
                  <a:tcPr/>
                </a:tc>
                <a:tc>
                  <a:txBody>
                    <a:bodyPr/>
                    <a:lstStyle/>
                    <a:p>
                      <a:r>
                        <a:rPr lang="en-US" sz="2000">
                          <a:latin typeface="+mj-lt"/>
                        </a:rPr>
                        <a:t>No message</a:t>
                      </a:r>
                    </a:p>
                  </a:txBody>
                  <a:tcPr/>
                </a:tc>
                <a:extLst>
                  <a:ext uri="{0D108BD9-81ED-4DB2-BD59-A6C34878D82A}">
                    <a16:rowId xmlns:a16="http://schemas.microsoft.com/office/drawing/2014/main" val="10001"/>
                  </a:ext>
                </a:extLst>
              </a:tr>
              <a:tr h="370840">
                <a:tc>
                  <a:txBody>
                    <a:bodyPr/>
                    <a:lstStyle/>
                    <a:p>
                      <a:r>
                        <a:rPr lang="en-US" sz="2000">
                          <a:latin typeface="+mj-lt"/>
                        </a:rPr>
                        <a:t>2</a:t>
                      </a:r>
                    </a:p>
                  </a:txBody>
                  <a:tcPr/>
                </a:tc>
                <a:tc>
                  <a:txBody>
                    <a:bodyPr/>
                    <a:lstStyle/>
                    <a:p>
                      <a:r>
                        <a:rPr lang="en-US" sz="2000">
                          <a:latin typeface="+mj-lt"/>
                        </a:rPr>
                        <a:t>A&gt;0(T) and</a:t>
                      </a:r>
                      <a:r>
                        <a:rPr lang="en-US" sz="2000" baseline="0">
                          <a:latin typeface="+mj-lt"/>
                        </a:rPr>
                        <a:t> A=21(F)</a:t>
                      </a:r>
                      <a:endParaRPr lang="en-US" sz="2000">
                        <a:latin typeface="+mj-lt"/>
                      </a:endParaRPr>
                    </a:p>
                  </a:txBody>
                  <a:tcPr/>
                </a:tc>
                <a:tc>
                  <a:txBody>
                    <a:bodyPr/>
                    <a:lstStyle/>
                    <a:p>
                      <a:r>
                        <a:rPr lang="en-US" sz="2000">
                          <a:latin typeface="+mj-lt"/>
                        </a:rPr>
                        <a:t>A=10</a:t>
                      </a:r>
                    </a:p>
                  </a:txBody>
                  <a:tcPr/>
                </a:tc>
                <a:tc>
                  <a:txBody>
                    <a:bodyPr/>
                    <a:lstStyle/>
                    <a:p>
                      <a:r>
                        <a:rPr lang="en-US" sz="2000">
                          <a:latin typeface="+mj-lt"/>
                        </a:rPr>
                        <a:t>No message</a:t>
                      </a:r>
                    </a:p>
                  </a:txBody>
                  <a:tcPr/>
                </a:tc>
                <a:extLst>
                  <a:ext uri="{0D108BD9-81ED-4DB2-BD59-A6C34878D82A}">
                    <a16:rowId xmlns:a16="http://schemas.microsoft.com/office/drawing/2014/main" val="10002"/>
                  </a:ext>
                </a:extLst>
              </a:tr>
              <a:tr h="370840">
                <a:tc>
                  <a:txBody>
                    <a:bodyPr/>
                    <a:lstStyle/>
                    <a:p>
                      <a:r>
                        <a:rPr lang="en-US" sz="2000">
                          <a:latin typeface="+mj-lt"/>
                        </a:rPr>
                        <a:t>3</a:t>
                      </a:r>
                    </a:p>
                  </a:txBody>
                  <a:tcPr/>
                </a:tc>
                <a:tc>
                  <a:txBody>
                    <a:bodyPr/>
                    <a:lstStyle/>
                    <a:p>
                      <a:r>
                        <a:rPr lang="en-US" sz="2000">
                          <a:latin typeface="+mj-lt"/>
                        </a:rPr>
                        <a:t>A&gt;0(T) and A=21(T)</a:t>
                      </a:r>
                    </a:p>
                  </a:txBody>
                  <a:tcPr/>
                </a:tc>
                <a:tc>
                  <a:txBody>
                    <a:bodyPr/>
                    <a:lstStyle/>
                    <a:p>
                      <a:r>
                        <a:rPr lang="en-US" sz="2000">
                          <a:latin typeface="+mj-lt"/>
                        </a:rPr>
                        <a:t>A=21</a:t>
                      </a:r>
                    </a:p>
                  </a:txBody>
                  <a:tcPr/>
                </a:tc>
                <a:tc>
                  <a:txBody>
                    <a:bodyPr/>
                    <a:lstStyle/>
                    <a:p>
                      <a:r>
                        <a:rPr lang="en-US" sz="2000">
                          <a:latin typeface="+mj-lt"/>
                        </a:rPr>
                        <a:t>Message “Key”</a:t>
                      </a:r>
                    </a:p>
                  </a:txBody>
                  <a:tcPr/>
                </a:tc>
                <a:extLst>
                  <a:ext uri="{0D108BD9-81ED-4DB2-BD59-A6C34878D82A}">
                    <a16:rowId xmlns:a16="http://schemas.microsoft.com/office/drawing/2014/main" val="10003"/>
                  </a:ext>
                </a:extLst>
              </a:tr>
            </a:tbl>
          </a:graphicData>
        </a:graphic>
      </p:graphicFrame>
      <p:cxnSp>
        <p:nvCxnSpPr>
          <p:cNvPr id="11" name="Straight Arrow Connector 10"/>
          <p:cNvCxnSpPr/>
          <p:nvPr/>
        </p:nvCxnSpPr>
        <p:spPr>
          <a:xfrm>
            <a:off x="6077682" y="1757861"/>
            <a:ext cx="0" cy="433217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Elbow Connector 15"/>
          <p:cNvCxnSpPr/>
          <p:nvPr/>
        </p:nvCxnSpPr>
        <p:spPr>
          <a:xfrm rot="16200000" flipH="1">
            <a:off x="5886279" y="2206517"/>
            <a:ext cx="3222722" cy="2346080"/>
          </a:xfrm>
          <a:prstGeom prst="bentConnector3">
            <a:avLst>
              <a:gd name="adj1" fmla="val 40992"/>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6495284" y="4990918"/>
            <a:ext cx="217539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6495284" y="4990918"/>
            <a:ext cx="0" cy="109911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Elbow Connector 21"/>
          <p:cNvCxnSpPr/>
          <p:nvPr/>
        </p:nvCxnSpPr>
        <p:spPr>
          <a:xfrm rot="16200000" flipH="1">
            <a:off x="5365952" y="2558849"/>
            <a:ext cx="2853675" cy="1241179"/>
          </a:xfrm>
          <a:prstGeom prst="bentConnector3">
            <a:avLst>
              <a:gd name="adj1" fmla="val 53560"/>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170" name="Straight Connector 48169"/>
          <p:cNvCxnSpPr/>
          <p:nvPr/>
        </p:nvCxnSpPr>
        <p:spPr>
          <a:xfrm flipH="1">
            <a:off x="6270382" y="4606276"/>
            <a:ext cx="114299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172" name="Straight Arrow Connector 48171"/>
          <p:cNvCxnSpPr/>
          <p:nvPr/>
        </p:nvCxnSpPr>
        <p:spPr>
          <a:xfrm>
            <a:off x="6270382" y="4612628"/>
            <a:ext cx="0" cy="147740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18</a:t>
            </a:fld>
            <a:endParaRPr lang="en-US"/>
          </a:p>
        </p:txBody>
      </p:sp>
    </p:spTree>
    <p:extLst>
      <p:ext uri="{BB962C8B-B14F-4D97-AF65-F5344CB8AC3E}">
        <p14:creationId xmlns:p14="http://schemas.microsoft.com/office/powerpoint/2010/main" val="23567589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74434"/>
                                        </p:tgtEl>
                                        <p:attrNameLst>
                                          <p:attrName>style.visibility</p:attrName>
                                        </p:attrNameLst>
                                      </p:cBhvr>
                                      <p:to>
                                        <p:strVal val="visible"/>
                                      </p:to>
                                    </p:set>
                                    <p:animEffect transition="in" filter="wipe(up)">
                                      <p:cBhvr>
                                        <p:cTn id="7" dur="500"/>
                                        <p:tgtEl>
                                          <p:spTgt spid="27443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74439">
                                            <p:txEl>
                                              <p:pRg st="0" end="0"/>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274443"/>
                                        </p:tgtEl>
                                        <p:attrNameLst>
                                          <p:attrName>style.visibility</p:attrName>
                                        </p:attrNameLst>
                                      </p:cBhvr>
                                      <p:to>
                                        <p:strVal val="visible"/>
                                      </p:to>
                                    </p:set>
                                  </p:childTnLst>
                                  <p:subTnLst>
                                    <p:set>
                                      <p:cBhvr override="childStyle">
                                        <p:cTn dur="1" fill="hold" display="0" masterRel="nextClick" afterEffect="1"/>
                                        <p:tgtEl>
                                          <p:spTgt spid="274443"/>
                                        </p:tgtEl>
                                        <p:attrNameLst>
                                          <p:attrName>style.visibility</p:attrName>
                                        </p:attrNameLst>
                                      </p:cBhvr>
                                      <p:to>
                                        <p:strVal val="hidden"/>
                                      </p:to>
                                    </p:set>
                                  </p:subTnLst>
                                </p:cTn>
                              </p:par>
                            </p:childTnLst>
                          </p:cTn>
                        </p:par>
                        <p:par>
                          <p:cTn id="16" fill="hold" nodeType="afterGroup">
                            <p:stCondLst>
                              <p:cond delay="500"/>
                            </p:stCondLst>
                            <p:childTnLst>
                              <p:par>
                                <p:cTn id="17" presetID="22" presetClass="entr" presetSubtype="1" fill="hold" nodeType="afterEffect">
                                  <p:stCondLst>
                                    <p:cond delay="0"/>
                                  </p:stCondLst>
                                  <p:childTnLst>
                                    <p:set>
                                      <p:cBhvr>
                                        <p:cTn id="18" dur="1" fill="hold">
                                          <p:stCondLst>
                                            <p:cond delay="0"/>
                                          </p:stCondLst>
                                        </p:cTn>
                                        <p:tgtEl>
                                          <p:spTgt spid="274462"/>
                                        </p:tgtEl>
                                        <p:attrNameLst>
                                          <p:attrName>style.visibility</p:attrName>
                                        </p:attrNameLst>
                                      </p:cBhvr>
                                      <p:to>
                                        <p:strVal val="visible"/>
                                      </p:to>
                                    </p:set>
                                    <p:animEffect transition="in" filter="wipe(up)">
                                      <p:cBhvr>
                                        <p:cTn id="19" dur="500"/>
                                        <p:tgtEl>
                                          <p:spTgt spid="27446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274435"/>
                                        </p:tgtEl>
                                        <p:attrNameLst>
                                          <p:attrName>style.visibility</p:attrName>
                                        </p:attrNameLst>
                                      </p:cBhvr>
                                      <p:to>
                                        <p:strVal val="visible"/>
                                      </p:to>
                                    </p:set>
                                  </p:childTnLst>
                                  <p:subTnLst>
                                    <p:set>
                                      <p:cBhvr override="childStyle">
                                        <p:cTn dur="1" fill="hold" display="0" masterRel="nextClick" afterEffect="1"/>
                                        <p:tgtEl>
                                          <p:spTgt spid="274435"/>
                                        </p:tgtEl>
                                        <p:attrNameLst>
                                          <p:attrName>style.visibility</p:attrName>
                                        </p:attrNameLst>
                                      </p:cBhvr>
                                      <p:to>
                                        <p:strVal val="hidden"/>
                                      </p:to>
                                    </p:set>
                                  </p:subTnLst>
                                </p:cTn>
                              </p:par>
                            </p:childTnLst>
                          </p:cTn>
                        </p:par>
                        <p:par>
                          <p:cTn id="24" fill="hold" nodeType="afterGroup">
                            <p:stCondLst>
                              <p:cond delay="500"/>
                            </p:stCondLst>
                            <p:childTnLst>
                              <p:par>
                                <p:cTn id="25" presetID="22" presetClass="entr" presetSubtype="1" fill="hold" nodeType="afterEffect">
                                  <p:stCondLst>
                                    <p:cond delay="0"/>
                                  </p:stCondLst>
                                  <p:childTnLst>
                                    <p:set>
                                      <p:cBhvr>
                                        <p:cTn id="26" dur="1" fill="hold">
                                          <p:stCondLst>
                                            <p:cond delay="0"/>
                                          </p:stCondLst>
                                        </p:cTn>
                                        <p:tgtEl>
                                          <p:spTgt spid="274457"/>
                                        </p:tgtEl>
                                        <p:attrNameLst>
                                          <p:attrName>style.visibility</p:attrName>
                                        </p:attrNameLst>
                                      </p:cBhvr>
                                      <p:to>
                                        <p:strVal val="visible"/>
                                      </p:to>
                                    </p:set>
                                    <p:animEffect transition="in" filter="wipe(up)">
                                      <p:cBhvr>
                                        <p:cTn id="27" dur="500"/>
                                        <p:tgtEl>
                                          <p:spTgt spid="27445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274437"/>
                                        </p:tgtEl>
                                        <p:attrNameLst>
                                          <p:attrName>style.visibility</p:attrName>
                                        </p:attrNameLst>
                                      </p:cBhvr>
                                      <p:to>
                                        <p:strVal val="visible"/>
                                      </p:to>
                                    </p:set>
                                  </p:childTnLst>
                                  <p:subTnLst>
                                    <p:set>
                                      <p:cBhvr override="childStyle">
                                        <p:cTn dur="1" fill="hold" display="0" masterRel="nextClick" afterEffect="1"/>
                                        <p:tgtEl>
                                          <p:spTgt spid="274437"/>
                                        </p:tgtEl>
                                        <p:attrNameLst>
                                          <p:attrName>style.visibility</p:attrName>
                                        </p:attrNameLst>
                                      </p:cBhvr>
                                      <p:to>
                                        <p:strVal val="hidden"/>
                                      </p:to>
                                    </p:set>
                                  </p:subTnLst>
                                </p:cTn>
                              </p:par>
                            </p:childTnLst>
                          </p:cTn>
                        </p:par>
                        <p:par>
                          <p:cTn id="32" fill="hold" nodeType="afterGroup">
                            <p:stCondLst>
                              <p:cond delay="500"/>
                            </p:stCondLst>
                            <p:childTnLst>
                              <p:par>
                                <p:cTn id="33" presetID="22" presetClass="entr" presetSubtype="1" fill="hold" nodeType="afterEffect">
                                  <p:stCondLst>
                                    <p:cond delay="0"/>
                                  </p:stCondLst>
                                  <p:childTnLst>
                                    <p:set>
                                      <p:cBhvr>
                                        <p:cTn id="34" dur="1" fill="hold">
                                          <p:stCondLst>
                                            <p:cond delay="0"/>
                                          </p:stCondLst>
                                        </p:cTn>
                                        <p:tgtEl>
                                          <p:spTgt spid="274450"/>
                                        </p:tgtEl>
                                        <p:attrNameLst>
                                          <p:attrName>style.visibility</p:attrName>
                                        </p:attrNameLst>
                                      </p:cBhvr>
                                      <p:to>
                                        <p:strVal val="visible"/>
                                      </p:to>
                                    </p:set>
                                    <p:animEffect transition="in" filter="wipe(up)">
                                      <p:cBhvr>
                                        <p:cTn id="35" dur="500"/>
                                        <p:tgtEl>
                                          <p:spTgt spid="27445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274436"/>
                                        </p:tgtEl>
                                        <p:attrNameLst>
                                          <p:attrName>style.visibility</p:attrName>
                                        </p:attrNameLst>
                                      </p:cBhvr>
                                      <p:to>
                                        <p:strVal val="visible"/>
                                      </p:to>
                                    </p:set>
                                  </p:childTnLst>
                                  <p:subTnLst>
                                    <p:set>
                                      <p:cBhvr override="childStyle">
                                        <p:cTn dur="1" fill="hold" display="0" masterRel="nextClick" afterEffect="1"/>
                                        <p:tgtEl>
                                          <p:spTgt spid="274436"/>
                                        </p:tgtEl>
                                        <p:attrNameLst>
                                          <p:attrName>style.visibility</p:attrName>
                                        </p:attrNameLst>
                                      </p:cBhvr>
                                      <p:to>
                                        <p:strVal val="hidden"/>
                                      </p:to>
                                    </p:set>
                                  </p:subTnLst>
                                </p:cTn>
                              </p:par>
                            </p:childTnLst>
                          </p:cTn>
                        </p:par>
                        <p:par>
                          <p:cTn id="40" fill="hold" nodeType="afterGroup">
                            <p:stCondLst>
                              <p:cond delay="500"/>
                            </p:stCondLst>
                            <p:childTnLst>
                              <p:par>
                                <p:cTn id="41" presetID="22" presetClass="entr" presetSubtype="1" fill="hold" nodeType="afterEffect">
                                  <p:stCondLst>
                                    <p:cond delay="0"/>
                                  </p:stCondLst>
                                  <p:childTnLst>
                                    <p:set>
                                      <p:cBhvr>
                                        <p:cTn id="42" dur="1" fill="hold">
                                          <p:stCondLst>
                                            <p:cond delay="0"/>
                                          </p:stCondLst>
                                        </p:cTn>
                                        <p:tgtEl>
                                          <p:spTgt spid="274444"/>
                                        </p:tgtEl>
                                        <p:attrNameLst>
                                          <p:attrName>style.visibility</p:attrName>
                                        </p:attrNameLst>
                                      </p:cBhvr>
                                      <p:to>
                                        <p:strVal val="visible"/>
                                      </p:to>
                                    </p:set>
                                    <p:animEffect transition="in" filter="wipe(up)">
                                      <p:cBhvr>
                                        <p:cTn id="43" dur="500"/>
                                        <p:tgtEl>
                                          <p:spTgt spid="27444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wipe(up)">
                                      <p:cBhvr>
                                        <p:cTn id="48" dur="500"/>
                                        <p:tgtEl>
                                          <p:spTgt spid="11"/>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up)">
                                      <p:cBhvr>
                                        <p:cTn id="53" dur="500"/>
                                        <p:tgtEl>
                                          <p:spTgt spid="22"/>
                                        </p:tgtEl>
                                      </p:cBhvr>
                                    </p:animEffect>
                                  </p:childTnLst>
                                </p:cTn>
                              </p:par>
                            </p:childTnLst>
                          </p:cTn>
                        </p:par>
                        <p:par>
                          <p:cTn id="54" fill="hold">
                            <p:stCondLst>
                              <p:cond delay="500"/>
                            </p:stCondLst>
                            <p:childTnLst>
                              <p:par>
                                <p:cTn id="55" presetID="22" presetClass="entr" presetSubtype="2" fill="hold" nodeType="afterEffect">
                                  <p:stCondLst>
                                    <p:cond delay="0"/>
                                  </p:stCondLst>
                                  <p:childTnLst>
                                    <p:set>
                                      <p:cBhvr>
                                        <p:cTn id="56" dur="1" fill="hold">
                                          <p:stCondLst>
                                            <p:cond delay="0"/>
                                          </p:stCondLst>
                                        </p:cTn>
                                        <p:tgtEl>
                                          <p:spTgt spid="48170"/>
                                        </p:tgtEl>
                                        <p:attrNameLst>
                                          <p:attrName>style.visibility</p:attrName>
                                        </p:attrNameLst>
                                      </p:cBhvr>
                                      <p:to>
                                        <p:strVal val="visible"/>
                                      </p:to>
                                    </p:set>
                                    <p:animEffect transition="in" filter="wipe(right)">
                                      <p:cBhvr>
                                        <p:cTn id="57" dur="500"/>
                                        <p:tgtEl>
                                          <p:spTgt spid="48170"/>
                                        </p:tgtEl>
                                      </p:cBhvr>
                                    </p:animEffect>
                                  </p:childTnLst>
                                </p:cTn>
                              </p:par>
                            </p:childTnLst>
                          </p:cTn>
                        </p:par>
                        <p:par>
                          <p:cTn id="58" fill="hold">
                            <p:stCondLst>
                              <p:cond delay="1000"/>
                            </p:stCondLst>
                            <p:childTnLst>
                              <p:par>
                                <p:cTn id="59" presetID="22" presetClass="entr" presetSubtype="1" fill="hold" nodeType="afterEffect">
                                  <p:stCondLst>
                                    <p:cond delay="0"/>
                                  </p:stCondLst>
                                  <p:childTnLst>
                                    <p:set>
                                      <p:cBhvr>
                                        <p:cTn id="60" dur="1" fill="hold">
                                          <p:stCondLst>
                                            <p:cond delay="0"/>
                                          </p:stCondLst>
                                        </p:cTn>
                                        <p:tgtEl>
                                          <p:spTgt spid="48172"/>
                                        </p:tgtEl>
                                        <p:attrNameLst>
                                          <p:attrName>style.visibility</p:attrName>
                                        </p:attrNameLst>
                                      </p:cBhvr>
                                      <p:to>
                                        <p:strVal val="visible"/>
                                      </p:to>
                                    </p:set>
                                    <p:animEffect transition="in" filter="wipe(up)">
                                      <p:cBhvr>
                                        <p:cTn id="61" dur="500"/>
                                        <p:tgtEl>
                                          <p:spTgt spid="4817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wipe(up)">
                                      <p:cBhvr>
                                        <p:cTn id="66" dur="500"/>
                                        <p:tgtEl>
                                          <p:spTgt spid="16"/>
                                        </p:tgtEl>
                                      </p:cBhvr>
                                    </p:animEffect>
                                  </p:childTnLst>
                                </p:cTn>
                              </p:par>
                            </p:childTnLst>
                          </p:cTn>
                        </p:par>
                        <p:par>
                          <p:cTn id="67" fill="hold">
                            <p:stCondLst>
                              <p:cond delay="500"/>
                            </p:stCondLst>
                            <p:childTnLst>
                              <p:par>
                                <p:cTn id="68" presetID="22" presetClass="entr" presetSubtype="2"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wipe(right)">
                                      <p:cBhvr>
                                        <p:cTn id="70" dur="500"/>
                                        <p:tgtEl>
                                          <p:spTgt spid="18"/>
                                        </p:tgtEl>
                                      </p:cBhvr>
                                    </p:animEffect>
                                  </p:childTnLst>
                                </p:cTn>
                              </p:par>
                            </p:childTnLst>
                          </p:cTn>
                        </p:par>
                        <p:par>
                          <p:cTn id="71" fill="hold">
                            <p:stCondLst>
                              <p:cond delay="1000"/>
                            </p:stCondLst>
                            <p:childTnLst>
                              <p:par>
                                <p:cTn id="72" presetID="22" presetClass="entr" presetSubtype="1" fill="hold"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wipe(up)">
                                      <p:cBhvr>
                                        <p:cTn id="74" dur="500"/>
                                        <p:tgtEl>
                                          <p:spTgt spid="20"/>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27444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4" grpId="0" autoUpdateAnimBg="0"/>
      <p:bldP spid="274435" grpId="0" autoUpdateAnimBg="0"/>
      <p:bldP spid="274436" grpId="0" autoUpdateAnimBg="0"/>
      <p:bldP spid="274437" grpId="0" autoUpdateAnimBg="0"/>
      <p:bldP spid="274439" grpId="0" build="p" autoUpdateAnimBg="0"/>
      <p:bldP spid="274442" grpId="0" autoUpdateAnimBg="0"/>
      <p:bldP spid="274443"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482" name="Rectangle 2050"/>
          <p:cNvSpPr>
            <a:spLocks noGrp="1" noChangeArrowheads="1"/>
          </p:cNvSpPr>
          <p:nvPr>
            <p:ph type="body" idx="1"/>
          </p:nvPr>
        </p:nvSpPr>
        <p:spPr>
          <a:xfrm>
            <a:off x="2667001" y="4038600"/>
            <a:ext cx="4423996" cy="1046163"/>
          </a:xfrm>
        </p:spPr>
        <p:txBody>
          <a:bodyPr>
            <a:normAutofit fontScale="92500"/>
          </a:bodyPr>
          <a:lstStyle/>
          <a:p>
            <a:pPr>
              <a:defRPr/>
            </a:pPr>
            <a:r>
              <a:rPr lang="en-GB" b="1"/>
              <a:t>Minimum tests to achieve with decision coverage: _____</a:t>
            </a:r>
          </a:p>
        </p:txBody>
      </p:sp>
      <p:sp>
        <p:nvSpPr>
          <p:cNvPr id="276483" name="Text Box 2051"/>
          <p:cNvSpPr txBox="1">
            <a:spLocks noChangeArrowheads="1"/>
          </p:cNvSpPr>
          <p:nvPr/>
        </p:nvSpPr>
        <p:spPr bwMode="auto">
          <a:xfrm>
            <a:off x="262305" y="1876485"/>
            <a:ext cx="307327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GB" sz="2400">
                <a:solidFill>
                  <a:srgbClr val="000099"/>
                </a:solidFill>
              </a:rPr>
              <a:t>Read A</a:t>
            </a:r>
          </a:p>
          <a:p>
            <a:r>
              <a:rPr lang="en-GB" sz="2400">
                <a:solidFill>
                  <a:srgbClr val="000099"/>
                </a:solidFill>
              </a:rPr>
              <a:t>Read B</a:t>
            </a:r>
          </a:p>
          <a:p>
            <a:r>
              <a:rPr lang="en-GB" sz="2400">
                <a:solidFill>
                  <a:srgbClr val="000099"/>
                </a:solidFill>
              </a:rPr>
              <a:t>IF A &lt; 0 THEN</a:t>
            </a:r>
          </a:p>
          <a:p>
            <a:r>
              <a:rPr lang="en-GB" sz="2400">
                <a:solidFill>
                  <a:srgbClr val="000099"/>
                </a:solidFill>
              </a:rPr>
              <a:t>     Print  “A negative”</a:t>
            </a:r>
          </a:p>
          <a:p>
            <a:r>
              <a:rPr lang="en-GB" sz="2400">
                <a:solidFill>
                  <a:srgbClr val="000099"/>
                </a:solidFill>
              </a:rPr>
              <a:t>ELSE</a:t>
            </a:r>
          </a:p>
          <a:p>
            <a:r>
              <a:rPr lang="en-GB" sz="2400">
                <a:solidFill>
                  <a:srgbClr val="000099"/>
                </a:solidFill>
              </a:rPr>
              <a:t>     Print  “A positive”</a:t>
            </a:r>
          </a:p>
          <a:p>
            <a:r>
              <a:rPr lang="en-GB" sz="2400">
                <a:solidFill>
                  <a:srgbClr val="000099"/>
                </a:solidFill>
              </a:rPr>
              <a:t>ENDIF</a:t>
            </a:r>
          </a:p>
          <a:p>
            <a:r>
              <a:rPr lang="en-GB" sz="2400">
                <a:solidFill>
                  <a:srgbClr val="000099"/>
                </a:solidFill>
              </a:rPr>
              <a:t>IF B &lt; 0 THEN</a:t>
            </a:r>
          </a:p>
          <a:p>
            <a:r>
              <a:rPr lang="en-GB" sz="2400">
                <a:solidFill>
                  <a:srgbClr val="000099"/>
                </a:solidFill>
              </a:rPr>
              <a:t>     Print  “B negative”</a:t>
            </a:r>
          </a:p>
          <a:p>
            <a:r>
              <a:rPr lang="en-GB" sz="2400">
                <a:solidFill>
                  <a:srgbClr val="000099"/>
                </a:solidFill>
              </a:rPr>
              <a:t>ELSE</a:t>
            </a:r>
          </a:p>
          <a:p>
            <a:r>
              <a:rPr lang="en-GB" sz="2400">
                <a:solidFill>
                  <a:srgbClr val="000099"/>
                </a:solidFill>
              </a:rPr>
              <a:t>     Print  “B positive”</a:t>
            </a:r>
          </a:p>
          <a:p>
            <a:r>
              <a:rPr lang="en-GB" sz="2400">
                <a:solidFill>
                  <a:srgbClr val="000099"/>
                </a:solidFill>
              </a:rPr>
              <a:t>ENDIF</a:t>
            </a:r>
          </a:p>
        </p:txBody>
      </p:sp>
      <p:sp>
        <p:nvSpPr>
          <p:cNvPr id="276485" name="Text Box 2053"/>
          <p:cNvSpPr txBox="1">
            <a:spLocks noChangeArrowheads="1"/>
          </p:cNvSpPr>
          <p:nvPr/>
        </p:nvSpPr>
        <p:spPr bwMode="hidden">
          <a:xfrm>
            <a:off x="5603442" y="4338935"/>
            <a:ext cx="3401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sz="2400" b="1">
                <a:latin typeface="+mj-lt"/>
              </a:rPr>
              <a:t>2</a:t>
            </a:r>
          </a:p>
        </p:txBody>
      </p:sp>
      <p:sp>
        <p:nvSpPr>
          <p:cNvPr id="50183" name="Rectangle 2055"/>
          <p:cNvSpPr>
            <a:spLocks noGrp="1" noChangeArrowheads="1"/>
          </p:cNvSpPr>
          <p:nvPr>
            <p:ph type="title"/>
          </p:nvPr>
        </p:nvSpPr>
        <p:spPr/>
        <p:txBody>
          <a:bodyPr/>
          <a:lstStyle/>
          <a:p>
            <a:r>
              <a:rPr lang="en-US"/>
              <a:t>Decision testing example 2</a:t>
            </a:r>
            <a:endParaRPr lang="en-GB"/>
          </a:p>
        </p:txBody>
      </p:sp>
      <p:grpSp>
        <p:nvGrpSpPr>
          <p:cNvPr id="276488" name="Group 2056"/>
          <p:cNvGrpSpPr>
            <a:grpSpLocks/>
          </p:cNvGrpSpPr>
          <p:nvPr/>
        </p:nvGrpSpPr>
        <p:grpSpPr bwMode="auto">
          <a:xfrm>
            <a:off x="5874728" y="1981201"/>
            <a:ext cx="1192823" cy="525463"/>
            <a:chOff x="2979" y="260"/>
            <a:chExt cx="814" cy="331"/>
          </a:xfrm>
        </p:grpSpPr>
        <p:sp>
          <p:nvSpPr>
            <p:cNvPr id="50214" name="Line 2057"/>
            <p:cNvSpPr>
              <a:spLocks noChangeShapeType="1"/>
            </p:cNvSpPr>
            <p:nvPr/>
          </p:nvSpPr>
          <p:spPr bwMode="hidden">
            <a:xfrm>
              <a:off x="3359" y="416"/>
              <a:ext cx="434" cy="1"/>
            </a:xfrm>
            <a:prstGeom prst="line">
              <a:avLst/>
            </a:prstGeom>
            <a:noFill/>
            <a:ln w="50800">
              <a:solidFill>
                <a:srgbClr val="00CC66"/>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latin typeface="+mj-lt"/>
              </a:endParaRPr>
            </a:p>
          </p:txBody>
        </p:sp>
        <p:sp>
          <p:nvSpPr>
            <p:cNvPr id="50215" name="Rectangle 2058"/>
            <p:cNvSpPr>
              <a:spLocks noChangeArrowheads="1"/>
            </p:cNvSpPr>
            <p:nvPr/>
          </p:nvSpPr>
          <p:spPr bwMode="hidden">
            <a:xfrm>
              <a:off x="2979" y="260"/>
              <a:ext cx="500" cy="331"/>
            </a:xfrm>
            <a:prstGeom prst="rect">
              <a:avLst/>
            </a:prstGeom>
            <a:solidFill>
              <a:srgbClr val="92D05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solidFill>
                    <a:srgbClr val="000000"/>
                  </a:solidFill>
                  <a:latin typeface="+mj-lt"/>
                </a:rPr>
                <a:t>Read</a:t>
              </a:r>
            </a:p>
          </p:txBody>
        </p:sp>
      </p:grpSp>
      <p:sp>
        <p:nvSpPr>
          <p:cNvPr id="276491" name="Rectangle 2059"/>
          <p:cNvSpPr>
            <a:spLocks noChangeArrowheads="1"/>
          </p:cNvSpPr>
          <p:nvPr/>
        </p:nvSpPr>
        <p:spPr bwMode="hidden">
          <a:xfrm>
            <a:off x="7071946" y="5799138"/>
            <a:ext cx="732692" cy="525462"/>
          </a:xfrm>
          <a:prstGeom prst="rect">
            <a:avLst/>
          </a:prstGeom>
          <a:solidFill>
            <a:srgbClr val="92D050"/>
          </a:solidFill>
          <a:ln w="12700">
            <a:solidFill>
              <a:schemeClr val="tx1"/>
            </a:solidFill>
            <a:miter lim="800000"/>
            <a:headEnd/>
            <a:tailEnd/>
          </a:ln>
          <a:effectLst/>
        </p:spPr>
        <p:txBody>
          <a:bodyPr wrap="none" anchor="ctr"/>
          <a:lstStyle/>
          <a:p>
            <a:pPr algn="ctr"/>
            <a:r>
              <a:rPr lang="en-US" sz="2400">
                <a:solidFill>
                  <a:srgbClr val="000000"/>
                </a:solidFill>
                <a:latin typeface="+mj-lt"/>
              </a:rPr>
              <a:t>End</a:t>
            </a:r>
          </a:p>
        </p:txBody>
      </p:sp>
      <p:grpSp>
        <p:nvGrpSpPr>
          <p:cNvPr id="276492" name="Group 2060"/>
          <p:cNvGrpSpPr>
            <a:grpSpLocks/>
          </p:cNvGrpSpPr>
          <p:nvPr/>
        </p:nvGrpSpPr>
        <p:grpSpPr bwMode="auto">
          <a:xfrm>
            <a:off x="6919546" y="4452939"/>
            <a:ext cx="904143" cy="1392237"/>
            <a:chOff x="3692" y="1817"/>
            <a:chExt cx="617" cy="877"/>
          </a:xfrm>
        </p:grpSpPr>
        <p:sp>
          <p:nvSpPr>
            <p:cNvPr id="50209" name="Line 2061"/>
            <p:cNvSpPr>
              <a:spLocks noChangeShapeType="1"/>
            </p:cNvSpPr>
            <p:nvPr/>
          </p:nvSpPr>
          <p:spPr bwMode="hidden">
            <a:xfrm>
              <a:off x="4035" y="2316"/>
              <a:ext cx="0" cy="378"/>
            </a:xfrm>
            <a:prstGeom prst="line">
              <a:avLst/>
            </a:prstGeom>
            <a:noFill/>
            <a:ln w="50800">
              <a:solidFill>
                <a:srgbClr val="00CC66"/>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latin typeface="+mj-lt"/>
              </a:endParaRPr>
            </a:p>
          </p:txBody>
        </p:sp>
        <p:grpSp>
          <p:nvGrpSpPr>
            <p:cNvPr id="50210" name="Group 2062"/>
            <p:cNvGrpSpPr>
              <a:grpSpLocks/>
            </p:cNvGrpSpPr>
            <p:nvPr/>
          </p:nvGrpSpPr>
          <p:grpSpPr bwMode="auto">
            <a:xfrm>
              <a:off x="3692" y="1817"/>
              <a:ext cx="617" cy="604"/>
              <a:chOff x="3692" y="1817"/>
              <a:chExt cx="617" cy="604"/>
            </a:xfrm>
          </p:grpSpPr>
          <p:sp>
            <p:nvSpPr>
              <p:cNvPr id="50211" name="Line 2063"/>
              <p:cNvSpPr>
                <a:spLocks noChangeShapeType="1"/>
              </p:cNvSpPr>
              <p:nvPr/>
            </p:nvSpPr>
            <p:spPr bwMode="hidden">
              <a:xfrm flipH="1">
                <a:off x="4035" y="1817"/>
                <a:ext cx="0" cy="265"/>
              </a:xfrm>
              <a:prstGeom prst="line">
                <a:avLst/>
              </a:prstGeom>
              <a:noFill/>
              <a:ln w="50800">
                <a:solidFill>
                  <a:srgbClr val="00CC66"/>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latin typeface="+mj-lt"/>
                </a:endParaRPr>
              </a:p>
            </p:txBody>
          </p:sp>
          <p:sp>
            <p:nvSpPr>
              <p:cNvPr id="50212" name="Rectangle 2064"/>
              <p:cNvSpPr>
                <a:spLocks noChangeArrowheads="1"/>
              </p:cNvSpPr>
              <p:nvPr/>
            </p:nvSpPr>
            <p:spPr bwMode="hidden">
              <a:xfrm>
                <a:off x="3809" y="2090"/>
                <a:ext cx="500" cy="331"/>
              </a:xfrm>
              <a:prstGeom prst="rect">
                <a:avLst/>
              </a:prstGeom>
              <a:solidFill>
                <a:srgbClr val="92D05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solidFill>
                      <a:srgbClr val="000000"/>
                    </a:solidFill>
                    <a:latin typeface="+mj-lt"/>
                  </a:rPr>
                  <a:t>Print</a:t>
                </a:r>
              </a:p>
            </p:txBody>
          </p:sp>
          <p:sp>
            <p:nvSpPr>
              <p:cNvPr id="50213" name="Text Box 2065"/>
              <p:cNvSpPr txBox="1">
                <a:spLocks noChangeArrowheads="1"/>
              </p:cNvSpPr>
              <p:nvPr/>
            </p:nvSpPr>
            <p:spPr bwMode="hidden">
              <a:xfrm>
                <a:off x="3692" y="1818"/>
                <a:ext cx="37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sz="2400" b="1">
                    <a:latin typeface="+mj-lt"/>
                  </a:rPr>
                  <a:t>No</a:t>
                </a:r>
              </a:p>
            </p:txBody>
          </p:sp>
        </p:grpSp>
      </p:grpSp>
      <p:grpSp>
        <p:nvGrpSpPr>
          <p:cNvPr id="276498" name="Group 2066"/>
          <p:cNvGrpSpPr>
            <a:grpSpLocks/>
          </p:cNvGrpSpPr>
          <p:nvPr/>
        </p:nvGrpSpPr>
        <p:grpSpPr bwMode="auto">
          <a:xfrm>
            <a:off x="7064620" y="3813176"/>
            <a:ext cx="1926980" cy="1762125"/>
            <a:chOff x="3791" y="1414"/>
            <a:chExt cx="1315" cy="1110"/>
          </a:xfrm>
        </p:grpSpPr>
        <p:grpSp>
          <p:nvGrpSpPr>
            <p:cNvPr id="50202" name="Group 2067"/>
            <p:cNvGrpSpPr>
              <a:grpSpLocks/>
            </p:cNvGrpSpPr>
            <p:nvPr/>
          </p:nvGrpSpPr>
          <p:grpSpPr bwMode="auto">
            <a:xfrm>
              <a:off x="4047" y="1414"/>
              <a:ext cx="1059" cy="1110"/>
              <a:chOff x="4047" y="1414"/>
              <a:chExt cx="1059" cy="1110"/>
            </a:xfrm>
          </p:grpSpPr>
          <p:sp>
            <p:nvSpPr>
              <p:cNvPr id="50204" name="Line 2068"/>
              <p:cNvSpPr>
                <a:spLocks noChangeShapeType="1"/>
              </p:cNvSpPr>
              <p:nvPr/>
            </p:nvSpPr>
            <p:spPr bwMode="hidden">
              <a:xfrm flipH="1">
                <a:off x="4845" y="1802"/>
                <a:ext cx="0" cy="716"/>
              </a:xfrm>
              <a:prstGeom prst="line">
                <a:avLst/>
              </a:prstGeom>
              <a:noFill/>
              <a:ln w="50800">
                <a:solidFill>
                  <a:srgbClr val="00CC66"/>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latin typeface="+mj-lt"/>
                </a:endParaRPr>
              </a:p>
            </p:txBody>
          </p:sp>
          <p:sp>
            <p:nvSpPr>
              <p:cNvPr id="50205" name="Line 2069"/>
              <p:cNvSpPr>
                <a:spLocks noChangeShapeType="1"/>
              </p:cNvSpPr>
              <p:nvPr/>
            </p:nvSpPr>
            <p:spPr bwMode="hidden">
              <a:xfrm>
                <a:off x="4071" y="1652"/>
                <a:ext cx="535" cy="0"/>
              </a:xfrm>
              <a:prstGeom prst="line">
                <a:avLst/>
              </a:prstGeom>
              <a:noFill/>
              <a:ln w="50800">
                <a:solidFill>
                  <a:srgbClr val="00CC66"/>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latin typeface="+mj-lt"/>
                </a:endParaRPr>
              </a:p>
            </p:txBody>
          </p:sp>
          <p:sp>
            <p:nvSpPr>
              <p:cNvPr id="50206" name="Rectangle 2070"/>
              <p:cNvSpPr>
                <a:spLocks noChangeArrowheads="1"/>
              </p:cNvSpPr>
              <p:nvPr/>
            </p:nvSpPr>
            <p:spPr bwMode="hidden">
              <a:xfrm>
                <a:off x="4606" y="1500"/>
                <a:ext cx="500" cy="331"/>
              </a:xfrm>
              <a:prstGeom prst="rect">
                <a:avLst/>
              </a:prstGeom>
              <a:solidFill>
                <a:srgbClr val="92D05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solidFill>
                      <a:srgbClr val="000000"/>
                    </a:solidFill>
                    <a:latin typeface="+mj-lt"/>
                  </a:rPr>
                  <a:t>Print</a:t>
                </a:r>
              </a:p>
            </p:txBody>
          </p:sp>
          <p:sp>
            <p:nvSpPr>
              <p:cNvPr id="50207" name="Line 2071"/>
              <p:cNvSpPr>
                <a:spLocks noChangeShapeType="1"/>
              </p:cNvSpPr>
              <p:nvPr/>
            </p:nvSpPr>
            <p:spPr bwMode="hidden">
              <a:xfrm flipH="1">
                <a:off x="4047" y="2524"/>
                <a:ext cx="806" cy="0"/>
              </a:xfrm>
              <a:prstGeom prst="line">
                <a:avLst/>
              </a:prstGeom>
              <a:noFill/>
              <a:ln w="50800">
                <a:solidFill>
                  <a:srgbClr val="00CC66"/>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latin typeface="+mj-lt"/>
                </a:endParaRPr>
              </a:p>
            </p:txBody>
          </p:sp>
          <p:sp>
            <p:nvSpPr>
              <p:cNvPr id="50208" name="Text Box 2072"/>
              <p:cNvSpPr txBox="1">
                <a:spLocks noChangeArrowheads="1"/>
              </p:cNvSpPr>
              <p:nvPr/>
            </p:nvSpPr>
            <p:spPr bwMode="hidden">
              <a:xfrm>
                <a:off x="4136" y="1414"/>
                <a:ext cx="40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sz="2400" b="1">
                    <a:latin typeface="+mj-lt"/>
                  </a:rPr>
                  <a:t>Yes</a:t>
                </a:r>
              </a:p>
            </p:txBody>
          </p:sp>
        </p:grpSp>
        <p:sp>
          <p:nvSpPr>
            <p:cNvPr id="50203" name="AutoShape 2073"/>
            <p:cNvSpPr>
              <a:spLocks noChangeArrowheads="1"/>
            </p:cNvSpPr>
            <p:nvPr/>
          </p:nvSpPr>
          <p:spPr bwMode="hidden">
            <a:xfrm>
              <a:off x="3791" y="1414"/>
              <a:ext cx="484" cy="502"/>
            </a:xfrm>
            <a:prstGeom prst="diamond">
              <a:avLst/>
            </a:prstGeom>
            <a:solidFill>
              <a:srgbClr val="92D05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a:solidFill>
                    <a:srgbClr val="000000"/>
                  </a:solidFill>
                  <a:latin typeface="+mj-lt"/>
                </a:rPr>
                <a:t>B&lt;0</a:t>
              </a:r>
            </a:p>
          </p:txBody>
        </p:sp>
      </p:grpSp>
      <p:grpSp>
        <p:nvGrpSpPr>
          <p:cNvPr id="276506" name="Group 2074"/>
          <p:cNvGrpSpPr>
            <a:grpSpLocks/>
          </p:cNvGrpSpPr>
          <p:nvPr/>
        </p:nvGrpSpPr>
        <p:grpSpPr bwMode="auto">
          <a:xfrm>
            <a:off x="6951785" y="2471739"/>
            <a:ext cx="871904" cy="1392237"/>
            <a:chOff x="3714" y="569"/>
            <a:chExt cx="595" cy="877"/>
          </a:xfrm>
        </p:grpSpPr>
        <p:sp>
          <p:nvSpPr>
            <p:cNvPr id="50198" name="Line 2075"/>
            <p:cNvSpPr>
              <a:spLocks noChangeShapeType="1"/>
            </p:cNvSpPr>
            <p:nvPr/>
          </p:nvSpPr>
          <p:spPr bwMode="hidden">
            <a:xfrm>
              <a:off x="4035" y="1068"/>
              <a:ext cx="0" cy="378"/>
            </a:xfrm>
            <a:prstGeom prst="line">
              <a:avLst/>
            </a:prstGeom>
            <a:noFill/>
            <a:ln w="50800">
              <a:solidFill>
                <a:srgbClr val="00CC66"/>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latin typeface="+mj-lt"/>
              </a:endParaRPr>
            </a:p>
          </p:txBody>
        </p:sp>
        <p:sp>
          <p:nvSpPr>
            <p:cNvPr id="50199" name="Line 2076"/>
            <p:cNvSpPr>
              <a:spLocks noChangeShapeType="1"/>
            </p:cNvSpPr>
            <p:nvPr/>
          </p:nvSpPr>
          <p:spPr bwMode="hidden">
            <a:xfrm flipH="1">
              <a:off x="4035" y="569"/>
              <a:ext cx="0" cy="273"/>
            </a:xfrm>
            <a:prstGeom prst="line">
              <a:avLst/>
            </a:prstGeom>
            <a:noFill/>
            <a:ln w="50800">
              <a:solidFill>
                <a:srgbClr val="00CC66"/>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latin typeface="+mj-lt"/>
              </a:endParaRPr>
            </a:p>
          </p:txBody>
        </p:sp>
        <p:sp>
          <p:nvSpPr>
            <p:cNvPr id="50200" name="Rectangle 2077"/>
            <p:cNvSpPr>
              <a:spLocks noChangeArrowheads="1"/>
            </p:cNvSpPr>
            <p:nvPr/>
          </p:nvSpPr>
          <p:spPr bwMode="hidden">
            <a:xfrm>
              <a:off x="3809" y="842"/>
              <a:ext cx="500" cy="331"/>
            </a:xfrm>
            <a:prstGeom prst="rect">
              <a:avLst/>
            </a:prstGeom>
            <a:solidFill>
              <a:srgbClr val="92D05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solidFill>
                    <a:srgbClr val="000000"/>
                  </a:solidFill>
                  <a:latin typeface="+mj-lt"/>
                </a:rPr>
                <a:t>Print</a:t>
              </a:r>
            </a:p>
          </p:txBody>
        </p:sp>
        <p:sp>
          <p:nvSpPr>
            <p:cNvPr id="50201" name="Text Box 2078"/>
            <p:cNvSpPr txBox="1">
              <a:spLocks noChangeArrowheads="1"/>
            </p:cNvSpPr>
            <p:nvPr/>
          </p:nvSpPr>
          <p:spPr bwMode="hidden">
            <a:xfrm>
              <a:off x="3714" y="569"/>
              <a:ext cx="37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sz="2400" b="1">
                  <a:latin typeface="+mj-lt"/>
                </a:rPr>
                <a:t>No</a:t>
              </a:r>
            </a:p>
          </p:txBody>
        </p:sp>
      </p:grpSp>
      <p:grpSp>
        <p:nvGrpSpPr>
          <p:cNvPr id="276511" name="Group 2079"/>
          <p:cNvGrpSpPr>
            <a:grpSpLocks/>
          </p:cNvGrpSpPr>
          <p:nvPr/>
        </p:nvGrpSpPr>
        <p:grpSpPr bwMode="auto">
          <a:xfrm>
            <a:off x="7064620" y="1830388"/>
            <a:ext cx="1926980" cy="1763712"/>
            <a:chOff x="3791" y="165"/>
            <a:chExt cx="1315" cy="1111"/>
          </a:xfrm>
        </p:grpSpPr>
        <p:grpSp>
          <p:nvGrpSpPr>
            <p:cNvPr id="50191" name="Group 2080"/>
            <p:cNvGrpSpPr>
              <a:grpSpLocks/>
            </p:cNvGrpSpPr>
            <p:nvPr/>
          </p:nvGrpSpPr>
          <p:grpSpPr bwMode="auto">
            <a:xfrm>
              <a:off x="4035" y="165"/>
              <a:ext cx="1071" cy="1111"/>
              <a:chOff x="4035" y="165"/>
              <a:chExt cx="1071" cy="1111"/>
            </a:xfrm>
          </p:grpSpPr>
          <p:sp>
            <p:nvSpPr>
              <p:cNvPr id="50193" name="Line 2081"/>
              <p:cNvSpPr>
                <a:spLocks noChangeShapeType="1"/>
              </p:cNvSpPr>
              <p:nvPr/>
            </p:nvSpPr>
            <p:spPr bwMode="hidden">
              <a:xfrm flipH="1">
                <a:off x="4845" y="554"/>
                <a:ext cx="0" cy="716"/>
              </a:xfrm>
              <a:prstGeom prst="line">
                <a:avLst/>
              </a:prstGeom>
              <a:noFill/>
              <a:ln w="50800">
                <a:solidFill>
                  <a:srgbClr val="00CC66"/>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latin typeface="+mj-lt"/>
                </a:endParaRPr>
              </a:p>
            </p:txBody>
          </p:sp>
          <p:sp>
            <p:nvSpPr>
              <p:cNvPr id="50194" name="Line 2082"/>
              <p:cNvSpPr>
                <a:spLocks noChangeShapeType="1"/>
              </p:cNvSpPr>
              <p:nvPr/>
            </p:nvSpPr>
            <p:spPr bwMode="hidden">
              <a:xfrm>
                <a:off x="4209" y="404"/>
                <a:ext cx="397" cy="0"/>
              </a:xfrm>
              <a:prstGeom prst="line">
                <a:avLst/>
              </a:prstGeom>
              <a:noFill/>
              <a:ln w="50800">
                <a:solidFill>
                  <a:srgbClr val="00CC66"/>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latin typeface="+mj-lt"/>
                </a:endParaRPr>
              </a:p>
            </p:txBody>
          </p:sp>
          <p:sp>
            <p:nvSpPr>
              <p:cNvPr id="50195" name="Rectangle 2083"/>
              <p:cNvSpPr>
                <a:spLocks noChangeArrowheads="1"/>
              </p:cNvSpPr>
              <p:nvPr/>
            </p:nvSpPr>
            <p:spPr bwMode="hidden">
              <a:xfrm>
                <a:off x="4606" y="252"/>
                <a:ext cx="500" cy="331"/>
              </a:xfrm>
              <a:prstGeom prst="rect">
                <a:avLst/>
              </a:prstGeom>
              <a:solidFill>
                <a:srgbClr val="92D05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solidFill>
                      <a:srgbClr val="000000"/>
                    </a:solidFill>
                    <a:latin typeface="+mj-lt"/>
                  </a:rPr>
                  <a:t>Print</a:t>
                </a:r>
              </a:p>
            </p:txBody>
          </p:sp>
          <p:sp>
            <p:nvSpPr>
              <p:cNvPr id="50196" name="Line 2084"/>
              <p:cNvSpPr>
                <a:spLocks noChangeShapeType="1"/>
              </p:cNvSpPr>
              <p:nvPr/>
            </p:nvSpPr>
            <p:spPr bwMode="hidden">
              <a:xfrm flipH="1">
                <a:off x="4035" y="1276"/>
                <a:ext cx="806" cy="0"/>
              </a:xfrm>
              <a:prstGeom prst="line">
                <a:avLst/>
              </a:prstGeom>
              <a:noFill/>
              <a:ln w="50800">
                <a:solidFill>
                  <a:srgbClr val="00CC66"/>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latin typeface="+mj-lt"/>
                </a:endParaRPr>
              </a:p>
            </p:txBody>
          </p:sp>
          <p:sp>
            <p:nvSpPr>
              <p:cNvPr id="50197" name="Text Box 2085"/>
              <p:cNvSpPr txBox="1">
                <a:spLocks noChangeArrowheads="1"/>
              </p:cNvSpPr>
              <p:nvPr/>
            </p:nvSpPr>
            <p:spPr bwMode="hidden">
              <a:xfrm>
                <a:off x="4158" y="165"/>
                <a:ext cx="40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sz="2400" b="1">
                    <a:latin typeface="+mj-lt"/>
                  </a:rPr>
                  <a:t>Yes</a:t>
                </a:r>
              </a:p>
            </p:txBody>
          </p:sp>
        </p:grpSp>
        <p:sp>
          <p:nvSpPr>
            <p:cNvPr id="50192" name="AutoShape 2086"/>
            <p:cNvSpPr>
              <a:spLocks noChangeArrowheads="1"/>
            </p:cNvSpPr>
            <p:nvPr/>
          </p:nvSpPr>
          <p:spPr bwMode="hidden">
            <a:xfrm>
              <a:off x="3791" y="166"/>
              <a:ext cx="484" cy="502"/>
            </a:xfrm>
            <a:prstGeom prst="diamond">
              <a:avLst/>
            </a:prstGeom>
            <a:solidFill>
              <a:srgbClr val="92D05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a:solidFill>
                    <a:srgbClr val="000000"/>
                  </a:solidFill>
                  <a:latin typeface="+mj-lt"/>
                </a:rPr>
                <a:t>A&lt;0</a:t>
              </a:r>
            </a:p>
          </p:txBody>
        </p:sp>
      </p:grpSp>
      <p:cxnSp>
        <p:nvCxnSpPr>
          <p:cNvPr id="3" name="Straight Connector 2"/>
          <p:cNvCxnSpPr/>
          <p:nvPr/>
        </p:nvCxnSpPr>
        <p:spPr>
          <a:xfrm>
            <a:off x="5773521" y="2362200"/>
            <a:ext cx="145448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7228010" y="2362200"/>
            <a:ext cx="0" cy="41910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773521" y="2133600"/>
            <a:ext cx="268467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458200" y="2133600"/>
            <a:ext cx="0" cy="103425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flipV="1">
            <a:off x="7457343" y="3167856"/>
            <a:ext cx="1000858"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Elbow Connector 19"/>
          <p:cNvCxnSpPr/>
          <p:nvPr/>
        </p:nvCxnSpPr>
        <p:spPr>
          <a:xfrm rot="16200000" flipH="1">
            <a:off x="7119571" y="3505628"/>
            <a:ext cx="1981201" cy="1305657"/>
          </a:xfrm>
          <a:prstGeom prst="bentConnector3">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flipV="1">
            <a:off x="7570177" y="5149057"/>
            <a:ext cx="1192823"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7570177" y="5149057"/>
            <a:ext cx="32239" cy="1404143"/>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19</a:t>
            </a:fld>
            <a:endParaRPr lang="en-US"/>
          </a:p>
        </p:txBody>
      </p:sp>
    </p:spTree>
    <p:extLst>
      <p:ext uri="{BB962C8B-B14F-4D97-AF65-F5344CB8AC3E}">
        <p14:creationId xmlns:p14="http://schemas.microsoft.com/office/powerpoint/2010/main" val="32290090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76483"/>
                                        </p:tgtEl>
                                        <p:attrNameLst>
                                          <p:attrName>style.visibility</p:attrName>
                                        </p:attrNameLst>
                                      </p:cBhvr>
                                      <p:to>
                                        <p:strVal val="visible"/>
                                      </p:to>
                                    </p:set>
                                    <p:animEffect transition="in" filter="wipe(up)">
                                      <p:cBhvr>
                                        <p:cTn id="7" dur="500"/>
                                        <p:tgtEl>
                                          <p:spTgt spid="27648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76482">
                                            <p:txEl>
                                              <p:pRg st="0" end="0"/>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76488"/>
                                        </p:tgtEl>
                                        <p:attrNameLst>
                                          <p:attrName>style.visibility</p:attrName>
                                        </p:attrNameLst>
                                      </p:cBhvr>
                                      <p:to>
                                        <p:strVal val="visible"/>
                                      </p:to>
                                    </p:set>
                                    <p:animEffect transition="in" filter="wipe(left)">
                                      <p:cBhvr>
                                        <p:cTn id="16" dur="500"/>
                                        <p:tgtEl>
                                          <p:spTgt spid="27648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276511"/>
                                        </p:tgtEl>
                                        <p:attrNameLst>
                                          <p:attrName>style.visibility</p:attrName>
                                        </p:attrNameLst>
                                      </p:cBhvr>
                                      <p:to>
                                        <p:strVal val="visible"/>
                                      </p:to>
                                    </p:set>
                                    <p:animEffect transition="in" filter="wipe(up)">
                                      <p:cBhvr>
                                        <p:cTn id="21" dur="500"/>
                                        <p:tgtEl>
                                          <p:spTgt spid="27651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276506"/>
                                        </p:tgtEl>
                                        <p:attrNameLst>
                                          <p:attrName>style.visibility</p:attrName>
                                        </p:attrNameLst>
                                      </p:cBhvr>
                                      <p:to>
                                        <p:strVal val="visible"/>
                                      </p:to>
                                    </p:set>
                                    <p:animEffect transition="in" filter="wipe(up)">
                                      <p:cBhvr>
                                        <p:cTn id="26" dur="500"/>
                                        <p:tgtEl>
                                          <p:spTgt spid="27650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276498"/>
                                        </p:tgtEl>
                                        <p:attrNameLst>
                                          <p:attrName>style.visibility</p:attrName>
                                        </p:attrNameLst>
                                      </p:cBhvr>
                                      <p:to>
                                        <p:strVal val="visible"/>
                                      </p:to>
                                    </p:set>
                                    <p:animEffect transition="in" filter="wipe(up)">
                                      <p:cBhvr>
                                        <p:cTn id="31" dur="500"/>
                                        <p:tgtEl>
                                          <p:spTgt spid="27649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276492"/>
                                        </p:tgtEl>
                                        <p:attrNameLst>
                                          <p:attrName>style.visibility</p:attrName>
                                        </p:attrNameLst>
                                      </p:cBhvr>
                                      <p:to>
                                        <p:strVal val="visible"/>
                                      </p:to>
                                    </p:set>
                                    <p:animEffect transition="in" filter="wipe(up)">
                                      <p:cBhvr>
                                        <p:cTn id="36" dur="500"/>
                                        <p:tgtEl>
                                          <p:spTgt spid="27649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276491"/>
                                        </p:tgtEl>
                                        <p:attrNameLst>
                                          <p:attrName>style.visibility</p:attrName>
                                        </p:attrNameLst>
                                      </p:cBhvr>
                                      <p:to>
                                        <p:strVal val="visible"/>
                                      </p:to>
                                    </p:set>
                                    <p:animEffect transition="in" filter="wipe(up)">
                                      <p:cBhvr>
                                        <p:cTn id="41" dur="500"/>
                                        <p:tgtEl>
                                          <p:spTgt spid="27649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wipe(left)">
                                      <p:cBhvr>
                                        <p:cTn id="46" dur="500"/>
                                        <p:tgtEl>
                                          <p:spTgt spid="3"/>
                                        </p:tgtEl>
                                      </p:cBhvr>
                                    </p:animEffect>
                                  </p:childTnLst>
                                </p:cTn>
                              </p:par>
                            </p:childTnLst>
                          </p:cTn>
                        </p:par>
                        <p:par>
                          <p:cTn id="47" fill="hold">
                            <p:stCondLst>
                              <p:cond delay="500"/>
                            </p:stCondLst>
                            <p:childTnLst>
                              <p:par>
                                <p:cTn id="48" presetID="22" presetClass="entr" presetSubtype="1" fill="hold" nodeType="after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wipe(up)">
                                      <p:cBhvr>
                                        <p:cTn id="50" dur="500"/>
                                        <p:tgtEl>
                                          <p:spTgt spid="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up)">
                                      <p:cBhvr>
                                        <p:cTn id="55" dur="500"/>
                                        <p:tgtEl>
                                          <p:spTgt spid="12"/>
                                        </p:tgtEl>
                                      </p:cBhvr>
                                    </p:animEffect>
                                  </p:childTnLst>
                                </p:cTn>
                              </p:par>
                            </p:childTnLst>
                          </p:cTn>
                        </p:par>
                        <p:par>
                          <p:cTn id="56" fill="hold">
                            <p:stCondLst>
                              <p:cond delay="500"/>
                            </p:stCondLst>
                            <p:childTnLst>
                              <p:par>
                                <p:cTn id="57" presetID="22" presetClass="entr" presetSubtype="1" fill="hold" nodeType="after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wipe(up)">
                                      <p:cBhvr>
                                        <p:cTn id="59" dur="500"/>
                                        <p:tgtEl>
                                          <p:spTgt spid="16"/>
                                        </p:tgtEl>
                                      </p:cBhvr>
                                    </p:animEffect>
                                  </p:childTnLst>
                                </p:cTn>
                              </p:par>
                            </p:childTnLst>
                          </p:cTn>
                        </p:par>
                        <p:par>
                          <p:cTn id="60" fill="hold">
                            <p:stCondLst>
                              <p:cond delay="1000"/>
                            </p:stCondLst>
                            <p:childTnLst>
                              <p:par>
                                <p:cTn id="61" presetID="22" presetClass="entr" presetSubtype="1" fill="hold" nodeType="after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wipe(up)">
                                      <p:cBhvr>
                                        <p:cTn id="63" dur="500"/>
                                        <p:tgtEl>
                                          <p:spTgt spid="18"/>
                                        </p:tgtEl>
                                      </p:cBhvr>
                                    </p:animEffect>
                                  </p:childTnLst>
                                </p:cTn>
                              </p:par>
                            </p:childTnLst>
                          </p:cTn>
                        </p:par>
                        <p:par>
                          <p:cTn id="64" fill="hold">
                            <p:stCondLst>
                              <p:cond delay="1500"/>
                            </p:stCondLst>
                            <p:childTnLst>
                              <p:par>
                                <p:cTn id="65" presetID="22" presetClass="entr" presetSubtype="1" fill="hold" nodeType="after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up)">
                                      <p:cBhvr>
                                        <p:cTn id="67" dur="500"/>
                                        <p:tgtEl>
                                          <p:spTgt spid="20"/>
                                        </p:tgtEl>
                                      </p:cBhvr>
                                    </p:animEffect>
                                  </p:childTnLst>
                                </p:cTn>
                              </p:par>
                            </p:childTnLst>
                          </p:cTn>
                        </p:par>
                        <p:par>
                          <p:cTn id="68" fill="hold">
                            <p:stCondLst>
                              <p:cond delay="2000"/>
                            </p:stCondLst>
                            <p:childTnLst>
                              <p:par>
                                <p:cTn id="69" presetID="22" presetClass="entr" presetSubtype="1" fill="hold" nodeType="after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wipe(up)">
                                      <p:cBhvr>
                                        <p:cTn id="71" dur="500"/>
                                        <p:tgtEl>
                                          <p:spTgt spid="22"/>
                                        </p:tgtEl>
                                      </p:cBhvr>
                                    </p:animEffect>
                                  </p:childTnLst>
                                </p:cTn>
                              </p:par>
                            </p:childTnLst>
                          </p:cTn>
                        </p:par>
                        <p:par>
                          <p:cTn id="72" fill="hold">
                            <p:stCondLst>
                              <p:cond delay="2500"/>
                            </p:stCondLst>
                            <p:childTnLst>
                              <p:par>
                                <p:cTn id="73" presetID="22" presetClass="entr" presetSubtype="1" fill="hold" nodeType="after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wipe(up)">
                                      <p:cBhvr>
                                        <p:cTn id="75" dur="500"/>
                                        <p:tgtEl>
                                          <p:spTgt spid="24"/>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499"/>
                                          </p:stCondLst>
                                        </p:cTn>
                                        <p:tgtEl>
                                          <p:spTgt spid="2764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482" grpId="0" build="p" autoUpdateAnimBg="0"/>
      <p:bldP spid="276483" grpId="0" autoUpdateAnimBg="0"/>
      <p:bldP spid="276485" grpId="0" autoUpdateAnimBg="0"/>
      <p:bldP spid="276491"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Decision testing exercise 1</a:t>
            </a:r>
          </a:p>
        </p:txBody>
      </p:sp>
      <p:sp>
        <p:nvSpPr>
          <p:cNvPr id="4" name="Rectangle 3"/>
          <p:cNvSpPr/>
          <p:nvPr/>
        </p:nvSpPr>
        <p:spPr>
          <a:xfrm>
            <a:off x="152400" y="1981200"/>
            <a:ext cx="6520070" cy="4524315"/>
          </a:xfrm>
          <a:prstGeom prst="rect">
            <a:avLst/>
          </a:prstGeom>
        </p:spPr>
        <p:txBody>
          <a:bodyPr wrap="square">
            <a:spAutoFit/>
          </a:bodyPr>
          <a:lstStyle/>
          <a:p>
            <a:r>
              <a:rPr lang="en-US" sz="2400">
                <a:latin typeface="+mj-lt"/>
              </a:rPr>
              <a:t>1    Read(CandidateAge)</a:t>
            </a:r>
          </a:p>
          <a:p>
            <a:r>
              <a:rPr lang="en-US" sz="2400">
                <a:latin typeface="+mj-lt"/>
              </a:rPr>
              <a:t>2    If  CandidateAge &lt; 18</a:t>
            </a:r>
          </a:p>
          <a:p>
            <a:r>
              <a:rPr lang="en-US" sz="2400">
                <a:latin typeface="+mj-lt"/>
              </a:rPr>
              <a:t>3    Then</a:t>
            </a:r>
          </a:p>
          <a:p>
            <a:r>
              <a:rPr lang="en-US" sz="2400">
                <a:latin typeface="+mj-lt"/>
              </a:rPr>
              <a:t>4        Print (“Candidate is too young”)</a:t>
            </a:r>
          </a:p>
          <a:p>
            <a:r>
              <a:rPr lang="en-US" sz="2400">
                <a:latin typeface="+mj-lt"/>
              </a:rPr>
              <a:t>5    Else</a:t>
            </a:r>
          </a:p>
          <a:p>
            <a:r>
              <a:rPr lang="en-US" sz="2400">
                <a:latin typeface="+mj-lt"/>
              </a:rPr>
              <a:t>6      If  CandidateAge &gt; 30</a:t>
            </a:r>
          </a:p>
          <a:p>
            <a:r>
              <a:rPr lang="en-US" sz="2400">
                <a:latin typeface="+mj-lt"/>
              </a:rPr>
              <a:t>7      Then</a:t>
            </a:r>
          </a:p>
          <a:p>
            <a:r>
              <a:rPr lang="en-US" sz="2400">
                <a:latin typeface="+mj-lt"/>
              </a:rPr>
              <a:t>8         Print (“Candidate is too old”)</a:t>
            </a:r>
          </a:p>
          <a:p>
            <a:r>
              <a:rPr lang="en-US" sz="2400">
                <a:latin typeface="+mj-lt"/>
              </a:rPr>
              <a:t>9      Else</a:t>
            </a:r>
          </a:p>
          <a:p>
            <a:r>
              <a:rPr lang="en-US" sz="2400">
                <a:latin typeface="+mj-lt"/>
              </a:rPr>
              <a:t>10       Print(“Candidate may join Club 18–30”)</a:t>
            </a:r>
          </a:p>
          <a:p>
            <a:r>
              <a:rPr lang="en-US" sz="2400">
                <a:latin typeface="+mj-lt"/>
              </a:rPr>
              <a:t>11    Endif</a:t>
            </a:r>
          </a:p>
          <a:p>
            <a:r>
              <a:rPr lang="en-US" sz="2400">
                <a:latin typeface="+mj-lt"/>
              </a:rPr>
              <a:t>12   Endif</a:t>
            </a:r>
          </a:p>
        </p:txBody>
      </p:sp>
      <p:sp>
        <p:nvSpPr>
          <p:cNvPr id="5" name="Rectangle 4"/>
          <p:cNvSpPr/>
          <p:nvPr/>
        </p:nvSpPr>
        <p:spPr>
          <a:xfrm>
            <a:off x="4551218" y="2064603"/>
            <a:ext cx="4572000" cy="830997"/>
          </a:xfrm>
          <a:prstGeom prst="rect">
            <a:avLst/>
          </a:prstGeom>
        </p:spPr>
        <p:txBody>
          <a:bodyPr>
            <a:spAutoFit/>
          </a:bodyPr>
          <a:lstStyle/>
          <a:p>
            <a:r>
              <a:rPr lang="en-US" sz="2400" b="1">
                <a:solidFill>
                  <a:srgbClr val="002060"/>
                </a:solidFill>
                <a:latin typeface="+mj-lt"/>
              </a:rPr>
              <a:t>How many test cases for 100% decision coverage?</a:t>
            </a:r>
          </a:p>
        </p:txBody>
      </p:sp>
      <p:sp>
        <p:nvSpPr>
          <p:cNvPr id="7" name="Slide Number Placeholder 6"/>
          <p:cNvSpPr>
            <a:spLocks noGrp="1"/>
          </p:cNvSpPr>
          <p:nvPr>
            <p:ph type="sldNum" sz="quarter" idx="12"/>
          </p:nvPr>
        </p:nvSpPr>
        <p:spPr/>
        <p:txBody>
          <a:bodyPr/>
          <a:lstStyle/>
          <a:p>
            <a:r>
              <a:rPr lang="en-US"/>
              <a:t>Slide </a:t>
            </a:r>
            <a:fld id="{3900DC13-0C25-439E-AA75-E5DAAC4C3713}" type="slidenum">
              <a:rPr lang="en-US" smtClean="0"/>
              <a:pPr/>
              <a:t>20</a:t>
            </a:fld>
            <a:endParaRPr lang="en-US"/>
          </a:p>
        </p:txBody>
      </p:sp>
    </p:spTree>
    <p:extLst>
      <p:ext uri="{BB962C8B-B14F-4D97-AF65-F5344CB8AC3E}">
        <p14:creationId xmlns:p14="http://schemas.microsoft.com/office/powerpoint/2010/main" val="2018147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Solution exercise 1</a:t>
            </a:r>
          </a:p>
        </p:txBody>
      </p:sp>
      <p:sp>
        <p:nvSpPr>
          <p:cNvPr id="5" name="Rectangle 4"/>
          <p:cNvSpPr/>
          <p:nvPr/>
        </p:nvSpPr>
        <p:spPr>
          <a:xfrm>
            <a:off x="152400" y="1981200"/>
            <a:ext cx="5943600" cy="4524315"/>
          </a:xfrm>
          <a:prstGeom prst="rect">
            <a:avLst/>
          </a:prstGeom>
        </p:spPr>
        <p:txBody>
          <a:bodyPr wrap="square">
            <a:spAutoFit/>
          </a:bodyPr>
          <a:lstStyle/>
          <a:p>
            <a:r>
              <a:rPr lang="en-US" sz="2400">
                <a:latin typeface="+mj-lt"/>
              </a:rPr>
              <a:t>1    Read(CandidateAge)</a:t>
            </a:r>
          </a:p>
          <a:p>
            <a:r>
              <a:rPr lang="en-US" sz="2400">
                <a:latin typeface="+mj-lt"/>
              </a:rPr>
              <a:t>2    If  CandidateAge &lt; 18</a:t>
            </a:r>
          </a:p>
          <a:p>
            <a:r>
              <a:rPr lang="en-US" sz="2400">
                <a:latin typeface="+mj-lt"/>
              </a:rPr>
              <a:t>3    Then</a:t>
            </a:r>
          </a:p>
          <a:p>
            <a:r>
              <a:rPr lang="en-US" sz="2400">
                <a:latin typeface="+mj-lt"/>
              </a:rPr>
              <a:t>4        Print (“Candidate is too young”)</a:t>
            </a:r>
          </a:p>
          <a:p>
            <a:r>
              <a:rPr lang="en-US" sz="2400">
                <a:latin typeface="+mj-lt"/>
              </a:rPr>
              <a:t>5    Else</a:t>
            </a:r>
          </a:p>
          <a:p>
            <a:r>
              <a:rPr lang="en-US" sz="2400">
                <a:latin typeface="+mj-lt"/>
              </a:rPr>
              <a:t>6      If  CandidateAge &gt; 30</a:t>
            </a:r>
          </a:p>
          <a:p>
            <a:r>
              <a:rPr lang="en-US" sz="2400">
                <a:latin typeface="+mj-lt"/>
              </a:rPr>
              <a:t>7      Then</a:t>
            </a:r>
          </a:p>
          <a:p>
            <a:r>
              <a:rPr lang="en-US" sz="2400">
                <a:latin typeface="+mj-lt"/>
              </a:rPr>
              <a:t>8         Print (“Candidate is too old”)</a:t>
            </a:r>
          </a:p>
          <a:p>
            <a:r>
              <a:rPr lang="en-US" sz="2400">
                <a:latin typeface="+mj-lt"/>
              </a:rPr>
              <a:t>9      Else</a:t>
            </a:r>
          </a:p>
          <a:p>
            <a:r>
              <a:rPr lang="en-US" sz="2400">
                <a:latin typeface="+mj-lt"/>
              </a:rPr>
              <a:t>10       Print(“Candidate may join Club 18–30”)</a:t>
            </a:r>
          </a:p>
          <a:p>
            <a:r>
              <a:rPr lang="en-US" sz="2400">
                <a:latin typeface="+mj-lt"/>
              </a:rPr>
              <a:t>11    Endif</a:t>
            </a:r>
          </a:p>
          <a:p>
            <a:r>
              <a:rPr lang="en-US" sz="2400">
                <a:latin typeface="+mj-lt"/>
              </a:rPr>
              <a:t>12   Endif</a:t>
            </a:r>
          </a:p>
        </p:txBody>
      </p: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1295400"/>
            <a:ext cx="4191000" cy="4077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114800" y="5638800"/>
            <a:ext cx="4699813" cy="1015663"/>
          </a:xfrm>
          <a:prstGeom prst="rect">
            <a:avLst/>
          </a:prstGeom>
        </p:spPr>
        <p:txBody>
          <a:bodyPr wrap="none">
            <a:spAutoFit/>
          </a:bodyPr>
          <a:lstStyle/>
          <a:p>
            <a:r>
              <a:rPr lang="en-US" sz="2000" b="1">
                <a:solidFill>
                  <a:srgbClr val="FF0000"/>
                </a:solidFill>
                <a:latin typeface="+mj-lt"/>
              </a:rPr>
              <a:t>CandidateAge&lt;18</a:t>
            </a:r>
          </a:p>
          <a:p>
            <a:r>
              <a:rPr lang="en-US" sz="2000" b="1">
                <a:solidFill>
                  <a:srgbClr val="FF0000"/>
                </a:solidFill>
                <a:latin typeface="+mj-lt"/>
              </a:rPr>
              <a:t>CandidateAge&gt;=18 and CandidateAge&gt;30</a:t>
            </a:r>
          </a:p>
          <a:p>
            <a:r>
              <a:rPr lang="en-US" sz="2000" b="1">
                <a:solidFill>
                  <a:srgbClr val="FF0000"/>
                </a:solidFill>
                <a:latin typeface="+mj-lt"/>
              </a:rPr>
              <a:t>CandidateAge&gt;=18 and CandidateAge&lt;=30</a:t>
            </a:r>
          </a:p>
        </p:txBody>
      </p:sp>
      <p:sp>
        <p:nvSpPr>
          <p:cNvPr id="7" name="Slide Number Placeholder 6"/>
          <p:cNvSpPr>
            <a:spLocks noGrp="1"/>
          </p:cNvSpPr>
          <p:nvPr>
            <p:ph type="sldNum" sz="quarter" idx="12"/>
          </p:nvPr>
        </p:nvSpPr>
        <p:spPr/>
        <p:txBody>
          <a:bodyPr/>
          <a:lstStyle/>
          <a:p>
            <a:r>
              <a:rPr lang="en-US"/>
              <a:t>Slide </a:t>
            </a:r>
            <a:fld id="{3900DC13-0C25-439E-AA75-E5DAAC4C3713}" type="slidenum">
              <a:rPr lang="en-US" smtClean="0"/>
              <a:pPr/>
              <a:t>21</a:t>
            </a:fld>
            <a:endParaRPr lang="en-US"/>
          </a:p>
        </p:txBody>
      </p:sp>
    </p:spTree>
    <p:extLst>
      <p:ext uri="{BB962C8B-B14F-4D97-AF65-F5344CB8AC3E}">
        <p14:creationId xmlns:p14="http://schemas.microsoft.com/office/powerpoint/2010/main" val="2299023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fade">
                                      <p:cBhvr>
                                        <p:cTn id="7" dur="500"/>
                                        <p:tgtEl>
                                          <p:spTgt spid="819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Decision testing exercise 2</a:t>
            </a:r>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698661"/>
            <a:ext cx="4991100" cy="4006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495800" y="1905000"/>
            <a:ext cx="4572000" cy="1200329"/>
          </a:xfrm>
          <a:prstGeom prst="rect">
            <a:avLst/>
          </a:prstGeom>
        </p:spPr>
        <p:txBody>
          <a:bodyPr>
            <a:spAutoFit/>
          </a:bodyPr>
          <a:lstStyle/>
          <a:p>
            <a:pPr marL="279400" indent="-279400"/>
            <a:r>
              <a:rPr lang="en-US" sz="2400" b="1">
                <a:solidFill>
                  <a:srgbClr val="002060"/>
                </a:solidFill>
                <a:latin typeface="+mj-lt"/>
              </a:rPr>
              <a:t>a. How many test cases are needed to achieve 100% decision coverage?</a:t>
            </a:r>
          </a:p>
        </p:txBody>
      </p:sp>
      <p:sp>
        <p:nvSpPr>
          <p:cNvPr id="5" name="Rectangle 4"/>
          <p:cNvSpPr/>
          <p:nvPr/>
        </p:nvSpPr>
        <p:spPr>
          <a:xfrm>
            <a:off x="4495800" y="3154740"/>
            <a:ext cx="4572000" cy="1569660"/>
          </a:xfrm>
          <a:prstGeom prst="rect">
            <a:avLst/>
          </a:prstGeom>
        </p:spPr>
        <p:txBody>
          <a:bodyPr>
            <a:spAutoFit/>
          </a:bodyPr>
          <a:lstStyle/>
          <a:p>
            <a:pPr marL="279400" indent="-279400"/>
            <a:r>
              <a:rPr lang="en-US" sz="2400" b="1">
                <a:solidFill>
                  <a:srgbClr val="002060"/>
                </a:solidFill>
                <a:latin typeface="+mj-lt"/>
              </a:rPr>
              <a:t>b. If the test cases Time = 11 and Time = 15 were input, what level of decision coverage would be achieved?</a:t>
            </a:r>
          </a:p>
        </p:txBody>
      </p:sp>
      <p:sp>
        <p:nvSpPr>
          <p:cNvPr id="6" name="Rectangle 5"/>
          <p:cNvSpPr/>
          <p:nvPr/>
        </p:nvSpPr>
        <p:spPr>
          <a:xfrm>
            <a:off x="5867400" y="4876800"/>
            <a:ext cx="2052485" cy="461665"/>
          </a:xfrm>
          <a:prstGeom prst="rect">
            <a:avLst/>
          </a:prstGeom>
        </p:spPr>
        <p:txBody>
          <a:bodyPr wrap="none">
            <a:spAutoFit/>
          </a:bodyPr>
          <a:lstStyle/>
          <a:p>
            <a:pPr marL="342900" indent="-342900">
              <a:buAutoNum type="alphaLcPeriod"/>
            </a:pPr>
            <a:r>
              <a:rPr lang="en-US" sz="2400">
                <a:solidFill>
                  <a:srgbClr val="FF0000"/>
                </a:solidFill>
              </a:rPr>
              <a:t>3 test cases </a:t>
            </a:r>
          </a:p>
        </p:txBody>
      </p:sp>
      <p:sp>
        <p:nvSpPr>
          <p:cNvPr id="7" name="Rectangle 6"/>
          <p:cNvSpPr/>
          <p:nvPr/>
        </p:nvSpPr>
        <p:spPr>
          <a:xfrm>
            <a:off x="5867400" y="5329535"/>
            <a:ext cx="1084336" cy="461665"/>
          </a:xfrm>
          <a:prstGeom prst="rect">
            <a:avLst/>
          </a:prstGeom>
        </p:spPr>
        <p:txBody>
          <a:bodyPr wrap="none">
            <a:spAutoFit/>
          </a:bodyPr>
          <a:lstStyle/>
          <a:p>
            <a:pPr marL="342900" indent="-342900">
              <a:buFont typeface="+mj-lt"/>
              <a:buAutoNum type="alphaLcPeriod" startAt="2"/>
            </a:pPr>
            <a:r>
              <a:rPr lang="en-US" sz="2400">
                <a:solidFill>
                  <a:srgbClr val="FF0000"/>
                </a:solidFill>
              </a:rPr>
              <a:t>83%</a:t>
            </a:r>
          </a:p>
        </p:txBody>
      </p:sp>
      <p:sp>
        <p:nvSpPr>
          <p:cNvPr id="9" name="Slide Number Placeholder 8"/>
          <p:cNvSpPr>
            <a:spLocks noGrp="1"/>
          </p:cNvSpPr>
          <p:nvPr>
            <p:ph type="sldNum" sz="quarter" idx="12"/>
          </p:nvPr>
        </p:nvSpPr>
        <p:spPr/>
        <p:txBody>
          <a:bodyPr/>
          <a:lstStyle/>
          <a:p>
            <a:r>
              <a:rPr lang="en-US"/>
              <a:t>Slide </a:t>
            </a:r>
            <a:fld id="{3900DC13-0C25-439E-AA75-E5DAAC4C3713}" type="slidenum">
              <a:rPr lang="en-US" smtClean="0"/>
              <a:pPr/>
              <a:t>22</a:t>
            </a:fld>
            <a:endParaRPr lang="en-US"/>
          </a:p>
        </p:txBody>
      </p:sp>
    </p:spTree>
    <p:extLst>
      <p:ext uri="{BB962C8B-B14F-4D97-AF65-F5344CB8AC3E}">
        <p14:creationId xmlns:p14="http://schemas.microsoft.com/office/powerpoint/2010/main" val="2806578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Solution exercise 2</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23</a:t>
            </a:fld>
            <a:endParaRPr lang="en-US"/>
          </a:p>
        </p:txBody>
      </p:sp>
    </p:spTree>
    <p:extLst>
      <p:ext uri="{BB962C8B-B14F-4D97-AF65-F5344CB8AC3E}">
        <p14:creationId xmlns:p14="http://schemas.microsoft.com/office/powerpoint/2010/main" val="3654213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Decision testing exercise 3</a:t>
            </a:r>
          </a:p>
        </p:txBody>
      </p:sp>
      <p:pic>
        <p:nvPicPr>
          <p:cNvPr id="307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386" y="1752600"/>
            <a:ext cx="8523860" cy="5030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048000" y="1828800"/>
            <a:ext cx="5943601" cy="461665"/>
          </a:xfrm>
          <a:prstGeom prst="rect">
            <a:avLst/>
          </a:prstGeom>
        </p:spPr>
        <p:txBody>
          <a:bodyPr wrap="square">
            <a:spAutoFit/>
          </a:bodyPr>
          <a:lstStyle/>
          <a:p>
            <a:r>
              <a:rPr lang="en-US" sz="2400" b="1">
                <a:solidFill>
                  <a:srgbClr val="002060"/>
                </a:solidFill>
                <a:latin typeface="+mj-lt"/>
              </a:rPr>
              <a:t>What test case for 100% decision coverage?</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24</a:t>
            </a:fld>
            <a:endParaRPr lang="en-US"/>
          </a:p>
        </p:txBody>
      </p:sp>
    </p:spTree>
    <p:extLst>
      <p:ext uri="{BB962C8B-B14F-4D97-AF65-F5344CB8AC3E}">
        <p14:creationId xmlns:p14="http://schemas.microsoft.com/office/powerpoint/2010/main" val="32091453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Solution exercise 3</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25</a:t>
            </a:fld>
            <a:endParaRPr lang="en-US"/>
          </a:p>
        </p:txBody>
      </p:sp>
    </p:spTree>
    <p:extLst>
      <p:ext uri="{BB962C8B-B14F-4D97-AF65-F5344CB8AC3E}">
        <p14:creationId xmlns:p14="http://schemas.microsoft.com/office/powerpoint/2010/main" val="36542131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26</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 y="2438398"/>
            <a:ext cx="7785219" cy="4399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381000" y="1144250"/>
            <a:ext cx="8667750" cy="1015663"/>
          </a:xfrm>
          <a:prstGeom prst="rect">
            <a:avLst/>
          </a:prstGeom>
        </p:spPr>
        <p:txBody>
          <a:bodyPr wrap="square">
            <a:spAutoFit/>
          </a:bodyPr>
          <a:lstStyle/>
          <a:p>
            <a:r>
              <a:rPr lang="en-US" sz="2000">
                <a:latin typeface="+mj-lt"/>
              </a:rPr>
              <a:t>Suppose you are developing a software unit that will convert a non-signed 16 bit binary number (in string format) to a decimal integer. For example, BinaryToDecimal(“0000000000001111”) = 15. Draw CFG for this function.</a:t>
            </a:r>
          </a:p>
        </p:txBody>
      </p:sp>
    </p:spTree>
    <p:extLst>
      <p:ext uri="{BB962C8B-B14F-4D97-AF65-F5344CB8AC3E}">
        <p14:creationId xmlns:p14="http://schemas.microsoft.com/office/powerpoint/2010/main" val="32059907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Decision testing problems</a:t>
            </a:r>
          </a:p>
        </p:txBody>
      </p:sp>
      <p:sp>
        <p:nvSpPr>
          <p:cNvPr id="3" name="Content Placeholder 2"/>
          <p:cNvSpPr>
            <a:spLocks noGrp="1"/>
          </p:cNvSpPr>
          <p:nvPr>
            <p:ph idx="1"/>
          </p:nvPr>
        </p:nvSpPr>
        <p:spPr/>
        <p:txBody>
          <a:bodyPr/>
          <a:lstStyle/>
          <a:p>
            <a:r>
              <a:rPr lang="en-US"/>
              <a:t>Some branching decisions in programs are made not based on a single condition but on </a:t>
            </a:r>
            <a:r>
              <a:rPr lang="en-US" b="1"/>
              <a:t>multiple conditions</a:t>
            </a:r>
          </a:p>
          <a:p>
            <a:pPr lvl="1"/>
            <a:r>
              <a:rPr lang="en-US"/>
              <a:t>Decision coverage does not ensure that all entry-exit paths are executed</a:t>
            </a:r>
          </a:p>
          <a:p>
            <a:r>
              <a:rPr lang="en-US"/>
              <a:t>A compound predicate is treated as a single statement</a:t>
            </a:r>
          </a:p>
          <a:p>
            <a:pPr lvl="1"/>
            <a:r>
              <a:rPr lang="en-US"/>
              <a:t>If n clauses, 2</a:t>
            </a:r>
            <a:r>
              <a:rPr lang="en-US" baseline="30000"/>
              <a:t>n</a:t>
            </a:r>
            <a:r>
              <a:rPr lang="en-US"/>
              <a:t> combinations, but only 2 are tested</a:t>
            </a:r>
          </a:p>
          <a:p>
            <a:pPr lvl="1"/>
            <a:r>
              <a:rPr lang="en-US"/>
              <a:t>Example</a:t>
            </a:r>
          </a:p>
        </p:txBody>
      </p:sp>
      <p:sp>
        <p:nvSpPr>
          <p:cNvPr id="5" name="Rectangle 4"/>
          <p:cNvSpPr/>
          <p:nvPr/>
        </p:nvSpPr>
        <p:spPr>
          <a:xfrm>
            <a:off x="1066800" y="4495799"/>
            <a:ext cx="6629400" cy="1692771"/>
          </a:xfrm>
          <a:prstGeom prst="rect">
            <a:avLst/>
          </a:prstGeom>
        </p:spPr>
        <p:txBody>
          <a:bodyPr wrap="square">
            <a:spAutoFit/>
          </a:bodyPr>
          <a:lstStyle/>
          <a:p>
            <a:r>
              <a:rPr lang="en-US" sz="2600" b="1">
                <a:latin typeface="+mj-lt"/>
              </a:rPr>
              <a:t>if (condition1 &amp;&amp; (condition2 || function1())) 	statement1; </a:t>
            </a:r>
          </a:p>
          <a:p>
            <a:r>
              <a:rPr lang="en-US" sz="2600" b="1">
                <a:latin typeface="+mj-lt"/>
              </a:rPr>
              <a:t>else </a:t>
            </a:r>
          </a:p>
          <a:p>
            <a:r>
              <a:rPr lang="en-US" sz="2600" b="1">
                <a:latin typeface="+mj-lt"/>
              </a:rPr>
              <a:t>	statement2;</a:t>
            </a:r>
          </a:p>
        </p:txBody>
      </p:sp>
      <p:sp>
        <p:nvSpPr>
          <p:cNvPr id="7" name="Slide Number Placeholder 6"/>
          <p:cNvSpPr>
            <a:spLocks noGrp="1"/>
          </p:cNvSpPr>
          <p:nvPr>
            <p:ph type="sldNum" sz="quarter" idx="12"/>
          </p:nvPr>
        </p:nvSpPr>
        <p:spPr/>
        <p:txBody>
          <a:bodyPr/>
          <a:lstStyle/>
          <a:p>
            <a:r>
              <a:rPr lang="en-US"/>
              <a:t>Slide </a:t>
            </a:r>
            <a:fld id="{3900DC13-0C25-439E-AA75-E5DAAC4C3713}" type="slidenum">
              <a:rPr lang="en-US" smtClean="0"/>
              <a:pPr/>
              <a:t>27</a:t>
            </a:fld>
            <a:endParaRPr lang="en-US"/>
          </a:p>
        </p:txBody>
      </p:sp>
    </p:spTree>
    <p:extLst>
      <p:ext uri="{BB962C8B-B14F-4D97-AF65-F5344CB8AC3E}">
        <p14:creationId xmlns:p14="http://schemas.microsoft.com/office/powerpoint/2010/main" val="42391475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Condition testing (Level 3)</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a:t>Design test cases based on Boolean sub-expression (BsE): </a:t>
                </a:r>
                <a:r>
                  <a:rPr lang="en-US" b="1"/>
                  <a:t>each condition </a:t>
                </a:r>
                <a:r>
                  <a:rPr lang="en-US"/>
                  <a:t>to be evaluated as </a:t>
                </a:r>
                <a:r>
                  <a:rPr lang="en-US" b="1"/>
                  <a:t>true and false at least once</a:t>
                </a:r>
              </a:p>
              <a:p>
                <a:r>
                  <a:rPr lang="en-US"/>
                  <a:t>Condition coverage</a:t>
                </a:r>
              </a:p>
              <a:p>
                <a:pPr lvl="1"/>
                <a:r>
                  <a:rPr lang="en-US">
                    <a:solidFill>
                      <a:prstClr val="black"/>
                    </a:solidFill>
                  </a:rPr>
                  <a:t>=</a:t>
                </a:r>
                <a14:m>
                  <m:oMath xmlns:m="http://schemas.openxmlformats.org/officeDocument/2006/math">
                    <m:f>
                      <m:fPr>
                        <m:ctrlPr>
                          <a:rPr lang="en-US" i="1">
                            <a:solidFill>
                              <a:prstClr val="black"/>
                            </a:solidFill>
                            <a:latin typeface="Cambria Math" panose="02040503050406030204" pitchFamily="18" charset="0"/>
                          </a:rPr>
                        </m:ctrlPr>
                      </m:fPr>
                      <m:num>
                        <m:r>
                          <a:rPr lang="en-US" i="1">
                            <a:solidFill>
                              <a:prstClr val="black"/>
                            </a:solidFill>
                            <a:latin typeface="Cambria Math"/>
                          </a:rPr>
                          <m:t>𝑁𝑢𝑚𝑏𝑒𝑟</m:t>
                        </m:r>
                        <m:r>
                          <a:rPr lang="en-US" i="1">
                            <a:solidFill>
                              <a:prstClr val="black"/>
                            </a:solidFill>
                            <a:latin typeface="Cambria Math"/>
                          </a:rPr>
                          <m:t> </m:t>
                        </m:r>
                        <m:r>
                          <a:rPr lang="en-US" i="1">
                            <a:solidFill>
                              <a:prstClr val="black"/>
                            </a:solidFill>
                            <a:latin typeface="Cambria Math"/>
                          </a:rPr>
                          <m:t>𝑜𝑓</m:t>
                        </m:r>
                        <m:r>
                          <a:rPr lang="en-US" i="1">
                            <a:solidFill>
                              <a:prstClr val="black"/>
                            </a:solidFill>
                            <a:latin typeface="Cambria Math"/>
                          </a:rPr>
                          <m:t> </m:t>
                        </m:r>
                        <m:r>
                          <a:rPr lang="en-US" i="1">
                            <a:solidFill>
                              <a:prstClr val="black"/>
                            </a:solidFill>
                            <a:latin typeface="Cambria Math"/>
                          </a:rPr>
                          <m:t>𝐵𝑠𝐸</m:t>
                        </m:r>
                        <m:r>
                          <a:rPr lang="en-US" i="1">
                            <a:solidFill>
                              <a:prstClr val="black"/>
                            </a:solidFill>
                            <a:latin typeface="Cambria Math"/>
                          </a:rPr>
                          <m:t> </m:t>
                        </m:r>
                        <m:r>
                          <a:rPr lang="en-US" i="1">
                            <a:solidFill>
                              <a:prstClr val="black"/>
                            </a:solidFill>
                            <a:latin typeface="Cambria Math"/>
                          </a:rPr>
                          <m:t>𝑜𝑢𝑡𝑐𝑜𝑚𝑒𝑠</m:t>
                        </m:r>
                        <m:r>
                          <a:rPr lang="en-US" i="1">
                            <a:solidFill>
                              <a:prstClr val="black"/>
                            </a:solidFill>
                            <a:latin typeface="Cambria Math"/>
                          </a:rPr>
                          <m:t> </m:t>
                        </m:r>
                        <m:r>
                          <a:rPr lang="en-US" i="1">
                            <a:solidFill>
                              <a:prstClr val="black"/>
                            </a:solidFill>
                            <a:latin typeface="Cambria Math"/>
                          </a:rPr>
                          <m:t>𝑒𝑥𝑒𝑟𝑐𝑖𝑠𝑒𝑑</m:t>
                        </m:r>
                      </m:num>
                      <m:den>
                        <m:r>
                          <a:rPr lang="en-US" i="1">
                            <a:solidFill>
                              <a:prstClr val="black"/>
                            </a:solidFill>
                            <a:latin typeface="Cambria Math"/>
                          </a:rPr>
                          <m:t>𝑇𝑜𝑡𝑎𝑙</m:t>
                        </m:r>
                        <m:r>
                          <a:rPr lang="en-US" i="1">
                            <a:solidFill>
                              <a:prstClr val="black"/>
                            </a:solidFill>
                            <a:latin typeface="Cambria Math"/>
                          </a:rPr>
                          <m:t> </m:t>
                        </m:r>
                        <m:r>
                          <a:rPr lang="en-US" i="1">
                            <a:solidFill>
                              <a:prstClr val="black"/>
                            </a:solidFill>
                            <a:latin typeface="Cambria Math"/>
                          </a:rPr>
                          <m:t>𝑛𝑢𝑚𝑏𝑒𝑟</m:t>
                        </m:r>
                        <m:r>
                          <a:rPr lang="en-US" i="1">
                            <a:solidFill>
                              <a:prstClr val="black"/>
                            </a:solidFill>
                            <a:latin typeface="Cambria Math"/>
                          </a:rPr>
                          <m:t> </m:t>
                        </m:r>
                        <m:r>
                          <a:rPr lang="en-US" i="1">
                            <a:solidFill>
                              <a:prstClr val="black"/>
                            </a:solidFill>
                            <a:latin typeface="Cambria Math"/>
                          </a:rPr>
                          <m:t>𝑜𝑓</m:t>
                        </m:r>
                        <m:r>
                          <a:rPr lang="en-US" i="1">
                            <a:solidFill>
                              <a:prstClr val="black"/>
                            </a:solidFill>
                            <a:latin typeface="Cambria Math"/>
                          </a:rPr>
                          <m:t> </m:t>
                        </m:r>
                        <m:r>
                          <a:rPr lang="en-US" i="1">
                            <a:solidFill>
                              <a:prstClr val="black"/>
                            </a:solidFill>
                            <a:latin typeface="Cambria Math"/>
                          </a:rPr>
                          <m:t>𝐵𝑠𝐸</m:t>
                        </m:r>
                        <m:r>
                          <a:rPr lang="en-US" i="1">
                            <a:solidFill>
                              <a:prstClr val="black"/>
                            </a:solidFill>
                            <a:latin typeface="Cambria Math"/>
                          </a:rPr>
                          <m:t> </m:t>
                        </m:r>
                        <m:r>
                          <a:rPr lang="en-US" i="1">
                            <a:solidFill>
                              <a:prstClr val="black"/>
                            </a:solidFill>
                            <a:latin typeface="Cambria Math"/>
                          </a:rPr>
                          <m:t>𝑜𝑢𝑡𝑐𝑜𝑚𝑒𝑠</m:t>
                        </m:r>
                      </m:den>
                    </m:f>
                    <m:r>
                      <a:rPr lang="en-US" i="1">
                        <a:solidFill>
                          <a:prstClr val="black"/>
                        </a:solidFill>
                        <a:latin typeface="Cambria Math"/>
                      </a:rPr>
                      <m:t>𝑥</m:t>
                    </m:r>
                    <m:r>
                      <a:rPr lang="en-US" i="1">
                        <a:solidFill>
                          <a:prstClr val="black"/>
                        </a:solidFill>
                        <a:latin typeface="Cambria Math"/>
                      </a:rPr>
                      <m:t>100%</m:t>
                    </m:r>
                  </m:oMath>
                </a14:m>
                <a:endParaRPr lang="en-US">
                  <a:solidFill>
                    <a:prstClr val="black"/>
                  </a:solidFill>
                </a:endParaRPr>
              </a:p>
              <a:p>
                <a:endParaRPr lang="en-US"/>
              </a:p>
              <a:p>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l="-873" t="-928"/>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28</a:t>
            </a:fld>
            <a:endParaRPr lang="en-US"/>
          </a:p>
        </p:txBody>
      </p:sp>
    </p:spTree>
    <p:extLst>
      <p:ext uri="{BB962C8B-B14F-4D97-AF65-F5344CB8AC3E}">
        <p14:creationId xmlns:p14="http://schemas.microsoft.com/office/powerpoint/2010/main" val="1392701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Decision/Condition testing (Level 4)</a:t>
            </a:r>
          </a:p>
        </p:txBody>
      </p:sp>
      <p:sp>
        <p:nvSpPr>
          <p:cNvPr id="3" name="Content Placeholder 2"/>
          <p:cNvSpPr>
            <a:spLocks noGrp="1"/>
          </p:cNvSpPr>
          <p:nvPr>
            <p:ph idx="1"/>
          </p:nvPr>
        </p:nvSpPr>
        <p:spPr/>
        <p:txBody>
          <a:bodyPr/>
          <a:lstStyle/>
          <a:p>
            <a:pPr marL="274320" lvl="1" indent="-274320">
              <a:buClr>
                <a:schemeClr val="accent3"/>
              </a:buClr>
              <a:buSzPct val="95000"/>
            </a:pPr>
            <a:r>
              <a:rPr lang="en-US" sz="2600"/>
              <a:t>Full condition coverage does not guarantee full decision coverage</a:t>
            </a:r>
          </a:p>
          <a:p>
            <a:pPr lvl="1"/>
            <a:r>
              <a:rPr lang="en-US"/>
              <a:t>Example:          if 	  (x&amp;&amp;y) 	{conditionedStatement;}</a:t>
            </a:r>
          </a:p>
          <a:p>
            <a:pPr lvl="1"/>
            <a:r>
              <a:rPr lang="en-US"/>
              <a:t>Using condition coverage, if we choose two test cases (</a:t>
            </a:r>
            <a:r>
              <a:rPr lang="en-US" b="1"/>
              <a:t>x=TRUE, y=FALSE</a:t>
            </a:r>
            <a:r>
              <a:rPr lang="en-US"/>
              <a:t> and </a:t>
            </a:r>
            <a:r>
              <a:rPr lang="en-US" b="1"/>
              <a:t>x=FALSE, y=TRUE</a:t>
            </a:r>
            <a:r>
              <a:rPr lang="en-US"/>
              <a:t>), the conditionedStatement will never be executed</a:t>
            </a:r>
          </a:p>
          <a:p>
            <a:pPr lvl="1"/>
            <a:endParaRPr lang="en-US"/>
          </a:p>
          <a:p>
            <a:r>
              <a:rPr lang="en-US"/>
              <a:t>Decision/Condition testing: Test cases are created for </a:t>
            </a:r>
            <a:r>
              <a:rPr lang="en-US" b="1"/>
              <a:t>every condition </a:t>
            </a:r>
            <a:r>
              <a:rPr lang="en-US"/>
              <a:t>and</a:t>
            </a:r>
            <a:r>
              <a:rPr lang="en-US" b="1"/>
              <a:t> every decision</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29</a:t>
            </a:fld>
            <a:endParaRPr lang="en-US"/>
          </a:p>
        </p:txBody>
      </p:sp>
    </p:spTree>
    <p:extLst>
      <p:ext uri="{BB962C8B-B14F-4D97-AF65-F5344CB8AC3E}">
        <p14:creationId xmlns:p14="http://schemas.microsoft.com/office/powerpoint/2010/main" val="34669774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Multiple condition testing (Level 5)</a:t>
            </a:r>
          </a:p>
        </p:txBody>
      </p:sp>
      <p:sp>
        <p:nvSpPr>
          <p:cNvPr id="3" name="Content Placeholder 2"/>
          <p:cNvSpPr>
            <a:spLocks noGrp="1"/>
          </p:cNvSpPr>
          <p:nvPr>
            <p:ph idx="1"/>
          </p:nvPr>
        </p:nvSpPr>
        <p:spPr/>
        <p:txBody>
          <a:bodyPr>
            <a:normAutofit/>
          </a:bodyPr>
          <a:lstStyle/>
          <a:p>
            <a:r>
              <a:rPr lang="en-US"/>
              <a:t>Known as ‘</a:t>
            </a:r>
            <a:r>
              <a:rPr lang="en-GB"/>
              <a:t>condition combination </a:t>
            </a:r>
            <a:r>
              <a:rPr lang="en-US"/>
              <a:t>testing'</a:t>
            </a:r>
          </a:p>
          <a:p>
            <a:r>
              <a:rPr lang="en-US"/>
              <a:t>Requiring 2</a:t>
            </a:r>
            <a:r>
              <a:rPr lang="en-US" baseline="30000"/>
              <a:t>n</a:t>
            </a:r>
            <a:r>
              <a:rPr lang="en-US"/>
              <a:t> test cases to achieve 100% coverage of a decision containing n boolean operands</a:t>
            </a:r>
          </a:p>
          <a:p>
            <a:r>
              <a:rPr lang="en-US"/>
              <a:t>Example: 	A or (B and C)</a:t>
            </a:r>
          </a:p>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30</a:t>
            </a:fld>
            <a:endParaRPr lang="en-US"/>
          </a:p>
        </p:txBody>
      </p:sp>
      <p:graphicFrame>
        <p:nvGraphicFramePr>
          <p:cNvPr id="13" name="Table 12"/>
          <p:cNvGraphicFramePr>
            <a:graphicFrameLocks noGrp="1"/>
          </p:cNvGraphicFramePr>
          <p:nvPr>
            <p:extLst>
              <p:ext uri="{D42A27DB-BD31-4B8C-83A1-F6EECF244321}">
                <p14:modId xmlns:p14="http://schemas.microsoft.com/office/powerpoint/2010/main" val="3955701539"/>
              </p:ext>
            </p:extLst>
          </p:nvPr>
        </p:nvGraphicFramePr>
        <p:xfrm>
          <a:off x="1828800" y="3124200"/>
          <a:ext cx="4480560" cy="356616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70840">
                <a:tc>
                  <a:txBody>
                    <a:bodyPr/>
                    <a:lstStyle/>
                    <a:p>
                      <a:pPr algn="ctr"/>
                      <a:r>
                        <a:rPr lang="en-US" sz="2000">
                          <a:latin typeface="+mj-lt"/>
                        </a:rPr>
                        <a:t>Case</a:t>
                      </a:r>
                    </a:p>
                  </a:txBody>
                  <a:tcPr/>
                </a:tc>
                <a:tc>
                  <a:txBody>
                    <a:bodyPr/>
                    <a:lstStyle/>
                    <a:p>
                      <a:pPr algn="ctr"/>
                      <a:r>
                        <a:rPr lang="en-US" sz="2000">
                          <a:latin typeface="+mj-lt"/>
                        </a:rPr>
                        <a:t>A</a:t>
                      </a:r>
                    </a:p>
                  </a:txBody>
                  <a:tcPr/>
                </a:tc>
                <a:tc>
                  <a:txBody>
                    <a:bodyPr/>
                    <a:lstStyle/>
                    <a:p>
                      <a:pPr algn="ctr"/>
                      <a:r>
                        <a:rPr lang="en-US" sz="2000">
                          <a:latin typeface="+mj-lt"/>
                        </a:rPr>
                        <a:t>B</a:t>
                      </a:r>
                    </a:p>
                  </a:txBody>
                  <a:tcPr/>
                </a:tc>
                <a:tc>
                  <a:txBody>
                    <a:bodyPr/>
                    <a:lstStyle/>
                    <a:p>
                      <a:pPr algn="ctr"/>
                      <a:r>
                        <a:rPr lang="en-US" sz="2000">
                          <a:latin typeface="+mj-lt"/>
                        </a:rPr>
                        <a:t>C</a:t>
                      </a:r>
                    </a:p>
                  </a:txBody>
                  <a:tcPr/>
                </a:tc>
                <a:extLst>
                  <a:ext uri="{0D108BD9-81ED-4DB2-BD59-A6C34878D82A}">
                    <a16:rowId xmlns:a16="http://schemas.microsoft.com/office/drawing/2014/main" val="10000"/>
                  </a:ext>
                </a:extLst>
              </a:tr>
              <a:tr h="370840">
                <a:tc>
                  <a:txBody>
                    <a:bodyPr/>
                    <a:lstStyle/>
                    <a:p>
                      <a:pPr algn="ctr"/>
                      <a:r>
                        <a:rPr lang="en-US" sz="2000">
                          <a:latin typeface="+mj-lt"/>
                        </a:rPr>
                        <a:t>1</a:t>
                      </a:r>
                    </a:p>
                  </a:txBody>
                  <a:tcPr/>
                </a:tc>
                <a:tc>
                  <a:txBody>
                    <a:bodyPr/>
                    <a:lstStyle/>
                    <a:p>
                      <a:pPr algn="ctr"/>
                      <a:r>
                        <a:rPr lang="en-US" sz="2000">
                          <a:latin typeface="+mj-lt"/>
                        </a:rPr>
                        <a:t>FALSE</a:t>
                      </a:r>
                    </a:p>
                  </a:txBody>
                  <a:tcPr/>
                </a:tc>
                <a:tc>
                  <a:txBody>
                    <a:bodyPr/>
                    <a:lstStyle/>
                    <a:p>
                      <a:pPr algn="ctr"/>
                      <a:r>
                        <a:rPr lang="en-US" sz="2000">
                          <a:latin typeface="+mj-lt"/>
                        </a:rPr>
                        <a:t>FALSE</a:t>
                      </a:r>
                    </a:p>
                  </a:txBody>
                  <a:tcPr/>
                </a:tc>
                <a:tc>
                  <a:txBody>
                    <a:bodyPr/>
                    <a:lstStyle/>
                    <a:p>
                      <a:pPr algn="ctr"/>
                      <a:r>
                        <a:rPr lang="en-US" sz="2000">
                          <a:latin typeface="+mj-lt"/>
                        </a:rPr>
                        <a:t>FALSE</a:t>
                      </a:r>
                    </a:p>
                  </a:txBody>
                  <a:tcPr/>
                </a:tc>
                <a:extLst>
                  <a:ext uri="{0D108BD9-81ED-4DB2-BD59-A6C34878D82A}">
                    <a16:rowId xmlns:a16="http://schemas.microsoft.com/office/drawing/2014/main" val="10001"/>
                  </a:ext>
                </a:extLst>
              </a:tr>
              <a:tr h="370840">
                <a:tc>
                  <a:txBody>
                    <a:bodyPr/>
                    <a:lstStyle/>
                    <a:p>
                      <a:pPr algn="ctr"/>
                      <a:r>
                        <a:rPr lang="en-US" sz="2000">
                          <a:latin typeface="+mj-lt"/>
                        </a:rPr>
                        <a:t>2</a:t>
                      </a:r>
                    </a:p>
                  </a:txBody>
                  <a:tcPr/>
                </a:tc>
                <a:tc>
                  <a:txBody>
                    <a:bodyPr/>
                    <a:lstStyle/>
                    <a:p>
                      <a:pPr algn="ctr"/>
                      <a:r>
                        <a:rPr lang="en-US" sz="2000">
                          <a:latin typeface="+mj-lt"/>
                        </a:rPr>
                        <a:t>FALSE</a:t>
                      </a:r>
                    </a:p>
                  </a:txBody>
                  <a:tcPr/>
                </a:tc>
                <a:tc>
                  <a:txBody>
                    <a:bodyPr/>
                    <a:lstStyle/>
                    <a:p>
                      <a:pPr algn="ctr"/>
                      <a:r>
                        <a:rPr lang="en-US" sz="2000">
                          <a:latin typeface="+mj-lt"/>
                        </a:rPr>
                        <a:t>FALSE</a:t>
                      </a:r>
                    </a:p>
                  </a:txBody>
                  <a:tcPr/>
                </a:tc>
                <a:tc>
                  <a:txBody>
                    <a:bodyPr/>
                    <a:lstStyle/>
                    <a:p>
                      <a:pPr algn="ctr"/>
                      <a:r>
                        <a:rPr lang="en-US" sz="2000">
                          <a:latin typeface="+mj-lt"/>
                        </a:rPr>
                        <a:t>TRUE</a:t>
                      </a:r>
                    </a:p>
                  </a:txBody>
                  <a:tcPr/>
                </a:tc>
                <a:extLst>
                  <a:ext uri="{0D108BD9-81ED-4DB2-BD59-A6C34878D82A}">
                    <a16:rowId xmlns:a16="http://schemas.microsoft.com/office/drawing/2014/main" val="10002"/>
                  </a:ext>
                </a:extLst>
              </a:tr>
              <a:tr h="370840">
                <a:tc>
                  <a:txBody>
                    <a:bodyPr/>
                    <a:lstStyle/>
                    <a:p>
                      <a:pPr algn="ctr"/>
                      <a:r>
                        <a:rPr lang="en-US" sz="2000">
                          <a:latin typeface="+mj-lt"/>
                        </a:rPr>
                        <a:t>3</a:t>
                      </a:r>
                    </a:p>
                  </a:txBody>
                  <a:tcPr/>
                </a:tc>
                <a:tc>
                  <a:txBody>
                    <a:bodyPr/>
                    <a:lstStyle/>
                    <a:p>
                      <a:pPr algn="ctr"/>
                      <a:r>
                        <a:rPr lang="en-US" sz="2000">
                          <a:latin typeface="+mj-lt"/>
                        </a:rPr>
                        <a:t>FALSE</a:t>
                      </a:r>
                    </a:p>
                  </a:txBody>
                  <a:tcPr/>
                </a:tc>
                <a:tc>
                  <a:txBody>
                    <a:bodyPr/>
                    <a:lstStyle/>
                    <a:p>
                      <a:pPr algn="ctr"/>
                      <a:r>
                        <a:rPr lang="en-US" sz="2000">
                          <a:latin typeface="+mj-lt"/>
                        </a:rPr>
                        <a:t>TRUE</a:t>
                      </a:r>
                    </a:p>
                  </a:txBody>
                  <a:tcPr/>
                </a:tc>
                <a:tc>
                  <a:txBody>
                    <a:bodyPr/>
                    <a:lstStyle/>
                    <a:p>
                      <a:pPr algn="ctr"/>
                      <a:r>
                        <a:rPr lang="en-US" sz="2000">
                          <a:latin typeface="+mj-lt"/>
                        </a:rPr>
                        <a:t>FALSE</a:t>
                      </a:r>
                    </a:p>
                  </a:txBody>
                  <a:tcPr/>
                </a:tc>
                <a:extLst>
                  <a:ext uri="{0D108BD9-81ED-4DB2-BD59-A6C34878D82A}">
                    <a16:rowId xmlns:a16="http://schemas.microsoft.com/office/drawing/2014/main" val="10003"/>
                  </a:ext>
                </a:extLst>
              </a:tr>
              <a:tr h="370840">
                <a:tc>
                  <a:txBody>
                    <a:bodyPr/>
                    <a:lstStyle/>
                    <a:p>
                      <a:pPr algn="ctr"/>
                      <a:r>
                        <a:rPr lang="en-US" sz="2000">
                          <a:latin typeface="+mj-lt"/>
                        </a:rPr>
                        <a:t>4</a:t>
                      </a:r>
                    </a:p>
                  </a:txBody>
                  <a:tcPr/>
                </a:tc>
                <a:tc>
                  <a:txBody>
                    <a:bodyPr/>
                    <a:lstStyle/>
                    <a:p>
                      <a:pPr algn="ctr"/>
                      <a:r>
                        <a:rPr lang="en-US" sz="2000">
                          <a:latin typeface="+mj-lt"/>
                        </a:rPr>
                        <a:t>FALSE</a:t>
                      </a:r>
                    </a:p>
                  </a:txBody>
                  <a:tcPr/>
                </a:tc>
                <a:tc>
                  <a:txBody>
                    <a:bodyPr/>
                    <a:lstStyle/>
                    <a:p>
                      <a:pPr algn="ctr"/>
                      <a:r>
                        <a:rPr lang="en-US" sz="2000">
                          <a:latin typeface="+mj-lt"/>
                        </a:rPr>
                        <a:t>TRUE</a:t>
                      </a:r>
                    </a:p>
                  </a:txBody>
                  <a:tcPr/>
                </a:tc>
                <a:tc>
                  <a:txBody>
                    <a:bodyPr/>
                    <a:lstStyle/>
                    <a:p>
                      <a:pPr algn="ctr"/>
                      <a:r>
                        <a:rPr lang="en-US" sz="2000">
                          <a:latin typeface="+mj-lt"/>
                        </a:rPr>
                        <a:t>TRUE</a:t>
                      </a:r>
                    </a:p>
                  </a:txBody>
                  <a:tcPr/>
                </a:tc>
                <a:extLst>
                  <a:ext uri="{0D108BD9-81ED-4DB2-BD59-A6C34878D82A}">
                    <a16:rowId xmlns:a16="http://schemas.microsoft.com/office/drawing/2014/main" val="10004"/>
                  </a:ext>
                </a:extLst>
              </a:tr>
              <a:tr h="370840">
                <a:tc>
                  <a:txBody>
                    <a:bodyPr/>
                    <a:lstStyle/>
                    <a:p>
                      <a:pPr algn="ctr"/>
                      <a:r>
                        <a:rPr lang="en-US" sz="2000">
                          <a:latin typeface="+mj-lt"/>
                        </a:rPr>
                        <a:t>5</a:t>
                      </a:r>
                    </a:p>
                  </a:txBody>
                  <a:tcPr/>
                </a:tc>
                <a:tc>
                  <a:txBody>
                    <a:bodyPr/>
                    <a:lstStyle/>
                    <a:p>
                      <a:pPr algn="ctr"/>
                      <a:r>
                        <a:rPr lang="en-US" sz="2000">
                          <a:latin typeface="+mj-lt"/>
                        </a:rPr>
                        <a:t>TRUE</a:t>
                      </a:r>
                    </a:p>
                  </a:txBody>
                  <a:tcPr/>
                </a:tc>
                <a:tc>
                  <a:txBody>
                    <a:bodyPr/>
                    <a:lstStyle/>
                    <a:p>
                      <a:pPr algn="ctr"/>
                      <a:r>
                        <a:rPr lang="en-US" sz="2000">
                          <a:latin typeface="+mj-lt"/>
                        </a:rPr>
                        <a:t>FALSE</a:t>
                      </a:r>
                    </a:p>
                  </a:txBody>
                  <a:tcPr/>
                </a:tc>
                <a:tc>
                  <a:txBody>
                    <a:bodyPr/>
                    <a:lstStyle/>
                    <a:p>
                      <a:pPr algn="ctr"/>
                      <a:r>
                        <a:rPr lang="en-US" sz="2000">
                          <a:latin typeface="+mj-lt"/>
                        </a:rPr>
                        <a:t>FALSE</a:t>
                      </a:r>
                    </a:p>
                  </a:txBody>
                  <a:tcPr/>
                </a:tc>
                <a:extLst>
                  <a:ext uri="{0D108BD9-81ED-4DB2-BD59-A6C34878D82A}">
                    <a16:rowId xmlns:a16="http://schemas.microsoft.com/office/drawing/2014/main" val="10005"/>
                  </a:ext>
                </a:extLst>
              </a:tr>
              <a:tr h="370840">
                <a:tc>
                  <a:txBody>
                    <a:bodyPr/>
                    <a:lstStyle/>
                    <a:p>
                      <a:pPr algn="ctr"/>
                      <a:r>
                        <a:rPr lang="en-US" sz="2000">
                          <a:latin typeface="+mj-lt"/>
                        </a:rPr>
                        <a:t>6</a:t>
                      </a:r>
                    </a:p>
                  </a:txBody>
                  <a:tcPr/>
                </a:tc>
                <a:tc>
                  <a:txBody>
                    <a:bodyPr/>
                    <a:lstStyle/>
                    <a:p>
                      <a:pPr algn="ctr"/>
                      <a:r>
                        <a:rPr lang="en-US" sz="2000">
                          <a:latin typeface="+mj-lt"/>
                        </a:rPr>
                        <a:t>TRUE</a:t>
                      </a:r>
                    </a:p>
                  </a:txBody>
                  <a:tcPr/>
                </a:tc>
                <a:tc>
                  <a:txBody>
                    <a:bodyPr/>
                    <a:lstStyle/>
                    <a:p>
                      <a:pPr algn="ctr"/>
                      <a:r>
                        <a:rPr lang="en-US" sz="2000">
                          <a:latin typeface="+mj-lt"/>
                        </a:rPr>
                        <a:t>FALSE</a:t>
                      </a:r>
                    </a:p>
                  </a:txBody>
                  <a:tcPr/>
                </a:tc>
                <a:tc>
                  <a:txBody>
                    <a:bodyPr/>
                    <a:lstStyle/>
                    <a:p>
                      <a:pPr algn="ctr"/>
                      <a:r>
                        <a:rPr lang="en-US" sz="2000">
                          <a:latin typeface="+mj-lt"/>
                        </a:rPr>
                        <a:t>TRUE</a:t>
                      </a:r>
                    </a:p>
                  </a:txBody>
                  <a:tcPr/>
                </a:tc>
                <a:extLst>
                  <a:ext uri="{0D108BD9-81ED-4DB2-BD59-A6C34878D82A}">
                    <a16:rowId xmlns:a16="http://schemas.microsoft.com/office/drawing/2014/main" val="10006"/>
                  </a:ext>
                </a:extLst>
              </a:tr>
              <a:tr h="370840">
                <a:tc>
                  <a:txBody>
                    <a:bodyPr/>
                    <a:lstStyle/>
                    <a:p>
                      <a:pPr algn="ctr"/>
                      <a:r>
                        <a:rPr lang="en-US" sz="2000">
                          <a:latin typeface="+mj-lt"/>
                        </a:rPr>
                        <a:t>7</a:t>
                      </a:r>
                    </a:p>
                  </a:txBody>
                  <a:tcPr/>
                </a:tc>
                <a:tc>
                  <a:txBody>
                    <a:bodyPr/>
                    <a:lstStyle/>
                    <a:p>
                      <a:pPr algn="ctr"/>
                      <a:r>
                        <a:rPr lang="en-US" sz="2000">
                          <a:latin typeface="+mj-lt"/>
                        </a:rPr>
                        <a:t>TRUE</a:t>
                      </a:r>
                    </a:p>
                  </a:txBody>
                  <a:tcPr/>
                </a:tc>
                <a:tc>
                  <a:txBody>
                    <a:bodyPr/>
                    <a:lstStyle/>
                    <a:p>
                      <a:pPr algn="ctr"/>
                      <a:r>
                        <a:rPr lang="en-US" sz="2000">
                          <a:latin typeface="+mj-lt"/>
                        </a:rPr>
                        <a:t>TRUE</a:t>
                      </a:r>
                    </a:p>
                  </a:txBody>
                  <a:tcPr/>
                </a:tc>
                <a:tc>
                  <a:txBody>
                    <a:bodyPr/>
                    <a:lstStyle/>
                    <a:p>
                      <a:pPr algn="ctr"/>
                      <a:r>
                        <a:rPr lang="en-US" sz="2000">
                          <a:latin typeface="+mj-lt"/>
                        </a:rPr>
                        <a:t>FALSE</a:t>
                      </a:r>
                    </a:p>
                  </a:txBody>
                  <a:tcPr/>
                </a:tc>
                <a:extLst>
                  <a:ext uri="{0D108BD9-81ED-4DB2-BD59-A6C34878D82A}">
                    <a16:rowId xmlns:a16="http://schemas.microsoft.com/office/drawing/2014/main" val="10007"/>
                  </a:ext>
                </a:extLst>
              </a:tr>
              <a:tr h="370840">
                <a:tc>
                  <a:txBody>
                    <a:bodyPr/>
                    <a:lstStyle/>
                    <a:p>
                      <a:pPr algn="ctr"/>
                      <a:r>
                        <a:rPr lang="en-US" sz="2000">
                          <a:latin typeface="+mj-lt"/>
                        </a:rPr>
                        <a:t>8</a:t>
                      </a:r>
                    </a:p>
                  </a:txBody>
                  <a:tcPr/>
                </a:tc>
                <a:tc>
                  <a:txBody>
                    <a:bodyPr/>
                    <a:lstStyle/>
                    <a:p>
                      <a:pPr algn="ctr"/>
                      <a:r>
                        <a:rPr lang="en-US" sz="2000">
                          <a:latin typeface="+mj-lt"/>
                        </a:rPr>
                        <a:t>TRUE</a:t>
                      </a:r>
                    </a:p>
                  </a:txBody>
                  <a:tcPr/>
                </a:tc>
                <a:tc>
                  <a:txBody>
                    <a:bodyPr/>
                    <a:lstStyle/>
                    <a:p>
                      <a:pPr algn="ctr"/>
                      <a:r>
                        <a:rPr lang="en-US" sz="2000">
                          <a:latin typeface="+mj-lt"/>
                        </a:rPr>
                        <a:t>TRUE</a:t>
                      </a:r>
                    </a:p>
                  </a:txBody>
                  <a:tcPr/>
                </a:tc>
                <a:tc>
                  <a:txBody>
                    <a:bodyPr/>
                    <a:lstStyle/>
                    <a:p>
                      <a:pPr algn="ctr"/>
                      <a:r>
                        <a:rPr lang="en-US" sz="2000">
                          <a:latin typeface="+mj-lt"/>
                        </a:rPr>
                        <a:t>TRUE</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687015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Path testing (Level 6)</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a:t>Design test cases based on what </a:t>
                </a:r>
                <a:r>
                  <a:rPr lang="en-US" b="1"/>
                  <a:t>paths</a:t>
                </a:r>
                <a:r>
                  <a:rPr lang="en-US"/>
                  <a:t> which should be exercised </a:t>
                </a:r>
              </a:p>
              <a:p>
                <a:r>
                  <a:rPr lang="en-US"/>
                  <a:t>Path coverage </a:t>
                </a:r>
              </a:p>
              <a:p>
                <a:pPr lvl="1"/>
                <a:r>
                  <a:rPr lang="en-US"/>
                  <a:t>=</a:t>
                </a:r>
                <a14:m>
                  <m:oMath xmlns:m="http://schemas.openxmlformats.org/officeDocument/2006/math">
                    <m:f>
                      <m:fPr>
                        <m:ctrlPr>
                          <a:rPr lang="en-US" i="1">
                            <a:latin typeface="Cambria Math" panose="02040503050406030204" pitchFamily="18" charset="0"/>
                          </a:rPr>
                        </m:ctrlPr>
                      </m:fPr>
                      <m:num>
                        <m:r>
                          <a:rPr lang="en-US">
                            <a:latin typeface="Cambria Math"/>
                          </a:rPr>
                          <m:t>𝑛𝑢𝑚𝑏𝑒𝑟</m:t>
                        </m:r>
                        <m:r>
                          <a:rPr lang="en-US">
                            <a:latin typeface="Cambria Math"/>
                          </a:rPr>
                          <m:t> </m:t>
                        </m:r>
                        <m:r>
                          <a:rPr lang="en-US">
                            <a:latin typeface="Cambria Math"/>
                          </a:rPr>
                          <m:t>𝑜𝑓</m:t>
                        </m:r>
                        <m:r>
                          <a:rPr lang="en-US">
                            <a:latin typeface="Cambria Math"/>
                          </a:rPr>
                          <m:t> </m:t>
                        </m:r>
                        <m:r>
                          <a:rPr lang="en-US">
                            <a:latin typeface="Cambria Math"/>
                          </a:rPr>
                          <m:t>𝑝𝑎𝑡h𝑠</m:t>
                        </m:r>
                        <m:r>
                          <a:rPr lang="en-US">
                            <a:latin typeface="Cambria Math"/>
                          </a:rPr>
                          <m:t> </m:t>
                        </m:r>
                        <m:r>
                          <a:rPr lang="en-US">
                            <a:latin typeface="Cambria Math"/>
                          </a:rPr>
                          <m:t>𝑒𝑥𝑒𝑟𝑐𝑖𝑠𝑒𝑑</m:t>
                        </m:r>
                      </m:num>
                      <m:den>
                        <m:r>
                          <a:rPr lang="en-US">
                            <a:latin typeface="Cambria Math"/>
                          </a:rPr>
                          <m:t>𝑡𝑜𝑡𝑎𝑙</m:t>
                        </m:r>
                        <m:r>
                          <a:rPr lang="en-US">
                            <a:latin typeface="Cambria Math"/>
                          </a:rPr>
                          <m:t> </m:t>
                        </m:r>
                        <m:r>
                          <a:rPr lang="en-US">
                            <a:latin typeface="Cambria Math"/>
                          </a:rPr>
                          <m:t>𝑛𝑢𝑚𝑏𝑒𝑟</m:t>
                        </m:r>
                        <m:r>
                          <a:rPr lang="en-US">
                            <a:latin typeface="Cambria Math"/>
                          </a:rPr>
                          <m:t> </m:t>
                        </m:r>
                        <m:r>
                          <a:rPr lang="en-US">
                            <a:latin typeface="Cambria Math"/>
                          </a:rPr>
                          <m:t>𝑜𝑓</m:t>
                        </m:r>
                        <m:r>
                          <a:rPr lang="en-US">
                            <a:latin typeface="Cambria Math"/>
                          </a:rPr>
                          <m:t> </m:t>
                        </m:r>
                        <m:r>
                          <a:rPr lang="en-US">
                            <a:latin typeface="Cambria Math"/>
                          </a:rPr>
                          <m:t>𝑝𝑎𝑡h𝑠</m:t>
                        </m:r>
                      </m:den>
                    </m:f>
                    <m:r>
                      <a:rPr lang="en-US">
                        <a:latin typeface="Cambria Math"/>
                      </a:rPr>
                      <m:t>𝑥</m:t>
                    </m:r>
                    <m:r>
                      <a:rPr lang="en-US">
                        <a:latin typeface="Cambria Math"/>
                      </a:rPr>
                      <m:t>100%</m:t>
                    </m:r>
                  </m:oMath>
                </a14:m>
                <a:endParaRPr lang="en-US"/>
              </a:p>
              <a:p>
                <a:pPr lvl="1"/>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l="-873" t="-928"/>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31</a:t>
            </a:fld>
            <a:endParaRPr lang="en-US"/>
          </a:p>
        </p:txBody>
      </p:sp>
    </p:spTree>
    <p:extLst>
      <p:ext uri="{BB962C8B-B14F-4D97-AF65-F5344CB8AC3E}">
        <p14:creationId xmlns:p14="http://schemas.microsoft.com/office/powerpoint/2010/main" val="3775228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t>Paths through code</a:t>
            </a:r>
          </a:p>
        </p:txBody>
      </p:sp>
      <p:grpSp>
        <p:nvGrpSpPr>
          <p:cNvPr id="302262" name="Group 182"/>
          <p:cNvGrpSpPr>
            <a:grpSpLocks/>
          </p:cNvGrpSpPr>
          <p:nvPr/>
        </p:nvGrpSpPr>
        <p:grpSpPr bwMode="auto">
          <a:xfrm>
            <a:off x="562708" y="1885950"/>
            <a:ext cx="1255835" cy="3735388"/>
            <a:chOff x="384" y="1332"/>
            <a:chExt cx="857" cy="2353"/>
          </a:xfrm>
          <a:solidFill>
            <a:srgbClr val="92D050"/>
          </a:solidFill>
        </p:grpSpPr>
        <p:sp>
          <p:nvSpPr>
            <p:cNvPr id="45150" name="Line 55"/>
            <p:cNvSpPr>
              <a:spLocks noChangeShapeType="1"/>
            </p:cNvSpPr>
            <p:nvPr/>
          </p:nvSpPr>
          <p:spPr bwMode="invGray">
            <a:xfrm>
              <a:off x="633" y="2217"/>
              <a:ext cx="0" cy="424"/>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51" name="Line 5"/>
            <p:cNvSpPr>
              <a:spLocks noChangeShapeType="1"/>
            </p:cNvSpPr>
            <p:nvPr/>
          </p:nvSpPr>
          <p:spPr bwMode="invGray">
            <a:xfrm>
              <a:off x="670" y="2166"/>
              <a:ext cx="570" cy="0"/>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52" name="Line 6"/>
            <p:cNvSpPr>
              <a:spLocks noChangeShapeType="1"/>
            </p:cNvSpPr>
            <p:nvPr/>
          </p:nvSpPr>
          <p:spPr bwMode="invGray">
            <a:xfrm>
              <a:off x="633" y="1498"/>
              <a:ext cx="0" cy="424"/>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53" name="Line 11"/>
            <p:cNvSpPr>
              <a:spLocks noChangeShapeType="1"/>
            </p:cNvSpPr>
            <p:nvPr/>
          </p:nvSpPr>
          <p:spPr bwMode="invGray">
            <a:xfrm>
              <a:off x="1237" y="2177"/>
              <a:ext cx="0" cy="1005"/>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54" name="Line 12"/>
            <p:cNvSpPr>
              <a:spLocks noChangeShapeType="1"/>
            </p:cNvSpPr>
            <p:nvPr/>
          </p:nvSpPr>
          <p:spPr bwMode="invGray">
            <a:xfrm flipH="1">
              <a:off x="671" y="3188"/>
              <a:ext cx="570" cy="0"/>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55" name="Line 56"/>
            <p:cNvSpPr>
              <a:spLocks noChangeShapeType="1"/>
            </p:cNvSpPr>
            <p:nvPr/>
          </p:nvSpPr>
          <p:spPr bwMode="invGray">
            <a:xfrm>
              <a:off x="633" y="2936"/>
              <a:ext cx="0" cy="424"/>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56" name="Rectangle 8"/>
            <p:cNvSpPr>
              <a:spLocks noChangeArrowheads="1"/>
            </p:cNvSpPr>
            <p:nvPr/>
          </p:nvSpPr>
          <p:spPr bwMode="auto">
            <a:xfrm>
              <a:off x="384" y="1332"/>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57" name="Rectangle 9"/>
            <p:cNvSpPr>
              <a:spLocks noChangeArrowheads="1"/>
            </p:cNvSpPr>
            <p:nvPr/>
          </p:nvSpPr>
          <p:spPr bwMode="auto">
            <a:xfrm>
              <a:off x="384" y="2641"/>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58" name="Rectangle 10"/>
            <p:cNvSpPr>
              <a:spLocks noChangeArrowheads="1"/>
            </p:cNvSpPr>
            <p:nvPr/>
          </p:nvSpPr>
          <p:spPr bwMode="auto">
            <a:xfrm>
              <a:off x="384" y="3354"/>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59" name="AutoShape 21"/>
            <p:cNvSpPr>
              <a:spLocks noChangeArrowheads="1"/>
            </p:cNvSpPr>
            <p:nvPr/>
          </p:nvSpPr>
          <p:spPr bwMode="auto">
            <a:xfrm>
              <a:off x="392" y="1910"/>
              <a:ext cx="484" cy="502"/>
            </a:xfrm>
            <a:prstGeom prst="diamond">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rgbClr val="000000"/>
                  </a:solidFill>
                </a:rPr>
                <a:t>?</a:t>
              </a:r>
            </a:p>
          </p:txBody>
        </p:sp>
      </p:grpSp>
      <p:grpSp>
        <p:nvGrpSpPr>
          <p:cNvPr id="302258" name="Group 178"/>
          <p:cNvGrpSpPr>
            <a:grpSpLocks/>
          </p:cNvGrpSpPr>
          <p:nvPr/>
        </p:nvGrpSpPr>
        <p:grpSpPr bwMode="auto">
          <a:xfrm>
            <a:off x="2133600" y="1895475"/>
            <a:ext cx="1606062" cy="3735388"/>
            <a:chOff x="1480" y="1338"/>
            <a:chExt cx="1096" cy="2353"/>
          </a:xfrm>
          <a:solidFill>
            <a:srgbClr val="92D050"/>
          </a:solidFill>
        </p:grpSpPr>
        <p:grpSp>
          <p:nvGrpSpPr>
            <p:cNvPr id="45137" name="Group 170"/>
            <p:cNvGrpSpPr>
              <a:grpSpLocks/>
            </p:cNvGrpSpPr>
            <p:nvPr/>
          </p:nvGrpSpPr>
          <p:grpSpPr bwMode="auto">
            <a:xfrm>
              <a:off x="1728" y="1504"/>
              <a:ext cx="609" cy="1862"/>
              <a:chOff x="1728" y="1504"/>
              <a:chExt cx="609" cy="1862"/>
            </a:xfrm>
            <a:grpFill/>
          </p:grpSpPr>
          <p:sp>
            <p:nvSpPr>
              <p:cNvPr id="45143" name="Line 61"/>
              <p:cNvSpPr>
                <a:spLocks noChangeShapeType="1"/>
              </p:cNvSpPr>
              <p:nvPr/>
            </p:nvSpPr>
            <p:spPr bwMode="invGray">
              <a:xfrm>
                <a:off x="1766" y="2172"/>
                <a:ext cx="570" cy="0"/>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44" name="Line 62"/>
              <p:cNvSpPr>
                <a:spLocks noChangeShapeType="1"/>
              </p:cNvSpPr>
              <p:nvPr/>
            </p:nvSpPr>
            <p:spPr bwMode="invGray">
              <a:xfrm>
                <a:off x="1729" y="1504"/>
                <a:ext cx="0" cy="424"/>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45" name="Line 68"/>
              <p:cNvSpPr>
                <a:spLocks noChangeShapeType="1"/>
              </p:cNvSpPr>
              <p:nvPr/>
            </p:nvSpPr>
            <p:spPr bwMode="invGray">
              <a:xfrm flipH="1">
                <a:off x="1728" y="3194"/>
                <a:ext cx="609" cy="0"/>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46" name="Line 73"/>
              <p:cNvSpPr>
                <a:spLocks noChangeShapeType="1"/>
              </p:cNvSpPr>
              <p:nvPr/>
            </p:nvSpPr>
            <p:spPr bwMode="invGray">
              <a:xfrm>
                <a:off x="1729" y="2223"/>
                <a:ext cx="0" cy="424"/>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47" name="Line 74"/>
              <p:cNvSpPr>
                <a:spLocks noChangeShapeType="1"/>
              </p:cNvSpPr>
              <p:nvPr/>
            </p:nvSpPr>
            <p:spPr bwMode="invGray">
              <a:xfrm>
                <a:off x="1729" y="2942"/>
                <a:ext cx="0" cy="424"/>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48" name="Line 76"/>
              <p:cNvSpPr>
                <a:spLocks noChangeShapeType="1"/>
              </p:cNvSpPr>
              <p:nvPr/>
            </p:nvSpPr>
            <p:spPr bwMode="invGray">
              <a:xfrm>
                <a:off x="2323" y="2183"/>
                <a:ext cx="0" cy="458"/>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49" name="Line 77"/>
              <p:cNvSpPr>
                <a:spLocks noChangeShapeType="1"/>
              </p:cNvSpPr>
              <p:nvPr/>
            </p:nvSpPr>
            <p:spPr bwMode="invGray">
              <a:xfrm>
                <a:off x="2329" y="2782"/>
                <a:ext cx="0" cy="424"/>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grpSp>
        <p:sp>
          <p:nvSpPr>
            <p:cNvPr id="45138" name="Rectangle 64"/>
            <p:cNvSpPr>
              <a:spLocks noChangeArrowheads="1"/>
            </p:cNvSpPr>
            <p:nvPr/>
          </p:nvSpPr>
          <p:spPr bwMode="auto">
            <a:xfrm>
              <a:off x="1480" y="1338"/>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39" name="Rectangle 65"/>
            <p:cNvSpPr>
              <a:spLocks noChangeArrowheads="1"/>
            </p:cNvSpPr>
            <p:nvPr/>
          </p:nvSpPr>
          <p:spPr bwMode="auto">
            <a:xfrm>
              <a:off x="1480" y="2647"/>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40" name="Rectangle 66"/>
            <p:cNvSpPr>
              <a:spLocks noChangeArrowheads="1"/>
            </p:cNvSpPr>
            <p:nvPr/>
          </p:nvSpPr>
          <p:spPr bwMode="auto">
            <a:xfrm>
              <a:off x="1480" y="3360"/>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41" name="AutoShape 69"/>
            <p:cNvSpPr>
              <a:spLocks noChangeArrowheads="1"/>
            </p:cNvSpPr>
            <p:nvPr/>
          </p:nvSpPr>
          <p:spPr bwMode="auto">
            <a:xfrm>
              <a:off x="1488" y="1916"/>
              <a:ext cx="484" cy="502"/>
            </a:xfrm>
            <a:prstGeom prst="diamond">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rgbClr val="000000"/>
                  </a:solidFill>
                </a:rPr>
                <a:t>?</a:t>
              </a:r>
            </a:p>
          </p:txBody>
        </p:sp>
        <p:sp>
          <p:nvSpPr>
            <p:cNvPr id="45142" name="Rectangle 75"/>
            <p:cNvSpPr>
              <a:spLocks noChangeArrowheads="1"/>
            </p:cNvSpPr>
            <p:nvPr/>
          </p:nvSpPr>
          <p:spPr bwMode="auto">
            <a:xfrm>
              <a:off x="2076" y="2647"/>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grpSp>
      <p:grpSp>
        <p:nvGrpSpPr>
          <p:cNvPr id="302233" name="Group 153"/>
          <p:cNvGrpSpPr>
            <a:grpSpLocks/>
          </p:cNvGrpSpPr>
          <p:nvPr/>
        </p:nvGrpSpPr>
        <p:grpSpPr bwMode="auto">
          <a:xfrm>
            <a:off x="681405" y="1790700"/>
            <a:ext cx="385395" cy="3619500"/>
            <a:chOff x="455" y="1272"/>
            <a:chExt cx="263" cy="2280"/>
          </a:xfrm>
        </p:grpSpPr>
        <p:sp>
          <p:nvSpPr>
            <p:cNvPr id="45135" name="Line 91"/>
            <p:cNvSpPr>
              <a:spLocks noChangeShapeType="1"/>
            </p:cNvSpPr>
            <p:nvPr/>
          </p:nvSpPr>
          <p:spPr bwMode="auto">
            <a:xfrm>
              <a:off x="624" y="1566"/>
              <a:ext cx="0" cy="1986"/>
            </a:xfrm>
            <a:prstGeom prst="line">
              <a:avLst/>
            </a:prstGeom>
            <a:noFill/>
            <a:ln w="50800">
              <a:solidFill>
                <a:srgbClr val="00CC66"/>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36" name="Text Box 100"/>
            <p:cNvSpPr txBox="1">
              <a:spLocks noChangeArrowheads="1"/>
            </p:cNvSpPr>
            <p:nvPr/>
          </p:nvSpPr>
          <p:spPr bwMode="auto">
            <a:xfrm>
              <a:off x="455" y="1272"/>
              <a:ext cx="26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a:solidFill>
                    <a:srgbClr val="00CC66"/>
                  </a:solidFill>
                </a:rPr>
                <a:t>1</a:t>
              </a:r>
            </a:p>
          </p:txBody>
        </p:sp>
      </p:grpSp>
      <p:grpSp>
        <p:nvGrpSpPr>
          <p:cNvPr id="302234" name="Group 154"/>
          <p:cNvGrpSpPr>
            <a:grpSpLocks/>
          </p:cNvGrpSpPr>
          <p:nvPr/>
        </p:nvGrpSpPr>
        <p:grpSpPr bwMode="auto">
          <a:xfrm>
            <a:off x="685800" y="1997075"/>
            <a:ext cx="1137138" cy="3413125"/>
            <a:chOff x="628" y="1272"/>
            <a:chExt cx="776" cy="2150"/>
          </a:xfrm>
        </p:grpSpPr>
        <p:sp>
          <p:nvSpPr>
            <p:cNvPr id="45133" name="Freeform 93"/>
            <p:cNvSpPr>
              <a:spLocks/>
            </p:cNvSpPr>
            <p:nvPr/>
          </p:nvSpPr>
          <p:spPr bwMode="auto">
            <a:xfrm>
              <a:off x="854" y="1440"/>
              <a:ext cx="550" cy="1982"/>
            </a:xfrm>
            <a:custGeom>
              <a:avLst/>
              <a:gdLst>
                <a:gd name="T0" fmla="*/ 33 w 550"/>
                <a:gd name="T1" fmla="*/ 0 h 1982"/>
                <a:gd name="T2" fmla="*/ 36 w 550"/>
                <a:gd name="T3" fmla="*/ 294 h 1982"/>
                <a:gd name="T4" fmla="*/ 48 w 550"/>
                <a:gd name="T5" fmla="*/ 492 h 1982"/>
                <a:gd name="T6" fmla="*/ 148 w 550"/>
                <a:gd name="T7" fmla="*/ 580 h 1982"/>
                <a:gd name="T8" fmla="*/ 461 w 550"/>
                <a:gd name="T9" fmla="*/ 607 h 1982"/>
                <a:gd name="T10" fmla="*/ 530 w 550"/>
                <a:gd name="T11" fmla="*/ 823 h 1982"/>
                <a:gd name="T12" fmla="*/ 526 w 550"/>
                <a:gd name="T13" fmla="*/ 1104 h 1982"/>
                <a:gd name="T14" fmla="*/ 526 w 550"/>
                <a:gd name="T15" fmla="*/ 1409 h 1982"/>
                <a:gd name="T16" fmla="*/ 490 w 550"/>
                <a:gd name="T17" fmla="*/ 1610 h 1982"/>
                <a:gd name="T18" fmla="*/ 168 w 550"/>
                <a:gd name="T19" fmla="*/ 1618 h 1982"/>
                <a:gd name="T20" fmla="*/ 26 w 550"/>
                <a:gd name="T21" fmla="*/ 1685 h 1982"/>
                <a:gd name="T22" fmla="*/ 14 w 550"/>
                <a:gd name="T23" fmla="*/ 1982 h 198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50" h="1982">
                  <a:moveTo>
                    <a:pt x="33" y="0"/>
                  </a:moveTo>
                  <a:cubicBezTo>
                    <a:pt x="34" y="49"/>
                    <a:pt x="34" y="212"/>
                    <a:pt x="36" y="294"/>
                  </a:cubicBezTo>
                  <a:cubicBezTo>
                    <a:pt x="38" y="376"/>
                    <a:pt x="29" y="444"/>
                    <a:pt x="48" y="492"/>
                  </a:cubicBezTo>
                  <a:cubicBezTo>
                    <a:pt x="67" y="540"/>
                    <a:pt x="79" y="561"/>
                    <a:pt x="148" y="580"/>
                  </a:cubicBezTo>
                  <a:cubicBezTo>
                    <a:pt x="217" y="599"/>
                    <a:pt x="397" y="567"/>
                    <a:pt x="461" y="607"/>
                  </a:cubicBezTo>
                  <a:cubicBezTo>
                    <a:pt x="525" y="647"/>
                    <a:pt x="519" y="740"/>
                    <a:pt x="530" y="823"/>
                  </a:cubicBezTo>
                  <a:cubicBezTo>
                    <a:pt x="541" y="906"/>
                    <a:pt x="527" y="1006"/>
                    <a:pt x="526" y="1104"/>
                  </a:cubicBezTo>
                  <a:cubicBezTo>
                    <a:pt x="525" y="1202"/>
                    <a:pt x="532" y="1325"/>
                    <a:pt x="526" y="1409"/>
                  </a:cubicBezTo>
                  <a:cubicBezTo>
                    <a:pt x="520" y="1493"/>
                    <a:pt x="550" y="1575"/>
                    <a:pt x="490" y="1610"/>
                  </a:cubicBezTo>
                  <a:cubicBezTo>
                    <a:pt x="430" y="1645"/>
                    <a:pt x="245" y="1606"/>
                    <a:pt x="168" y="1618"/>
                  </a:cubicBezTo>
                  <a:cubicBezTo>
                    <a:pt x="91" y="1630"/>
                    <a:pt x="52" y="1624"/>
                    <a:pt x="26" y="1685"/>
                  </a:cubicBezTo>
                  <a:cubicBezTo>
                    <a:pt x="0" y="1746"/>
                    <a:pt x="16" y="1920"/>
                    <a:pt x="14" y="1982"/>
                  </a:cubicBezTo>
                </a:path>
              </a:pathLst>
            </a:custGeom>
            <a:noFill/>
            <a:ln w="50800" cap="flat" cmpd="sng">
              <a:solidFill>
                <a:srgbClr val="618FFD"/>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34" name="Text Box 101"/>
            <p:cNvSpPr txBox="1">
              <a:spLocks noChangeArrowheads="1"/>
            </p:cNvSpPr>
            <p:nvPr/>
          </p:nvSpPr>
          <p:spPr bwMode="auto">
            <a:xfrm>
              <a:off x="628" y="1272"/>
              <a:ext cx="26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a:solidFill>
                    <a:srgbClr val="618FFD"/>
                  </a:solidFill>
                </a:rPr>
                <a:t>2</a:t>
              </a:r>
            </a:p>
          </p:txBody>
        </p:sp>
      </p:grpSp>
      <p:grpSp>
        <p:nvGrpSpPr>
          <p:cNvPr id="302264" name="Group 184"/>
          <p:cNvGrpSpPr>
            <a:grpSpLocks/>
          </p:cNvGrpSpPr>
          <p:nvPr/>
        </p:nvGrpSpPr>
        <p:grpSpPr bwMode="auto">
          <a:xfrm>
            <a:off x="4149969" y="1903414"/>
            <a:ext cx="2561492" cy="3735387"/>
            <a:chOff x="2832" y="1343"/>
            <a:chExt cx="1748" cy="2353"/>
          </a:xfrm>
          <a:solidFill>
            <a:srgbClr val="92D050"/>
          </a:solidFill>
        </p:grpSpPr>
        <p:sp>
          <p:nvSpPr>
            <p:cNvPr id="45115" name="Line 57"/>
            <p:cNvSpPr>
              <a:spLocks noChangeShapeType="1"/>
            </p:cNvSpPr>
            <p:nvPr/>
          </p:nvSpPr>
          <p:spPr bwMode="invGray">
            <a:xfrm>
              <a:off x="3082" y="1497"/>
              <a:ext cx="0" cy="424"/>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16" name="Line 58"/>
            <p:cNvSpPr>
              <a:spLocks noChangeShapeType="1"/>
            </p:cNvSpPr>
            <p:nvPr/>
          </p:nvSpPr>
          <p:spPr bwMode="invGray">
            <a:xfrm>
              <a:off x="3082" y="2228"/>
              <a:ext cx="0" cy="424"/>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17" name="Line 59"/>
            <p:cNvSpPr>
              <a:spLocks noChangeShapeType="1"/>
            </p:cNvSpPr>
            <p:nvPr/>
          </p:nvSpPr>
          <p:spPr bwMode="invGray">
            <a:xfrm>
              <a:off x="3082" y="2959"/>
              <a:ext cx="0" cy="424"/>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18" name="Rectangle 33"/>
            <p:cNvSpPr>
              <a:spLocks noChangeArrowheads="1"/>
            </p:cNvSpPr>
            <p:nvPr/>
          </p:nvSpPr>
          <p:spPr bwMode="auto">
            <a:xfrm>
              <a:off x="2832" y="1343"/>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19" name="Rectangle 34"/>
            <p:cNvSpPr>
              <a:spLocks noChangeArrowheads="1"/>
            </p:cNvSpPr>
            <p:nvPr/>
          </p:nvSpPr>
          <p:spPr bwMode="auto">
            <a:xfrm>
              <a:off x="2832" y="2652"/>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20" name="Rectangle 35"/>
            <p:cNvSpPr>
              <a:spLocks noChangeArrowheads="1"/>
            </p:cNvSpPr>
            <p:nvPr/>
          </p:nvSpPr>
          <p:spPr bwMode="auto">
            <a:xfrm>
              <a:off x="2832" y="3365"/>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21" name="Line 37"/>
            <p:cNvSpPr>
              <a:spLocks noChangeShapeType="1"/>
            </p:cNvSpPr>
            <p:nvPr/>
          </p:nvSpPr>
          <p:spPr bwMode="invGray">
            <a:xfrm flipH="1">
              <a:off x="3119" y="3199"/>
              <a:ext cx="625" cy="0"/>
            </a:xfrm>
            <a:prstGeom prst="line">
              <a:avLst/>
            </a:prstGeom>
            <a:grpFill/>
            <a:ln w="50800">
              <a:solidFill>
                <a:schemeClr val="accent3">
                  <a:lumMod val="40000"/>
                  <a:lumOff val="60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22" name="Line 60"/>
            <p:cNvSpPr>
              <a:spLocks noChangeShapeType="1"/>
            </p:cNvSpPr>
            <p:nvPr/>
          </p:nvSpPr>
          <p:spPr bwMode="invGray">
            <a:xfrm rot="-5400000">
              <a:off x="3289" y="1964"/>
              <a:ext cx="0" cy="424"/>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23" name="Line 78"/>
            <p:cNvSpPr>
              <a:spLocks noChangeShapeType="1"/>
            </p:cNvSpPr>
            <p:nvPr/>
          </p:nvSpPr>
          <p:spPr bwMode="invGray">
            <a:xfrm>
              <a:off x="3744" y="2237"/>
              <a:ext cx="0" cy="424"/>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24" name="Line 79"/>
            <p:cNvSpPr>
              <a:spLocks noChangeShapeType="1"/>
            </p:cNvSpPr>
            <p:nvPr/>
          </p:nvSpPr>
          <p:spPr bwMode="invGray">
            <a:xfrm>
              <a:off x="3744" y="2765"/>
              <a:ext cx="0" cy="424"/>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25" name="Line 82"/>
            <p:cNvSpPr>
              <a:spLocks noChangeShapeType="1"/>
            </p:cNvSpPr>
            <p:nvPr/>
          </p:nvSpPr>
          <p:spPr bwMode="invGray">
            <a:xfrm>
              <a:off x="4323" y="2189"/>
              <a:ext cx="0" cy="472"/>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26" name="Line 83"/>
            <p:cNvSpPr>
              <a:spLocks noChangeShapeType="1"/>
            </p:cNvSpPr>
            <p:nvPr/>
          </p:nvSpPr>
          <p:spPr bwMode="invGray">
            <a:xfrm>
              <a:off x="4323" y="2765"/>
              <a:ext cx="0" cy="424"/>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27" name="Line 84"/>
            <p:cNvSpPr>
              <a:spLocks noChangeShapeType="1"/>
            </p:cNvSpPr>
            <p:nvPr/>
          </p:nvSpPr>
          <p:spPr bwMode="invGray">
            <a:xfrm flipH="1">
              <a:off x="3744" y="3197"/>
              <a:ext cx="576" cy="0"/>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28" name="Line 80"/>
            <p:cNvSpPr>
              <a:spLocks noChangeShapeType="1"/>
            </p:cNvSpPr>
            <p:nvPr/>
          </p:nvSpPr>
          <p:spPr bwMode="invGray">
            <a:xfrm rot="-5400000">
              <a:off x="4100" y="1977"/>
              <a:ext cx="0" cy="424"/>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29" name="AutoShape 46"/>
            <p:cNvSpPr>
              <a:spLocks noChangeArrowheads="1"/>
            </p:cNvSpPr>
            <p:nvPr/>
          </p:nvSpPr>
          <p:spPr bwMode="auto">
            <a:xfrm>
              <a:off x="2840" y="1921"/>
              <a:ext cx="484" cy="502"/>
            </a:xfrm>
            <a:prstGeom prst="diamond">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500">
                  <a:solidFill>
                    <a:srgbClr val="000000"/>
                  </a:solidFill>
                </a:rPr>
                <a:t>?</a:t>
              </a:r>
            </a:p>
          </p:txBody>
        </p:sp>
        <p:sp>
          <p:nvSpPr>
            <p:cNvPr id="45130" name="AutoShape 52"/>
            <p:cNvSpPr>
              <a:spLocks noChangeArrowheads="1"/>
            </p:cNvSpPr>
            <p:nvPr/>
          </p:nvSpPr>
          <p:spPr bwMode="auto">
            <a:xfrm>
              <a:off x="3501" y="1921"/>
              <a:ext cx="484" cy="502"/>
            </a:xfrm>
            <a:prstGeom prst="diamond">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500">
                  <a:solidFill>
                    <a:srgbClr val="000000"/>
                  </a:solidFill>
                </a:rPr>
                <a:t>?</a:t>
              </a:r>
            </a:p>
          </p:txBody>
        </p:sp>
        <p:sp>
          <p:nvSpPr>
            <p:cNvPr id="45131" name="Rectangle 54"/>
            <p:cNvSpPr>
              <a:spLocks noChangeArrowheads="1"/>
            </p:cNvSpPr>
            <p:nvPr/>
          </p:nvSpPr>
          <p:spPr bwMode="auto">
            <a:xfrm>
              <a:off x="3501" y="2652"/>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32" name="Rectangle 81"/>
            <p:cNvSpPr>
              <a:spLocks noChangeArrowheads="1"/>
            </p:cNvSpPr>
            <p:nvPr/>
          </p:nvSpPr>
          <p:spPr bwMode="auto">
            <a:xfrm>
              <a:off x="4080" y="2652"/>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grpSp>
      <p:grpSp>
        <p:nvGrpSpPr>
          <p:cNvPr id="302237" name="Group 157"/>
          <p:cNvGrpSpPr>
            <a:grpSpLocks/>
          </p:cNvGrpSpPr>
          <p:nvPr/>
        </p:nvGrpSpPr>
        <p:grpSpPr bwMode="auto">
          <a:xfrm>
            <a:off x="4110404" y="1801814"/>
            <a:ext cx="385396" cy="3660775"/>
            <a:chOff x="2800" y="1279"/>
            <a:chExt cx="263" cy="2306"/>
          </a:xfrm>
        </p:grpSpPr>
        <p:sp>
          <p:nvSpPr>
            <p:cNvPr id="45113" name="Line 96"/>
            <p:cNvSpPr>
              <a:spLocks noChangeShapeType="1"/>
            </p:cNvSpPr>
            <p:nvPr/>
          </p:nvSpPr>
          <p:spPr bwMode="auto">
            <a:xfrm>
              <a:off x="2928" y="1576"/>
              <a:ext cx="0" cy="2009"/>
            </a:xfrm>
            <a:prstGeom prst="line">
              <a:avLst/>
            </a:prstGeom>
            <a:noFill/>
            <a:ln w="50800">
              <a:solidFill>
                <a:srgbClr val="00CC66"/>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14" name="Text Box 103"/>
            <p:cNvSpPr txBox="1">
              <a:spLocks noChangeArrowheads="1"/>
            </p:cNvSpPr>
            <p:nvPr/>
          </p:nvSpPr>
          <p:spPr bwMode="auto">
            <a:xfrm>
              <a:off x="2800" y="1279"/>
              <a:ext cx="26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a:solidFill>
                    <a:srgbClr val="00CC66"/>
                  </a:solidFill>
                </a:rPr>
                <a:t>1</a:t>
              </a:r>
            </a:p>
          </p:txBody>
        </p:sp>
      </p:grpSp>
      <p:grpSp>
        <p:nvGrpSpPr>
          <p:cNvPr id="302238" name="Group 158"/>
          <p:cNvGrpSpPr>
            <a:grpSpLocks/>
          </p:cNvGrpSpPr>
          <p:nvPr/>
        </p:nvGrpSpPr>
        <p:grpSpPr bwMode="auto">
          <a:xfrm>
            <a:off x="4267200" y="1801813"/>
            <a:ext cx="1151792" cy="3663950"/>
            <a:chOff x="2955" y="1279"/>
            <a:chExt cx="786" cy="2308"/>
          </a:xfrm>
        </p:grpSpPr>
        <p:sp>
          <p:nvSpPr>
            <p:cNvPr id="45111" name="Freeform 97"/>
            <p:cNvSpPr>
              <a:spLocks/>
            </p:cNvSpPr>
            <p:nvPr/>
          </p:nvSpPr>
          <p:spPr bwMode="auto">
            <a:xfrm>
              <a:off x="3075" y="1584"/>
              <a:ext cx="666" cy="2003"/>
            </a:xfrm>
            <a:custGeom>
              <a:avLst/>
              <a:gdLst>
                <a:gd name="T0" fmla="*/ 29 w 666"/>
                <a:gd name="T1" fmla="*/ 0 h 2003"/>
                <a:gd name="T2" fmla="*/ 31 w 666"/>
                <a:gd name="T3" fmla="*/ 309 h 2003"/>
                <a:gd name="T4" fmla="*/ 41 w 666"/>
                <a:gd name="T5" fmla="*/ 576 h 2003"/>
                <a:gd name="T6" fmla="*/ 140 w 666"/>
                <a:gd name="T7" fmla="*/ 640 h 2003"/>
                <a:gd name="T8" fmla="*/ 465 w 666"/>
                <a:gd name="T9" fmla="*/ 644 h 2003"/>
                <a:gd name="T10" fmla="*/ 633 w 666"/>
                <a:gd name="T11" fmla="*/ 680 h 2003"/>
                <a:gd name="T12" fmla="*/ 661 w 666"/>
                <a:gd name="T13" fmla="*/ 844 h 2003"/>
                <a:gd name="T14" fmla="*/ 653 w 666"/>
                <a:gd name="T15" fmla="*/ 1152 h 2003"/>
                <a:gd name="T16" fmla="*/ 653 w 666"/>
                <a:gd name="T17" fmla="*/ 1368 h 2003"/>
                <a:gd name="T18" fmla="*/ 645 w 666"/>
                <a:gd name="T19" fmla="*/ 1520 h 2003"/>
                <a:gd name="T20" fmla="*/ 541 w 666"/>
                <a:gd name="T21" fmla="*/ 1600 h 2003"/>
                <a:gd name="T22" fmla="*/ 149 w 666"/>
                <a:gd name="T23" fmla="*/ 1616 h 2003"/>
                <a:gd name="T24" fmla="*/ 23 w 666"/>
                <a:gd name="T25" fmla="*/ 1706 h 2003"/>
                <a:gd name="T26" fmla="*/ 11 w 666"/>
                <a:gd name="T27" fmla="*/ 2003 h 20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66" h="2003">
                  <a:moveTo>
                    <a:pt x="29" y="0"/>
                  </a:moveTo>
                  <a:cubicBezTo>
                    <a:pt x="29" y="51"/>
                    <a:pt x="29" y="213"/>
                    <a:pt x="31" y="309"/>
                  </a:cubicBezTo>
                  <a:cubicBezTo>
                    <a:pt x="33" y="405"/>
                    <a:pt x="23" y="521"/>
                    <a:pt x="41" y="576"/>
                  </a:cubicBezTo>
                  <a:cubicBezTo>
                    <a:pt x="59" y="631"/>
                    <a:pt x="69" y="629"/>
                    <a:pt x="140" y="640"/>
                  </a:cubicBezTo>
                  <a:cubicBezTo>
                    <a:pt x="211" y="651"/>
                    <a:pt x="383" y="637"/>
                    <a:pt x="465" y="644"/>
                  </a:cubicBezTo>
                  <a:cubicBezTo>
                    <a:pt x="547" y="651"/>
                    <a:pt x="600" y="647"/>
                    <a:pt x="633" y="680"/>
                  </a:cubicBezTo>
                  <a:cubicBezTo>
                    <a:pt x="666" y="713"/>
                    <a:pt x="658" y="765"/>
                    <a:pt x="661" y="844"/>
                  </a:cubicBezTo>
                  <a:cubicBezTo>
                    <a:pt x="664" y="923"/>
                    <a:pt x="654" y="1065"/>
                    <a:pt x="653" y="1152"/>
                  </a:cubicBezTo>
                  <a:cubicBezTo>
                    <a:pt x="652" y="1239"/>
                    <a:pt x="654" y="1307"/>
                    <a:pt x="653" y="1368"/>
                  </a:cubicBezTo>
                  <a:cubicBezTo>
                    <a:pt x="652" y="1429"/>
                    <a:pt x="664" y="1481"/>
                    <a:pt x="645" y="1520"/>
                  </a:cubicBezTo>
                  <a:cubicBezTo>
                    <a:pt x="626" y="1559"/>
                    <a:pt x="624" y="1584"/>
                    <a:pt x="541" y="1600"/>
                  </a:cubicBezTo>
                  <a:cubicBezTo>
                    <a:pt x="458" y="1616"/>
                    <a:pt x="235" y="1598"/>
                    <a:pt x="149" y="1616"/>
                  </a:cubicBezTo>
                  <a:cubicBezTo>
                    <a:pt x="63" y="1634"/>
                    <a:pt x="46" y="1642"/>
                    <a:pt x="23" y="1706"/>
                  </a:cubicBezTo>
                  <a:cubicBezTo>
                    <a:pt x="0" y="1770"/>
                    <a:pt x="13" y="1941"/>
                    <a:pt x="11" y="2003"/>
                  </a:cubicBezTo>
                </a:path>
              </a:pathLst>
            </a:custGeom>
            <a:noFill/>
            <a:ln w="50800" cap="flat" cmpd="sng">
              <a:solidFill>
                <a:srgbClr val="618FFD"/>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12" name="Text Box 104"/>
            <p:cNvSpPr txBox="1">
              <a:spLocks noChangeArrowheads="1"/>
            </p:cNvSpPr>
            <p:nvPr/>
          </p:nvSpPr>
          <p:spPr bwMode="auto">
            <a:xfrm>
              <a:off x="2955" y="1279"/>
              <a:ext cx="26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a:solidFill>
                    <a:srgbClr val="618FFD"/>
                  </a:solidFill>
                </a:rPr>
                <a:t>2</a:t>
              </a:r>
            </a:p>
          </p:txBody>
        </p:sp>
      </p:grpSp>
      <p:grpSp>
        <p:nvGrpSpPr>
          <p:cNvPr id="302239" name="Group 159"/>
          <p:cNvGrpSpPr>
            <a:grpSpLocks/>
          </p:cNvGrpSpPr>
          <p:nvPr/>
        </p:nvGrpSpPr>
        <p:grpSpPr bwMode="auto">
          <a:xfrm>
            <a:off x="4548554" y="1811338"/>
            <a:ext cx="1776046" cy="3675062"/>
            <a:chOff x="3109" y="1279"/>
            <a:chExt cx="1212" cy="2315"/>
          </a:xfrm>
        </p:grpSpPr>
        <p:sp>
          <p:nvSpPr>
            <p:cNvPr id="45109" name="Freeform 98"/>
            <p:cNvSpPr>
              <a:spLocks/>
            </p:cNvSpPr>
            <p:nvPr/>
          </p:nvSpPr>
          <p:spPr bwMode="auto">
            <a:xfrm>
              <a:off x="3238" y="1576"/>
              <a:ext cx="1083" cy="2018"/>
            </a:xfrm>
            <a:custGeom>
              <a:avLst/>
              <a:gdLst>
                <a:gd name="T0" fmla="*/ 22 w 1083"/>
                <a:gd name="T1" fmla="*/ 0 h 2018"/>
                <a:gd name="T2" fmla="*/ 22 w 1083"/>
                <a:gd name="T3" fmla="*/ 284 h 2018"/>
                <a:gd name="T4" fmla="*/ 34 w 1083"/>
                <a:gd name="T5" fmla="*/ 524 h 2018"/>
                <a:gd name="T6" fmla="*/ 138 w 1083"/>
                <a:gd name="T7" fmla="*/ 596 h 2018"/>
                <a:gd name="T8" fmla="*/ 322 w 1083"/>
                <a:gd name="T9" fmla="*/ 600 h 2018"/>
                <a:gd name="T10" fmla="*/ 809 w 1083"/>
                <a:gd name="T11" fmla="*/ 602 h 2018"/>
                <a:gd name="T12" fmla="*/ 1039 w 1083"/>
                <a:gd name="T13" fmla="*/ 624 h 2018"/>
                <a:gd name="T14" fmla="*/ 1073 w 1083"/>
                <a:gd name="T15" fmla="*/ 871 h 2018"/>
                <a:gd name="T16" fmla="*/ 1070 w 1083"/>
                <a:gd name="T17" fmla="*/ 1224 h 2018"/>
                <a:gd name="T18" fmla="*/ 1070 w 1083"/>
                <a:gd name="T19" fmla="*/ 1521 h 2018"/>
                <a:gd name="T20" fmla="*/ 1010 w 1083"/>
                <a:gd name="T21" fmla="*/ 1632 h 2018"/>
                <a:gd name="T22" fmla="*/ 842 w 1083"/>
                <a:gd name="T23" fmla="*/ 1660 h 2018"/>
                <a:gd name="T24" fmla="*/ 270 w 1083"/>
                <a:gd name="T25" fmla="*/ 1660 h 2018"/>
                <a:gd name="T26" fmla="*/ 110 w 1083"/>
                <a:gd name="T27" fmla="*/ 1668 h 2018"/>
                <a:gd name="T28" fmla="*/ 22 w 1083"/>
                <a:gd name="T29" fmla="*/ 1700 h 2018"/>
                <a:gd name="T30" fmla="*/ 2 w 1083"/>
                <a:gd name="T31" fmla="*/ 1808 h 2018"/>
                <a:gd name="T32" fmla="*/ 9 w 1083"/>
                <a:gd name="T33" fmla="*/ 2018 h 20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83" h="2018">
                  <a:moveTo>
                    <a:pt x="22" y="0"/>
                  </a:moveTo>
                  <a:cubicBezTo>
                    <a:pt x="22" y="47"/>
                    <a:pt x="20" y="197"/>
                    <a:pt x="22" y="284"/>
                  </a:cubicBezTo>
                  <a:cubicBezTo>
                    <a:pt x="24" y="371"/>
                    <a:pt x="15" y="472"/>
                    <a:pt x="34" y="524"/>
                  </a:cubicBezTo>
                  <a:cubicBezTo>
                    <a:pt x="53" y="576"/>
                    <a:pt x="90" y="583"/>
                    <a:pt x="138" y="596"/>
                  </a:cubicBezTo>
                  <a:cubicBezTo>
                    <a:pt x="186" y="609"/>
                    <a:pt x="210" y="599"/>
                    <a:pt x="322" y="600"/>
                  </a:cubicBezTo>
                  <a:cubicBezTo>
                    <a:pt x="434" y="601"/>
                    <a:pt x="690" y="598"/>
                    <a:pt x="809" y="602"/>
                  </a:cubicBezTo>
                  <a:cubicBezTo>
                    <a:pt x="928" y="606"/>
                    <a:pt x="995" y="579"/>
                    <a:pt x="1039" y="624"/>
                  </a:cubicBezTo>
                  <a:cubicBezTo>
                    <a:pt x="1083" y="669"/>
                    <a:pt x="1068" y="771"/>
                    <a:pt x="1073" y="871"/>
                  </a:cubicBezTo>
                  <a:cubicBezTo>
                    <a:pt x="1078" y="971"/>
                    <a:pt x="1071" y="1116"/>
                    <a:pt x="1070" y="1224"/>
                  </a:cubicBezTo>
                  <a:cubicBezTo>
                    <a:pt x="1069" y="1332"/>
                    <a:pt x="1080" y="1453"/>
                    <a:pt x="1070" y="1521"/>
                  </a:cubicBezTo>
                  <a:cubicBezTo>
                    <a:pt x="1060" y="1589"/>
                    <a:pt x="1048" y="1609"/>
                    <a:pt x="1010" y="1632"/>
                  </a:cubicBezTo>
                  <a:cubicBezTo>
                    <a:pt x="972" y="1655"/>
                    <a:pt x="965" y="1655"/>
                    <a:pt x="842" y="1660"/>
                  </a:cubicBezTo>
                  <a:cubicBezTo>
                    <a:pt x="719" y="1665"/>
                    <a:pt x="392" y="1659"/>
                    <a:pt x="270" y="1660"/>
                  </a:cubicBezTo>
                  <a:cubicBezTo>
                    <a:pt x="148" y="1661"/>
                    <a:pt x="151" y="1661"/>
                    <a:pt x="110" y="1668"/>
                  </a:cubicBezTo>
                  <a:cubicBezTo>
                    <a:pt x="69" y="1675"/>
                    <a:pt x="40" y="1677"/>
                    <a:pt x="22" y="1700"/>
                  </a:cubicBezTo>
                  <a:cubicBezTo>
                    <a:pt x="4" y="1723"/>
                    <a:pt x="4" y="1755"/>
                    <a:pt x="2" y="1808"/>
                  </a:cubicBezTo>
                  <a:cubicBezTo>
                    <a:pt x="0" y="1861"/>
                    <a:pt x="8" y="1983"/>
                    <a:pt x="9" y="2018"/>
                  </a:cubicBezTo>
                </a:path>
              </a:pathLst>
            </a:custGeom>
            <a:noFill/>
            <a:ln w="50800" cap="flat" cmpd="sng">
              <a:solidFill>
                <a:srgbClr val="FFFF00"/>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10" name="Text Box 105"/>
            <p:cNvSpPr txBox="1">
              <a:spLocks noChangeArrowheads="1"/>
            </p:cNvSpPr>
            <p:nvPr/>
          </p:nvSpPr>
          <p:spPr bwMode="auto">
            <a:xfrm>
              <a:off x="3109" y="1279"/>
              <a:ext cx="263" cy="330"/>
            </a:xfrm>
            <a:prstGeom prst="rect">
              <a:avLst/>
            </a:prstGeom>
            <a:noFill/>
            <a:ln w="12700">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a:solidFill>
                    <a:srgbClr val="FFFF00"/>
                  </a:solidFill>
                </a:rPr>
                <a:t>3</a:t>
              </a:r>
            </a:p>
          </p:txBody>
        </p:sp>
      </p:grpSp>
      <p:grpSp>
        <p:nvGrpSpPr>
          <p:cNvPr id="302235" name="Group 155"/>
          <p:cNvGrpSpPr>
            <a:grpSpLocks/>
          </p:cNvGrpSpPr>
          <p:nvPr/>
        </p:nvGrpSpPr>
        <p:grpSpPr bwMode="auto">
          <a:xfrm>
            <a:off x="2209800" y="1806576"/>
            <a:ext cx="385395" cy="3592513"/>
            <a:chOff x="1533" y="1282"/>
            <a:chExt cx="263" cy="2263"/>
          </a:xfrm>
        </p:grpSpPr>
        <p:sp>
          <p:nvSpPr>
            <p:cNvPr id="45107" name="Line 94"/>
            <p:cNvSpPr>
              <a:spLocks noChangeShapeType="1"/>
            </p:cNvSpPr>
            <p:nvPr/>
          </p:nvSpPr>
          <p:spPr bwMode="auto">
            <a:xfrm>
              <a:off x="1718" y="1567"/>
              <a:ext cx="0" cy="1978"/>
            </a:xfrm>
            <a:prstGeom prst="line">
              <a:avLst/>
            </a:prstGeom>
            <a:noFill/>
            <a:ln w="50800">
              <a:solidFill>
                <a:srgbClr val="00CC66"/>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08" name="Text Box 106"/>
            <p:cNvSpPr txBox="1">
              <a:spLocks noChangeArrowheads="1"/>
            </p:cNvSpPr>
            <p:nvPr/>
          </p:nvSpPr>
          <p:spPr bwMode="auto">
            <a:xfrm>
              <a:off x="1533" y="1282"/>
              <a:ext cx="26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a:solidFill>
                    <a:srgbClr val="00CC66"/>
                  </a:solidFill>
                </a:rPr>
                <a:t>1</a:t>
              </a:r>
            </a:p>
          </p:txBody>
        </p:sp>
      </p:grpSp>
      <p:grpSp>
        <p:nvGrpSpPr>
          <p:cNvPr id="302236" name="Group 156"/>
          <p:cNvGrpSpPr>
            <a:grpSpLocks/>
          </p:cNvGrpSpPr>
          <p:nvPr/>
        </p:nvGrpSpPr>
        <p:grpSpPr bwMode="auto">
          <a:xfrm>
            <a:off x="2482362" y="1806575"/>
            <a:ext cx="946638" cy="3595688"/>
            <a:chOff x="1706" y="1282"/>
            <a:chExt cx="646" cy="2265"/>
          </a:xfrm>
        </p:grpSpPr>
        <p:sp>
          <p:nvSpPr>
            <p:cNvPr id="45105" name="Freeform 95"/>
            <p:cNvSpPr>
              <a:spLocks/>
            </p:cNvSpPr>
            <p:nvPr/>
          </p:nvSpPr>
          <p:spPr bwMode="auto">
            <a:xfrm>
              <a:off x="1802" y="1568"/>
              <a:ext cx="550" cy="1979"/>
            </a:xfrm>
            <a:custGeom>
              <a:avLst/>
              <a:gdLst>
                <a:gd name="T0" fmla="*/ 34 w 550"/>
                <a:gd name="T1" fmla="*/ 0 h 1979"/>
                <a:gd name="T2" fmla="*/ 34 w 550"/>
                <a:gd name="T3" fmla="*/ 280 h 1979"/>
                <a:gd name="T4" fmla="*/ 46 w 550"/>
                <a:gd name="T5" fmla="*/ 500 h 1979"/>
                <a:gd name="T6" fmla="*/ 158 w 550"/>
                <a:gd name="T7" fmla="*/ 584 h 1979"/>
                <a:gd name="T8" fmla="*/ 461 w 550"/>
                <a:gd name="T9" fmla="*/ 604 h 1979"/>
                <a:gd name="T10" fmla="*/ 530 w 550"/>
                <a:gd name="T11" fmla="*/ 820 h 1979"/>
                <a:gd name="T12" fmla="*/ 526 w 550"/>
                <a:gd name="T13" fmla="*/ 1101 h 1979"/>
                <a:gd name="T14" fmla="*/ 526 w 550"/>
                <a:gd name="T15" fmla="*/ 1406 h 1979"/>
                <a:gd name="T16" fmla="*/ 490 w 550"/>
                <a:gd name="T17" fmla="*/ 1607 h 1979"/>
                <a:gd name="T18" fmla="*/ 168 w 550"/>
                <a:gd name="T19" fmla="*/ 1615 h 1979"/>
                <a:gd name="T20" fmla="*/ 26 w 550"/>
                <a:gd name="T21" fmla="*/ 1682 h 1979"/>
                <a:gd name="T22" fmla="*/ 14 w 550"/>
                <a:gd name="T23" fmla="*/ 1979 h 19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50" h="1979">
                  <a:moveTo>
                    <a:pt x="34" y="0"/>
                  </a:moveTo>
                  <a:cubicBezTo>
                    <a:pt x="33" y="47"/>
                    <a:pt x="32" y="197"/>
                    <a:pt x="34" y="280"/>
                  </a:cubicBezTo>
                  <a:cubicBezTo>
                    <a:pt x="36" y="363"/>
                    <a:pt x="25" y="449"/>
                    <a:pt x="46" y="500"/>
                  </a:cubicBezTo>
                  <a:cubicBezTo>
                    <a:pt x="67" y="551"/>
                    <a:pt x="89" y="567"/>
                    <a:pt x="158" y="584"/>
                  </a:cubicBezTo>
                  <a:cubicBezTo>
                    <a:pt x="227" y="601"/>
                    <a:pt x="399" y="565"/>
                    <a:pt x="461" y="604"/>
                  </a:cubicBezTo>
                  <a:cubicBezTo>
                    <a:pt x="523" y="643"/>
                    <a:pt x="519" y="737"/>
                    <a:pt x="530" y="820"/>
                  </a:cubicBezTo>
                  <a:cubicBezTo>
                    <a:pt x="541" y="903"/>
                    <a:pt x="527" y="1003"/>
                    <a:pt x="526" y="1101"/>
                  </a:cubicBezTo>
                  <a:cubicBezTo>
                    <a:pt x="525" y="1199"/>
                    <a:pt x="532" y="1322"/>
                    <a:pt x="526" y="1406"/>
                  </a:cubicBezTo>
                  <a:cubicBezTo>
                    <a:pt x="520" y="1490"/>
                    <a:pt x="550" y="1572"/>
                    <a:pt x="490" y="1607"/>
                  </a:cubicBezTo>
                  <a:cubicBezTo>
                    <a:pt x="430" y="1642"/>
                    <a:pt x="245" y="1603"/>
                    <a:pt x="168" y="1615"/>
                  </a:cubicBezTo>
                  <a:cubicBezTo>
                    <a:pt x="91" y="1627"/>
                    <a:pt x="52" y="1621"/>
                    <a:pt x="26" y="1682"/>
                  </a:cubicBezTo>
                  <a:cubicBezTo>
                    <a:pt x="0" y="1743"/>
                    <a:pt x="16" y="1917"/>
                    <a:pt x="14" y="1979"/>
                  </a:cubicBezTo>
                </a:path>
              </a:pathLst>
            </a:custGeom>
            <a:noFill/>
            <a:ln w="50800" cap="flat" cmpd="sng">
              <a:solidFill>
                <a:srgbClr val="618FFD"/>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06" name="Text Box 107"/>
            <p:cNvSpPr txBox="1">
              <a:spLocks noChangeArrowheads="1"/>
            </p:cNvSpPr>
            <p:nvPr/>
          </p:nvSpPr>
          <p:spPr bwMode="auto">
            <a:xfrm>
              <a:off x="1706" y="1282"/>
              <a:ext cx="26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a:solidFill>
                    <a:srgbClr val="618FFD"/>
                  </a:solidFill>
                </a:rPr>
                <a:t>2</a:t>
              </a:r>
            </a:p>
          </p:txBody>
        </p:sp>
      </p:grpSp>
      <p:grpSp>
        <p:nvGrpSpPr>
          <p:cNvPr id="302260" name="Group 180"/>
          <p:cNvGrpSpPr>
            <a:grpSpLocks/>
          </p:cNvGrpSpPr>
          <p:nvPr/>
        </p:nvGrpSpPr>
        <p:grpSpPr bwMode="auto">
          <a:xfrm>
            <a:off x="7010400" y="914400"/>
            <a:ext cx="1606062" cy="5707063"/>
            <a:chOff x="4800" y="576"/>
            <a:chExt cx="1096" cy="3595"/>
          </a:xfrm>
          <a:solidFill>
            <a:srgbClr val="92D050"/>
          </a:solidFill>
        </p:grpSpPr>
        <p:sp>
          <p:nvSpPr>
            <p:cNvPr id="45082" name="Line 134"/>
            <p:cNvSpPr>
              <a:spLocks noChangeShapeType="1"/>
            </p:cNvSpPr>
            <p:nvPr/>
          </p:nvSpPr>
          <p:spPr bwMode="invGray">
            <a:xfrm>
              <a:off x="5049" y="2783"/>
              <a:ext cx="0" cy="471"/>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83" name="Line 109"/>
            <p:cNvSpPr>
              <a:spLocks noChangeShapeType="1"/>
            </p:cNvSpPr>
            <p:nvPr/>
          </p:nvSpPr>
          <p:spPr bwMode="invGray">
            <a:xfrm>
              <a:off x="5086" y="1410"/>
              <a:ext cx="570" cy="0"/>
            </a:xfrm>
            <a:prstGeom prst="line">
              <a:avLst/>
            </a:prstGeom>
            <a:grpFill/>
            <a:ln w="50800">
              <a:solidFill>
                <a:schemeClr val="bg2">
                  <a:lumMod val="75000"/>
                </a:schemeClr>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84" name="Line 110"/>
            <p:cNvSpPr>
              <a:spLocks noChangeShapeType="1"/>
            </p:cNvSpPr>
            <p:nvPr/>
          </p:nvSpPr>
          <p:spPr bwMode="invGray">
            <a:xfrm>
              <a:off x="5049" y="742"/>
              <a:ext cx="0" cy="424"/>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85" name="Line 115"/>
            <p:cNvSpPr>
              <a:spLocks noChangeShapeType="1"/>
            </p:cNvSpPr>
            <p:nvPr/>
          </p:nvSpPr>
          <p:spPr bwMode="invGray">
            <a:xfrm>
              <a:off x="5040" y="2304"/>
              <a:ext cx="617" cy="0"/>
            </a:xfrm>
            <a:prstGeom prst="line">
              <a:avLst/>
            </a:prstGeom>
            <a:grpFill/>
            <a:ln w="50800">
              <a:solidFill>
                <a:schemeClr val="bg2">
                  <a:lumMod val="75000"/>
                </a:schemeClr>
              </a:solidFill>
              <a:round/>
              <a:headEnd type="triangle" w="med" len="med"/>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86" name="Line 116"/>
            <p:cNvSpPr>
              <a:spLocks noChangeShapeType="1"/>
            </p:cNvSpPr>
            <p:nvPr/>
          </p:nvSpPr>
          <p:spPr bwMode="invGray">
            <a:xfrm>
              <a:off x="5049" y="1461"/>
              <a:ext cx="0" cy="419"/>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87" name="Line 117"/>
            <p:cNvSpPr>
              <a:spLocks noChangeShapeType="1"/>
            </p:cNvSpPr>
            <p:nvPr/>
          </p:nvSpPr>
          <p:spPr bwMode="invGray">
            <a:xfrm>
              <a:off x="5049" y="3464"/>
              <a:ext cx="0" cy="376"/>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88" name="Line 118"/>
            <p:cNvSpPr>
              <a:spLocks noChangeShapeType="1"/>
            </p:cNvSpPr>
            <p:nvPr/>
          </p:nvSpPr>
          <p:spPr bwMode="invGray">
            <a:xfrm>
              <a:off x="5643" y="1421"/>
              <a:ext cx="0" cy="355"/>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89" name="Line 119"/>
            <p:cNvSpPr>
              <a:spLocks noChangeShapeType="1"/>
            </p:cNvSpPr>
            <p:nvPr/>
          </p:nvSpPr>
          <p:spPr bwMode="invGray">
            <a:xfrm>
              <a:off x="5649" y="1911"/>
              <a:ext cx="0" cy="393"/>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90" name="Line 129"/>
            <p:cNvSpPr>
              <a:spLocks noChangeShapeType="1"/>
            </p:cNvSpPr>
            <p:nvPr/>
          </p:nvSpPr>
          <p:spPr bwMode="invGray">
            <a:xfrm>
              <a:off x="5086" y="2732"/>
              <a:ext cx="570" cy="0"/>
            </a:xfrm>
            <a:prstGeom prst="line">
              <a:avLst/>
            </a:prstGeom>
            <a:grpFill/>
            <a:ln w="50800">
              <a:solidFill>
                <a:schemeClr val="bg2">
                  <a:lumMod val="75000"/>
                </a:schemeClr>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91" name="Line 130"/>
            <p:cNvSpPr>
              <a:spLocks noChangeShapeType="1"/>
            </p:cNvSpPr>
            <p:nvPr/>
          </p:nvSpPr>
          <p:spPr bwMode="invGray">
            <a:xfrm>
              <a:off x="5049" y="2064"/>
              <a:ext cx="0" cy="424"/>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92" name="Line 133"/>
            <p:cNvSpPr>
              <a:spLocks noChangeShapeType="1"/>
            </p:cNvSpPr>
            <p:nvPr/>
          </p:nvSpPr>
          <p:spPr bwMode="invGray">
            <a:xfrm>
              <a:off x="5040" y="3664"/>
              <a:ext cx="617" cy="0"/>
            </a:xfrm>
            <a:prstGeom prst="line">
              <a:avLst/>
            </a:prstGeom>
            <a:grpFill/>
            <a:ln w="50800">
              <a:solidFill>
                <a:schemeClr val="bg2">
                  <a:lumMod val="75000"/>
                </a:schemeClr>
              </a:solidFill>
              <a:round/>
              <a:headEnd type="triangle" w="med" len="med"/>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93" name="Line 135"/>
            <p:cNvSpPr>
              <a:spLocks noChangeShapeType="1"/>
            </p:cNvSpPr>
            <p:nvPr/>
          </p:nvSpPr>
          <p:spPr bwMode="invGray">
            <a:xfrm>
              <a:off x="5643" y="2743"/>
              <a:ext cx="0" cy="377"/>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94" name="Line 136"/>
            <p:cNvSpPr>
              <a:spLocks noChangeShapeType="1"/>
            </p:cNvSpPr>
            <p:nvPr/>
          </p:nvSpPr>
          <p:spPr bwMode="invGray">
            <a:xfrm>
              <a:off x="5649" y="3255"/>
              <a:ext cx="0" cy="409"/>
            </a:xfrm>
            <a:prstGeom prst="line">
              <a:avLst/>
            </a:prstGeom>
            <a:grpFill/>
            <a:ln w="50800">
              <a:solidFill>
                <a:schemeClr val="bg2">
                  <a:lumMod val="75000"/>
                </a:schemeClr>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95" name="Rectangle 123"/>
            <p:cNvSpPr>
              <a:spLocks noChangeArrowheads="1"/>
            </p:cNvSpPr>
            <p:nvPr/>
          </p:nvSpPr>
          <p:spPr bwMode="auto">
            <a:xfrm>
              <a:off x="4800" y="3840"/>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96" name="AutoShape 111"/>
            <p:cNvSpPr>
              <a:spLocks noChangeArrowheads="1"/>
            </p:cNvSpPr>
            <p:nvPr/>
          </p:nvSpPr>
          <p:spPr bwMode="auto">
            <a:xfrm>
              <a:off x="4808" y="1154"/>
              <a:ext cx="484" cy="502"/>
            </a:xfrm>
            <a:prstGeom prst="diamond">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97" name="Rectangle 112"/>
            <p:cNvSpPr>
              <a:spLocks noChangeArrowheads="1"/>
            </p:cNvSpPr>
            <p:nvPr/>
          </p:nvSpPr>
          <p:spPr bwMode="auto">
            <a:xfrm>
              <a:off x="4800" y="576"/>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98" name="Rectangle 113"/>
            <p:cNvSpPr>
              <a:spLocks noChangeArrowheads="1"/>
            </p:cNvSpPr>
            <p:nvPr/>
          </p:nvSpPr>
          <p:spPr bwMode="auto">
            <a:xfrm>
              <a:off x="4800" y="1885"/>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99" name="AutoShape 120"/>
            <p:cNvSpPr>
              <a:spLocks noChangeArrowheads="1"/>
            </p:cNvSpPr>
            <p:nvPr/>
          </p:nvSpPr>
          <p:spPr bwMode="auto">
            <a:xfrm>
              <a:off x="4808" y="1160"/>
              <a:ext cx="484" cy="502"/>
            </a:xfrm>
            <a:prstGeom prst="diamond">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rgbClr val="000000"/>
                  </a:solidFill>
                </a:rPr>
                <a:t>?</a:t>
              </a:r>
            </a:p>
          </p:txBody>
        </p:sp>
        <p:sp>
          <p:nvSpPr>
            <p:cNvPr id="45100" name="Rectangle 121"/>
            <p:cNvSpPr>
              <a:spLocks noChangeArrowheads="1"/>
            </p:cNvSpPr>
            <p:nvPr/>
          </p:nvSpPr>
          <p:spPr bwMode="auto">
            <a:xfrm>
              <a:off x="4800" y="576"/>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01" name="Rectangle 124"/>
            <p:cNvSpPr>
              <a:spLocks noChangeArrowheads="1"/>
            </p:cNvSpPr>
            <p:nvPr/>
          </p:nvSpPr>
          <p:spPr bwMode="auto">
            <a:xfrm>
              <a:off x="5396" y="1776"/>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02" name="AutoShape 137"/>
            <p:cNvSpPr>
              <a:spLocks noChangeArrowheads="1"/>
            </p:cNvSpPr>
            <p:nvPr/>
          </p:nvSpPr>
          <p:spPr bwMode="auto">
            <a:xfrm>
              <a:off x="4800" y="2492"/>
              <a:ext cx="484" cy="502"/>
            </a:xfrm>
            <a:prstGeom prst="diamond">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rgbClr val="000000"/>
                  </a:solidFill>
                </a:rPr>
                <a:t>?</a:t>
              </a:r>
            </a:p>
          </p:txBody>
        </p:sp>
        <p:sp>
          <p:nvSpPr>
            <p:cNvPr id="45103" name="Rectangle 138"/>
            <p:cNvSpPr>
              <a:spLocks noChangeArrowheads="1"/>
            </p:cNvSpPr>
            <p:nvPr/>
          </p:nvSpPr>
          <p:spPr bwMode="auto">
            <a:xfrm>
              <a:off x="4800" y="3255"/>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104" name="Rectangle 139"/>
            <p:cNvSpPr>
              <a:spLocks noChangeArrowheads="1"/>
            </p:cNvSpPr>
            <p:nvPr/>
          </p:nvSpPr>
          <p:spPr bwMode="auto">
            <a:xfrm>
              <a:off x="5396" y="3120"/>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grpSp>
      <p:grpSp>
        <p:nvGrpSpPr>
          <p:cNvPr id="302240" name="Group 160"/>
          <p:cNvGrpSpPr>
            <a:grpSpLocks/>
          </p:cNvGrpSpPr>
          <p:nvPr/>
        </p:nvGrpSpPr>
        <p:grpSpPr bwMode="auto">
          <a:xfrm>
            <a:off x="6921006" y="793750"/>
            <a:ext cx="385395" cy="5607050"/>
            <a:chOff x="4723" y="500"/>
            <a:chExt cx="263" cy="3532"/>
          </a:xfrm>
        </p:grpSpPr>
        <p:sp>
          <p:nvSpPr>
            <p:cNvPr id="45080" name="Line 143"/>
            <p:cNvSpPr>
              <a:spLocks noChangeShapeType="1"/>
            </p:cNvSpPr>
            <p:nvPr/>
          </p:nvSpPr>
          <p:spPr bwMode="auto">
            <a:xfrm>
              <a:off x="4896" y="816"/>
              <a:ext cx="0" cy="3216"/>
            </a:xfrm>
            <a:prstGeom prst="line">
              <a:avLst/>
            </a:prstGeom>
            <a:noFill/>
            <a:ln w="50800">
              <a:solidFill>
                <a:srgbClr val="00CC66"/>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81" name="Text Box 147"/>
            <p:cNvSpPr txBox="1">
              <a:spLocks noChangeArrowheads="1"/>
            </p:cNvSpPr>
            <p:nvPr/>
          </p:nvSpPr>
          <p:spPr bwMode="auto">
            <a:xfrm>
              <a:off x="4723" y="500"/>
              <a:ext cx="26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a:solidFill>
                    <a:srgbClr val="00CC66"/>
                  </a:solidFill>
                </a:rPr>
                <a:t>1</a:t>
              </a:r>
            </a:p>
          </p:txBody>
        </p:sp>
      </p:grpSp>
      <p:grpSp>
        <p:nvGrpSpPr>
          <p:cNvPr id="302241" name="Group 161"/>
          <p:cNvGrpSpPr>
            <a:grpSpLocks/>
          </p:cNvGrpSpPr>
          <p:nvPr/>
        </p:nvGrpSpPr>
        <p:grpSpPr bwMode="auto">
          <a:xfrm>
            <a:off x="7118839" y="793750"/>
            <a:ext cx="1164981" cy="5607050"/>
            <a:chOff x="4858" y="500"/>
            <a:chExt cx="795" cy="3532"/>
          </a:xfrm>
        </p:grpSpPr>
        <p:sp>
          <p:nvSpPr>
            <p:cNvPr id="45078" name="Freeform 144"/>
            <p:cNvSpPr>
              <a:spLocks/>
            </p:cNvSpPr>
            <p:nvPr/>
          </p:nvSpPr>
          <p:spPr bwMode="auto">
            <a:xfrm>
              <a:off x="4968" y="816"/>
              <a:ext cx="685" cy="3216"/>
            </a:xfrm>
            <a:custGeom>
              <a:avLst/>
              <a:gdLst>
                <a:gd name="T0" fmla="*/ 10 w 685"/>
                <a:gd name="T1" fmla="*/ 0 h 3216"/>
                <a:gd name="T2" fmla="*/ 16 w 685"/>
                <a:gd name="T3" fmla="*/ 456 h 3216"/>
                <a:gd name="T4" fmla="*/ 108 w 685"/>
                <a:gd name="T5" fmla="*/ 580 h 3216"/>
                <a:gd name="T6" fmla="*/ 572 w 685"/>
                <a:gd name="T7" fmla="*/ 596 h 3216"/>
                <a:gd name="T8" fmla="*/ 668 w 685"/>
                <a:gd name="T9" fmla="*/ 708 h 3216"/>
                <a:gd name="T10" fmla="*/ 676 w 685"/>
                <a:gd name="T11" fmla="*/ 1044 h 3216"/>
                <a:gd name="T12" fmla="*/ 672 w 685"/>
                <a:gd name="T13" fmla="*/ 1380 h 3216"/>
                <a:gd name="T14" fmla="*/ 604 w 685"/>
                <a:gd name="T15" fmla="*/ 1484 h 3216"/>
                <a:gd name="T16" fmla="*/ 436 w 685"/>
                <a:gd name="T17" fmla="*/ 1488 h 3216"/>
                <a:gd name="T18" fmla="*/ 140 w 685"/>
                <a:gd name="T19" fmla="*/ 1496 h 3216"/>
                <a:gd name="T20" fmla="*/ 32 w 685"/>
                <a:gd name="T21" fmla="*/ 1580 h 3216"/>
                <a:gd name="T22" fmla="*/ 20 w 685"/>
                <a:gd name="T23" fmla="*/ 1748 h 3216"/>
                <a:gd name="T24" fmla="*/ 20 w 685"/>
                <a:gd name="T25" fmla="*/ 2100 h 3216"/>
                <a:gd name="T26" fmla="*/ 28 w 685"/>
                <a:gd name="T27" fmla="*/ 3216 h 32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85" h="3216">
                  <a:moveTo>
                    <a:pt x="10" y="0"/>
                  </a:moveTo>
                  <a:cubicBezTo>
                    <a:pt x="11" y="76"/>
                    <a:pt x="0" y="359"/>
                    <a:pt x="16" y="456"/>
                  </a:cubicBezTo>
                  <a:cubicBezTo>
                    <a:pt x="32" y="553"/>
                    <a:pt x="15" y="557"/>
                    <a:pt x="108" y="580"/>
                  </a:cubicBezTo>
                  <a:cubicBezTo>
                    <a:pt x="201" y="603"/>
                    <a:pt x="479" y="575"/>
                    <a:pt x="572" y="596"/>
                  </a:cubicBezTo>
                  <a:cubicBezTo>
                    <a:pt x="665" y="617"/>
                    <a:pt x="651" y="633"/>
                    <a:pt x="668" y="708"/>
                  </a:cubicBezTo>
                  <a:cubicBezTo>
                    <a:pt x="685" y="783"/>
                    <a:pt x="675" y="932"/>
                    <a:pt x="676" y="1044"/>
                  </a:cubicBezTo>
                  <a:cubicBezTo>
                    <a:pt x="677" y="1156"/>
                    <a:pt x="684" y="1307"/>
                    <a:pt x="672" y="1380"/>
                  </a:cubicBezTo>
                  <a:cubicBezTo>
                    <a:pt x="660" y="1453"/>
                    <a:pt x="643" y="1466"/>
                    <a:pt x="604" y="1484"/>
                  </a:cubicBezTo>
                  <a:cubicBezTo>
                    <a:pt x="565" y="1502"/>
                    <a:pt x="513" y="1486"/>
                    <a:pt x="436" y="1488"/>
                  </a:cubicBezTo>
                  <a:cubicBezTo>
                    <a:pt x="359" y="1490"/>
                    <a:pt x="207" y="1481"/>
                    <a:pt x="140" y="1496"/>
                  </a:cubicBezTo>
                  <a:cubicBezTo>
                    <a:pt x="73" y="1511"/>
                    <a:pt x="52" y="1538"/>
                    <a:pt x="32" y="1580"/>
                  </a:cubicBezTo>
                  <a:cubicBezTo>
                    <a:pt x="12" y="1622"/>
                    <a:pt x="22" y="1661"/>
                    <a:pt x="20" y="1748"/>
                  </a:cubicBezTo>
                  <a:cubicBezTo>
                    <a:pt x="18" y="1835"/>
                    <a:pt x="19" y="1855"/>
                    <a:pt x="20" y="2100"/>
                  </a:cubicBezTo>
                  <a:cubicBezTo>
                    <a:pt x="21" y="2345"/>
                    <a:pt x="26" y="2984"/>
                    <a:pt x="28" y="3216"/>
                  </a:cubicBezTo>
                </a:path>
              </a:pathLst>
            </a:custGeom>
            <a:noFill/>
            <a:ln w="50800" cap="flat" cmpd="sng">
              <a:solidFill>
                <a:srgbClr val="618FFD"/>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79" name="Text Box 148"/>
            <p:cNvSpPr txBox="1">
              <a:spLocks noChangeArrowheads="1"/>
            </p:cNvSpPr>
            <p:nvPr/>
          </p:nvSpPr>
          <p:spPr bwMode="auto">
            <a:xfrm>
              <a:off x="4858" y="500"/>
              <a:ext cx="26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a:solidFill>
                    <a:srgbClr val="618FFD"/>
                  </a:solidFill>
                </a:rPr>
                <a:t>2</a:t>
              </a:r>
            </a:p>
          </p:txBody>
        </p:sp>
      </p:grpSp>
      <p:grpSp>
        <p:nvGrpSpPr>
          <p:cNvPr id="302242" name="Group 162"/>
          <p:cNvGrpSpPr>
            <a:grpSpLocks/>
          </p:cNvGrpSpPr>
          <p:nvPr/>
        </p:nvGrpSpPr>
        <p:grpSpPr bwMode="auto">
          <a:xfrm>
            <a:off x="7391399" y="793750"/>
            <a:ext cx="996461" cy="5600700"/>
            <a:chOff x="4993" y="500"/>
            <a:chExt cx="680" cy="3528"/>
          </a:xfrm>
        </p:grpSpPr>
        <p:sp>
          <p:nvSpPr>
            <p:cNvPr id="45076" name="Freeform 145"/>
            <p:cNvSpPr>
              <a:spLocks/>
            </p:cNvSpPr>
            <p:nvPr/>
          </p:nvSpPr>
          <p:spPr bwMode="auto">
            <a:xfrm>
              <a:off x="5045" y="820"/>
              <a:ext cx="628" cy="3208"/>
            </a:xfrm>
            <a:custGeom>
              <a:avLst/>
              <a:gdLst>
                <a:gd name="T0" fmla="*/ 18 w 628"/>
                <a:gd name="T1" fmla="*/ 0 h 3208"/>
                <a:gd name="T2" fmla="*/ 26 w 628"/>
                <a:gd name="T3" fmla="*/ 436 h 3208"/>
                <a:gd name="T4" fmla="*/ 118 w 628"/>
                <a:gd name="T5" fmla="*/ 544 h 3208"/>
                <a:gd name="T6" fmla="*/ 514 w 628"/>
                <a:gd name="T7" fmla="*/ 552 h 3208"/>
                <a:gd name="T8" fmla="*/ 610 w 628"/>
                <a:gd name="T9" fmla="*/ 660 h 3208"/>
                <a:gd name="T10" fmla="*/ 622 w 628"/>
                <a:gd name="T11" fmla="*/ 1040 h 3208"/>
                <a:gd name="T12" fmla="*/ 618 w 628"/>
                <a:gd name="T13" fmla="*/ 1376 h 3208"/>
                <a:gd name="T14" fmla="*/ 570 w 628"/>
                <a:gd name="T15" fmla="*/ 1512 h 3208"/>
                <a:gd name="T16" fmla="*/ 378 w 628"/>
                <a:gd name="T17" fmla="*/ 1524 h 3208"/>
                <a:gd name="T18" fmla="*/ 150 w 628"/>
                <a:gd name="T19" fmla="*/ 1528 h 3208"/>
                <a:gd name="T20" fmla="*/ 27 w 628"/>
                <a:gd name="T21" fmla="*/ 1588 h 3208"/>
                <a:gd name="T22" fmla="*/ 2 w 628"/>
                <a:gd name="T23" fmla="*/ 1752 h 3208"/>
                <a:gd name="T24" fmla="*/ 38 w 628"/>
                <a:gd name="T25" fmla="*/ 1872 h 3208"/>
                <a:gd name="T26" fmla="*/ 142 w 628"/>
                <a:gd name="T27" fmla="*/ 1912 h 3208"/>
                <a:gd name="T28" fmla="*/ 274 w 628"/>
                <a:gd name="T29" fmla="*/ 1916 h 3208"/>
                <a:gd name="T30" fmla="*/ 418 w 628"/>
                <a:gd name="T31" fmla="*/ 1916 h 3208"/>
                <a:gd name="T32" fmla="*/ 534 w 628"/>
                <a:gd name="T33" fmla="*/ 1936 h 3208"/>
                <a:gd name="T34" fmla="*/ 554 w 628"/>
                <a:gd name="T35" fmla="*/ 2116 h 3208"/>
                <a:gd name="T36" fmla="*/ 550 w 628"/>
                <a:gd name="T37" fmla="*/ 2460 h 3208"/>
                <a:gd name="T38" fmla="*/ 550 w 628"/>
                <a:gd name="T39" fmla="*/ 2764 h 3208"/>
                <a:gd name="T40" fmla="*/ 442 w 628"/>
                <a:gd name="T41" fmla="*/ 2844 h 3208"/>
                <a:gd name="T42" fmla="*/ 194 w 628"/>
                <a:gd name="T43" fmla="*/ 2844 h 3208"/>
                <a:gd name="T44" fmla="*/ 74 w 628"/>
                <a:gd name="T45" fmla="*/ 2856 h 3208"/>
                <a:gd name="T46" fmla="*/ 18 w 628"/>
                <a:gd name="T47" fmla="*/ 2916 h 3208"/>
                <a:gd name="T48" fmla="*/ 6 w 628"/>
                <a:gd name="T49" fmla="*/ 3020 h 3208"/>
                <a:gd name="T50" fmla="*/ 10 w 628"/>
                <a:gd name="T51" fmla="*/ 3208 h 320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28" h="3208">
                  <a:moveTo>
                    <a:pt x="18" y="0"/>
                  </a:moveTo>
                  <a:cubicBezTo>
                    <a:pt x="19" y="73"/>
                    <a:pt x="9" y="345"/>
                    <a:pt x="26" y="436"/>
                  </a:cubicBezTo>
                  <a:cubicBezTo>
                    <a:pt x="43" y="527"/>
                    <a:pt x="37" y="525"/>
                    <a:pt x="118" y="544"/>
                  </a:cubicBezTo>
                  <a:cubicBezTo>
                    <a:pt x="199" y="563"/>
                    <a:pt x="432" y="533"/>
                    <a:pt x="514" y="552"/>
                  </a:cubicBezTo>
                  <a:cubicBezTo>
                    <a:pt x="596" y="571"/>
                    <a:pt x="592" y="579"/>
                    <a:pt x="610" y="660"/>
                  </a:cubicBezTo>
                  <a:cubicBezTo>
                    <a:pt x="628" y="741"/>
                    <a:pt x="621" y="921"/>
                    <a:pt x="622" y="1040"/>
                  </a:cubicBezTo>
                  <a:cubicBezTo>
                    <a:pt x="623" y="1159"/>
                    <a:pt x="627" y="1297"/>
                    <a:pt x="618" y="1376"/>
                  </a:cubicBezTo>
                  <a:cubicBezTo>
                    <a:pt x="609" y="1455"/>
                    <a:pt x="610" y="1487"/>
                    <a:pt x="570" y="1512"/>
                  </a:cubicBezTo>
                  <a:cubicBezTo>
                    <a:pt x="530" y="1537"/>
                    <a:pt x="448" y="1521"/>
                    <a:pt x="378" y="1524"/>
                  </a:cubicBezTo>
                  <a:cubicBezTo>
                    <a:pt x="308" y="1527"/>
                    <a:pt x="208" y="1517"/>
                    <a:pt x="150" y="1528"/>
                  </a:cubicBezTo>
                  <a:cubicBezTo>
                    <a:pt x="92" y="1539"/>
                    <a:pt x="52" y="1551"/>
                    <a:pt x="27" y="1588"/>
                  </a:cubicBezTo>
                  <a:cubicBezTo>
                    <a:pt x="2" y="1625"/>
                    <a:pt x="0" y="1705"/>
                    <a:pt x="2" y="1752"/>
                  </a:cubicBezTo>
                  <a:cubicBezTo>
                    <a:pt x="4" y="1799"/>
                    <a:pt x="15" y="1845"/>
                    <a:pt x="38" y="1872"/>
                  </a:cubicBezTo>
                  <a:cubicBezTo>
                    <a:pt x="61" y="1899"/>
                    <a:pt x="103" y="1905"/>
                    <a:pt x="142" y="1912"/>
                  </a:cubicBezTo>
                  <a:cubicBezTo>
                    <a:pt x="181" y="1919"/>
                    <a:pt x="228" y="1915"/>
                    <a:pt x="274" y="1916"/>
                  </a:cubicBezTo>
                  <a:cubicBezTo>
                    <a:pt x="320" y="1917"/>
                    <a:pt x="375" y="1913"/>
                    <a:pt x="418" y="1916"/>
                  </a:cubicBezTo>
                  <a:cubicBezTo>
                    <a:pt x="461" y="1919"/>
                    <a:pt x="511" y="1903"/>
                    <a:pt x="534" y="1936"/>
                  </a:cubicBezTo>
                  <a:cubicBezTo>
                    <a:pt x="557" y="1969"/>
                    <a:pt x="551" y="2029"/>
                    <a:pt x="554" y="2116"/>
                  </a:cubicBezTo>
                  <a:cubicBezTo>
                    <a:pt x="557" y="2203"/>
                    <a:pt x="551" y="2352"/>
                    <a:pt x="550" y="2460"/>
                  </a:cubicBezTo>
                  <a:cubicBezTo>
                    <a:pt x="549" y="2568"/>
                    <a:pt x="568" y="2700"/>
                    <a:pt x="550" y="2764"/>
                  </a:cubicBezTo>
                  <a:cubicBezTo>
                    <a:pt x="532" y="2828"/>
                    <a:pt x="501" y="2831"/>
                    <a:pt x="442" y="2844"/>
                  </a:cubicBezTo>
                  <a:cubicBezTo>
                    <a:pt x="383" y="2857"/>
                    <a:pt x="255" y="2842"/>
                    <a:pt x="194" y="2844"/>
                  </a:cubicBezTo>
                  <a:cubicBezTo>
                    <a:pt x="133" y="2846"/>
                    <a:pt x="103" y="2844"/>
                    <a:pt x="74" y="2856"/>
                  </a:cubicBezTo>
                  <a:cubicBezTo>
                    <a:pt x="45" y="2868"/>
                    <a:pt x="29" y="2889"/>
                    <a:pt x="18" y="2916"/>
                  </a:cubicBezTo>
                  <a:cubicBezTo>
                    <a:pt x="7" y="2943"/>
                    <a:pt x="7" y="2971"/>
                    <a:pt x="6" y="3020"/>
                  </a:cubicBezTo>
                  <a:cubicBezTo>
                    <a:pt x="5" y="3069"/>
                    <a:pt x="9" y="3169"/>
                    <a:pt x="10" y="3208"/>
                  </a:cubicBezTo>
                </a:path>
              </a:pathLst>
            </a:custGeom>
            <a:noFill/>
            <a:ln w="50800" cap="flat" cmpd="sng">
              <a:solidFill>
                <a:srgbClr val="FFFF00"/>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77" name="Text Box 149"/>
            <p:cNvSpPr txBox="1">
              <a:spLocks noChangeArrowheads="1"/>
            </p:cNvSpPr>
            <p:nvPr/>
          </p:nvSpPr>
          <p:spPr bwMode="auto">
            <a:xfrm>
              <a:off x="4993" y="500"/>
              <a:ext cx="263" cy="330"/>
            </a:xfrm>
            <a:prstGeom prst="rect">
              <a:avLst/>
            </a:prstGeom>
            <a:noFill/>
            <a:ln w="12700">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a:solidFill>
                    <a:srgbClr val="FFFF00"/>
                  </a:solidFill>
                </a:rPr>
                <a:t>3</a:t>
              </a:r>
            </a:p>
          </p:txBody>
        </p:sp>
      </p:grpSp>
      <p:grpSp>
        <p:nvGrpSpPr>
          <p:cNvPr id="302243" name="Group 163"/>
          <p:cNvGrpSpPr>
            <a:grpSpLocks/>
          </p:cNvGrpSpPr>
          <p:nvPr/>
        </p:nvGrpSpPr>
        <p:grpSpPr bwMode="auto">
          <a:xfrm>
            <a:off x="7514493" y="793750"/>
            <a:ext cx="912935" cy="5600700"/>
            <a:chOff x="5128" y="500"/>
            <a:chExt cx="623" cy="3528"/>
          </a:xfrm>
        </p:grpSpPr>
        <p:sp>
          <p:nvSpPr>
            <p:cNvPr id="45074" name="Freeform 146"/>
            <p:cNvSpPr>
              <a:spLocks/>
            </p:cNvSpPr>
            <p:nvPr/>
          </p:nvSpPr>
          <p:spPr bwMode="auto">
            <a:xfrm>
              <a:off x="5186" y="816"/>
              <a:ext cx="565" cy="3212"/>
            </a:xfrm>
            <a:custGeom>
              <a:avLst/>
              <a:gdLst>
                <a:gd name="T0" fmla="*/ 19 w 565"/>
                <a:gd name="T1" fmla="*/ 0 h 3212"/>
                <a:gd name="T2" fmla="*/ 22 w 565"/>
                <a:gd name="T3" fmla="*/ 932 h 3212"/>
                <a:gd name="T4" fmla="*/ 22 w 565"/>
                <a:gd name="T5" fmla="*/ 1644 h 3212"/>
                <a:gd name="T6" fmla="*/ 42 w 565"/>
                <a:gd name="T7" fmla="*/ 1824 h 3212"/>
                <a:gd name="T8" fmla="*/ 166 w 565"/>
                <a:gd name="T9" fmla="*/ 1864 h 3212"/>
                <a:gd name="T10" fmla="*/ 342 w 565"/>
                <a:gd name="T11" fmla="*/ 1868 h 3212"/>
                <a:gd name="T12" fmla="*/ 530 w 565"/>
                <a:gd name="T13" fmla="*/ 1900 h 3212"/>
                <a:gd name="T14" fmla="*/ 554 w 565"/>
                <a:gd name="T15" fmla="*/ 2128 h 3212"/>
                <a:gd name="T16" fmla="*/ 558 w 565"/>
                <a:gd name="T17" fmla="*/ 2472 h 3212"/>
                <a:gd name="T18" fmla="*/ 550 w 565"/>
                <a:gd name="T19" fmla="*/ 2760 h 3212"/>
                <a:gd name="T20" fmla="*/ 486 w 565"/>
                <a:gd name="T21" fmla="*/ 2880 h 3212"/>
                <a:gd name="T22" fmla="*/ 250 w 565"/>
                <a:gd name="T23" fmla="*/ 2896 h 3212"/>
                <a:gd name="T24" fmla="*/ 94 w 565"/>
                <a:gd name="T25" fmla="*/ 2904 h 3212"/>
                <a:gd name="T26" fmla="*/ 14 w 565"/>
                <a:gd name="T27" fmla="*/ 2968 h 3212"/>
                <a:gd name="T28" fmla="*/ 10 w 565"/>
                <a:gd name="T29" fmla="*/ 3212 h 321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65" h="3212">
                  <a:moveTo>
                    <a:pt x="19" y="0"/>
                  </a:moveTo>
                  <a:cubicBezTo>
                    <a:pt x="20" y="155"/>
                    <a:pt x="22" y="658"/>
                    <a:pt x="22" y="932"/>
                  </a:cubicBezTo>
                  <a:cubicBezTo>
                    <a:pt x="22" y="1206"/>
                    <a:pt x="19" y="1495"/>
                    <a:pt x="22" y="1644"/>
                  </a:cubicBezTo>
                  <a:cubicBezTo>
                    <a:pt x="25" y="1793"/>
                    <a:pt x="18" y="1787"/>
                    <a:pt x="42" y="1824"/>
                  </a:cubicBezTo>
                  <a:cubicBezTo>
                    <a:pt x="66" y="1861"/>
                    <a:pt x="116" y="1857"/>
                    <a:pt x="166" y="1864"/>
                  </a:cubicBezTo>
                  <a:cubicBezTo>
                    <a:pt x="216" y="1871"/>
                    <a:pt x="281" y="1862"/>
                    <a:pt x="342" y="1868"/>
                  </a:cubicBezTo>
                  <a:cubicBezTo>
                    <a:pt x="403" y="1874"/>
                    <a:pt x="495" y="1857"/>
                    <a:pt x="530" y="1900"/>
                  </a:cubicBezTo>
                  <a:cubicBezTo>
                    <a:pt x="565" y="1943"/>
                    <a:pt x="549" y="2033"/>
                    <a:pt x="554" y="2128"/>
                  </a:cubicBezTo>
                  <a:cubicBezTo>
                    <a:pt x="559" y="2223"/>
                    <a:pt x="559" y="2367"/>
                    <a:pt x="558" y="2472"/>
                  </a:cubicBezTo>
                  <a:cubicBezTo>
                    <a:pt x="557" y="2577"/>
                    <a:pt x="562" y="2692"/>
                    <a:pt x="550" y="2760"/>
                  </a:cubicBezTo>
                  <a:cubicBezTo>
                    <a:pt x="538" y="2828"/>
                    <a:pt x="536" y="2857"/>
                    <a:pt x="486" y="2880"/>
                  </a:cubicBezTo>
                  <a:cubicBezTo>
                    <a:pt x="436" y="2903"/>
                    <a:pt x="315" y="2892"/>
                    <a:pt x="250" y="2896"/>
                  </a:cubicBezTo>
                  <a:cubicBezTo>
                    <a:pt x="185" y="2900"/>
                    <a:pt x="133" y="2892"/>
                    <a:pt x="94" y="2904"/>
                  </a:cubicBezTo>
                  <a:cubicBezTo>
                    <a:pt x="55" y="2916"/>
                    <a:pt x="28" y="2917"/>
                    <a:pt x="14" y="2968"/>
                  </a:cubicBezTo>
                  <a:cubicBezTo>
                    <a:pt x="0" y="3019"/>
                    <a:pt x="11" y="3161"/>
                    <a:pt x="10" y="3212"/>
                  </a:cubicBezTo>
                </a:path>
              </a:pathLst>
            </a:custGeom>
            <a:noFill/>
            <a:ln w="50800" cap="flat" cmpd="sng">
              <a:solidFill>
                <a:srgbClr val="FF0000"/>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5075" name="Text Box 150"/>
            <p:cNvSpPr txBox="1">
              <a:spLocks noChangeArrowheads="1"/>
            </p:cNvSpPr>
            <p:nvPr/>
          </p:nvSpPr>
          <p:spPr bwMode="auto">
            <a:xfrm>
              <a:off x="5128" y="500"/>
              <a:ext cx="26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a:solidFill>
                    <a:srgbClr val="FF0000"/>
                  </a:solidFill>
                </a:rPr>
                <a:t>4</a:t>
              </a:r>
            </a:p>
          </p:txBody>
        </p:sp>
      </p:gr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32</a:t>
            </a:fld>
            <a:endParaRPr lang="en-US"/>
          </a:p>
        </p:txBody>
      </p:sp>
    </p:spTree>
    <p:extLst>
      <p:ext uri="{BB962C8B-B14F-4D97-AF65-F5344CB8AC3E}">
        <p14:creationId xmlns:p14="http://schemas.microsoft.com/office/powerpoint/2010/main" val="12698829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02262"/>
                                        </p:tgtEl>
                                        <p:attrNameLst>
                                          <p:attrName>style.visibility</p:attrName>
                                        </p:attrNameLst>
                                      </p:cBhvr>
                                      <p:to>
                                        <p:strVal val="visible"/>
                                      </p:to>
                                    </p:set>
                                    <p:animEffect transition="in" filter="wipe(up)">
                                      <p:cBhvr>
                                        <p:cTn id="7" dur="500"/>
                                        <p:tgtEl>
                                          <p:spTgt spid="3022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02233"/>
                                        </p:tgtEl>
                                        <p:attrNameLst>
                                          <p:attrName>style.visibility</p:attrName>
                                        </p:attrNameLst>
                                      </p:cBhvr>
                                      <p:to>
                                        <p:strVal val="visible"/>
                                      </p:to>
                                    </p:set>
                                    <p:animEffect transition="in" filter="wipe(up)">
                                      <p:cBhvr>
                                        <p:cTn id="12" dur="500"/>
                                        <p:tgtEl>
                                          <p:spTgt spid="3022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02234"/>
                                        </p:tgtEl>
                                        <p:attrNameLst>
                                          <p:attrName>style.visibility</p:attrName>
                                        </p:attrNameLst>
                                      </p:cBhvr>
                                      <p:to>
                                        <p:strVal val="visible"/>
                                      </p:to>
                                    </p:set>
                                    <p:animEffect transition="in" filter="wipe(up)">
                                      <p:cBhvr>
                                        <p:cTn id="17" dur="500"/>
                                        <p:tgtEl>
                                          <p:spTgt spid="30223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302258"/>
                                        </p:tgtEl>
                                        <p:attrNameLst>
                                          <p:attrName>style.visibility</p:attrName>
                                        </p:attrNameLst>
                                      </p:cBhvr>
                                      <p:to>
                                        <p:strVal val="visible"/>
                                      </p:to>
                                    </p:set>
                                    <p:animEffect transition="in" filter="wipe(up)">
                                      <p:cBhvr>
                                        <p:cTn id="22" dur="500"/>
                                        <p:tgtEl>
                                          <p:spTgt spid="30225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302235"/>
                                        </p:tgtEl>
                                        <p:attrNameLst>
                                          <p:attrName>style.visibility</p:attrName>
                                        </p:attrNameLst>
                                      </p:cBhvr>
                                      <p:to>
                                        <p:strVal val="visible"/>
                                      </p:to>
                                    </p:set>
                                    <p:animEffect transition="in" filter="wipe(up)">
                                      <p:cBhvr>
                                        <p:cTn id="27" dur="500"/>
                                        <p:tgtEl>
                                          <p:spTgt spid="30223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302236"/>
                                        </p:tgtEl>
                                        <p:attrNameLst>
                                          <p:attrName>style.visibility</p:attrName>
                                        </p:attrNameLst>
                                      </p:cBhvr>
                                      <p:to>
                                        <p:strVal val="visible"/>
                                      </p:to>
                                    </p:set>
                                    <p:animEffect transition="in" filter="wipe(up)">
                                      <p:cBhvr>
                                        <p:cTn id="32" dur="500"/>
                                        <p:tgtEl>
                                          <p:spTgt spid="30223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302264"/>
                                        </p:tgtEl>
                                        <p:attrNameLst>
                                          <p:attrName>style.visibility</p:attrName>
                                        </p:attrNameLst>
                                      </p:cBhvr>
                                      <p:to>
                                        <p:strVal val="visible"/>
                                      </p:to>
                                    </p:set>
                                    <p:animEffect transition="in" filter="wipe(up)">
                                      <p:cBhvr>
                                        <p:cTn id="37" dur="500"/>
                                        <p:tgtEl>
                                          <p:spTgt spid="30226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302237"/>
                                        </p:tgtEl>
                                        <p:attrNameLst>
                                          <p:attrName>style.visibility</p:attrName>
                                        </p:attrNameLst>
                                      </p:cBhvr>
                                      <p:to>
                                        <p:strVal val="visible"/>
                                      </p:to>
                                    </p:set>
                                    <p:animEffect transition="in" filter="wipe(up)">
                                      <p:cBhvr>
                                        <p:cTn id="42" dur="500"/>
                                        <p:tgtEl>
                                          <p:spTgt spid="30223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302238"/>
                                        </p:tgtEl>
                                        <p:attrNameLst>
                                          <p:attrName>style.visibility</p:attrName>
                                        </p:attrNameLst>
                                      </p:cBhvr>
                                      <p:to>
                                        <p:strVal val="visible"/>
                                      </p:to>
                                    </p:set>
                                    <p:animEffect transition="in" filter="wipe(up)">
                                      <p:cBhvr>
                                        <p:cTn id="47" dur="500"/>
                                        <p:tgtEl>
                                          <p:spTgt spid="30223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302239"/>
                                        </p:tgtEl>
                                        <p:attrNameLst>
                                          <p:attrName>style.visibility</p:attrName>
                                        </p:attrNameLst>
                                      </p:cBhvr>
                                      <p:to>
                                        <p:strVal val="visible"/>
                                      </p:to>
                                    </p:set>
                                    <p:animEffect transition="in" filter="wipe(up)">
                                      <p:cBhvr>
                                        <p:cTn id="52" dur="500"/>
                                        <p:tgtEl>
                                          <p:spTgt spid="30223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nodeType="clickEffect">
                                  <p:stCondLst>
                                    <p:cond delay="0"/>
                                  </p:stCondLst>
                                  <p:childTnLst>
                                    <p:set>
                                      <p:cBhvr>
                                        <p:cTn id="56" dur="1" fill="hold">
                                          <p:stCondLst>
                                            <p:cond delay="0"/>
                                          </p:stCondLst>
                                        </p:cTn>
                                        <p:tgtEl>
                                          <p:spTgt spid="302260"/>
                                        </p:tgtEl>
                                        <p:attrNameLst>
                                          <p:attrName>style.visibility</p:attrName>
                                        </p:attrNameLst>
                                      </p:cBhvr>
                                      <p:to>
                                        <p:strVal val="visible"/>
                                      </p:to>
                                    </p:set>
                                    <p:animEffect transition="in" filter="wipe(up)">
                                      <p:cBhvr>
                                        <p:cTn id="57" dur="500"/>
                                        <p:tgtEl>
                                          <p:spTgt spid="30226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302240"/>
                                        </p:tgtEl>
                                        <p:attrNameLst>
                                          <p:attrName>style.visibility</p:attrName>
                                        </p:attrNameLst>
                                      </p:cBhvr>
                                      <p:to>
                                        <p:strVal val="visible"/>
                                      </p:to>
                                    </p:set>
                                    <p:animEffect transition="in" filter="wipe(up)">
                                      <p:cBhvr>
                                        <p:cTn id="62" dur="500"/>
                                        <p:tgtEl>
                                          <p:spTgt spid="30224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nodeType="clickEffect">
                                  <p:stCondLst>
                                    <p:cond delay="0"/>
                                  </p:stCondLst>
                                  <p:childTnLst>
                                    <p:set>
                                      <p:cBhvr>
                                        <p:cTn id="66" dur="1" fill="hold">
                                          <p:stCondLst>
                                            <p:cond delay="0"/>
                                          </p:stCondLst>
                                        </p:cTn>
                                        <p:tgtEl>
                                          <p:spTgt spid="302241"/>
                                        </p:tgtEl>
                                        <p:attrNameLst>
                                          <p:attrName>style.visibility</p:attrName>
                                        </p:attrNameLst>
                                      </p:cBhvr>
                                      <p:to>
                                        <p:strVal val="visible"/>
                                      </p:to>
                                    </p:set>
                                    <p:animEffect transition="in" filter="wipe(up)">
                                      <p:cBhvr>
                                        <p:cTn id="67" dur="500"/>
                                        <p:tgtEl>
                                          <p:spTgt spid="30224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1" fill="hold" nodeType="clickEffect">
                                  <p:stCondLst>
                                    <p:cond delay="0"/>
                                  </p:stCondLst>
                                  <p:childTnLst>
                                    <p:set>
                                      <p:cBhvr>
                                        <p:cTn id="71" dur="1" fill="hold">
                                          <p:stCondLst>
                                            <p:cond delay="0"/>
                                          </p:stCondLst>
                                        </p:cTn>
                                        <p:tgtEl>
                                          <p:spTgt spid="302242"/>
                                        </p:tgtEl>
                                        <p:attrNameLst>
                                          <p:attrName>style.visibility</p:attrName>
                                        </p:attrNameLst>
                                      </p:cBhvr>
                                      <p:to>
                                        <p:strVal val="visible"/>
                                      </p:to>
                                    </p:set>
                                    <p:animEffect transition="in" filter="wipe(up)">
                                      <p:cBhvr>
                                        <p:cTn id="72" dur="500"/>
                                        <p:tgtEl>
                                          <p:spTgt spid="30224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1" fill="hold" nodeType="clickEffect">
                                  <p:stCondLst>
                                    <p:cond delay="0"/>
                                  </p:stCondLst>
                                  <p:childTnLst>
                                    <p:set>
                                      <p:cBhvr>
                                        <p:cTn id="76" dur="1" fill="hold">
                                          <p:stCondLst>
                                            <p:cond delay="0"/>
                                          </p:stCondLst>
                                        </p:cTn>
                                        <p:tgtEl>
                                          <p:spTgt spid="302243"/>
                                        </p:tgtEl>
                                        <p:attrNameLst>
                                          <p:attrName>style.visibility</p:attrName>
                                        </p:attrNameLst>
                                      </p:cBhvr>
                                      <p:to>
                                        <p:strVal val="visible"/>
                                      </p:to>
                                    </p:set>
                                    <p:animEffect transition="in" filter="wipe(up)">
                                      <p:cBhvr>
                                        <p:cTn id="77" dur="500"/>
                                        <p:tgtEl>
                                          <p:spTgt spid="302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t>Paths through code with loops</a:t>
            </a:r>
          </a:p>
        </p:txBody>
      </p:sp>
      <p:grpSp>
        <p:nvGrpSpPr>
          <p:cNvPr id="305274" name="Group 122"/>
          <p:cNvGrpSpPr>
            <a:grpSpLocks/>
          </p:cNvGrpSpPr>
          <p:nvPr/>
        </p:nvGrpSpPr>
        <p:grpSpPr bwMode="auto">
          <a:xfrm>
            <a:off x="1002400" y="2362202"/>
            <a:ext cx="2096965" cy="3673475"/>
            <a:chOff x="387" y="1077"/>
            <a:chExt cx="1431" cy="2314"/>
          </a:xfrm>
          <a:solidFill>
            <a:srgbClr val="92D050"/>
          </a:solidFill>
        </p:grpSpPr>
        <p:sp>
          <p:nvSpPr>
            <p:cNvPr id="46101" name="Line 4"/>
            <p:cNvSpPr>
              <a:spLocks noChangeShapeType="1"/>
            </p:cNvSpPr>
            <p:nvPr/>
          </p:nvSpPr>
          <p:spPr bwMode="invGray">
            <a:xfrm>
              <a:off x="1209" y="2037"/>
              <a:ext cx="0" cy="385"/>
            </a:xfrm>
            <a:prstGeom prst="line">
              <a:avLst/>
            </a:prstGeom>
            <a:grpFill/>
            <a:ln w="50800">
              <a:solidFill>
                <a:schemeClr val="bg2"/>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6102" name="Line 5"/>
            <p:cNvSpPr>
              <a:spLocks noChangeShapeType="1"/>
            </p:cNvSpPr>
            <p:nvPr/>
          </p:nvSpPr>
          <p:spPr bwMode="invGray">
            <a:xfrm flipH="1">
              <a:off x="1209" y="1641"/>
              <a:ext cx="609" cy="0"/>
            </a:xfrm>
            <a:prstGeom prst="line">
              <a:avLst/>
            </a:prstGeom>
            <a:grpFill/>
            <a:ln w="50800">
              <a:solidFill>
                <a:schemeClr val="bg2"/>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6103" name="Line 6"/>
            <p:cNvSpPr>
              <a:spLocks noChangeShapeType="1"/>
            </p:cNvSpPr>
            <p:nvPr/>
          </p:nvSpPr>
          <p:spPr bwMode="invGray">
            <a:xfrm>
              <a:off x="1209" y="1318"/>
              <a:ext cx="0" cy="554"/>
            </a:xfrm>
            <a:prstGeom prst="line">
              <a:avLst/>
            </a:prstGeom>
            <a:grpFill/>
            <a:ln w="50800">
              <a:solidFill>
                <a:schemeClr val="bg2"/>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6104" name="Line 7"/>
            <p:cNvSpPr>
              <a:spLocks noChangeShapeType="1"/>
            </p:cNvSpPr>
            <p:nvPr/>
          </p:nvSpPr>
          <p:spPr bwMode="invGray">
            <a:xfrm flipV="1">
              <a:off x="1818" y="1641"/>
              <a:ext cx="0" cy="1005"/>
            </a:xfrm>
            <a:prstGeom prst="line">
              <a:avLst/>
            </a:prstGeom>
            <a:grpFill/>
            <a:ln w="50800">
              <a:solidFill>
                <a:schemeClr val="bg2"/>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6105" name="Line 8"/>
            <p:cNvSpPr>
              <a:spLocks noChangeShapeType="1"/>
            </p:cNvSpPr>
            <p:nvPr/>
          </p:nvSpPr>
          <p:spPr bwMode="invGray">
            <a:xfrm flipH="1">
              <a:off x="639" y="2634"/>
              <a:ext cx="570" cy="0"/>
            </a:xfrm>
            <a:prstGeom prst="line">
              <a:avLst/>
            </a:prstGeom>
            <a:grpFill/>
            <a:ln w="50800">
              <a:solidFill>
                <a:schemeClr val="bg2"/>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6106" name="Line 104"/>
            <p:cNvSpPr>
              <a:spLocks noChangeShapeType="1"/>
            </p:cNvSpPr>
            <p:nvPr/>
          </p:nvSpPr>
          <p:spPr bwMode="invGray">
            <a:xfrm>
              <a:off x="1381" y="2640"/>
              <a:ext cx="437" cy="0"/>
            </a:xfrm>
            <a:prstGeom prst="line">
              <a:avLst/>
            </a:prstGeom>
            <a:grpFill/>
            <a:ln w="50800">
              <a:solidFill>
                <a:schemeClr val="bg2"/>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6107" name="Rectangle 10"/>
            <p:cNvSpPr>
              <a:spLocks noChangeArrowheads="1"/>
            </p:cNvSpPr>
            <p:nvPr/>
          </p:nvSpPr>
          <p:spPr bwMode="auto">
            <a:xfrm>
              <a:off x="960" y="1077"/>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6108" name="Rectangle 11"/>
            <p:cNvSpPr>
              <a:spLocks noChangeArrowheads="1"/>
            </p:cNvSpPr>
            <p:nvPr/>
          </p:nvSpPr>
          <p:spPr bwMode="auto">
            <a:xfrm>
              <a:off x="960" y="1877"/>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grpSp>
          <p:nvGrpSpPr>
            <p:cNvPr id="46109" name="Group 105"/>
            <p:cNvGrpSpPr>
              <a:grpSpLocks/>
            </p:cNvGrpSpPr>
            <p:nvPr/>
          </p:nvGrpSpPr>
          <p:grpSpPr bwMode="auto">
            <a:xfrm>
              <a:off x="387" y="2642"/>
              <a:ext cx="500" cy="749"/>
              <a:chOff x="1564" y="2611"/>
              <a:chExt cx="500" cy="749"/>
            </a:xfrm>
            <a:grpFill/>
          </p:grpSpPr>
          <p:sp>
            <p:nvSpPr>
              <p:cNvPr id="46111" name="Line 9"/>
              <p:cNvSpPr>
                <a:spLocks noChangeShapeType="1"/>
              </p:cNvSpPr>
              <p:nvPr/>
            </p:nvSpPr>
            <p:spPr bwMode="invGray">
              <a:xfrm>
                <a:off x="1813" y="2611"/>
                <a:ext cx="0" cy="424"/>
              </a:xfrm>
              <a:prstGeom prst="line">
                <a:avLst/>
              </a:prstGeom>
              <a:grpFill/>
              <a:ln w="50800">
                <a:solidFill>
                  <a:schemeClr val="bg2"/>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6112" name="Rectangle 12"/>
              <p:cNvSpPr>
                <a:spLocks noChangeArrowheads="1"/>
              </p:cNvSpPr>
              <p:nvPr/>
            </p:nvSpPr>
            <p:spPr bwMode="auto">
              <a:xfrm>
                <a:off x="1564" y="3029"/>
                <a:ext cx="500" cy="331"/>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grpSp>
        <p:sp>
          <p:nvSpPr>
            <p:cNvPr id="46110" name="AutoShape 13"/>
            <p:cNvSpPr>
              <a:spLocks noChangeArrowheads="1"/>
            </p:cNvSpPr>
            <p:nvPr/>
          </p:nvSpPr>
          <p:spPr bwMode="auto">
            <a:xfrm>
              <a:off x="968" y="2378"/>
              <a:ext cx="484" cy="502"/>
            </a:xfrm>
            <a:prstGeom prst="diamond">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solidFill>
                    <a:srgbClr val="000000"/>
                  </a:solidFill>
                </a:rPr>
                <a:t>?</a:t>
              </a:r>
            </a:p>
          </p:txBody>
        </p:sp>
      </p:grpSp>
      <p:grpSp>
        <p:nvGrpSpPr>
          <p:cNvPr id="305269" name="Group 117"/>
          <p:cNvGrpSpPr>
            <a:grpSpLocks/>
          </p:cNvGrpSpPr>
          <p:nvPr/>
        </p:nvGrpSpPr>
        <p:grpSpPr bwMode="auto">
          <a:xfrm>
            <a:off x="1159196" y="2362203"/>
            <a:ext cx="986204" cy="3436937"/>
            <a:chOff x="494" y="1077"/>
            <a:chExt cx="673" cy="2165"/>
          </a:xfrm>
        </p:grpSpPr>
        <p:sp>
          <p:nvSpPr>
            <p:cNvPr id="46099" name="Freeform 32"/>
            <p:cNvSpPr>
              <a:spLocks/>
            </p:cNvSpPr>
            <p:nvPr/>
          </p:nvSpPr>
          <p:spPr bwMode="auto">
            <a:xfrm>
              <a:off x="494" y="1409"/>
              <a:ext cx="595" cy="1833"/>
            </a:xfrm>
            <a:custGeom>
              <a:avLst/>
              <a:gdLst>
                <a:gd name="T0" fmla="*/ 587 w 595"/>
                <a:gd name="T1" fmla="*/ 0 h 1833"/>
                <a:gd name="T2" fmla="*/ 590 w 595"/>
                <a:gd name="T3" fmla="*/ 294 h 1833"/>
                <a:gd name="T4" fmla="*/ 590 w 595"/>
                <a:gd name="T5" fmla="*/ 931 h 1833"/>
                <a:gd name="T6" fmla="*/ 582 w 595"/>
                <a:gd name="T7" fmla="*/ 1083 h 1833"/>
                <a:gd name="T8" fmla="*/ 510 w 595"/>
                <a:gd name="T9" fmla="*/ 1163 h 1833"/>
                <a:gd name="T10" fmla="*/ 374 w 595"/>
                <a:gd name="T11" fmla="*/ 1179 h 1833"/>
                <a:gd name="T12" fmla="*/ 214 w 595"/>
                <a:gd name="T13" fmla="*/ 1179 h 1833"/>
                <a:gd name="T14" fmla="*/ 90 w 595"/>
                <a:gd name="T15" fmla="*/ 1183 h 1833"/>
                <a:gd name="T16" fmla="*/ 14 w 595"/>
                <a:gd name="T17" fmla="*/ 1235 h 1833"/>
                <a:gd name="T18" fmla="*/ 6 w 595"/>
                <a:gd name="T19" fmla="*/ 1379 h 1833"/>
                <a:gd name="T20" fmla="*/ 5 w 595"/>
                <a:gd name="T21" fmla="*/ 1560 h 1833"/>
                <a:gd name="T22" fmla="*/ 5 w 595"/>
                <a:gd name="T23" fmla="*/ 1833 h 183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95" h="1833">
                  <a:moveTo>
                    <a:pt x="587" y="0"/>
                  </a:moveTo>
                  <a:cubicBezTo>
                    <a:pt x="588" y="49"/>
                    <a:pt x="590" y="139"/>
                    <a:pt x="590" y="294"/>
                  </a:cubicBezTo>
                  <a:cubicBezTo>
                    <a:pt x="590" y="449"/>
                    <a:pt x="591" y="800"/>
                    <a:pt x="590" y="931"/>
                  </a:cubicBezTo>
                  <a:cubicBezTo>
                    <a:pt x="589" y="1062"/>
                    <a:pt x="595" y="1044"/>
                    <a:pt x="582" y="1083"/>
                  </a:cubicBezTo>
                  <a:cubicBezTo>
                    <a:pt x="569" y="1122"/>
                    <a:pt x="545" y="1147"/>
                    <a:pt x="510" y="1163"/>
                  </a:cubicBezTo>
                  <a:cubicBezTo>
                    <a:pt x="475" y="1179"/>
                    <a:pt x="423" y="1176"/>
                    <a:pt x="374" y="1179"/>
                  </a:cubicBezTo>
                  <a:cubicBezTo>
                    <a:pt x="325" y="1182"/>
                    <a:pt x="261" y="1178"/>
                    <a:pt x="214" y="1179"/>
                  </a:cubicBezTo>
                  <a:cubicBezTo>
                    <a:pt x="167" y="1180"/>
                    <a:pt x="123" y="1174"/>
                    <a:pt x="90" y="1183"/>
                  </a:cubicBezTo>
                  <a:cubicBezTo>
                    <a:pt x="57" y="1192"/>
                    <a:pt x="28" y="1202"/>
                    <a:pt x="14" y="1235"/>
                  </a:cubicBezTo>
                  <a:cubicBezTo>
                    <a:pt x="0" y="1268"/>
                    <a:pt x="7" y="1325"/>
                    <a:pt x="6" y="1379"/>
                  </a:cubicBezTo>
                  <a:cubicBezTo>
                    <a:pt x="5" y="1433"/>
                    <a:pt x="5" y="1484"/>
                    <a:pt x="5" y="1560"/>
                  </a:cubicBezTo>
                  <a:cubicBezTo>
                    <a:pt x="5" y="1636"/>
                    <a:pt x="5" y="1776"/>
                    <a:pt x="5" y="1833"/>
                  </a:cubicBezTo>
                </a:path>
              </a:pathLst>
            </a:custGeom>
            <a:noFill/>
            <a:ln w="50800" cap="flat" cmpd="sng">
              <a:solidFill>
                <a:srgbClr val="00CC6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6100" name="Text Box 33"/>
            <p:cNvSpPr txBox="1">
              <a:spLocks noChangeArrowheads="1"/>
            </p:cNvSpPr>
            <p:nvPr/>
          </p:nvSpPr>
          <p:spPr bwMode="auto">
            <a:xfrm>
              <a:off x="904" y="1077"/>
              <a:ext cx="26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a:solidFill>
                    <a:srgbClr val="00CC66"/>
                  </a:solidFill>
                </a:rPr>
                <a:t>1</a:t>
              </a:r>
            </a:p>
          </p:txBody>
        </p:sp>
      </p:grpSp>
      <p:grpSp>
        <p:nvGrpSpPr>
          <p:cNvPr id="305270" name="Group 118"/>
          <p:cNvGrpSpPr>
            <a:grpSpLocks/>
          </p:cNvGrpSpPr>
          <p:nvPr/>
        </p:nvGrpSpPr>
        <p:grpSpPr bwMode="auto">
          <a:xfrm>
            <a:off x="1257377" y="2362202"/>
            <a:ext cx="1792165" cy="3427412"/>
            <a:chOff x="561" y="1077"/>
            <a:chExt cx="1223" cy="2159"/>
          </a:xfrm>
        </p:grpSpPr>
        <p:sp>
          <p:nvSpPr>
            <p:cNvPr id="46097" name="Freeform 107"/>
            <p:cNvSpPr>
              <a:spLocks/>
            </p:cNvSpPr>
            <p:nvPr/>
          </p:nvSpPr>
          <p:spPr bwMode="auto">
            <a:xfrm>
              <a:off x="561" y="1428"/>
              <a:ext cx="1223" cy="1808"/>
            </a:xfrm>
            <a:custGeom>
              <a:avLst/>
              <a:gdLst>
                <a:gd name="T0" fmla="*/ 607 w 1223"/>
                <a:gd name="T1" fmla="*/ 0 h 1808"/>
                <a:gd name="T2" fmla="*/ 623 w 1223"/>
                <a:gd name="T3" fmla="*/ 988 h 1808"/>
                <a:gd name="T4" fmla="*/ 635 w 1223"/>
                <a:gd name="T5" fmla="*/ 1092 h 1808"/>
                <a:gd name="T6" fmla="*/ 703 w 1223"/>
                <a:gd name="T7" fmla="*/ 1172 h 1808"/>
                <a:gd name="T8" fmla="*/ 851 w 1223"/>
                <a:gd name="T9" fmla="*/ 1176 h 1808"/>
                <a:gd name="T10" fmla="*/ 1043 w 1223"/>
                <a:gd name="T11" fmla="*/ 1180 h 1808"/>
                <a:gd name="T12" fmla="*/ 1171 w 1223"/>
                <a:gd name="T13" fmla="*/ 1112 h 1808"/>
                <a:gd name="T14" fmla="*/ 1211 w 1223"/>
                <a:gd name="T15" fmla="*/ 976 h 1808"/>
                <a:gd name="T16" fmla="*/ 1219 w 1223"/>
                <a:gd name="T17" fmla="*/ 388 h 1808"/>
                <a:gd name="T18" fmla="*/ 1187 w 1223"/>
                <a:gd name="T19" fmla="*/ 272 h 1808"/>
                <a:gd name="T20" fmla="*/ 1079 w 1223"/>
                <a:gd name="T21" fmla="*/ 224 h 1808"/>
                <a:gd name="T22" fmla="*/ 831 w 1223"/>
                <a:gd name="T23" fmla="*/ 224 h 1808"/>
                <a:gd name="T24" fmla="*/ 715 w 1223"/>
                <a:gd name="T25" fmla="*/ 268 h 1808"/>
                <a:gd name="T26" fmla="*/ 691 w 1223"/>
                <a:gd name="T27" fmla="*/ 396 h 1808"/>
                <a:gd name="T28" fmla="*/ 695 w 1223"/>
                <a:gd name="T29" fmla="*/ 1032 h 1808"/>
                <a:gd name="T30" fmla="*/ 663 w 1223"/>
                <a:gd name="T31" fmla="*/ 1196 h 1808"/>
                <a:gd name="T32" fmla="*/ 551 w 1223"/>
                <a:gd name="T33" fmla="*/ 1244 h 1808"/>
                <a:gd name="T34" fmla="*/ 219 w 1223"/>
                <a:gd name="T35" fmla="*/ 1240 h 1808"/>
                <a:gd name="T36" fmla="*/ 35 w 1223"/>
                <a:gd name="T37" fmla="*/ 1260 h 1808"/>
                <a:gd name="T38" fmla="*/ 11 w 1223"/>
                <a:gd name="T39" fmla="*/ 1364 h 1808"/>
                <a:gd name="T40" fmla="*/ 11 w 1223"/>
                <a:gd name="T41" fmla="*/ 1808 h 180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223" h="1808">
                  <a:moveTo>
                    <a:pt x="607" y="0"/>
                  </a:moveTo>
                  <a:cubicBezTo>
                    <a:pt x="610" y="165"/>
                    <a:pt x="618" y="806"/>
                    <a:pt x="623" y="988"/>
                  </a:cubicBezTo>
                  <a:cubicBezTo>
                    <a:pt x="628" y="1170"/>
                    <a:pt x="622" y="1061"/>
                    <a:pt x="635" y="1092"/>
                  </a:cubicBezTo>
                  <a:cubicBezTo>
                    <a:pt x="648" y="1123"/>
                    <a:pt x="667" y="1158"/>
                    <a:pt x="703" y="1172"/>
                  </a:cubicBezTo>
                  <a:cubicBezTo>
                    <a:pt x="739" y="1186"/>
                    <a:pt x="794" y="1175"/>
                    <a:pt x="851" y="1176"/>
                  </a:cubicBezTo>
                  <a:cubicBezTo>
                    <a:pt x="908" y="1177"/>
                    <a:pt x="990" y="1191"/>
                    <a:pt x="1043" y="1180"/>
                  </a:cubicBezTo>
                  <a:cubicBezTo>
                    <a:pt x="1096" y="1169"/>
                    <a:pt x="1143" y="1146"/>
                    <a:pt x="1171" y="1112"/>
                  </a:cubicBezTo>
                  <a:cubicBezTo>
                    <a:pt x="1199" y="1078"/>
                    <a:pt x="1203" y="1097"/>
                    <a:pt x="1211" y="976"/>
                  </a:cubicBezTo>
                  <a:cubicBezTo>
                    <a:pt x="1219" y="855"/>
                    <a:pt x="1223" y="505"/>
                    <a:pt x="1219" y="388"/>
                  </a:cubicBezTo>
                  <a:cubicBezTo>
                    <a:pt x="1215" y="271"/>
                    <a:pt x="1210" y="299"/>
                    <a:pt x="1187" y="272"/>
                  </a:cubicBezTo>
                  <a:cubicBezTo>
                    <a:pt x="1164" y="245"/>
                    <a:pt x="1138" y="232"/>
                    <a:pt x="1079" y="224"/>
                  </a:cubicBezTo>
                  <a:cubicBezTo>
                    <a:pt x="1020" y="216"/>
                    <a:pt x="892" y="217"/>
                    <a:pt x="831" y="224"/>
                  </a:cubicBezTo>
                  <a:cubicBezTo>
                    <a:pt x="770" y="231"/>
                    <a:pt x="738" y="239"/>
                    <a:pt x="715" y="268"/>
                  </a:cubicBezTo>
                  <a:cubicBezTo>
                    <a:pt x="692" y="297"/>
                    <a:pt x="694" y="269"/>
                    <a:pt x="691" y="396"/>
                  </a:cubicBezTo>
                  <a:cubicBezTo>
                    <a:pt x="688" y="523"/>
                    <a:pt x="700" y="899"/>
                    <a:pt x="695" y="1032"/>
                  </a:cubicBezTo>
                  <a:cubicBezTo>
                    <a:pt x="690" y="1165"/>
                    <a:pt x="687" y="1161"/>
                    <a:pt x="663" y="1196"/>
                  </a:cubicBezTo>
                  <a:cubicBezTo>
                    <a:pt x="639" y="1231"/>
                    <a:pt x="625" y="1237"/>
                    <a:pt x="551" y="1244"/>
                  </a:cubicBezTo>
                  <a:cubicBezTo>
                    <a:pt x="477" y="1251"/>
                    <a:pt x="305" y="1237"/>
                    <a:pt x="219" y="1240"/>
                  </a:cubicBezTo>
                  <a:cubicBezTo>
                    <a:pt x="133" y="1243"/>
                    <a:pt x="70" y="1239"/>
                    <a:pt x="35" y="1260"/>
                  </a:cubicBezTo>
                  <a:cubicBezTo>
                    <a:pt x="0" y="1281"/>
                    <a:pt x="15" y="1273"/>
                    <a:pt x="11" y="1364"/>
                  </a:cubicBezTo>
                  <a:cubicBezTo>
                    <a:pt x="7" y="1455"/>
                    <a:pt x="11" y="1716"/>
                    <a:pt x="11" y="1808"/>
                  </a:cubicBezTo>
                </a:path>
              </a:pathLst>
            </a:custGeom>
            <a:noFill/>
            <a:ln w="50800" cap="flat" cmpd="sng">
              <a:solidFill>
                <a:srgbClr val="618FFD"/>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6098" name="Text Box 109"/>
            <p:cNvSpPr txBox="1">
              <a:spLocks noChangeArrowheads="1"/>
            </p:cNvSpPr>
            <p:nvPr/>
          </p:nvSpPr>
          <p:spPr bwMode="auto">
            <a:xfrm>
              <a:off x="1085" y="1077"/>
              <a:ext cx="26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a:solidFill>
                    <a:srgbClr val="618FFD"/>
                  </a:solidFill>
                </a:rPr>
                <a:t>2</a:t>
              </a:r>
            </a:p>
          </p:txBody>
        </p:sp>
      </p:grpSp>
      <p:grpSp>
        <p:nvGrpSpPr>
          <p:cNvPr id="305271" name="Group 119"/>
          <p:cNvGrpSpPr>
            <a:grpSpLocks/>
          </p:cNvGrpSpPr>
          <p:nvPr/>
        </p:nvGrpSpPr>
        <p:grpSpPr bwMode="auto">
          <a:xfrm>
            <a:off x="1446412" y="2362202"/>
            <a:ext cx="1534258" cy="3402012"/>
            <a:chOff x="690" y="1077"/>
            <a:chExt cx="1047" cy="2143"/>
          </a:xfrm>
        </p:grpSpPr>
        <p:sp>
          <p:nvSpPr>
            <p:cNvPr id="46095" name="Freeform 108"/>
            <p:cNvSpPr>
              <a:spLocks/>
            </p:cNvSpPr>
            <p:nvPr/>
          </p:nvSpPr>
          <p:spPr bwMode="auto">
            <a:xfrm>
              <a:off x="690" y="1428"/>
              <a:ext cx="1047" cy="1792"/>
            </a:xfrm>
            <a:custGeom>
              <a:avLst/>
              <a:gdLst>
                <a:gd name="T0" fmla="*/ 630 w 1047"/>
                <a:gd name="T1" fmla="*/ 0 h 1792"/>
                <a:gd name="T2" fmla="*/ 634 w 1047"/>
                <a:gd name="T3" fmla="*/ 980 h 1792"/>
                <a:gd name="T4" fmla="*/ 670 w 1047"/>
                <a:gd name="T5" fmla="*/ 1104 h 1792"/>
                <a:gd name="T6" fmla="*/ 742 w 1047"/>
                <a:gd name="T7" fmla="*/ 1124 h 1792"/>
                <a:gd name="T8" fmla="*/ 954 w 1047"/>
                <a:gd name="T9" fmla="*/ 1108 h 1792"/>
                <a:gd name="T10" fmla="*/ 1030 w 1047"/>
                <a:gd name="T11" fmla="*/ 1048 h 1792"/>
                <a:gd name="T12" fmla="*/ 1038 w 1047"/>
                <a:gd name="T13" fmla="*/ 912 h 1792"/>
                <a:gd name="T14" fmla="*/ 1046 w 1047"/>
                <a:gd name="T15" fmla="*/ 396 h 1792"/>
                <a:gd name="T16" fmla="*/ 1034 w 1047"/>
                <a:gd name="T17" fmla="*/ 316 h 1792"/>
                <a:gd name="T18" fmla="*/ 978 w 1047"/>
                <a:gd name="T19" fmla="*/ 272 h 1792"/>
                <a:gd name="T20" fmla="*/ 762 w 1047"/>
                <a:gd name="T21" fmla="*/ 272 h 1792"/>
                <a:gd name="T22" fmla="*/ 698 w 1047"/>
                <a:gd name="T23" fmla="*/ 308 h 1792"/>
                <a:gd name="T24" fmla="*/ 674 w 1047"/>
                <a:gd name="T25" fmla="*/ 392 h 1792"/>
                <a:gd name="T26" fmla="*/ 678 w 1047"/>
                <a:gd name="T27" fmla="*/ 976 h 1792"/>
                <a:gd name="T28" fmla="*/ 706 w 1047"/>
                <a:gd name="T29" fmla="*/ 1044 h 1792"/>
                <a:gd name="T30" fmla="*/ 778 w 1047"/>
                <a:gd name="T31" fmla="*/ 1072 h 1792"/>
                <a:gd name="T32" fmla="*/ 914 w 1047"/>
                <a:gd name="T33" fmla="*/ 1064 h 1792"/>
                <a:gd name="T34" fmla="*/ 974 w 1047"/>
                <a:gd name="T35" fmla="*/ 1032 h 1792"/>
                <a:gd name="T36" fmla="*/ 982 w 1047"/>
                <a:gd name="T37" fmla="*/ 892 h 1792"/>
                <a:gd name="T38" fmla="*/ 1002 w 1047"/>
                <a:gd name="T39" fmla="*/ 704 h 1792"/>
                <a:gd name="T40" fmla="*/ 998 w 1047"/>
                <a:gd name="T41" fmla="*/ 428 h 1792"/>
                <a:gd name="T42" fmla="*/ 998 w 1047"/>
                <a:gd name="T43" fmla="*/ 352 h 1792"/>
                <a:gd name="T44" fmla="*/ 942 w 1047"/>
                <a:gd name="T45" fmla="*/ 316 h 1792"/>
                <a:gd name="T46" fmla="*/ 802 w 1047"/>
                <a:gd name="T47" fmla="*/ 316 h 1792"/>
                <a:gd name="T48" fmla="*/ 734 w 1047"/>
                <a:gd name="T49" fmla="*/ 352 h 1792"/>
                <a:gd name="T50" fmla="*/ 730 w 1047"/>
                <a:gd name="T51" fmla="*/ 448 h 1792"/>
                <a:gd name="T52" fmla="*/ 734 w 1047"/>
                <a:gd name="T53" fmla="*/ 776 h 1792"/>
                <a:gd name="T54" fmla="*/ 730 w 1047"/>
                <a:gd name="T55" fmla="*/ 1132 h 1792"/>
                <a:gd name="T56" fmla="*/ 650 w 1047"/>
                <a:gd name="T57" fmla="*/ 1248 h 1792"/>
                <a:gd name="T58" fmla="*/ 518 w 1047"/>
                <a:gd name="T59" fmla="*/ 1304 h 1792"/>
                <a:gd name="T60" fmla="*/ 198 w 1047"/>
                <a:gd name="T61" fmla="*/ 1308 h 1792"/>
                <a:gd name="T62" fmla="*/ 50 w 1047"/>
                <a:gd name="T63" fmla="*/ 1332 h 1792"/>
                <a:gd name="T64" fmla="*/ 6 w 1047"/>
                <a:gd name="T65" fmla="*/ 1448 h 1792"/>
                <a:gd name="T66" fmla="*/ 14 w 1047"/>
                <a:gd name="T67" fmla="*/ 1792 h 179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047" h="1792">
                  <a:moveTo>
                    <a:pt x="630" y="0"/>
                  </a:moveTo>
                  <a:cubicBezTo>
                    <a:pt x="631" y="163"/>
                    <a:pt x="627" y="796"/>
                    <a:pt x="634" y="980"/>
                  </a:cubicBezTo>
                  <a:cubicBezTo>
                    <a:pt x="641" y="1164"/>
                    <a:pt x="652" y="1080"/>
                    <a:pt x="670" y="1104"/>
                  </a:cubicBezTo>
                  <a:cubicBezTo>
                    <a:pt x="688" y="1128"/>
                    <a:pt x="695" y="1123"/>
                    <a:pt x="742" y="1124"/>
                  </a:cubicBezTo>
                  <a:cubicBezTo>
                    <a:pt x="789" y="1125"/>
                    <a:pt x="906" y="1121"/>
                    <a:pt x="954" y="1108"/>
                  </a:cubicBezTo>
                  <a:cubicBezTo>
                    <a:pt x="1002" y="1095"/>
                    <a:pt x="1016" y="1081"/>
                    <a:pt x="1030" y="1048"/>
                  </a:cubicBezTo>
                  <a:cubicBezTo>
                    <a:pt x="1044" y="1015"/>
                    <a:pt x="1035" y="1021"/>
                    <a:pt x="1038" y="912"/>
                  </a:cubicBezTo>
                  <a:cubicBezTo>
                    <a:pt x="1041" y="803"/>
                    <a:pt x="1047" y="495"/>
                    <a:pt x="1046" y="396"/>
                  </a:cubicBezTo>
                  <a:cubicBezTo>
                    <a:pt x="1045" y="297"/>
                    <a:pt x="1045" y="337"/>
                    <a:pt x="1034" y="316"/>
                  </a:cubicBezTo>
                  <a:cubicBezTo>
                    <a:pt x="1023" y="295"/>
                    <a:pt x="1023" y="279"/>
                    <a:pt x="978" y="272"/>
                  </a:cubicBezTo>
                  <a:cubicBezTo>
                    <a:pt x="933" y="265"/>
                    <a:pt x="809" y="266"/>
                    <a:pt x="762" y="272"/>
                  </a:cubicBezTo>
                  <a:cubicBezTo>
                    <a:pt x="715" y="278"/>
                    <a:pt x="713" y="288"/>
                    <a:pt x="698" y="308"/>
                  </a:cubicBezTo>
                  <a:cubicBezTo>
                    <a:pt x="683" y="328"/>
                    <a:pt x="677" y="281"/>
                    <a:pt x="674" y="392"/>
                  </a:cubicBezTo>
                  <a:cubicBezTo>
                    <a:pt x="671" y="503"/>
                    <a:pt x="673" y="867"/>
                    <a:pt x="678" y="976"/>
                  </a:cubicBezTo>
                  <a:cubicBezTo>
                    <a:pt x="683" y="1085"/>
                    <a:pt x="689" y="1028"/>
                    <a:pt x="706" y="1044"/>
                  </a:cubicBezTo>
                  <a:cubicBezTo>
                    <a:pt x="723" y="1060"/>
                    <a:pt x="743" y="1069"/>
                    <a:pt x="778" y="1072"/>
                  </a:cubicBezTo>
                  <a:cubicBezTo>
                    <a:pt x="813" y="1075"/>
                    <a:pt x="881" y="1071"/>
                    <a:pt x="914" y="1064"/>
                  </a:cubicBezTo>
                  <a:cubicBezTo>
                    <a:pt x="947" y="1057"/>
                    <a:pt x="963" y="1061"/>
                    <a:pt x="974" y="1032"/>
                  </a:cubicBezTo>
                  <a:cubicBezTo>
                    <a:pt x="985" y="1003"/>
                    <a:pt x="977" y="947"/>
                    <a:pt x="982" y="892"/>
                  </a:cubicBezTo>
                  <a:cubicBezTo>
                    <a:pt x="987" y="837"/>
                    <a:pt x="999" y="781"/>
                    <a:pt x="1002" y="704"/>
                  </a:cubicBezTo>
                  <a:cubicBezTo>
                    <a:pt x="1005" y="627"/>
                    <a:pt x="999" y="487"/>
                    <a:pt x="998" y="428"/>
                  </a:cubicBezTo>
                  <a:cubicBezTo>
                    <a:pt x="997" y="369"/>
                    <a:pt x="1007" y="371"/>
                    <a:pt x="998" y="352"/>
                  </a:cubicBezTo>
                  <a:cubicBezTo>
                    <a:pt x="989" y="333"/>
                    <a:pt x="975" y="322"/>
                    <a:pt x="942" y="316"/>
                  </a:cubicBezTo>
                  <a:cubicBezTo>
                    <a:pt x="909" y="310"/>
                    <a:pt x="837" y="310"/>
                    <a:pt x="802" y="316"/>
                  </a:cubicBezTo>
                  <a:cubicBezTo>
                    <a:pt x="767" y="322"/>
                    <a:pt x="746" y="330"/>
                    <a:pt x="734" y="352"/>
                  </a:cubicBezTo>
                  <a:cubicBezTo>
                    <a:pt x="722" y="374"/>
                    <a:pt x="730" y="377"/>
                    <a:pt x="730" y="448"/>
                  </a:cubicBezTo>
                  <a:cubicBezTo>
                    <a:pt x="730" y="519"/>
                    <a:pt x="734" y="662"/>
                    <a:pt x="734" y="776"/>
                  </a:cubicBezTo>
                  <a:cubicBezTo>
                    <a:pt x="734" y="890"/>
                    <a:pt x="744" y="1053"/>
                    <a:pt x="730" y="1132"/>
                  </a:cubicBezTo>
                  <a:cubicBezTo>
                    <a:pt x="716" y="1211"/>
                    <a:pt x="685" y="1219"/>
                    <a:pt x="650" y="1248"/>
                  </a:cubicBezTo>
                  <a:cubicBezTo>
                    <a:pt x="615" y="1277"/>
                    <a:pt x="593" y="1294"/>
                    <a:pt x="518" y="1304"/>
                  </a:cubicBezTo>
                  <a:cubicBezTo>
                    <a:pt x="443" y="1314"/>
                    <a:pt x="276" y="1303"/>
                    <a:pt x="198" y="1308"/>
                  </a:cubicBezTo>
                  <a:cubicBezTo>
                    <a:pt x="120" y="1313"/>
                    <a:pt x="82" y="1309"/>
                    <a:pt x="50" y="1332"/>
                  </a:cubicBezTo>
                  <a:cubicBezTo>
                    <a:pt x="18" y="1355"/>
                    <a:pt x="12" y="1371"/>
                    <a:pt x="6" y="1448"/>
                  </a:cubicBezTo>
                  <a:cubicBezTo>
                    <a:pt x="0" y="1525"/>
                    <a:pt x="12" y="1720"/>
                    <a:pt x="14" y="1792"/>
                  </a:cubicBezTo>
                </a:path>
              </a:pathLst>
            </a:custGeom>
            <a:noFill/>
            <a:ln w="50800" cap="flat" cmpd="sng">
              <a:solidFill>
                <a:schemeClr val="folHlink"/>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6096" name="Text Box 110"/>
            <p:cNvSpPr txBox="1">
              <a:spLocks noChangeArrowheads="1"/>
            </p:cNvSpPr>
            <p:nvPr/>
          </p:nvSpPr>
          <p:spPr bwMode="auto">
            <a:xfrm>
              <a:off x="1251" y="1077"/>
              <a:ext cx="26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a:solidFill>
                    <a:srgbClr val="85DFD0"/>
                  </a:solidFill>
                </a:rPr>
                <a:t>3</a:t>
              </a:r>
            </a:p>
          </p:txBody>
        </p:sp>
      </p:grpSp>
      <p:grpSp>
        <p:nvGrpSpPr>
          <p:cNvPr id="305272" name="Group 120"/>
          <p:cNvGrpSpPr>
            <a:grpSpLocks/>
          </p:cNvGrpSpPr>
          <p:nvPr/>
        </p:nvGrpSpPr>
        <p:grpSpPr bwMode="auto">
          <a:xfrm>
            <a:off x="2636304" y="2362200"/>
            <a:ext cx="2398835" cy="523874"/>
            <a:chOff x="1502" y="1077"/>
            <a:chExt cx="1637" cy="330"/>
          </a:xfrm>
        </p:grpSpPr>
        <p:sp>
          <p:nvSpPr>
            <p:cNvPr id="46090" name="Text Box 111"/>
            <p:cNvSpPr txBox="1">
              <a:spLocks noChangeArrowheads="1"/>
            </p:cNvSpPr>
            <p:nvPr/>
          </p:nvSpPr>
          <p:spPr bwMode="auto">
            <a:xfrm>
              <a:off x="1502" y="1077"/>
              <a:ext cx="26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a:solidFill>
                    <a:srgbClr val="FF0000"/>
                  </a:solidFill>
                </a:rPr>
                <a:t>4</a:t>
              </a:r>
            </a:p>
          </p:txBody>
        </p:sp>
        <p:sp>
          <p:nvSpPr>
            <p:cNvPr id="46091" name="Text Box 112"/>
            <p:cNvSpPr txBox="1">
              <a:spLocks noChangeArrowheads="1"/>
            </p:cNvSpPr>
            <p:nvPr/>
          </p:nvSpPr>
          <p:spPr bwMode="auto">
            <a:xfrm>
              <a:off x="1753" y="1077"/>
              <a:ext cx="26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a:solidFill>
                    <a:srgbClr val="FF0000"/>
                  </a:solidFill>
                </a:rPr>
                <a:t>5</a:t>
              </a:r>
            </a:p>
          </p:txBody>
        </p:sp>
        <p:sp>
          <p:nvSpPr>
            <p:cNvPr id="46092" name="Text Box 113"/>
            <p:cNvSpPr txBox="1">
              <a:spLocks noChangeArrowheads="1"/>
            </p:cNvSpPr>
            <p:nvPr/>
          </p:nvSpPr>
          <p:spPr bwMode="auto">
            <a:xfrm>
              <a:off x="2004" y="1077"/>
              <a:ext cx="26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a:solidFill>
                    <a:srgbClr val="FF0000"/>
                  </a:solidFill>
                </a:rPr>
                <a:t>6</a:t>
              </a:r>
            </a:p>
          </p:txBody>
        </p:sp>
        <p:sp>
          <p:nvSpPr>
            <p:cNvPr id="46093" name="Text Box 114"/>
            <p:cNvSpPr txBox="1">
              <a:spLocks noChangeArrowheads="1"/>
            </p:cNvSpPr>
            <p:nvPr/>
          </p:nvSpPr>
          <p:spPr bwMode="auto">
            <a:xfrm>
              <a:off x="2256" y="1077"/>
              <a:ext cx="26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a:solidFill>
                    <a:srgbClr val="FF0000"/>
                  </a:solidFill>
                </a:rPr>
                <a:t>7</a:t>
              </a:r>
            </a:p>
          </p:txBody>
        </p:sp>
        <p:sp>
          <p:nvSpPr>
            <p:cNvPr id="46094" name="Text Box 115"/>
            <p:cNvSpPr txBox="1">
              <a:spLocks noChangeArrowheads="1"/>
            </p:cNvSpPr>
            <p:nvPr/>
          </p:nvSpPr>
          <p:spPr bwMode="auto">
            <a:xfrm>
              <a:off x="2496" y="1077"/>
              <a:ext cx="64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US">
                  <a:solidFill>
                    <a:srgbClr val="FF0000"/>
                  </a:solidFill>
                </a:rPr>
                <a:t>8 ….</a:t>
              </a:r>
            </a:p>
          </p:txBody>
        </p:sp>
      </p:grpSp>
      <p:sp>
        <p:nvSpPr>
          <p:cNvPr id="305268" name="Text Box 116"/>
          <p:cNvSpPr txBox="1">
            <a:spLocks noChangeArrowheads="1"/>
          </p:cNvSpPr>
          <p:nvPr/>
        </p:nvSpPr>
        <p:spPr bwMode="auto">
          <a:xfrm>
            <a:off x="4444589" y="3548065"/>
            <a:ext cx="3785011"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charset="0"/>
              </a:defRPr>
            </a:lvl1pPr>
            <a:lvl2pPr marL="742950" indent="-285750">
              <a:defRPr sz="2800">
                <a:solidFill>
                  <a:schemeClr val="tx1"/>
                </a:solidFill>
                <a:latin typeface="Arial" charset="0"/>
              </a:defRPr>
            </a:lvl2pPr>
            <a:lvl3pPr marL="1143000" indent="-228600">
              <a:defRPr sz="2800">
                <a:solidFill>
                  <a:schemeClr val="tx1"/>
                </a:solidFill>
                <a:latin typeface="Arial" charset="0"/>
              </a:defRPr>
            </a:lvl3pPr>
            <a:lvl4pPr marL="1600200" indent="-228600">
              <a:defRPr sz="2800">
                <a:solidFill>
                  <a:schemeClr val="tx1"/>
                </a:solidFill>
                <a:latin typeface="Arial" charset="0"/>
              </a:defRPr>
            </a:lvl4pPr>
            <a:lvl5pPr marL="2057400" indent="-228600">
              <a:defRPr sz="2800">
                <a:solidFill>
                  <a:schemeClr val="tx1"/>
                </a:solidFill>
                <a:latin typeface="Arial" charset="0"/>
              </a:defRPr>
            </a:lvl5pPr>
            <a:lvl6pPr marL="2514600" indent="-228600" eaLnBrk="0" fontAlgn="base" hangingPunct="0">
              <a:spcBef>
                <a:spcPct val="0"/>
              </a:spcBef>
              <a:spcAft>
                <a:spcPct val="0"/>
              </a:spcAft>
              <a:defRPr sz="2800">
                <a:solidFill>
                  <a:schemeClr val="tx1"/>
                </a:solidFill>
                <a:latin typeface="Arial" charset="0"/>
              </a:defRPr>
            </a:lvl6pPr>
            <a:lvl7pPr marL="2971800" indent="-228600" eaLnBrk="0" fontAlgn="base" hangingPunct="0">
              <a:spcBef>
                <a:spcPct val="0"/>
              </a:spcBef>
              <a:spcAft>
                <a:spcPct val="0"/>
              </a:spcAft>
              <a:defRPr sz="2800">
                <a:solidFill>
                  <a:schemeClr val="tx1"/>
                </a:solidFill>
                <a:latin typeface="Arial" charset="0"/>
              </a:defRPr>
            </a:lvl7pPr>
            <a:lvl8pPr marL="3429000" indent="-228600" eaLnBrk="0" fontAlgn="base" hangingPunct="0">
              <a:spcBef>
                <a:spcPct val="0"/>
              </a:spcBef>
              <a:spcAft>
                <a:spcPct val="0"/>
              </a:spcAft>
              <a:defRPr sz="2800">
                <a:solidFill>
                  <a:schemeClr val="tx1"/>
                </a:solidFill>
                <a:latin typeface="Arial" charset="0"/>
              </a:defRPr>
            </a:lvl8pPr>
            <a:lvl9pPr marL="3886200" indent="-228600" eaLnBrk="0" fontAlgn="base" hangingPunct="0">
              <a:spcBef>
                <a:spcPct val="0"/>
              </a:spcBef>
              <a:spcAft>
                <a:spcPct val="0"/>
              </a:spcAft>
              <a:defRPr sz="2800">
                <a:solidFill>
                  <a:schemeClr val="tx1"/>
                </a:solidFill>
                <a:latin typeface="Arial" charset="0"/>
              </a:defRPr>
            </a:lvl9pPr>
          </a:lstStyle>
          <a:p>
            <a:r>
              <a:rPr lang="en-GB">
                <a:solidFill>
                  <a:prstClr val="black"/>
                </a:solidFill>
              </a:rPr>
              <a:t>for as many times as it</a:t>
            </a:r>
          </a:p>
          <a:p>
            <a:r>
              <a:rPr lang="en-GB">
                <a:solidFill>
                  <a:prstClr val="black"/>
                </a:solidFill>
              </a:rPr>
              <a:t>is possible to go round</a:t>
            </a:r>
          </a:p>
          <a:p>
            <a:r>
              <a:rPr lang="en-GB">
                <a:solidFill>
                  <a:prstClr val="black"/>
                </a:solidFill>
              </a:rPr>
              <a:t>the loop (this can be</a:t>
            </a:r>
          </a:p>
          <a:p>
            <a:r>
              <a:rPr lang="en-GB">
                <a:solidFill>
                  <a:prstClr val="black"/>
                </a:solidFill>
              </a:rPr>
              <a:t>unlimited, i.e. infinite)</a:t>
            </a:r>
          </a:p>
        </p:txBody>
      </p:sp>
      <p:sp>
        <p:nvSpPr>
          <p:cNvPr id="305273" name="Line 121"/>
          <p:cNvSpPr>
            <a:spLocks noChangeShapeType="1"/>
          </p:cNvSpPr>
          <p:nvPr/>
        </p:nvSpPr>
        <p:spPr bwMode="auto">
          <a:xfrm flipH="1" flipV="1">
            <a:off x="4655604" y="2862264"/>
            <a:ext cx="281354" cy="685800"/>
          </a:xfrm>
          <a:prstGeom prst="line">
            <a:avLst/>
          </a:prstGeom>
          <a:noFill/>
          <a:ln w="508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black"/>
              </a:solidFill>
            </a:endParaRP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33</a:t>
            </a:fld>
            <a:endParaRPr lang="en-US"/>
          </a:p>
        </p:txBody>
      </p:sp>
    </p:spTree>
    <p:extLst>
      <p:ext uri="{BB962C8B-B14F-4D97-AF65-F5344CB8AC3E}">
        <p14:creationId xmlns:p14="http://schemas.microsoft.com/office/powerpoint/2010/main" val="19147643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05274"/>
                                        </p:tgtEl>
                                        <p:attrNameLst>
                                          <p:attrName>style.visibility</p:attrName>
                                        </p:attrNameLst>
                                      </p:cBhvr>
                                      <p:to>
                                        <p:strVal val="visible"/>
                                      </p:to>
                                    </p:set>
                                    <p:animEffect transition="in" filter="wipe(up)">
                                      <p:cBhvr>
                                        <p:cTn id="7" dur="500"/>
                                        <p:tgtEl>
                                          <p:spTgt spid="3052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05269"/>
                                        </p:tgtEl>
                                        <p:attrNameLst>
                                          <p:attrName>style.visibility</p:attrName>
                                        </p:attrNameLst>
                                      </p:cBhvr>
                                      <p:to>
                                        <p:strVal val="visible"/>
                                      </p:to>
                                    </p:set>
                                    <p:animEffect transition="in" filter="wipe(up)">
                                      <p:cBhvr>
                                        <p:cTn id="12" dur="500"/>
                                        <p:tgtEl>
                                          <p:spTgt spid="3052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05270"/>
                                        </p:tgtEl>
                                        <p:attrNameLst>
                                          <p:attrName>style.visibility</p:attrName>
                                        </p:attrNameLst>
                                      </p:cBhvr>
                                      <p:to>
                                        <p:strVal val="visible"/>
                                      </p:to>
                                    </p:set>
                                    <p:animEffect transition="in" filter="wipe(up)">
                                      <p:cBhvr>
                                        <p:cTn id="17" dur="500"/>
                                        <p:tgtEl>
                                          <p:spTgt spid="30527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305271"/>
                                        </p:tgtEl>
                                        <p:attrNameLst>
                                          <p:attrName>style.visibility</p:attrName>
                                        </p:attrNameLst>
                                      </p:cBhvr>
                                      <p:to>
                                        <p:strVal val="visible"/>
                                      </p:to>
                                    </p:set>
                                    <p:animEffect transition="in" filter="wipe(up)">
                                      <p:cBhvr>
                                        <p:cTn id="22" dur="500"/>
                                        <p:tgtEl>
                                          <p:spTgt spid="30527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05272"/>
                                        </p:tgtEl>
                                        <p:attrNameLst>
                                          <p:attrName>style.visibility</p:attrName>
                                        </p:attrNameLst>
                                      </p:cBhvr>
                                      <p:to>
                                        <p:strVal val="visible"/>
                                      </p:to>
                                    </p:set>
                                    <p:animEffect transition="in" filter="wipe(left)">
                                      <p:cBhvr>
                                        <p:cTn id="27" dur="500"/>
                                        <p:tgtEl>
                                          <p:spTgt spid="305272"/>
                                        </p:tgtEl>
                                      </p:cBhvr>
                                    </p:animEffect>
                                  </p:childTnLst>
                                </p:cTn>
                              </p:par>
                            </p:childTnLst>
                          </p:cTn>
                        </p:par>
                        <p:par>
                          <p:cTn id="28" fill="hold" nodeType="afterGroup">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305268"/>
                                        </p:tgtEl>
                                        <p:attrNameLst>
                                          <p:attrName>style.visibility</p:attrName>
                                        </p:attrNameLst>
                                      </p:cBhvr>
                                      <p:to>
                                        <p:strVal val="visible"/>
                                      </p:to>
                                    </p:set>
                                    <p:animEffect transition="in" filter="wipe(left)">
                                      <p:cBhvr>
                                        <p:cTn id="31" dur="500"/>
                                        <p:tgtEl>
                                          <p:spTgt spid="305268"/>
                                        </p:tgtEl>
                                      </p:cBhvr>
                                    </p:animEffect>
                                  </p:childTnLst>
                                </p:cTn>
                              </p:par>
                            </p:childTnLst>
                          </p:cTn>
                        </p:par>
                        <p:par>
                          <p:cTn id="32" fill="hold" nodeType="afterGroup">
                            <p:stCondLst>
                              <p:cond delay="1000"/>
                            </p:stCondLst>
                            <p:childTnLst>
                              <p:par>
                                <p:cTn id="33" presetID="22" presetClass="entr" presetSubtype="2" fill="hold" grpId="0" nodeType="afterEffect">
                                  <p:stCondLst>
                                    <p:cond delay="0"/>
                                  </p:stCondLst>
                                  <p:childTnLst>
                                    <p:set>
                                      <p:cBhvr>
                                        <p:cTn id="34" dur="1" fill="hold">
                                          <p:stCondLst>
                                            <p:cond delay="0"/>
                                          </p:stCondLst>
                                        </p:cTn>
                                        <p:tgtEl>
                                          <p:spTgt spid="305273"/>
                                        </p:tgtEl>
                                        <p:attrNameLst>
                                          <p:attrName>style.visibility</p:attrName>
                                        </p:attrNameLst>
                                      </p:cBhvr>
                                      <p:to>
                                        <p:strVal val="visible"/>
                                      </p:to>
                                    </p:set>
                                    <p:animEffect transition="in" filter="wipe(right)">
                                      <p:cBhvr>
                                        <p:cTn id="35" dur="500"/>
                                        <p:tgtEl>
                                          <p:spTgt spid="305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268" grpId="0" autoUpdateAnimBg="0"/>
      <p:bldP spid="30527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White box techniques - Advantages</a:t>
            </a:r>
          </a:p>
        </p:txBody>
      </p:sp>
      <p:sp>
        <p:nvSpPr>
          <p:cNvPr id="3" name="Content Placeholder 2"/>
          <p:cNvSpPr>
            <a:spLocks noGrp="1"/>
          </p:cNvSpPr>
          <p:nvPr>
            <p:ph idx="1"/>
          </p:nvPr>
        </p:nvSpPr>
        <p:spPr/>
        <p:txBody>
          <a:bodyPr/>
          <a:lstStyle/>
          <a:p>
            <a:r>
              <a:rPr lang="en-US"/>
              <a:t>It permits direct checking of processing paths and algorithms</a:t>
            </a:r>
          </a:p>
          <a:p>
            <a:r>
              <a:rPr lang="en-US"/>
              <a:t>It provides line coverage follow-up that delivers lists of lines of code that have not yet been executed</a:t>
            </a:r>
          </a:p>
          <a:p>
            <a:r>
              <a:rPr lang="en-US"/>
              <a:t>It is capable of testing the quality of coding work</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34</a:t>
            </a:fld>
            <a:endParaRPr lang="en-US"/>
          </a:p>
        </p:txBody>
      </p:sp>
    </p:spTree>
    <p:extLst>
      <p:ext uri="{BB962C8B-B14F-4D97-AF65-F5344CB8AC3E}">
        <p14:creationId xmlns:p14="http://schemas.microsoft.com/office/powerpoint/2010/main" val="11383328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White box techniques - Disadvantages</a:t>
            </a:r>
          </a:p>
        </p:txBody>
      </p:sp>
      <p:sp>
        <p:nvSpPr>
          <p:cNvPr id="3" name="Content Placeholder 2"/>
          <p:cNvSpPr>
            <a:spLocks noGrp="1"/>
          </p:cNvSpPr>
          <p:nvPr>
            <p:ph idx="1"/>
          </p:nvPr>
        </p:nvSpPr>
        <p:spPr/>
        <p:txBody>
          <a:bodyPr/>
          <a:lstStyle/>
          <a:p>
            <a:r>
              <a:rPr lang="en-US"/>
              <a:t>It requires vast resources, much above those required for black box testing</a:t>
            </a:r>
          </a:p>
          <a:p>
            <a:r>
              <a:rPr lang="en-US"/>
              <a:t>It cannot test the performance of software  in terms of availability, reliability, stress, etc.</a:t>
            </a:r>
          </a:p>
          <a:p>
            <a:r>
              <a:rPr lang="en-US"/>
              <a:t>The tester must have sufficient programming skill to understand the code and its control flow</a:t>
            </a:r>
          </a:p>
          <a:p>
            <a:r>
              <a:rPr lang="en-US"/>
              <a:t>Control flow testing can be very time consuming because of all the modules and basis paths that comprise a system</a:t>
            </a:r>
          </a:p>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35</a:t>
            </a:fld>
            <a:endParaRPr lang="en-US"/>
          </a:p>
        </p:txBody>
      </p:sp>
    </p:spTree>
    <p:extLst>
      <p:ext uri="{BB962C8B-B14F-4D97-AF65-F5344CB8AC3E}">
        <p14:creationId xmlns:p14="http://schemas.microsoft.com/office/powerpoint/2010/main" val="31277407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ChangeArrowheads="1"/>
          </p:cNvSpPr>
          <p:nvPr/>
        </p:nvSpPr>
        <p:spPr bwMode="auto">
          <a:xfrm>
            <a:off x="838200" y="5029200"/>
            <a:ext cx="717452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306"/>
            <a:endParaRPr lang="en-US">
              <a:solidFill>
                <a:prstClr val="white"/>
              </a:solidFill>
            </a:endParaRPr>
          </a:p>
        </p:txBody>
      </p:sp>
      <p:sp>
        <p:nvSpPr>
          <p:cNvPr id="340995" name="Rectangle 3"/>
          <p:cNvSpPr>
            <a:spLocks noGrp="1" noChangeArrowheads="1"/>
          </p:cNvSpPr>
          <p:nvPr>
            <p:ph type="title"/>
          </p:nvPr>
        </p:nvSpPr>
        <p:spPr>
          <a:noFill/>
          <a:ln/>
        </p:spPr>
        <p:txBody>
          <a:bodyPr/>
          <a:lstStyle/>
          <a:p>
            <a:pPr algn="ctr">
              <a:lnSpc>
                <a:spcPct val="88000"/>
              </a:lnSpc>
            </a:pPr>
            <a:r>
              <a:rPr lang="en-GB" sz="3600">
                <a:latin typeface="Arial" charset="0"/>
              </a:rPr>
              <a:t>Contents</a:t>
            </a:r>
          </a:p>
        </p:txBody>
      </p:sp>
      <p:sp>
        <p:nvSpPr>
          <p:cNvPr id="340996" name="Rectangle 4"/>
          <p:cNvSpPr>
            <a:spLocks noGrp="1" noChangeArrowheads="1"/>
          </p:cNvSpPr>
          <p:nvPr>
            <p:ph type="body" idx="1"/>
          </p:nvPr>
        </p:nvSpPr>
        <p:spPr>
          <a:xfrm>
            <a:off x="530352" y="2935958"/>
            <a:ext cx="7772400" cy="3067506"/>
          </a:xfrm>
          <a:noFill/>
          <a:ln/>
        </p:spPr>
        <p:txBody>
          <a:bodyPr lIns="63500" tIns="25400" rIns="63500" bIns="25400">
            <a:spAutoFit/>
          </a:bodyPr>
          <a:lstStyle/>
          <a:p>
            <a:pPr algn="ctr"/>
            <a:r>
              <a:rPr lang="en-US" sz="2800" b="1">
                <a:effectLst>
                  <a:outerShdw blurRad="38100" dist="38100" dir="2700000" algn="tl">
                    <a:srgbClr val="000000">
                      <a:alpha val="43137"/>
                    </a:srgbClr>
                  </a:outerShdw>
                </a:effectLst>
              </a:rPr>
              <a:t>Dynamic techniques</a:t>
            </a:r>
          </a:p>
          <a:p>
            <a:pPr algn="ctr"/>
            <a:r>
              <a:rPr lang="en-US" sz="2800" b="1">
                <a:effectLst>
                  <a:outerShdw blurRad="38100" dist="38100" dir="2700000" algn="tl">
                    <a:srgbClr val="000000">
                      <a:alpha val="43137"/>
                    </a:srgbClr>
                  </a:outerShdw>
                </a:effectLst>
              </a:rPr>
              <a:t>Test condition – Test case – Test procedure</a:t>
            </a:r>
          </a:p>
          <a:p>
            <a:pPr algn="ctr"/>
            <a:r>
              <a:rPr lang="en-US" sz="2800" b="1">
                <a:effectLst>
                  <a:outerShdw blurRad="38100" dist="38100" dir="2700000" algn="tl">
                    <a:srgbClr val="000000">
                      <a:alpha val="43137"/>
                    </a:srgbClr>
                  </a:outerShdw>
                </a:effectLst>
              </a:rPr>
              <a:t>Black-box techniques</a:t>
            </a:r>
          </a:p>
          <a:p>
            <a:pPr algn="ctr"/>
            <a:r>
              <a:rPr lang="en-US" sz="2800" b="1">
                <a:effectLst>
                  <a:outerShdw blurRad="38100" dist="38100" dir="2700000" algn="tl">
                    <a:srgbClr val="000000">
                      <a:alpha val="43137"/>
                    </a:srgbClr>
                  </a:outerShdw>
                </a:effectLst>
              </a:rPr>
              <a:t>White-box techniques</a:t>
            </a:r>
          </a:p>
          <a:p>
            <a:pPr algn="ctr"/>
            <a:r>
              <a:rPr lang="en-US" sz="2800" b="1">
                <a:effectLst>
                  <a:outerShdw blurRad="38100" dist="38100" dir="2700000" algn="tl">
                    <a:srgbClr val="000000">
                      <a:alpha val="43137"/>
                    </a:srgbClr>
                  </a:outerShdw>
                </a:effectLst>
              </a:rPr>
              <a:t>Experience-based techniques</a:t>
            </a:r>
          </a:p>
          <a:p>
            <a:pPr algn="ctr"/>
            <a:r>
              <a:rPr lang="en-US" sz="2800" b="1">
                <a:effectLst>
                  <a:outerShdw blurRad="38100" dist="38100" dir="2700000" algn="tl">
                    <a:srgbClr val="000000">
                      <a:alpha val="43137"/>
                    </a:srgbClr>
                  </a:outerShdw>
                </a:effectLst>
              </a:rPr>
              <a:t>Choosing test techniques</a:t>
            </a:r>
          </a:p>
        </p:txBody>
      </p:sp>
      <p:grpSp>
        <p:nvGrpSpPr>
          <p:cNvPr id="21" name="Group 20"/>
          <p:cNvGrpSpPr/>
          <p:nvPr/>
        </p:nvGrpSpPr>
        <p:grpSpPr>
          <a:xfrm>
            <a:off x="6096000" y="152400"/>
            <a:ext cx="2743200" cy="914400"/>
            <a:chOff x="6096000" y="152400"/>
            <a:chExt cx="2743200" cy="914400"/>
          </a:xfrm>
        </p:grpSpPr>
        <p:sp>
          <p:nvSpPr>
            <p:cNvPr id="22" name="Rectangle 14"/>
            <p:cNvSpPr>
              <a:spLocks noChangeArrowheads="1"/>
            </p:cNvSpPr>
            <p:nvPr/>
          </p:nvSpPr>
          <p:spPr bwMode="auto">
            <a:xfrm>
              <a:off x="609600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1</a:t>
              </a:r>
            </a:p>
          </p:txBody>
        </p:sp>
        <p:sp>
          <p:nvSpPr>
            <p:cNvPr id="23"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2</a:t>
              </a:r>
            </a:p>
          </p:txBody>
        </p:sp>
        <p:sp>
          <p:nvSpPr>
            <p:cNvPr id="24" name="Rectangle 16"/>
            <p:cNvSpPr>
              <a:spLocks noChangeArrowheads="1"/>
            </p:cNvSpPr>
            <p:nvPr/>
          </p:nvSpPr>
          <p:spPr bwMode="auto">
            <a:xfrm>
              <a:off x="719328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3</a:t>
              </a:r>
            </a:p>
          </p:txBody>
        </p:sp>
        <p:sp>
          <p:nvSpPr>
            <p:cNvPr id="25"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26" name="Rectangle 18"/>
            <p:cNvSpPr>
              <a:spLocks noChangeArrowheads="1"/>
            </p:cNvSpPr>
            <p:nvPr/>
          </p:nvSpPr>
          <p:spPr bwMode="auto">
            <a:xfrm>
              <a:off x="6644640" y="6096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b="1">
                  <a:solidFill>
                    <a:srgbClr val="001412"/>
                  </a:solidFill>
                </a:rPr>
                <a:t>7</a:t>
              </a:r>
            </a:p>
          </p:txBody>
        </p:sp>
        <p:sp>
          <p:nvSpPr>
            <p:cNvPr id="27"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28"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29"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30"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p>
          </p:txBody>
        </p:sp>
        <p:sp>
          <p:nvSpPr>
            <p:cNvPr id="31"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Tree>
    <p:extLst>
      <p:ext uri="{BB962C8B-B14F-4D97-AF65-F5344CB8AC3E}">
        <p14:creationId xmlns:p14="http://schemas.microsoft.com/office/powerpoint/2010/main" val="6347174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09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noFill/>
        </p:spPr>
        <p:txBody>
          <a:bodyPr/>
          <a:lstStyle/>
          <a:p>
            <a:r>
              <a:rPr lang="en-GB"/>
              <a:t>Non-systematic test techniques</a:t>
            </a:r>
          </a:p>
        </p:txBody>
      </p:sp>
      <p:sp>
        <p:nvSpPr>
          <p:cNvPr id="54275" name="Rectangle 3"/>
          <p:cNvSpPr>
            <a:spLocks noGrp="1" noChangeArrowheads="1"/>
          </p:cNvSpPr>
          <p:nvPr>
            <p:ph type="body" idx="1"/>
          </p:nvPr>
        </p:nvSpPr>
        <p:spPr>
          <a:noFill/>
        </p:spPr>
        <p:txBody>
          <a:bodyPr/>
          <a:lstStyle/>
          <a:p>
            <a:r>
              <a:rPr lang="en-US"/>
              <a:t>Based on a person's knowledge, experience, imagination and intuition</a:t>
            </a:r>
          </a:p>
          <a:p>
            <a:r>
              <a:rPr lang="en-US"/>
              <a:t>Some techniques </a:t>
            </a:r>
          </a:p>
          <a:p>
            <a:pPr lvl="1"/>
            <a:r>
              <a:rPr lang="en-US"/>
              <a:t>error guessing </a:t>
            </a:r>
          </a:p>
          <a:p>
            <a:pPr lvl="1"/>
            <a:r>
              <a:rPr lang="en-US"/>
              <a:t>exploratory testing </a:t>
            </a:r>
            <a:endParaRPr lang="en-GB"/>
          </a:p>
        </p:txBody>
      </p:sp>
      <p:sp>
        <p:nvSpPr>
          <p:cNvPr id="2" name="Rectangle 1"/>
          <p:cNvSpPr/>
          <p:nvPr/>
        </p:nvSpPr>
        <p:spPr>
          <a:xfrm>
            <a:off x="1066800" y="4267200"/>
            <a:ext cx="6477000" cy="954107"/>
          </a:xfrm>
          <a:prstGeom prst="rect">
            <a:avLst/>
          </a:prstGeom>
          <a:solidFill>
            <a:srgbClr val="92D050"/>
          </a:solidFill>
        </p:spPr>
        <p:txBody>
          <a:bodyPr wrap="square">
            <a:spAutoFit/>
          </a:bodyPr>
          <a:lstStyle/>
          <a:p>
            <a:pPr algn="ctr"/>
            <a:r>
              <a:rPr lang="en-US" sz="2800" b="1">
                <a:latin typeface="Times New Roman" pitchFamily="18" charset="0"/>
                <a:cs typeface="Times New Roman" pitchFamily="18" charset="0"/>
              </a:rPr>
              <a:t>It is true that testing should be rigorous, thorough and systematic</a:t>
            </a:r>
          </a:p>
        </p:txBody>
      </p:sp>
      <p:sp>
        <p:nvSpPr>
          <p:cNvPr id="3" name="Rectangle 2"/>
          <p:cNvSpPr/>
          <p:nvPr/>
        </p:nvSpPr>
        <p:spPr>
          <a:xfrm>
            <a:off x="1828800" y="5562600"/>
            <a:ext cx="5044907" cy="523220"/>
          </a:xfrm>
          <a:prstGeom prst="rect">
            <a:avLst/>
          </a:prstGeom>
          <a:solidFill>
            <a:srgbClr val="92D050"/>
          </a:solidFill>
        </p:spPr>
        <p:txBody>
          <a:bodyPr wrap="none">
            <a:spAutoFit/>
          </a:bodyPr>
          <a:lstStyle/>
          <a:p>
            <a:r>
              <a:rPr lang="en-US" sz="2800" b="1">
                <a:latin typeface="Times New Roman" pitchFamily="18" charset="0"/>
                <a:cs typeface="Times New Roman" pitchFamily="18" charset="0"/>
              </a:rPr>
              <a:t>This is not all there is to testing</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37</a:t>
            </a:fld>
            <a:endParaRPr lang="en-US"/>
          </a:p>
        </p:txBody>
      </p:sp>
    </p:spTree>
    <p:extLst>
      <p:ext uri="{BB962C8B-B14F-4D97-AF65-F5344CB8AC3E}">
        <p14:creationId xmlns:p14="http://schemas.microsoft.com/office/powerpoint/2010/main" val="33709582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4275">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4275">
                                            <p:txEl>
                                              <p:pRg st="1" end="1"/>
                                            </p:tx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4275">
                                            <p:txEl>
                                              <p:pRg st="2" end="2"/>
                                            </p:txEl>
                                          </p:spTgt>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42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uiExpand="1" build="p"/>
      <p:bldP spid="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Error guessing</a:t>
            </a:r>
          </a:p>
        </p:txBody>
      </p:sp>
      <p:sp>
        <p:nvSpPr>
          <p:cNvPr id="55299" name="Rectangle 3"/>
          <p:cNvSpPr>
            <a:spLocks noGrp="1" noChangeArrowheads="1"/>
          </p:cNvSpPr>
          <p:nvPr>
            <p:ph type="body" idx="1"/>
          </p:nvPr>
        </p:nvSpPr>
        <p:spPr/>
        <p:txBody>
          <a:bodyPr>
            <a:normAutofit/>
          </a:bodyPr>
          <a:lstStyle/>
          <a:p>
            <a:r>
              <a:rPr lang="en-GB"/>
              <a:t>No rules, no script</a:t>
            </a:r>
          </a:p>
          <a:p>
            <a:r>
              <a:rPr lang="en-US"/>
              <a:t>Think of situations in which the software may not be able to cope</a:t>
            </a:r>
          </a:p>
          <a:p>
            <a:pPr lvl="1"/>
            <a:r>
              <a:rPr lang="en-US"/>
              <a:t>division by zero</a:t>
            </a:r>
          </a:p>
          <a:p>
            <a:pPr lvl="1"/>
            <a:r>
              <a:rPr lang="en-US"/>
              <a:t>blank (or no) input</a:t>
            </a:r>
          </a:p>
          <a:p>
            <a:pPr lvl="1"/>
            <a:r>
              <a:rPr lang="en-US"/>
              <a:t>empty files</a:t>
            </a:r>
          </a:p>
          <a:p>
            <a:pPr lvl="1"/>
            <a:r>
              <a:rPr lang="en-US"/>
              <a:t>wrong kind of data (e.g. alphabetic characters where numeric are required)...</a:t>
            </a:r>
          </a:p>
          <a:p>
            <a:r>
              <a:rPr lang="en-GB"/>
              <a:t>After systematic techniques have been used</a:t>
            </a:r>
          </a:p>
          <a:p>
            <a:r>
              <a:rPr lang="en-GB"/>
              <a:t>Supplements systematic techniques</a:t>
            </a:r>
          </a:p>
          <a:p>
            <a:endParaRPr lang="en-GB"/>
          </a:p>
        </p:txBody>
      </p:sp>
      <p:sp>
        <p:nvSpPr>
          <p:cNvPr id="55300" name="Rectangle 4"/>
          <p:cNvSpPr>
            <a:spLocks noChangeArrowheads="1"/>
          </p:cNvSpPr>
          <p:nvPr/>
        </p:nvSpPr>
        <p:spPr bwMode="auto">
          <a:xfrm>
            <a:off x="1143000" y="5867400"/>
            <a:ext cx="6471138" cy="457200"/>
          </a:xfrm>
          <a:prstGeom prst="rect">
            <a:avLst/>
          </a:prstGeom>
          <a:solidFill>
            <a:schemeClr val="tx2"/>
          </a:solidFill>
          <a:ln w="12700">
            <a:solidFill>
              <a:srgbClr val="000000"/>
            </a:solidFill>
            <a:miter lim="800000"/>
            <a:headEnd type="none" w="sm" len="sm"/>
            <a:tailEnd type="none" w="sm" len="sm"/>
          </a:ln>
          <a:effectLst>
            <a:outerShdw dist="107763" dir="2700000" algn="ctr" rotWithShape="0">
              <a:schemeClr val="bg2"/>
            </a:outerShdw>
          </a:effectLst>
        </p:spPr>
        <p:txBody>
          <a:bodyPr wrap="none" anchor="ctr"/>
          <a:lstStyle/>
          <a:p>
            <a:pPr algn="ctr"/>
            <a:r>
              <a:rPr lang="en-GB" sz="2400" b="1">
                <a:solidFill>
                  <a:srgbClr val="000000"/>
                </a:solidFill>
                <a:latin typeface="+mj-lt"/>
              </a:rPr>
              <a:t>Not a good approach to start testing with</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38</a:t>
            </a:fld>
            <a:endParaRPr lang="en-US"/>
          </a:p>
        </p:txBody>
      </p:sp>
    </p:spTree>
    <p:extLst>
      <p:ext uri="{BB962C8B-B14F-4D97-AF65-F5344CB8AC3E}">
        <p14:creationId xmlns:p14="http://schemas.microsoft.com/office/powerpoint/2010/main" val="3117624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Effect transition="in" filter="fade">
                                      <p:cBhvr>
                                        <p:cTn id="7" dur="500"/>
                                        <p:tgtEl>
                                          <p:spTgt spid="552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299">
                                            <p:txEl>
                                              <p:pRg st="1" end="1"/>
                                            </p:txEl>
                                          </p:spTgt>
                                        </p:tgtEl>
                                        <p:attrNameLst>
                                          <p:attrName>style.visibility</p:attrName>
                                        </p:attrNameLst>
                                      </p:cBhvr>
                                      <p:to>
                                        <p:strVal val="visible"/>
                                      </p:to>
                                    </p:set>
                                    <p:animEffect transition="in" filter="fade">
                                      <p:cBhvr>
                                        <p:cTn id="12" dur="500"/>
                                        <p:tgtEl>
                                          <p:spTgt spid="55299">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5299">
                                            <p:txEl>
                                              <p:pRg st="2" end="2"/>
                                            </p:txEl>
                                          </p:spTgt>
                                        </p:tgtEl>
                                        <p:attrNameLst>
                                          <p:attrName>style.visibility</p:attrName>
                                        </p:attrNameLst>
                                      </p:cBhvr>
                                      <p:to>
                                        <p:strVal val="visible"/>
                                      </p:to>
                                    </p:set>
                                    <p:animEffect transition="in" filter="fade">
                                      <p:cBhvr>
                                        <p:cTn id="15" dur="500"/>
                                        <p:tgtEl>
                                          <p:spTgt spid="55299">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5299">
                                            <p:txEl>
                                              <p:pRg st="3" end="3"/>
                                            </p:txEl>
                                          </p:spTgt>
                                        </p:tgtEl>
                                        <p:attrNameLst>
                                          <p:attrName>style.visibility</p:attrName>
                                        </p:attrNameLst>
                                      </p:cBhvr>
                                      <p:to>
                                        <p:strVal val="visible"/>
                                      </p:to>
                                    </p:set>
                                    <p:animEffect transition="in" filter="fade">
                                      <p:cBhvr>
                                        <p:cTn id="18" dur="500"/>
                                        <p:tgtEl>
                                          <p:spTgt spid="55299">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5299">
                                            <p:txEl>
                                              <p:pRg st="4" end="4"/>
                                            </p:txEl>
                                          </p:spTgt>
                                        </p:tgtEl>
                                        <p:attrNameLst>
                                          <p:attrName>style.visibility</p:attrName>
                                        </p:attrNameLst>
                                      </p:cBhvr>
                                      <p:to>
                                        <p:strVal val="visible"/>
                                      </p:to>
                                    </p:set>
                                    <p:animEffect transition="in" filter="fade">
                                      <p:cBhvr>
                                        <p:cTn id="21" dur="500"/>
                                        <p:tgtEl>
                                          <p:spTgt spid="55299">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5299">
                                            <p:txEl>
                                              <p:pRg st="5" end="5"/>
                                            </p:txEl>
                                          </p:spTgt>
                                        </p:tgtEl>
                                        <p:attrNameLst>
                                          <p:attrName>style.visibility</p:attrName>
                                        </p:attrNameLst>
                                      </p:cBhvr>
                                      <p:to>
                                        <p:strVal val="visible"/>
                                      </p:to>
                                    </p:set>
                                    <p:animEffect transition="in" filter="fade">
                                      <p:cBhvr>
                                        <p:cTn id="24" dur="500"/>
                                        <p:tgtEl>
                                          <p:spTgt spid="55299">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5299">
                                            <p:txEl>
                                              <p:pRg st="6" end="6"/>
                                            </p:txEl>
                                          </p:spTgt>
                                        </p:tgtEl>
                                        <p:attrNameLst>
                                          <p:attrName>style.visibility</p:attrName>
                                        </p:attrNameLst>
                                      </p:cBhvr>
                                      <p:to>
                                        <p:strVal val="visible"/>
                                      </p:to>
                                    </p:set>
                                    <p:animEffect transition="in" filter="fade">
                                      <p:cBhvr>
                                        <p:cTn id="29" dur="500"/>
                                        <p:tgtEl>
                                          <p:spTgt spid="55299">
                                            <p:txEl>
                                              <p:pRg st="6" end="6"/>
                                            </p:txEl>
                                          </p:spTgt>
                                        </p:tgtEl>
                                      </p:cBhvr>
                                    </p:animEffect>
                                  </p:childTnLst>
                                </p:cTn>
                              </p:par>
                            </p:childTnLst>
                          </p:cTn>
                        </p:par>
                        <p:par>
                          <p:cTn id="30" fill="hold">
                            <p:stCondLst>
                              <p:cond delay="500"/>
                            </p:stCondLst>
                            <p:childTnLst>
                              <p:par>
                                <p:cTn id="31" presetID="1" presetClass="entr" presetSubtype="0" fill="hold" grpId="0" nodeType="afterEffect">
                                  <p:stCondLst>
                                    <p:cond delay="0"/>
                                  </p:stCondLst>
                                  <p:childTnLst>
                                    <p:set>
                                      <p:cBhvr>
                                        <p:cTn id="32" dur="1" fill="hold">
                                          <p:stCondLst>
                                            <p:cond delay="0"/>
                                          </p:stCondLst>
                                        </p:cTn>
                                        <p:tgtEl>
                                          <p:spTgt spid="5530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5299">
                                            <p:txEl>
                                              <p:pRg st="7" end="7"/>
                                            </p:txEl>
                                          </p:spTgt>
                                        </p:tgtEl>
                                        <p:attrNameLst>
                                          <p:attrName>style.visibility</p:attrName>
                                        </p:attrNameLst>
                                      </p:cBhvr>
                                      <p:to>
                                        <p:strVal val="visible"/>
                                      </p:to>
                                    </p:set>
                                    <p:animEffect transition="in" filter="fade">
                                      <p:cBhvr>
                                        <p:cTn id="37" dur="500"/>
                                        <p:tgtEl>
                                          <p:spTgt spid="5529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uiExpand="1" build="p"/>
      <p:bldP spid="5530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p:cNvSpPr>
            <a:spLocks noGrp="1"/>
          </p:cNvSpPr>
          <p:nvPr>
            <p:ph type="title"/>
          </p:nvPr>
        </p:nvSpPr>
        <p:spPr/>
        <p:txBody>
          <a:bodyPr/>
          <a:lstStyle/>
          <a:p>
            <a:r>
              <a:rPr lang="en-US"/>
              <a:t>Exploratory testing</a:t>
            </a:r>
          </a:p>
        </p:txBody>
      </p:sp>
      <p:sp>
        <p:nvSpPr>
          <p:cNvPr id="9" name="Content Placeholder 2"/>
          <p:cNvSpPr txBox="1">
            <a:spLocks/>
          </p:cNvSpPr>
          <p:nvPr/>
        </p:nvSpPr>
        <p:spPr>
          <a:xfrm>
            <a:off x="457201" y="5334000"/>
            <a:ext cx="3581400" cy="566746"/>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Gill Sans Light"/>
                <a:ea typeface="+mn-ea"/>
                <a:cs typeface="Gill Sans Light"/>
              </a:defRPr>
            </a:lvl1pPr>
            <a:lvl2pPr marL="742950" indent="-285750" algn="l" defTabSz="457200" rtl="0" eaLnBrk="1" latinLnBrk="0" hangingPunct="1">
              <a:spcBef>
                <a:spcPct val="20000"/>
              </a:spcBef>
              <a:buFont typeface="Arial"/>
              <a:buChar char="–"/>
              <a:defRPr sz="2800" kern="1200">
                <a:solidFill>
                  <a:schemeClr val="tx1"/>
                </a:solidFill>
                <a:latin typeface="Gill Sans Light"/>
                <a:ea typeface="+mn-ea"/>
                <a:cs typeface="Gill Sans Light"/>
              </a:defRPr>
            </a:lvl2pPr>
            <a:lvl3pPr marL="1143000" indent="-228600" algn="l" defTabSz="457200" rtl="0" eaLnBrk="1" latinLnBrk="0" hangingPunct="1">
              <a:spcBef>
                <a:spcPct val="20000"/>
              </a:spcBef>
              <a:buFont typeface="Arial"/>
              <a:buChar char="•"/>
              <a:defRPr sz="2400" kern="1200">
                <a:solidFill>
                  <a:schemeClr val="tx1"/>
                </a:solidFill>
                <a:latin typeface="Gill Sans Light"/>
                <a:ea typeface="+mn-ea"/>
                <a:cs typeface="Gill Sans Light"/>
              </a:defRPr>
            </a:lvl3pPr>
            <a:lvl4pPr marL="1600200" indent="-228600" algn="l" defTabSz="457200" rtl="0" eaLnBrk="1" latinLnBrk="0" hangingPunct="1">
              <a:spcBef>
                <a:spcPct val="20000"/>
              </a:spcBef>
              <a:buFont typeface="Arial"/>
              <a:buChar char="–"/>
              <a:defRPr sz="2000" kern="1200">
                <a:solidFill>
                  <a:schemeClr val="tx1"/>
                </a:solidFill>
                <a:latin typeface="Gill Sans Light"/>
                <a:ea typeface="+mn-ea"/>
                <a:cs typeface="Gill Sans Light"/>
              </a:defRPr>
            </a:lvl4pPr>
            <a:lvl5pPr marL="2057400" indent="-228600" algn="l" defTabSz="457200" rtl="0" eaLnBrk="1" latinLnBrk="0" hangingPunct="1">
              <a:spcBef>
                <a:spcPct val="20000"/>
              </a:spcBef>
              <a:buFont typeface="Arial"/>
              <a:buChar char="»"/>
              <a:defRPr sz="2000" kern="1200">
                <a:solidFill>
                  <a:schemeClr val="tx1"/>
                </a:solidFill>
                <a:latin typeface="Gill Sans Light"/>
                <a:ea typeface="+mn-ea"/>
                <a:cs typeface="Gill Sans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2400" dirty="0">
                <a:latin typeface="Calibri" pitchFamily="34" charset="0"/>
                <a:cs typeface="Calibri" pitchFamily="34" charset="0"/>
              </a:rPr>
              <a:t>This testing helps improving quality</a:t>
            </a:r>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464" y="1828800"/>
            <a:ext cx="4071936" cy="3152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Content Placeholder 2"/>
          <p:cNvSpPr txBox="1">
            <a:spLocks/>
          </p:cNvSpPr>
          <p:nvPr/>
        </p:nvSpPr>
        <p:spPr>
          <a:xfrm>
            <a:off x="4343400" y="1295400"/>
            <a:ext cx="4495800" cy="2743200"/>
          </a:xfrm>
          <a:prstGeom prst="rect">
            <a:avLst/>
          </a:prstGeom>
        </p:spPr>
        <p:txBody>
          <a:bodyPr vert="horz">
            <a:normAutofit/>
          </a:bodyPr>
          <a:lstStyle>
            <a:lvl1pPr marL="274320" indent="-274320" algn="l" rtl="0" eaLnBrk="1" latinLnBrk="0" hangingPunct="1">
              <a:spcBef>
                <a:spcPts val="600"/>
              </a:spcBef>
              <a:buClr>
                <a:schemeClr val="accent3"/>
              </a:buClr>
              <a:buSzPct val="95000"/>
              <a:buFont typeface="Wingdings 2"/>
              <a:buChar char=""/>
              <a:defRPr kumimoji="0" sz="2600" kern="1200">
                <a:solidFill>
                  <a:schemeClr val="tx1"/>
                </a:solidFill>
                <a:latin typeface="+mj-lt"/>
                <a:ea typeface="+mn-ea"/>
                <a:cs typeface="+mn-cs"/>
              </a:defRPr>
            </a:lvl1pPr>
            <a:lvl2pPr marL="640080" indent="-246888" algn="l" rtl="0" eaLnBrk="1" latinLnBrk="0" hangingPunct="1">
              <a:spcBef>
                <a:spcPts val="600"/>
              </a:spcBef>
              <a:buClr>
                <a:schemeClr val="accent1"/>
              </a:buClr>
              <a:buSzPct val="85000"/>
              <a:buFont typeface="Wingdings 2"/>
              <a:buChar char=""/>
              <a:defRPr kumimoji="0" sz="2400" kern="1200">
                <a:solidFill>
                  <a:schemeClr val="tx1"/>
                </a:solidFill>
                <a:latin typeface="+mj-lt"/>
                <a:ea typeface="+mn-ea"/>
                <a:cs typeface="+mn-cs"/>
              </a:defRPr>
            </a:lvl2pPr>
            <a:lvl3pPr marL="914400" indent="-246888" algn="l" rtl="0" eaLnBrk="1" latinLnBrk="0" hangingPunct="1">
              <a:spcBef>
                <a:spcPts val="600"/>
              </a:spcBef>
              <a:buClr>
                <a:schemeClr val="accent2"/>
              </a:buClr>
              <a:buSzPct val="70000"/>
              <a:buFont typeface="Wingdings 2"/>
              <a:buChar char=""/>
              <a:defRPr kumimoji="0" sz="2200" kern="1200">
                <a:solidFill>
                  <a:schemeClr val="tx1"/>
                </a:solidFill>
                <a:latin typeface="+mj-lt"/>
                <a:ea typeface="+mn-ea"/>
                <a:cs typeface="+mn-cs"/>
              </a:defRPr>
            </a:lvl3pPr>
            <a:lvl4pPr marL="1188720" indent="-210312" algn="l" rtl="0" eaLnBrk="1" latinLnBrk="0" hangingPunct="1">
              <a:spcBef>
                <a:spcPts val="600"/>
              </a:spcBef>
              <a:buClr>
                <a:schemeClr val="accent3"/>
              </a:buClr>
              <a:buSzPct val="65000"/>
              <a:buFont typeface="Wingdings 2"/>
              <a:buChar char=""/>
              <a:defRPr kumimoji="0" sz="2000" kern="1200">
                <a:solidFill>
                  <a:schemeClr val="tx1"/>
                </a:solidFill>
                <a:latin typeface="+mj-lt"/>
                <a:ea typeface="+mn-ea"/>
                <a:cs typeface="+mn-cs"/>
              </a:defRPr>
            </a:lvl4pPr>
            <a:lvl5pPr marL="1463040" indent="-210312" algn="l" rtl="0" eaLnBrk="1" latinLnBrk="0" hangingPunct="1">
              <a:spcBef>
                <a:spcPts val="600"/>
              </a:spcBef>
              <a:buClr>
                <a:schemeClr val="accent4"/>
              </a:buClr>
              <a:buSzPct val="65000"/>
              <a:buFont typeface="Wingdings 2"/>
              <a:buChar char=""/>
              <a:defRPr kumimoji="0" sz="2000" kern="1200">
                <a:solidFill>
                  <a:schemeClr val="tx1"/>
                </a:solidFill>
                <a:latin typeface="+mj-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buNone/>
            </a:pPr>
            <a:r>
              <a:rPr lang="en-US"/>
              <a:t>“A style of testing in which you </a:t>
            </a:r>
            <a:r>
              <a:rPr lang="en-US" b="1"/>
              <a:t>explore the software </a:t>
            </a:r>
            <a:r>
              <a:rPr lang="en-US"/>
              <a:t>while simultaneously designing and executing tests, using feedbacks from the last test to inform the next.”  </a:t>
            </a:r>
            <a:r>
              <a:rPr lang="en-US" sz="2000"/>
              <a:t>(Elisabeth Hendrickson)</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39</a:t>
            </a:fld>
            <a:endParaRPr lang="en-US"/>
          </a:p>
        </p:txBody>
      </p:sp>
      <p:sp>
        <p:nvSpPr>
          <p:cNvPr id="4" name="Rectangle 3"/>
          <p:cNvSpPr/>
          <p:nvPr/>
        </p:nvSpPr>
        <p:spPr>
          <a:xfrm>
            <a:off x="4267200" y="4003119"/>
            <a:ext cx="4572000" cy="2092881"/>
          </a:xfrm>
          <a:prstGeom prst="rect">
            <a:avLst/>
          </a:prstGeom>
        </p:spPr>
        <p:txBody>
          <a:bodyPr>
            <a:spAutoFit/>
          </a:bodyPr>
          <a:lstStyle/>
          <a:p>
            <a:r>
              <a:rPr lang="en-US" sz="2600">
                <a:latin typeface="+mj-lt"/>
              </a:rPr>
              <a:t>Exploratory testing as 'an interactive process of simultaneous learning, test design, and test execution‘ (</a:t>
            </a:r>
            <a:r>
              <a:rPr lang="en-US" sz="2000">
                <a:latin typeface="+mj-lt"/>
              </a:rPr>
              <a:t>James Bach</a:t>
            </a:r>
            <a:r>
              <a:rPr lang="en-US" sz="2600">
                <a:latin typeface="+mj-lt"/>
              </a:rPr>
              <a:t>)</a:t>
            </a:r>
          </a:p>
        </p:txBody>
      </p:sp>
    </p:spTree>
    <p:extLst>
      <p:ext uri="{BB962C8B-B14F-4D97-AF65-F5344CB8AC3E}">
        <p14:creationId xmlns:p14="http://schemas.microsoft.com/office/powerpoint/2010/main" val="30853069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ChangeArrowheads="1"/>
          </p:cNvSpPr>
          <p:nvPr/>
        </p:nvSpPr>
        <p:spPr bwMode="auto">
          <a:xfrm>
            <a:off x="838200" y="5486400"/>
            <a:ext cx="717452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306"/>
            <a:endParaRPr lang="en-US">
              <a:solidFill>
                <a:prstClr val="white"/>
              </a:solidFill>
            </a:endParaRPr>
          </a:p>
        </p:txBody>
      </p:sp>
      <p:sp>
        <p:nvSpPr>
          <p:cNvPr id="340995" name="Rectangle 3"/>
          <p:cNvSpPr>
            <a:spLocks noGrp="1" noChangeArrowheads="1"/>
          </p:cNvSpPr>
          <p:nvPr>
            <p:ph type="title"/>
          </p:nvPr>
        </p:nvSpPr>
        <p:spPr>
          <a:noFill/>
          <a:ln/>
        </p:spPr>
        <p:txBody>
          <a:bodyPr/>
          <a:lstStyle/>
          <a:p>
            <a:pPr algn="ctr">
              <a:lnSpc>
                <a:spcPct val="88000"/>
              </a:lnSpc>
            </a:pPr>
            <a:r>
              <a:rPr lang="en-GB" sz="3600">
                <a:latin typeface="Arial" charset="0"/>
              </a:rPr>
              <a:t>Contents</a:t>
            </a:r>
          </a:p>
        </p:txBody>
      </p:sp>
      <p:sp>
        <p:nvSpPr>
          <p:cNvPr id="340996" name="Rectangle 4"/>
          <p:cNvSpPr>
            <a:spLocks noGrp="1" noChangeArrowheads="1"/>
          </p:cNvSpPr>
          <p:nvPr>
            <p:ph type="body" idx="1"/>
          </p:nvPr>
        </p:nvSpPr>
        <p:spPr>
          <a:xfrm>
            <a:off x="530352" y="2935958"/>
            <a:ext cx="7772400" cy="3067506"/>
          </a:xfrm>
          <a:noFill/>
          <a:ln/>
        </p:spPr>
        <p:txBody>
          <a:bodyPr lIns="63500" tIns="25400" rIns="63500" bIns="25400">
            <a:spAutoFit/>
          </a:bodyPr>
          <a:lstStyle/>
          <a:p>
            <a:pPr algn="ctr"/>
            <a:r>
              <a:rPr lang="en-US" sz="2800" b="1">
                <a:effectLst>
                  <a:outerShdw blurRad="38100" dist="38100" dir="2700000" algn="tl">
                    <a:srgbClr val="000000">
                      <a:alpha val="43137"/>
                    </a:srgbClr>
                  </a:outerShdw>
                </a:effectLst>
              </a:rPr>
              <a:t>Dynamic techniques</a:t>
            </a:r>
          </a:p>
          <a:p>
            <a:pPr algn="ctr"/>
            <a:r>
              <a:rPr lang="en-US" sz="2800" b="1">
                <a:effectLst>
                  <a:outerShdw blurRad="38100" dist="38100" dir="2700000" algn="tl">
                    <a:srgbClr val="000000">
                      <a:alpha val="43137"/>
                    </a:srgbClr>
                  </a:outerShdw>
                </a:effectLst>
              </a:rPr>
              <a:t>Test condition – Test case – Test procedure</a:t>
            </a:r>
          </a:p>
          <a:p>
            <a:pPr algn="ctr"/>
            <a:r>
              <a:rPr lang="en-US" sz="2800" b="1">
                <a:effectLst>
                  <a:outerShdw blurRad="38100" dist="38100" dir="2700000" algn="tl">
                    <a:srgbClr val="000000">
                      <a:alpha val="43137"/>
                    </a:srgbClr>
                  </a:outerShdw>
                </a:effectLst>
              </a:rPr>
              <a:t>Black-box techniques</a:t>
            </a:r>
          </a:p>
          <a:p>
            <a:pPr algn="ctr"/>
            <a:r>
              <a:rPr lang="en-US" sz="2800" b="1">
                <a:effectLst>
                  <a:outerShdw blurRad="38100" dist="38100" dir="2700000" algn="tl">
                    <a:srgbClr val="000000">
                      <a:alpha val="43137"/>
                    </a:srgbClr>
                  </a:outerShdw>
                </a:effectLst>
              </a:rPr>
              <a:t>White-box techniques</a:t>
            </a:r>
          </a:p>
          <a:p>
            <a:pPr algn="ctr"/>
            <a:r>
              <a:rPr lang="en-US" sz="2800" b="1">
                <a:effectLst>
                  <a:outerShdw blurRad="38100" dist="38100" dir="2700000" algn="tl">
                    <a:srgbClr val="000000">
                      <a:alpha val="43137"/>
                    </a:srgbClr>
                  </a:outerShdw>
                </a:effectLst>
              </a:rPr>
              <a:t>Experience-based techniques</a:t>
            </a:r>
          </a:p>
          <a:p>
            <a:pPr algn="ctr"/>
            <a:r>
              <a:rPr lang="en-US" sz="2800" b="1">
                <a:effectLst>
                  <a:outerShdw blurRad="38100" dist="38100" dir="2700000" algn="tl">
                    <a:srgbClr val="000000">
                      <a:alpha val="43137"/>
                    </a:srgbClr>
                  </a:outerShdw>
                </a:effectLst>
              </a:rPr>
              <a:t>Choosing test techniques</a:t>
            </a:r>
          </a:p>
        </p:txBody>
      </p:sp>
      <p:grpSp>
        <p:nvGrpSpPr>
          <p:cNvPr id="21" name="Group 20"/>
          <p:cNvGrpSpPr/>
          <p:nvPr/>
        </p:nvGrpSpPr>
        <p:grpSpPr>
          <a:xfrm>
            <a:off x="6096000" y="152400"/>
            <a:ext cx="2743200" cy="914400"/>
            <a:chOff x="6096000" y="152400"/>
            <a:chExt cx="2743200" cy="914400"/>
          </a:xfrm>
        </p:grpSpPr>
        <p:sp>
          <p:nvSpPr>
            <p:cNvPr id="22" name="Rectangle 14"/>
            <p:cNvSpPr>
              <a:spLocks noChangeArrowheads="1"/>
            </p:cNvSpPr>
            <p:nvPr/>
          </p:nvSpPr>
          <p:spPr bwMode="auto">
            <a:xfrm>
              <a:off x="609600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1</a:t>
              </a:r>
            </a:p>
          </p:txBody>
        </p:sp>
        <p:sp>
          <p:nvSpPr>
            <p:cNvPr id="23"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2</a:t>
              </a:r>
            </a:p>
          </p:txBody>
        </p:sp>
        <p:sp>
          <p:nvSpPr>
            <p:cNvPr id="24" name="Rectangle 16"/>
            <p:cNvSpPr>
              <a:spLocks noChangeArrowheads="1"/>
            </p:cNvSpPr>
            <p:nvPr/>
          </p:nvSpPr>
          <p:spPr bwMode="auto">
            <a:xfrm>
              <a:off x="719328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3</a:t>
              </a:r>
            </a:p>
          </p:txBody>
        </p:sp>
        <p:sp>
          <p:nvSpPr>
            <p:cNvPr id="25" name="Rectangle 17"/>
            <p:cNvSpPr>
              <a:spLocks noChangeArrowheads="1"/>
            </p:cNvSpPr>
            <p:nvPr/>
          </p:nvSpPr>
          <p:spPr bwMode="auto">
            <a:xfrm>
              <a:off x="609600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6</a:t>
              </a:r>
            </a:p>
          </p:txBody>
        </p:sp>
        <p:sp>
          <p:nvSpPr>
            <p:cNvPr id="26" name="Rectangle 18"/>
            <p:cNvSpPr>
              <a:spLocks noChangeArrowheads="1"/>
            </p:cNvSpPr>
            <p:nvPr/>
          </p:nvSpPr>
          <p:spPr bwMode="auto">
            <a:xfrm>
              <a:off x="6644640" y="6096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b="1">
                  <a:solidFill>
                    <a:srgbClr val="001412"/>
                  </a:solidFill>
                </a:rPr>
                <a:t>7</a:t>
              </a:r>
            </a:p>
          </p:txBody>
        </p:sp>
        <p:sp>
          <p:nvSpPr>
            <p:cNvPr id="27"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28"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29"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30"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p>
          </p:txBody>
        </p:sp>
        <p:sp>
          <p:nvSpPr>
            <p:cNvPr id="31"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Tree>
    <p:extLst>
      <p:ext uri="{BB962C8B-B14F-4D97-AF65-F5344CB8AC3E}">
        <p14:creationId xmlns:p14="http://schemas.microsoft.com/office/powerpoint/2010/main" val="6347174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09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Choosing test techniques</a:t>
            </a:r>
          </a:p>
        </p:txBody>
      </p:sp>
      <p:sp>
        <p:nvSpPr>
          <p:cNvPr id="3" name="Content Placeholder 2"/>
          <p:cNvSpPr>
            <a:spLocks noGrp="1"/>
          </p:cNvSpPr>
          <p:nvPr>
            <p:ph idx="1"/>
          </p:nvPr>
        </p:nvSpPr>
        <p:spPr/>
        <p:txBody>
          <a:bodyPr>
            <a:normAutofit/>
          </a:bodyPr>
          <a:lstStyle/>
          <a:p>
            <a:r>
              <a:rPr lang="en-US"/>
              <a:t>Each technique is good for certain things, and not as good for other things</a:t>
            </a:r>
          </a:p>
          <a:p>
            <a:r>
              <a:rPr lang="en-US"/>
              <a:t>The best testing technique is no single testing technique: each testing technique is good at finding one specific class of defect</a:t>
            </a:r>
          </a:p>
          <a:p>
            <a:r>
              <a:rPr lang="en-US"/>
              <a:t>How can we choose the most appropriate testing techniques to use? - Depend on internal and external factors</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41</a:t>
            </a:fld>
            <a:endParaRPr lang="en-US"/>
          </a:p>
        </p:txBody>
      </p:sp>
    </p:spTree>
    <p:extLst>
      <p:ext uri="{BB962C8B-B14F-4D97-AF65-F5344CB8AC3E}">
        <p14:creationId xmlns:p14="http://schemas.microsoft.com/office/powerpoint/2010/main" val="1903708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Choosing test techniques (cont’d)</a:t>
            </a:r>
          </a:p>
        </p:txBody>
      </p:sp>
      <p:sp>
        <p:nvSpPr>
          <p:cNvPr id="3" name="Content Placeholder 2"/>
          <p:cNvSpPr>
            <a:spLocks noGrp="1"/>
          </p:cNvSpPr>
          <p:nvPr>
            <p:ph idx="1"/>
          </p:nvPr>
        </p:nvSpPr>
        <p:spPr/>
        <p:txBody>
          <a:bodyPr>
            <a:normAutofit/>
          </a:bodyPr>
          <a:lstStyle/>
          <a:p>
            <a:r>
              <a:rPr lang="en-US"/>
              <a:t>Internal factors</a:t>
            </a:r>
          </a:p>
          <a:p>
            <a:pPr lvl="1"/>
            <a:r>
              <a:rPr lang="en-US"/>
              <a:t>models used</a:t>
            </a:r>
          </a:p>
          <a:p>
            <a:pPr lvl="1"/>
            <a:r>
              <a:rPr lang="en-US"/>
              <a:t>tester knowledge or experience</a:t>
            </a:r>
          </a:p>
          <a:p>
            <a:pPr lvl="1"/>
            <a:r>
              <a:rPr lang="en-US"/>
              <a:t>test objective</a:t>
            </a:r>
          </a:p>
          <a:p>
            <a:pPr lvl="1"/>
            <a:r>
              <a:rPr lang="en-US"/>
              <a:t>documentation</a:t>
            </a:r>
          </a:p>
          <a:p>
            <a:pPr lvl="1"/>
            <a:r>
              <a:rPr lang="en-US"/>
              <a:t>life cycle model</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42</a:t>
            </a:fld>
            <a:endParaRPr lang="en-US"/>
          </a:p>
        </p:txBody>
      </p:sp>
    </p:spTree>
    <p:extLst>
      <p:ext uri="{BB962C8B-B14F-4D97-AF65-F5344CB8AC3E}">
        <p14:creationId xmlns:p14="http://schemas.microsoft.com/office/powerpoint/2010/main" val="31795426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Choosing test techniques (cont’d)</a:t>
            </a:r>
          </a:p>
        </p:txBody>
      </p:sp>
      <p:sp>
        <p:nvSpPr>
          <p:cNvPr id="3" name="Content Placeholder 2"/>
          <p:cNvSpPr>
            <a:spLocks noGrp="1"/>
          </p:cNvSpPr>
          <p:nvPr>
            <p:ph idx="1"/>
          </p:nvPr>
        </p:nvSpPr>
        <p:spPr/>
        <p:txBody>
          <a:bodyPr/>
          <a:lstStyle/>
          <a:p>
            <a:r>
              <a:rPr lang="en-US"/>
              <a:t>External factors</a:t>
            </a:r>
          </a:p>
          <a:p>
            <a:pPr lvl="1"/>
            <a:r>
              <a:rPr lang="en-US"/>
              <a:t>risk</a:t>
            </a:r>
          </a:p>
          <a:p>
            <a:pPr lvl="1"/>
            <a:r>
              <a:rPr lang="en-US"/>
              <a:t>customer or contractual requirements</a:t>
            </a:r>
          </a:p>
          <a:p>
            <a:pPr lvl="1"/>
            <a:r>
              <a:rPr lang="en-US"/>
              <a:t>type of system</a:t>
            </a:r>
          </a:p>
          <a:p>
            <a:pPr lvl="1"/>
            <a:r>
              <a:rPr lang="en-US"/>
              <a:t>time and budget</a:t>
            </a:r>
          </a:p>
          <a:p>
            <a:pPr lvl="1"/>
            <a:r>
              <a:rPr lang="en-US"/>
              <a:t>regulatory requirements</a:t>
            </a:r>
          </a:p>
          <a:p>
            <a:endParaRPr lang="en-US"/>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43</a:t>
            </a:fld>
            <a:endParaRPr lang="en-US"/>
          </a:p>
        </p:txBody>
      </p:sp>
    </p:spTree>
    <p:extLst>
      <p:ext uri="{BB962C8B-B14F-4D97-AF65-F5344CB8AC3E}">
        <p14:creationId xmlns:p14="http://schemas.microsoft.com/office/powerpoint/2010/main" val="4392269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Exploratory testing</a:t>
            </a:r>
          </a:p>
        </p:txBody>
      </p:sp>
      <p:sp>
        <p:nvSpPr>
          <p:cNvPr id="3" name="Content Placeholder 2"/>
          <p:cNvSpPr>
            <a:spLocks noGrp="1"/>
          </p:cNvSpPr>
          <p:nvPr>
            <p:ph idx="1"/>
          </p:nvPr>
        </p:nvSpPr>
        <p:spPr/>
        <p:txBody>
          <a:bodyPr/>
          <a:lstStyle/>
          <a:p>
            <a:r>
              <a:rPr lang="en-US"/>
              <a:t>The test design and test execution activities are performed </a:t>
            </a:r>
            <a:r>
              <a:rPr lang="en-US" b="1"/>
              <a:t>in parallel </a:t>
            </a:r>
            <a:r>
              <a:rPr lang="en-US"/>
              <a:t>typically without formally documenting the test conditions, test cases or test scripts</a:t>
            </a:r>
          </a:p>
          <a:p>
            <a:r>
              <a:rPr lang="en-US"/>
              <a:t>Test logging is undertaken as test execution is performed, documenting the key aspects of what is tested, any defects found and any thoughts about possible further testing</a:t>
            </a:r>
          </a:p>
          <a:p>
            <a:r>
              <a:rPr lang="en-US"/>
              <a:t>No limits on test techniques that explorers can use</a:t>
            </a:r>
          </a:p>
          <a:p>
            <a:pPr lvl="1"/>
            <a:r>
              <a:rPr lang="en-US"/>
              <a:t>combines with formal testing techniques</a:t>
            </a:r>
          </a:p>
          <a:p>
            <a:r>
              <a:rPr lang="en-US"/>
              <a:t>Most useful when there are no or poor specifications and when time is severely limited</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44</a:t>
            </a:fld>
            <a:endParaRPr lang="en-US"/>
          </a:p>
        </p:txBody>
      </p:sp>
    </p:spTree>
    <p:extLst>
      <p:ext uri="{BB962C8B-B14F-4D97-AF65-F5344CB8AC3E}">
        <p14:creationId xmlns:p14="http://schemas.microsoft.com/office/powerpoint/2010/main" val="4970548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45</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 y="2438398"/>
            <a:ext cx="7785219" cy="4399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381000" y="1144250"/>
            <a:ext cx="8667750" cy="1323439"/>
          </a:xfrm>
          <a:prstGeom prst="rect">
            <a:avLst/>
          </a:prstGeom>
        </p:spPr>
        <p:txBody>
          <a:bodyPr wrap="square">
            <a:spAutoFit/>
          </a:bodyPr>
          <a:lstStyle/>
          <a:p>
            <a:r>
              <a:rPr lang="en-US" sz="2000">
                <a:latin typeface="+mj-lt"/>
              </a:rPr>
              <a:t>Suppose you are developing a software unit that will convert a non-signed 16 bit binary number (in string format) to a decimal integer. For example, BinaryToDecimal(“0000000000001111”) = 15. Design test case to achieve 100% decision coverage.</a:t>
            </a:r>
          </a:p>
        </p:txBody>
      </p:sp>
    </p:spTree>
    <p:extLst>
      <p:ext uri="{BB962C8B-B14F-4D97-AF65-F5344CB8AC3E}">
        <p14:creationId xmlns:p14="http://schemas.microsoft.com/office/powerpoint/2010/main" val="7073675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a:t>
            </a:r>
          </a:p>
        </p:txBody>
      </p:sp>
      <p:sp>
        <p:nvSpPr>
          <p:cNvPr id="3" name="Content Placeholder 2"/>
          <p:cNvSpPr>
            <a:spLocks noGrp="1"/>
          </p:cNvSpPr>
          <p:nvPr>
            <p:ph idx="1"/>
          </p:nvPr>
        </p:nvSpPr>
        <p:spPr>
          <a:xfrm>
            <a:off x="457200" y="1295400"/>
            <a:ext cx="8686800" cy="5562600"/>
          </a:xfrm>
        </p:spPr>
        <p:txBody>
          <a:bodyPr>
            <a:normAutofit fontScale="77500" lnSpcReduction="20000"/>
          </a:bodyPr>
          <a:lstStyle/>
          <a:p>
            <a:pPr marL="0" indent="0">
              <a:buNone/>
            </a:pPr>
            <a:r>
              <a:rPr lang="en-US" sz="3100"/>
              <a:t>Cho hàm </a:t>
            </a:r>
            <a:r>
              <a:rPr lang="en-US" sz="3100" b="1"/>
              <a:t>BodyCheck</a:t>
            </a:r>
            <a:r>
              <a:rPr lang="en-US" sz="3100"/>
              <a:t> xác định tình trạng cơ thể qua chiều cao (cm) và trọng lượng (kg) như bên dưới. Hàm trả về 0: Normal, 1: Fat, 2: Thick, -1: Wrong data. Dùng decision testing để test hàm này.</a:t>
            </a:r>
          </a:p>
          <a:p>
            <a:pPr marL="0" indent="0">
              <a:buNone/>
            </a:pPr>
            <a:r>
              <a:rPr lang="en-US" sz="2800"/>
              <a:t>1. public int BodyCheck(int height, int weight)</a:t>
            </a:r>
          </a:p>
          <a:p>
            <a:pPr marL="0" indent="0">
              <a:buNone/>
            </a:pPr>
            <a:r>
              <a:rPr lang="en-US" sz="2800"/>
              <a:t>2. {</a:t>
            </a:r>
          </a:p>
          <a:p>
            <a:pPr marL="0" indent="0">
              <a:buNone/>
            </a:pPr>
            <a:r>
              <a:rPr lang="en-US" sz="2800"/>
              <a:t>3.            if (height &lt;= 0) return -1;</a:t>
            </a:r>
          </a:p>
          <a:p>
            <a:pPr marL="0" indent="0">
              <a:buNone/>
            </a:pPr>
            <a:r>
              <a:rPr lang="en-US" sz="2800"/>
              <a:t>4.            else if (weight &lt;= 0) return -1;</a:t>
            </a:r>
          </a:p>
          <a:p>
            <a:pPr marL="0" indent="0">
              <a:buNone/>
            </a:pPr>
            <a:r>
              <a:rPr lang="en-US" sz="2800"/>
              <a:t>5.            else</a:t>
            </a:r>
          </a:p>
          <a:p>
            <a:pPr marL="0" indent="0">
              <a:buNone/>
            </a:pPr>
            <a:r>
              <a:rPr lang="en-US" sz="2800"/>
              <a:t>6.            {</a:t>
            </a:r>
          </a:p>
          <a:p>
            <a:pPr marL="0" indent="0">
              <a:buNone/>
            </a:pPr>
            <a:r>
              <a:rPr lang="en-US" sz="2800"/>
              <a:t>7.                float scale = weight * 10000f / (height * height);</a:t>
            </a:r>
          </a:p>
          <a:p>
            <a:pPr marL="0" indent="0">
              <a:buNone/>
            </a:pPr>
            <a:r>
              <a:rPr lang="en-US" sz="2800"/>
              <a:t>8.                if (scale &lt; 18) return 2;</a:t>
            </a:r>
          </a:p>
          <a:p>
            <a:pPr marL="0" indent="0">
              <a:buNone/>
            </a:pPr>
            <a:r>
              <a:rPr lang="en-US" sz="2800"/>
              <a:t>9.                else if (scale &gt; 20) return 1;</a:t>
            </a:r>
          </a:p>
          <a:p>
            <a:pPr marL="0" indent="0">
              <a:buNone/>
            </a:pPr>
            <a:r>
              <a:rPr lang="en-US" sz="2800"/>
              <a:t>10.              else</a:t>
            </a:r>
          </a:p>
          <a:p>
            <a:pPr marL="0" indent="0">
              <a:buNone/>
            </a:pPr>
            <a:r>
              <a:rPr lang="en-US" sz="2800"/>
              <a:t>11.                    return 0;</a:t>
            </a:r>
          </a:p>
          <a:p>
            <a:pPr marL="0" indent="0">
              <a:buNone/>
            </a:pPr>
            <a:r>
              <a:rPr lang="en-US" sz="2800"/>
              <a:t>12.            }</a:t>
            </a:r>
          </a:p>
          <a:p>
            <a:pPr marL="0" indent="0">
              <a:buNone/>
            </a:pPr>
            <a:r>
              <a:rPr lang="en-US" sz="2800"/>
              <a:t>13.        }</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46</a:t>
            </a:fld>
            <a:endParaRPr lang="en-US"/>
          </a:p>
        </p:txBody>
      </p:sp>
    </p:spTree>
    <p:extLst>
      <p:ext uri="{BB962C8B-B14F-4D97-AF65-F5344CB8AC3E}">
        <p14:creationId xmlns:p14="http://schemas.microsoft.com/office/powerpoint/2010/main" val="11256259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Exploratory testing process</a:t>
            </a:r>
          </a:p>
        </p:txBody>
      </p:sp>
      <p:sp>
        <p:nvSpPr>
          <p:cNvPr id="3" name="Content Placeholder 2"/>
          <p:cNvSpPr>
            <a:spLocks noGrp="1"/>
          </p:cNvSpPr>
          <p:nvPr>
            <p:ph idx="1"/>
          </p:nvPr>
        </p:nvSpPr>
        <p:spPr/>
        <p:txBody>
          <a:bodyPr/>
          <a:lstStyle/>
          <a:p>
            <a:r>
              <a:rPr lang="en-US"/>
              <a:t>A possible exploratory testing process is</a:t>
            </a:r>
          </a:p>
          <a:p>
            <a:pPr lvl="1"/>
            <a:r>
              <a:rPr lang="en-US"/>
              <a:t>creating a conjecture of the proper functioning of the system</a:t>
            </a:r>
          </a:p>
          <a:p>
            <a:pPr lvl="1"/>
            <a:r>
              <a:rPr lang="en-US"/>
              <a:t>designing one or more tests that would disprove the conjecture</a:t>
            </a:r>
          </a:p>
          <a:p>
            <a:pPr lvl="1"/>
            <a:r>
              <a:rPr lang="en-US"/>
              <a:t>executing these tests and observing the outcomes</a:t>
            </a:r>
          </a:p>
          <a:p>
            <a:pPr lvl="1"/>
            <a:r>
              <a:rPr lang="en-US"/>
              <a:t>evaluating the outcomes against the conjecture</a:t>
            </a:r>
          </a:p>
          <a:p>
            <a:pPr lvl="1"/>
            <a:r>
              <a:rPr lang="en-US"/>
              <a:t>repeating this process until the conjecture is proved or disproved</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47</a:t>
            </a:fld>
            <a:endParaRPr lang="en-US"/>
          </a:p>
        </p:txBody>
      </p:sp>
    </p:spTree>
    <p:extLst>
      <p:ext uri="{BB962C8B-B14F-4D97-AF65-F5344CB8AC3E}">
        <p14:creationId xmlns:p14="http://schemas.microsoft.com/office/powerpoint/2010/main" val="4976011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Advantages of exploratory testing</a:t>
            </a:r>
          </a:p>
        </p:txBody>
      </p:sp>
      <p:sp>
        <p:nvSpPr>
          <p:cNvPr id="7" name="Content Placeholder 6"/>
          <p:cNvSpPr>
            <a:spLocks noGrp="1"/>
          </p:cNvSpPr>
          <p:nvPr>
            <p:ph idx="1"/>
          </p:nvPr>
        </p:nvSpPr>
        <p:spPr/>
        <p:txBody>
          <a:bodyPr>
            <a:normAutofit lnSpcReduction="10000"/>
          </a:bodyPr>
          <a:lstStyle/>
          <a:p>
            <a:r>
              <a:rPr lang="en-US"/>
              <a:t>Valuable in situations where choosing the next test case to be run cannot be determined in advance, but should be based on previous tests and their results</a:t>
            </a:r>
          </a:p>
          <a:p>
            <a:r>
              <a:rPr lang="en-US"/>
              <a:t>Useful when you are asked to provide rapid feedback on a product's quality on short notice, with little time, off the top of your head, when requirements are vague or even nonexistent, or early in the development process when the system may be unstable</a:t>
            </a:r>
          </a:p>
          <a:p>
            <a:r>
              <a:rPr lang="en-US"/>
              <a:t>Useful when, once a defect is detected, we want to explore the size, scope, and variations of that defect to provide better feedback to our developers</a:t>
            </a:r>
          </a:p>
          <a:p>
            <a:r>
              <a:rPr lang="en-US"/>
              <a:t>Useful addition to scripted testing when the scripted tests become "tired," that is, they are not detecting many errors</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48</a:t>
            </a:fld>
            <a:endParaRPr lang="en-US"/>
          </a:p>
        </p:txBody>
      </p:sp>
    </p:spTree>
    <p:extLst>
      <p:ext uri="{BB962C8B-B14F-4D97-AF65-F5344CB8AC3E}">
        <p14:creationId xmlns:p14="http://schemas.microsoft.com/office/powerpoint/2010/main" val="5990630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Disadvantages of exploratory testing</a:t>
            </a:r>
          </a:p>
        </p:txBody>
      </p:sp>
      <p:sp>
        <p:nvSpPr>
          <p:cNvPr id="7" name="Content Placeholder 6"/>
          <p:cNvSpPr>
            <a:spLocks noGrp="1"/>
          </p:cNvSpPr>
          <p:nvPr>
            <p:ph idx="1"/>
          </p:nvPr>
        </p:nvSpPr>
        <p:spPr/>
        <p:txBody>
          <a:bodyPr/>
          <a:lstStyle/>
          <a:p>
            <a:r>
              <a:rPr lang="en-US"/>
              <a:t>No ability to prevent defects</a:t>
            </a:r>
          </a:p>
          <a:p>
            <a:r>
              <a:rPr lang="en-US"/>
              <a:t>If you are already sure exactly which tests must be executed, and in which order, there is no need to explore. Write and then execute scripted tests</a:t>
            </a:r>
          </a:p>
          <a:p>
            <a:r>
              <a:rPr lang="en-US"/>
              <a:t>If you are required by contract, rule, or regulation to use scripted testing then do so. Consider adding exploratory tests as a complementary technique</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49</a:t>
            </a:fld>
            <a:endParaRPr lang="en-US"/>
          </a:p>
        </p:txBody>
      </p:sp>
    </p:spTree>
    <p:extLst>
      <p:ext uri="{BB962C8B-B14F-4D97-AF65-F5344CB8AC3E}">
        <p14:creationId xmlns:p14="http://schemas.microsoft.com/office/powerpoint/2010/main" val="2734042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Sửa bài tập</a:t>
            </a:r>
          </a:p>
        </p:txBody>
      </p:sp>
      <p:sp>
        <p:nvSpPr>
          <p:cNvPr id="3" name="Content Placeholder 2"/>
          <p:cNvSpPr>
            <a:spLocks noGrp="1"/>
          </p:cNvSpPr>
          <p:nvPr>
            <p:ph idx="1"/>
          </p:nvPr>
        </p:nvSpPr>
        <p:spPr/>
        <p:txBody>
          <a:bodyPr>
            <a:normAutofit/>
          </a:bodyPr>
          <a:lstStyle/>
          <a:p>
            <a:pPr marL="0" indent="0">
              <a:buNone/>
            </a:pPr>
            <a:r>
              <a:rPr lang="en-US" sz="2400"/>
              <a:t>Thiết kế các test case để kiểm chứng chương trình giải phương trình ax</a:t>
            </a:r>
            <a:r>
              <a:rPr lang="en-US" sz="2400" baseline="30000"/>
              <a:t>2</a:t>
            </a:r>
            <a:r>
              <a:rPr lang="en-US" sz="2400"/>
              <a:t>+bx+c=0, biết a,b,c là các số nguyên.</a:t>
            </a:r>
          </a:p>
          <a:p>
            <a:pPr marL="0" indent="0">
              <a:buNone/>
            </a:pPr>
            <a:endParaRPr lang="en-US" sz="2400"/>
          </a:p>
          <a:p>
            <a:pPr marL="0" indent="0">
              <a:buNone/>
            </a:pPr>
            <a:r>
              <a:rPr lang="en-US" sz="2400"/>
              <a:t>public static String SolveQuadratic (int a, int b, int c, out float x1, out float x2) {</a:t>
            </a:r>
          </a:p>
          <a:p>
            <a:pPr marL="365760" lvl="1" indent="0">
              <a:buNone/>
            </a:pPr>
            <a:r>
              <a:rPr lang="en-US" sz="2200"/>
              <a:t>/* Hàm trả về "Vô số nghiệm", "Vô nghiệm", "Có 1 nghiệm", "Có 2 nghiệm phân biệt",</a:t>
            </a:r>
          </a:p>
          <a:p>
            <a:pPr marL="365760" lvl="1" indent="0">
              <a:buNone/>
            </a:pPr>
            <a:r>
              <a:rPr lang="en-US" sz="2200"/>
              <a:t> * "Có nghiệm kép" tùy theo a,b,c.</a:t>
            </a:r>
          </a:p>
          <a:p>
            <a:pPr marL="365760" lvl="1" indent="0">
              <a:buNone/>
            </a:pPr>
            <a:r>
              <a:rPr lang="en-US" sz="2200"/>
              <a:t> * Hàm nhận hai kết quả x1, x2 là nghiệm của phương trình.</a:t>
            </a:r>
          </a:p>
          <a:p>
            <a:pPr marL="365760" lvl="1" indent="0">
              <a:buNone/>
            </a:pPr>
            <a:r>
              <a:rPr lang="en-US" sz="2200"/>
              <a:t> * Nếu nghiệm không được xác định thì x1 = x2 = NaN.</a:t>
            </a:r>
          </a:p>
          <a:p>
            <a:pPr marL="365760" lvl="1" indent="0">
              <a:buNone/>
            </a:pPr>
            <a:r>
              <a:rPr lang="en-US" sz="2200"/>
              <a:t> */</a:t>
            </a:r>
          </a:p>
          <a:p>
            <a:pPr marL="0" indent="0">
              <a:buNone/>
            </a:pPr>
            <a:r>
              <a:rPr lang="en-US" sz="2400"/>
              <a:t>}</a:t>
            </a:r>
          </a:p>
          <a:p>
            <a:endParaRPr lang="en-US" sz="2400"/>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50</a:t>
            </a:fld>
            <a:endParaRPr lang="en-US"/>
          </a:p>
        </p:txBody>
      </p:sp>
    </p:spTree>
    <p:extLst>
      <p:ext uri="{BB962C8B-B14F-4D97-AF65-F5344CB8AC3E}">
        <p14:creationId xmlns:p14="http://schemas.microsoft.com/office/powerpoint/2010/main" val="11932322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Sửa bài tập</a:t>
            </a:r>
          </a:p>
        </p:txBody>
      </p:sp>
      <p:sp>
        <p:nvSpPr>
          <p:cNvPr id="3" name="Content Placeholder 2"/>
          <p:cNvSpPr>
            <a:spLocks noGrp="1"/>
          </p:cNvSpPr>
          <p:nvPr>
            <p:ph idx="1"/>
          </p:nvPr>
        </p:nvSpPr>
        <p:spPr/>
        <p:txBody>
          <a:bodyPr>
            <a:normAutofit fontScale="92500" lnSpcReduction="10000"/>
          </a:bodyPr>
          <a:lstStyle/>
          <a:p>
            <a:pPr marL="0" indent="0">
              <a:buNone/>
            </a:pPr>
            <a:r>
              <a:rPr lang="en-US"/>
              <a:t>Cho hàm sau:</a:t>
            </a:r>
          </a:p>
          <a:p>
            <a:pPr marL="0" indent="0">
              <a:buNone/>
            </a:pPr>
            <a:r>
              <a:rPr lang="en-US"/>
              <a:t>String HuyChuoi(String s, int n, int p)</a:t>
            </a:r>
          </a:p>
          <a:p>
            <a:pPr marL="0" indent="0">
              <a:buNone/>
            </a:pPr>
            <a:r>
              <a:rPr lang="en-US"/>
              <a:t>{</a:t>
            </a:r>
          </a:p>
          <a:p>
            <a:pPr marL="365760" lvl="1" indent="0">
              <a:buNone/>
            </a:pPr>
            <a:r>
              <a:rPr lang="en-US"/>
              <a:t>/* Hàm xóa n ký tự trong s bắt đầu từ ký tự thứ p (p € [0, chiều dài s))</a:t>
            </a:r>
          </a:p>
          <a:p>
            <a:pPr marL="365760" lvl="1" indent="0">
              <a:buNone/>
            </a:pPr>
            <a:r>
              <a:rPr lang="en-US"/>
              <a:t> * Nhập: chuỗi s, số nguyên n, p.</a:t>
            </a:r>
          </a:p>
          <a:p>
            <a:pPr marL="365760" lvl="1" indent="0">
              <a:buNone/>
            </a:pPr>
            <a:r>
              <a:rPr lang="en-US"/>
              <a:t> * Trả về: chuỗi mới sau khi xóa.</a:t>
            </a:r>
          </a:p>
          <a:p>
            <a:pPr marL="365760" lvl="1" indent="0">
              <a:buNone/>
            </a:pPr>
            <a:r>
              <a:rPr lang="en-US"/>
              <a:t> * Nếu p&gt;=chiều dài s, hàm trả về s </a:t>
            </a:r>
          </a:p>
          <a:p>
            <a:pPr marL="365760" lvl="1" indent="0">
              <a:buNone/>
            </a:pPr>
            <a:r>
              <a:rPr lang="en-US"/>
              <a:t> * Nếu n&gt;chiều dài s-p, hàm trả về s từ vị trí 0 đến p-1	  </a:t>
            </a:r>
          </a:p>
          <a:p>
            <a:pPr marL="365760" lvl="1" indent="0">
              <a:buNone/>
            </a:pPr>
            <a:r>
              <a:rPr lang="en-US"/>
              <a:t> * Nếu p&lt;0 hoặc n&lt;0, hàm trả về s </a:t>
            </a:r>
          </a:p>
          <a:p>
            <a:pPr marL="365760" lvl="1" indent="0">
              <a:buNone/>
            </a:pPr>
            <a:r>
              <a:rPr lang="en-US"/>
              <a:t> */</a:t>
            </a:r>
          </a:p>
          <a:p>
            <a:pPr marL="0" indent="0">
              <a:buNone/>
            </a:pPr>
            <a:r>
              <a:rPr lang="en-US"/>
              <a:t>}</a:t>
            </a:r>
          </a:p>
          <a:p>
            <a:pPr marL="0" indent="0">
              <a:buNone/>
            </a:pPr>
            <a:r>
              <a:rPr lang="en-US"/>
              <a:t>Kiểm chứng lại hàm trên.</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51</a:t>
            </a:fld>
            <a:endParaRPr lang="en-US"/>
          </a:p>
        </p:txBody>
      </p:sp>
    </p:spTree>
    <p:extLst>
      <p:ext uri="{BB962C8B-B14F-4D97-AF65-F5344CB8AC3E}">
        <p14:creationId xmlns:p14="http://schemas.microsoft.com/office/powerpoint/2010/main" val="31193465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Example</a:t>
            </a:r>
          </a:p>
        </p:txBody>
      </p:sp>
      <p:sp>
        <p:nvSpPr>
          <p:cNvPr id="3" name="Content Placeholder 2"/>
          <p:cNvSpPr>
            <a:spLocks noGrp="1"/>
          </p:cNvSpPr>
          <p:nvPr>
            <p:ph idx="1"/>
          </p:nvPr>
        </p:nvSpPr>
        <p:spPr/>
        <p:txBody>
          <a:bodyPr>
            <a:normAutofit/>
          </a:bodyPr>
          <a:lstStyle/>
          <a:p>
            <a:pPr marL="0" indent="0">
              <a:buNone/>
            </a:pPr>
            <a:r>
              <a:rPr lang="en-US" u="sng"/>
              <a:t>1.2.3</a:t>
            </a:r>
            <a:r>
              <a:rPr lang="en-US"/>
              <a:t> The input screen shall have three ﬁelds: a title ﬁeld with a drop-down selector; a surname ﬁeld that can accept up to 20 alphabetic characters and the hyphen (-) character; a ﬁrst name ﬁeld which can accept up to 20 alphabetic characters. All alphabetic characters shall be case insensitive. All ﬁelds must be completed. The data is validated when the Enter key is pressed. If the data is valid the system moves on to the job input screen; if not, an error message is displayed.</a:t>
            </a:r>
          </a:p>
          <a:p>
            <a:pPr marL="280988" indent="0">
              <a:buNone/>
            </a:pPr>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5001423"/>
            <a:ext cx="4038600" cy="1850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52</a:t>
            </a:fld>
            <a:endParaRPr lang="en-US"/>
          </a:p>
        </p:txBody>
      </p:sp>
    </p:spTree>
    <p:extLst>
      <p:ext uri="{BB962C8B-B14F-4D97-AF65-F5344CB8AC3E}">
        <p14:creationId xmlns:p14="http://schemas.microsoft.com/office/powerpoint/2010/main" val="35092204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5"/>
          <p:cNvSpPr/>
          <p:nvPr/>
        </p:nvSpPr>
        <p:spPr>
          <a:xfrm>
            <a:off x="6019800" y="4191000"/>
            <a:ext cx="2743200" cy="2057400"/>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title"/>
          </p:nvPr>
        </p:nvSpPr>
        <p:spPr/>
        <p:txBody>
          <a:bodyPr/>
          <a:lstStyle/>
          <a:p>
            <a:r>
              <a:rPr lang="en-US"/>
              <a:t>Example solution</a:t>
            </a:r>
          </a:p>
        </p:txBody>
      </p:sp>
      <p:sp>
        <p:nvSpPr>
          <p:cNvPr id="3" name="Content Placeholder 2"/>
          <p:cNvSpPr>
            <a:spLocks noGrp="1"/>
          </p:cNvSpPr>
          <p:nvPr>
            <p:ph idx="1"/>
          </p:nvPr>
        </p:nvSpPr>
        <p:spPr/>
        <p:txBody>
          <a:bodyPr/>
          <a:lstStyle/>
          <a:p>
            <a:r>
              <a:rPr lang="en-US"/>
              <a:t>Test condition</a:t>
            </a:r>
          </a:p>
          <a:p>
            <a:pPr lvl="1"/>
            <a:r>
              <a:rPr lang="en-US" i="1"/>
              <a:t>(1.2.3.1) a test condition for the surname field</a:t>
            </a:r>
            <a:r>
              <a:rPr lang="en-US"/>
              <a:t>: accept up to 20 alphabetic characters and the hyphen (-) character</a:t>
            </a:r>
          </a:p>
          <a:p>
            <a:endParaRPr lang="en-US"/>
          </a:p>
          <a:p>
            <a:r>
              <a:rPr lang="en-US"/>
              <a:t>Test cases</a:t>
            </a:r>
          </a:p>
          <a:p>
            <a:pPr lvl="1"/>
            <a:endParaRPr lang="en-US"/>
          </a:p>
          <a:p>
            <a:pPr lvl="1"/>
            <a:endParaRPr lang="en-US"/>
          </a:p>
          <a:p>
            <a:pPr lvl="1"/>
            <a:endParaRPr lang="en-US"/>
          </a:p>
          <a:p>
            <a:pPr lvl="1"/>
            <a:endParaRPr lang="en-US"/>
          </a:p>
        </p:txBody>
      </p:sp>
      <p:sp>
        <p:nvSpPr>
          <p:cNvPr id="5" name="TextBox 4"/>
          <p:cNvSpPr txBox="1"/>
          <p:nvPr/>
        </p:nvSpPr>
        <p:spPr>
          <a:xfrm>
            <a:off x="6179987" y="4186535"/>
            <a:ext cx="2202013" cy="461665"/>
          </a:xfrm>
          <a:prstGeom prst="rect">
            <a:avLst/>
          </a:prstGeom>
          <a:noFill/>
          <a:ln>
            <a:noFill/>
          </a:ln>
        </p:spPr>
        <p:txBody>
          <a:bodyPr wrap="none" rtlCol="0">
            <a:spAutoFit/>
          </a:bodyPr>
          <a:lstStyle/>
          <a:p>
            <a:r>
              <a:rPr lang="en-US" sz="2400">
                <a:solidFill>
                  <a:prstClr val="black"/>
                </a:solidFill>
                <a:latin typeface="Calibri"/>
              </a:rPr>
              <a:t>job input screen</a:t>
            </a:r>
          </a:p>
        </p:txBody>
      </p:sp>
      <p:sp>
        <p:nvSpPr>
          <p:cNvPr id="7" name="TextBox 6"/>
          <p:cNvSpPr txBox="1"/>
          <p:nvPr/>
        </p:nvSpPr>
        <p:spPr>
          <a:xfrm>
            <a:off x="6172200" y="4572000"/>
            <a:ext cx="2202013" cy="461665"/>
          </a:xfrm>
          <a:prstGeom prst="rect">
            <a:avLst/>
          </a:prstGeom>
          <a:noFill/>
          <a:ln>
            <a:noFill/>
          </a:ln>
        </p:spPr>
        <p:txBody>
          <a:bodyPr wrap="none" rtlCol="0">
            <a:spAutoFit/>
          </a:bodyPr>
          <a:lstStyle/>
          <a:p>
            <a:r>
              <a:rPr lang="en-US" sz="2400">
                <a:solidFill>
                  <a:prstClr val="black"/>
                </a:solidFill>
                <a:latin typeface="Calibri"/>
              </a:rPr>
              <a:t>job input screen</a:t>
            </a:r>
          </a:p>
        </p:txBody>
      </p:sp>
      <p:sp>
        <p:nvSpPr>
          <p:cNvPr id="8" name="TextBox 7"/>
          <p:cNvSpPr txBox="1"/>
          <p:nvPr/>
        </p:nvSpPr>
        <p:spPr>
          <a:xfrm>
            <a:off x="6133373" y="5405735"/>
            <a:ext cx="2782027" cy="461665"/>
          </a:xfrm>
          <a:prstGeom prst="rect">
            <a:avLst/>
          </a:prstGeom>
          <a:noFill/>
          <a:ln>
            <a:noFill/>
          </a:ln>
        </p:spPr>
        <p:txBody>
          <a:bodyPr wrap="square" rtlCol="0">
            <a:spAutoFit/>
          </a:bodyPr>
          <a:lstStyle/>
          <a:p>
            <a:r>
              <a:rPr lang="en-US" sz="2400">
                <a:solidFill>
                  <a:prstClr val="black"/>
                </a:solidFill>
                <a:latin typeface="Calibri"/>
              </a:rPr>
              <a:t>error message </a:t>
            </a:r>
          </a:p>
        </p:txBody>
      </p:sp>
      <p:sp>
        <p:nvSpPr>
          <p:cNvPr id="10" name="TextBox 9"/>
          <p:cNvSpPr txBox="1"/>
          <p:nvPr/>
        </p:nvSpPr>
        <p:spPr>
          <a:xfrm>
            <a:off x="6179987" y="4953000"/>
            <a:ext cx="2202013" cy="461665"/>
          </a:xfrm>
          <a:prstGeom prst="rect">
            <a:avLst/>
          </a:prstGeom>
          <a:noFill/>
          <a:ln>
            <a:noFill/>
          </a:ln>
        </p:spPr>
        <p:txBody>
          <a:bodyPr wrap="none" rtlCol="0">
            <a:spAutoFit/>
          </a:bodyPr>
          <a:lstStyle/>
          <a:p>
            <a:r>
              <a:rPr lang="en-US" sz="2400">
                <a:solidFill>
                  <a:prstClr val="black"/>
                </a:solidFill>
                <a:latin typeface="Calibri"/>
              </a:rPr>
              <a:t>job input screen</a:t>
            </a:r>
          </a:p>
        </p:txBody>
      </p:sp>
      <p:sp>
        <p:nvSpPr>
          <p:cNvPr id="11" name="TextBox 10"/>
          <p:cNvSpPr txBox="1"/>
          <p:nvPr/>
        </p:nvSpPr>
        <p:spPr>
          <a:xfrm>
            <a:off x="6133373" y="5786735"/>
            <a:ext cx="2782027" cy="461665"/>
          </a:xfrm>
          <a:prstGeom prst="rect">
            <a:avLst/>
          </a:prstGeom>
          <a:noFill/>
          <a:ln>
            <a:noFill/>
          </a:ln>
        </p:spPr>
        <p:txBody>
          <a:bodyPr wrap="square" rtlCol="0">
            <a:spAutoFit/>
          </a:bodyPr>
          <a:lstStyle/>
          <a:p>
            <a:r>
              <a:rPr lang="en-US" sz="2400">
                <a:solidFill>
                  <a:prstClr val="black"/>
                </a:solidFill>
                <a:latin typeface="Calibri"/>
              </a:rPr>
              <a:t>error message </a:t>
            </a: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99" y="4191000"/>
            <a:ext cx="5424487" cy="2045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Slide Number Placeholder 12"/>
          <p:cNvSpPr>
            <a:spLocks noGrp="1"/>
          </p:cNvSpPr>
          <p:nvPr>
            <p:ph type="sldNum" sz="quarter" idx="12"/>
          </p:nvPr>
        </p:nvSpPr>
        <p:spPr/>
        <p:txBody>
          <a:bodyPr/>
          <a:lstStyle/>
          <a:p>
            <a:r>
              <a:rPr lang="en-US"/>
              <a:t>Slide </a:t>
            </a:r>
            <a:fld id="{3900DC13-0C25-439E-AA75-E5DAAC4C3713}" type="slidenum">
              <a:rPr lang="en-US" smtClean="0"/>
              <a:pPr/>
              <a:t>53</a:t>
            </a:fld>
            <a:endParaRPr lang="en-US"/>
          </a:p>
        </p:txBody>
      </p:sp>
    </p:spTree>
    <p:extLst>
      <p:ext uri="{BB962C8B-B14F-4D97-AF65-F5344CB8AC3E}">
        <p14:creationId xmlns:p14="http://schemas.microsoft.com/office/powerpoint/2010/main" val="2973123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P spid="7" grpId="0"/>
      <p:bldP spid="8" grpId="0"/>
      <p:bldP spid="10" grpId="0"/>
      <p:bldP spid="11" grpId="0"/>
    </p:bld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solution (cont’d)</a:t>
            </a:r>
          </a:p>
        </p:txBody>
      </p:sp>
      <p:sp>
        <p:nvSpPr>
          <p:cNvPr id="3" name="Content Placeholder 2"/>
          <p:cNvSpPr>
            <a:spLocks noGrp="1"/>
          </p:cNvSpPr>
          <p:nvPr>
            <p:ph idx="1"/>
          </p:nvPr>
        </p:nvSpPr>
        <p:spPr/>
        <p:txBody>
          <a:bodyPr>
            <a:normAutofit/>
          </a:bodyPr>
          <a:lstStyle/>
          <a:p>
            <a:r>
              <a:rPr lang="en-US"/>
              <a:t>Test procedure (for the surname field)</a:t>
            </a:r>
          </a:p>
          <a:p>
            <a:pPr marL="352425" indent="-352425">
              <a:buNone/>
            </a:pPr>
            <a:r>
              <a:rPr lang="en-US" sz="2200"/>
              <a:t>(1) Select the &lt;Name or Personal Details&gt; option from the main menu.</a:t>
            </a:r>
          </a:p>
          <a:p>
            <a:pPr marL="352425" indent="-352425">
              <a:buNone/>
            </a:pPr>
            <a:r>
              <a:rPr lang="en-US" sz="2200"/>
              <a:t>(2) Select the ‘input’ option from the &lt;Name or Personal Details&gt; menu.</a:t>
            </a:r>
          </a:p>
          <a:p>
            <a:pPr marL="352425" indent="-352425">
              <a:buNone/>
            </a:pPr>
            <a:r>
              <a:rPr lang="en-US" sz="2200"/>
              <a:t>(3) </a:t>
            </a:r>
            <a:r>
              <a:rPr lang="en-US" sz="2200" i="1"/>
              <a:t>Select ‘Mr’ from the ‘Title’ drop-down menu.</a:t>
            </a:r>
          </a:p>
          <a:p>
            <a:pPr marL="352425" indent="-352425">
              <a:buNone/>
            </a:pPr>
            <a:r>
              <a:rPr lang="en-US" sz="2200"/>
              <a:t>(4) Check that the cursor moves to the ‘surname’ ﬁeld.</a:t>
            </a:r>
          </a:p>
          <a:p>
            <a:pPr marL="352425" indent="-352425">
              <a:buNone/>
            </a:pPr>
            <a:r>
              <a:rPr lang="en-US" sz="2200" i="1"/>
              <a:t>(5) Type in ‘Hambling’ and press the tab key once; check that the cursor moves to the ‘ﬁrst name’ ﬁeld.</a:t>
            </a:r>
          </a:p>
          <a:p>
            <a:pPr marL="352425" indent="-352425">
              <a:buNone/>
            </a:pPr>
            <a:r>
              <a:rPr lang="en-US" sz="2200"/>
              <a:t>(6) </a:t>
            </a:r>
            <a:r>
              <a:rPr lang="en-US" sz="2200" i="1"/>
              <a:t>Type in ‘Brian’ and press the Enter key.</a:t>
            </a:r>
          </a:p>
          <a:p>
            <a:pPr marL="352425" indent="-352425">
              <a:buNone/>
            </a:pPr>
            <a:r>
              <a:rPr lang="en-US" sz="2200"/>
              <a:t>(7) Check that the Job Input screen is displayed.</a:t>
            </a:r>
          </a:p>
          <a:p>
            <a:pPr marL="352425" indent="-352425">
              <a:buNone/>
            </a:pPr>
            <a:r>
              <a:rPr lang="en-US" sz="2200"/>
              <a:t>(8) . . .</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54</a:t>
            </a:fld>
            <a:endParaRPr lang="en-US"/>
          </a:p>
        </p:txBody>
      </p:sp>
    </p:spTree>
    <p:extLst>
      <p:ext uri="{BB962C8B-B14F-4D97-AF65-F5344CB8AC3E}">
        <p14:creationId xmlns:p14="http://schemas.microsoft.com/office/powerpoint/2010/main" val="15306273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Black-box techniques</a:t>
            </a:r>
            <a:br>
              <a:rPr lang="en-US"/>
            </a:br>
            <a:r>
              <a:rPr lang="en-US"/>
              <a:t>Decision tables testing</a:t>
            </a:r>
          </a:p>
        </p:txBody>
      </p:sp>
      <p:sp>
        <p:nvSpPr>
          <p:cNvPr id="3" name="Content Placeholder 2"/>
          <p:cNvSpPr>
            <a:spLocks noGrp="1"/>
          </p:cNvSpPr>
          <p:nvPr>
            <p:ph idx="1"/>
          </p:nvPr>
        </p:nvSpPr>
        <p:spPr/>
        <p:txBody>
          <a:bodyPr>
            <a:normAutofit/>
          </a:bodyPr>
          <a:lstStyle/>
          <a:p>
            <a:r>
              <a:rPr lang="en-US"/>
              <a:t>Example</a:t>
            </a:r>
          </a:p>
          <a:p>
            <a:pPr lvl="1"/>
            <a:r>
              <a:rPr lang="en-US"/>
              <a:t>A supermarket has a loyalty scheme that is offered to all customers. </a:t>
            </a:r>
            <a:r>
              <a:rPr lang="en-US">
                <a:solidFill>
                  <a:srgbClr val="0070C0"/>
                </a:solidFill>
              </a:rPr>
              <a:t>Loyalty cardholders</a:t>
            </a:r>
            <a:r>
              <a:rPr lang="en-US"/>
              <a:t> enjoy the benefits of either </a:t>
            </a:r>
            <a:r>
              <a:rPr lang="en-US">
                <a:solidFill>
                  <a:srgbClr val="FF0000"/>
                </a:solidFill>
              </a:rPr>
              <a:t>additional discounts </a:t>
            </a:r>
            <a:r>
              <a:rPr lang="en-US"/>
              <a:t>on all purchases or the acquisition of </a:t>
            </a:r>
            <a:r>
              <a:rPr lang="en-US">
                <a:solidFill>
                  <a:srgbClr val="FF0000"/>
                </a:solidFill>
              </a:rPr>
              <a:t>loyalty points</a:t>
            </a:r>
            <a:r>
              <a:rPr lang="en-US"/>
              <a:t>, which can be converted into vouchers for the supermarket or to equivalent points in schemes run by partners. </a:t>
            </a:r>
            <a:r>
              <a:rPr lang="en-US">
                <a:solidFill>
                  <a:srgbClr val="0070C0"/>
                </a:solidFill>
              </a:rPr>
              <a:t>Customers without a loyalty card </a:t>
            </a:r>
            <a:r>
              <a:rPr lang="en-US"/>
              <a:t>receive an additional discount only if they </a:t>
            </a:r>
            <a:r>
              <a:rPr lang="en-US">
                <a:solidFill>
                  <a:srgbClr val="0070C0"/>
                </a:solidFill>
              </a:rPr>
              <a:t>spend more than £100 </a:t>
            </a:r>
            <a:r>
              <a:rPr lang="en-US"/>
              <a:t>on any one visit to the store, otherwise only the special offers offered to all customers apply.</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55</a:t>
            </a:fld>
            <a:endParaRPr lang="en-US"/>
          </a:p>
        </p:txBody>
      </p:sp>
    </p:spTree>
    <p:extLst>
      <p:ext uri="{BB962C8B-B14F-4D97-AF65-F5344CB8AC3E}">
        <p14:creationId xmlns:p14="http://schemas.microsoft.com/office/powerpoint/2010/main" val="235220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Black-box techniques</a:t>
            </a:r>
            <a:br>
              <a:rPr lang="en-US"/>
            </a:br>
            <a:r>
              <a:rPr lang="en-US"/>
              <a:t>Decision tables testing</a:t>
            </a:r>
          </a:p>
        </p:txBody>
      </p:sp>
      <p:sp>
        <p:nvSpPr>
          <p:cNvPr id="3" name="Content Placeholder 2"/>
          <p:cNvSpPr>
            <a:spLocks noGrp="1"/>
          </p:cNvSpPr>
          <p:nvPr>
            <p:ph idx="1"/>
          </p:nvPr>
        </p:nvSpPr>
        <p:spPr/>
        <p:txBody>
          <a:bodyPr/>
          <a:lstStyle/>
          <a:p>
            <a:r>
              <a:rPr lang="en-US"/>
              <a:t>Solution</a:t>
            </a:r>
          </a:p>
        </p:txBody>
      </p:sp>
      <p:graphicFrame>
        <p:nvGraphicFramePr>
          <p:cNvPr id="4" name="Table 3"/>
          <p:cNvGraphicFramePr>
            <a:graphicFrameLocks noGrp="1"/>
          </p:cNvGraphicFramePr>
          <p:nvPr>
            <p:extLst>
              <p:ext uri="{D42A27DB-BD31-4B8C-83A1-F6EECF244321}">
                <p14:modId xmlns:p14="http://schemas.microsoft.com/office/powerpoint/2010/main" val="2477648733"/>
              </p:ext>
            </p:extLst>
          </p:nvPr>
        </p:nvGraphicFramePr>
        <p:xfrm>
          <a:off x="533400" y="2438400"/>
          <a:ext cx="7924800" cy="4211320"/>
        </p:xfrm>
        <a:graphic>
          <a:graphicData uri="http://schemas.openxmlformats.org/drawingml/2006/table">
            <a:tbl>
              <a:tblPr firstRow="1" bandRow="1">
                <a:tableStyleId>{5C22544A-7EE6-4342-B048-85BDC9FD1C3A}</a:tableStyleId>
              </a:tblPr>
              <a:tblGrid>
                <a:gridCol w="3844452">
                  <a:extLst>
                    <a:ext uri="{9D8B030D-6E8A-4147-A177-3AD203B41FA5}">
                      <a16:colId xmlns:a16="http://schemas.microsoft.com/office/drawing/2014/main" val="20000"/>
                    </a:ext>
                  </a:extLst>
                </a:gridCol>
                <a:gridCol w="1020087">
                  <a:extLst>
                    <a:ext uri="{9D8B030D-6E8A-4147-A177-3AD203B41FA5}">
                      <a16:colId xmlns:a16="http://schemas.microsoft.com/office/drawing/2014/main" val="20001"/>
                    </a:ext>
                  </a:extLst>
                </a:gridCol>
                <a:gridCol w="1020087">
                  <a:extLst>
                    <a:ext uri="{9D8B030D-6E8A-4147-A177-3AD203B41FA5}">
                      <a16:colId xmlns:a16="http://schemas.microsoft.com/office/drawing/2014/main" val="20002"/>
                    </a:ext>
                  </a:extLst>
                </a:gridCol>
                <a:gridCol w="1020087">
                  <a:extLst>
                    <a:ext uri="{9D8B030D-6E8A-4147-A177-3AD203B41FA5}">
                      <a16:colId xmlns:a16="http://schemas.microsoft.com/office/drawing/2014/main" val="20003"/>
                    </a:ext>
                  </a:extLst>
                </a:gridCol>
                <a:gridCol w="1020087">
                  <a:extLst>
                    <a:ext uri="{9D8B030D-6E8A-4147-A177-3AD203B41FA5}">
                      <a16:colId xmlns:a16="http://schemas.microsoft.com/office/drawing/2014/main" val="20004"/>
                    </a:ext>
                  </a:extLst>
                </a:gridCol>
              </a:tblGrid>
              <a:tr h="370840">
                <a:tc>
                  <a:txBody>
                    <a:bodyPr/>
                    <a:lstStyle/>
                    <a:p>
                      <a:endParaRPr lang="en-US"/>
                    </a:p>
                  </a:txBody>
                  <a:tcPr/>
                </a:tc>
                <a:tc>
                  <a:txBody>
                    <a:bodyPr/>
                    <a:lstStyle/>
                    <a:p>
                      <a:r>
                        <a:rPr lang="en-US"/>
                        <a:t>Rule 1</a:t>
                      </a:r>
                    </a:p>
                  </a:txBody>
                  <a:tcPr/>
                </a:tc>
                <a:tc>
                  <a:txBody>
                    <a:bodyPr/>
                    <a:lstStyle/>
                    <a:p>
                      <a:r>
                        <a:rPr lang="en-US"/>
                        <a:t>Rule 2</a:t>
                      </a:r>
                    </a:p>
                  </a:txBody>
                  <a:tcPr/>
                </a:tc>
                <a:tc>
                  <a:txBody>
                    <a:bodyPr/>
                    <a:lstStyle/>
                    <a:p>
                      <a:r>
                        <a:rPr lang="en-US"/>
                        <a:t>Rule 3</a:t>
                      </a:r>
                    </a:p>
                  </a:txBody>
                  <a:tcPr/>
                </a:tc>
                <a:tc>
                  <a:txBody>
                    <a:bodyPr/>
                    <a:lstStyle/>
                    <a:p>
                      <a:r>
                        <a:rPr lang="en-US"/>
                        <a:t>Rule 4</a:t>
                      </a:r>
                    </a:p>
                  </a:txBody>
                  <a:tcPr/>
                </a:tc>
                <a:extLst>
                  <a:ext uri="{0D108BD9-81ED-4DB2-BD59-A6C34878D82A}">
                    <a16:rowId xmlns:a16="http://schemas.microsoft.com/office/drawing/2014/main" val="10000"/>
                  </a:ext>
                </a:extLst>
              </a:tr>
              <a:tr h="370840">
                <a:tc>
                  <a:txBody>
                    <a:bodyPr/>
                    <a:lstStyle/>
                    <a:p>
                      <a:pPr algn="ctr"/>
                      <a:r>
                        <a:rPr lang="en-US" sz="2200" b="1"/>
                        <a:t>Conditions</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10001"/>
                  </a:ext>
                </a:extLst>
              </a:tr>
              <a:tr h="370840">
                <a:tc>
                  <a:txBody>
                    <a:bodyPr/>
                    <a:lstStyle/>
                    <a:p>
                      <a:r>
                        <a:rPr lang="en-US" sz="2200"/>
                        <a:t>Customer without loyalty card</a:t>
                      </a:r>
                    </a:p>
                  </a:txBody>
                  <a:tcPr/>
                </a:tc>
                <a:tc>
                  <a:txBody>
                    <a:bodyPr/>
                    <a:lstStyle/>
                    <a:p>
                      <a:pPr algn="ctr"/>
                      <a:r>
                        <a:rPr lang="en-US"/>
                        <a:t>T</a:t>
                      </a:r>
                    </a:p>
                  </a:txBody>
                  <a:tcPr/>
                </a:tc>
                <a:tc>
                  <a:txBody>
                    <a:bodyPr/>
                    <a:lstStyle/>
                    <a:p>
                      <a:pPr algn="ctr"/>
                      <a:r>
                        <a:rPr lang="en-US"/>
                        <a:t>T</a:t>
                      </a:r>
                    </a:p>
                  </a:txBody>
                  <a:tcPr/>
                </a:tc>
                <a:tc>
                  <a:txBody>
                    <a:bodyPr/>
                    <a:lstStyle/>
                    <a:p>
                      <a:pPr algn="ctr"/>
                      <a:r>
                        <a:rPr lang="en-US"/>
                        <a:t>F</a:t>
                      </a:r>
                    </a:p>
                  </a:txBody>
                  <a:tcPr/>
                </a:tc>
                <a:tc>
                  <a:txBody>
                    <a:bodyPr/>
                    <a:lstStyle/>
                    <a:p>
                      <a:pPr algn="ctr"/>
                      <a:r>
                        <a:rPr lang="en-US"/>
                        <a:t>F</a:t>
                      </a:r>
                    </a:p>
                  </a:txBody>
                  <a:tcPr/>
                </a:tc>
                <a:extLst>
                  <a:ext uri="{0D108BD9-81ED-4DB2-BD59-A6C34878D82A}">
                    <a16:rowId xmlns:a16="http://schemas.microsoft.com/office/drawing/2014/main" val="10002"/>
                  </a:ext>
                </a:extLst>
              </a:tr>
              <a:tr h="370840">
                <a:tc>
                  <a:txBody>
                    <a:bodyPr/>
                    <a:lstStyle/>
                    <a:p>
                      <a:r>
                        <a:rPr lang="en-US" sz="2200"/>
                        <a:t>Customer with loyalty card</a:t>
                      </a:r>
                    </a:p>
                  </a:txBody>
                  <a:tcPr/>
                </a:tc>
                <a:tc>
                  <a:txBody>
                    <a:bodyPr/>
                    <a:lstStyle/>
                    <a:p>
                      <a:pPr algn="ctr"/>
                      <a:r>
                        <a:rPr lang="en-US"/>
                        <a:t>F</a:t>
                      </a:r>
                    </a:p>
                  </a:txBody>
                  <a:tcPr/>
                </a:tc>
                <a:tc>
                  <a:txBody>
                    <a:bodyPr/>
                    <a:lstStyle/>
                    <a:p>
                      <a:pPr algn="ctr"/>
                      <a:r>
                        <a:rPr lang="en-US"/>
                        <a:t>F</a:t>
                      </a:r>
                    </a:p>
                  </a:txBody>
                  <a:tcPr/>
                </a:tc>
                <a:tc>
                  <a:txBody>
                    <a:bodyPr/>
                    <a:lstStyle/>
                    <a:p>
                      <a:pPr algn="ctr"/>
                      <a:r>
                        <a:rPr lang="en-US"/>
                        <a:t>T</a:t>
                      </a:r>
                    </a:p>
                  </a:txBody>
                  <a:tcPr/>
                </a:tc>
                <a:tc>
                  <a:txBody>
                    <a:bodyPr/>
                    <a:lstStyle/>
                    <a:p>
                      <a:pPr algn="ctr"/>
                      <a:r>
                        <a:rPr lang="en-US"/>
                        <a:t>T</a:t>
                      </a:r>
                    </a:p>
                  </a:txBody>
                  <a:tcPr/>
                </a:tc>
                <a:extLst>
                  <a:ext uri="{0D108BD9-81ED-4DB2-BD59-A6C34878D82A}">
                    <a16:rowId xmlns:a16="http://schemas.microsoft.com/office/drawing/2014/main" val="10003"/>
                  </a:ext>
                </a:extLst>
              </a:tr>
              <a:tr h="370840">
                <a:tc>
                  <a:txBody>
                    <a:bodyPr/>
                    <a:lstStyle/>
                    <a:p>
                      <a:r>
                        <a:rPr lang="en-US" sz="2200">
                          <a:solidFill>
                            <a:srgbClr val="FF0000"/>
                          </a:solidFill>
                        </a:rPr>
                        <a:t>Extra discount selected</a:t>
                      </a:r>
                    </a:p>
                  </a:txBody>
                  <a:tcPr/>
                </a:tc>
                <a:tc>
                  <a:txBody>
                    <a:bodyPr/>
                    <a:lstStyle/>
                    <a:p>
                      <a:pPr algn="ctr"/>
                      <a:r>
                        <a:rPr lang="en-US"/>
                        <a:t>-</a:t>
                      </a:r>
                    </a:p>
                  </a:txBody>
                  <a:tcPr/>
                </a:tc>
                <a:tc>
                  <a:txBody>
                    <a:bodyPr/>
                    <a:lstStyle/>
                    <a:p>
                      <a:pPr algn="ctr"/>
                      <a:r>
                        <a:rPr lang="en-US"/>
                        <a:t>-</a:t>
                      </a:r>
                    </a:p>
                  </a:txBody>
                  <a:tcPr/>
                </a:tc>
                <a:tc>
                  <a:txBody>
                    <a:bodyPr/>
                    <a:lstStyle/>
                    <a:p>
                      <a:pPr algn="ctr"/>
                      <a:r>
                        <a:rPr lang="en-US"/>
                        <a:t>T</a:t>
                      </a:r>
                    </a:p>
                  </a:txBody>
                  <a:tcPr/>
                </a:tc>
                <a:tc>
                  <a:txBody>
                    <a:bodyPr/>
                    <a:lstStyle/>
                    <a:p>
                      <a:pPr algn="ctr"/>
                      <a:r>
                        <a:rPr lang="en-US"/>
                        <a:t>F</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a:t>Spend &gt; £100</a:t>
                      </a:r>
                    </a:p>
                  </a:txBody>
                  <a:tcPr/>
                </a:tc>
                <a:tc>
                  <a:txBody>
                    <a:bodyPr/>
                    <a:lstStyle/>
                    <a:p>
                      <a:pPr algn="ctr"/>
                      <a:r>
                        <a:rPr lang="en-US"/>
                        <a:t>F</a:t>
                      </a:r>
                    </a:p>
                  </a:txBody>
                  <a:tcPr/>
                </a:tc>
                <a:tc>
                  <a:txBody>
                    <a:bodyPr/>
                    <a:lstStyle/>
                    <a:p>
                      <a:pPr algn="ctr"/>
                      <a:r>
                        <a:rPr lang="en-US"/>
                        <a:t>T</a:t>
                      </a:r>
                    </a:p>
                  </a:txBody>
                  <a:tcPr/>
                </a:tc>
                <a:tc>
                  <a:txBody>
                    <a:bodyPr/>
                    <a:lstStyle/>
                    <a:p>
                      <a:pPr algn="ctr"/>
                      <a:r>
                        <a:rPr lang="en-US"/>
                        <a:t>-</a:t>
                      </a:r>
                    </a:p>
                  </a:txBody>
                  <a:tcPr/>
                </a:tc>
                <a:tc>
                  <a:txBody>
                    <a:bodyPr/>
                    <a:lstStyle/>
                    <a:p>
                      <a:pPr algn="ctr"/>
                      <a:endParaRPr lang="en-US"/>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200" b="1"/>
                        <a:t>Actions</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a:t>No discount</a:t>
                      </a:r>
                    </a:p>
                  </a:txBody>
                  <a:tcPr/>
                </a:tc>
                <a:tc>
                  <a:txBody>
                    <a:bodyPr/>
                    <a:lstStyle/>
                    <a:p>
                      <a:pPr algn="ctr"/>
                      <a:r>
                        <a:rPr lang="en-US"/>
                        <a:t>T</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1000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a:t>Extra discount</a:t>
                      </a:r>
                    </a:p>
                  </a:txBody>
                  <a:tcPr/>
                </a:tc>
                <a:tc>
                  <a:txBody>
                    <a:bodyPr/>
                    <a:lstStyle/>
                    <a:p>
                      <a:pPr algn="ctr"/>
                      <a:endParaRPr lang="en-US"/>
                    </a:p>
                  </a:txBody>
                  <a:tcPr/>
                </a:tc>
                <a:tc>
                  <a:txBody>
                    <a:bodyPr/>
                    <a:lstStyle/>
                    <a:p>
                      <a:pPr algn="ctr"/>
                      <a:r>
                        <a:rPr lang="en-US"/>
                        <a:t>T</a:t>
                      </a:r>
                    </a:p>
                  </a:txBody>
                  <a:tcPr/>
                </a:tc>
                <a:tc>
                  <a:txBody>
                    <a:bodyPr/>
                    <a:lstStyle/>
                    <a:p>
                      <a:pPr algn="ctr"/>
                      <a:r>
                        <a:rPr lang="en-US"/>
                        <a:t>T</a:t>
                      </a:r>
                    </a:p>
                  </a:txBody>
                  <a:tcPr/>
                </a:tc>
                <a:tc>
                  <a:txBody>
                    <a:bodyPr/>
                    <a:lstStyle/>
                    <a:p>
                      <a:pPr algn="ctr"/>
                      <a:endParaRPr lang="en-US"/>
                    </a:p>
                  </a:txBody>
                  <a:tcPr/>
                </a:tc>
                <a:extLst>
                  <a:ext uri="{0D108BD9-81ED-4DB2-BD59-A6C34878D82A}">
                    <a16:rowId xmlns:a16="http://schemas.microsoft.com/office/drawing/2014/main" val="1000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a:t>Loyalty points</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r>
                        <a:rPr lang="en-US"/>
                        <a:t>T</a:t>
                      </a:r>
                    </a:p>
                  </a:txBody>
                  <a:tcPr/>
                </a:tc>
                <a:extLst>
                  <a:ext uri="{0D108BD9-81ED-4DB2-BD59-A6C34878D82A}">
                    <a16:rowId xmlns:a16="http://schemas.microsoft.com/office/drawing/2014/main" val="10009"/>
                  </a:ext>
                </a:extLst>
              </a:tr>
            </a:tbl>
          </a:graphicData>
        </a:graphic>
      </p:graphicFrame>
      <p:sp>
        <p:nvSpPr>
          <p:cNvPr id="7" name="Slide Number Placeholder 6"/>
          <p:cNvSpPr>
            <a:spLocks noGrp="1"/>
          </p:cNvSpPr>
          <p:nvPr>
            <p:ph type="sldNum" sz="quarter" idx="12"/>
          </p:nvPr>
        </p:nvSpPr>
        <p:spPr/>
        <p:txBody>
          <a:bodyPr/>
          <a:lstStyle/>
          <a:p>
            <a:r>
              <a:rPr lang="en-US"/>
              <a:t>Slide </a:t>
            </a:r>
            <a:fld id="{3900DC13-0C25-439E-AA75-E5DAAC4C3713}" type="slidenum">
              <a:rPr lang="en-US" smtClean="0"/>
              <a:pPr/>
              <a:t>56</a:t>
            </a:fld>
            <a:endParaRPr lang="en-US"/>
          </a:p>
        </p:txBody>
      </p:sp>
    </p:spTree>
    <p:extLst>
      <p:ext uri="{BB962C8B-B14F-4D97-AF65-F5344CB8AC3E}">
        <p14:creationId xmlns:p14="http://schemas.microsoft.com/office/powerpoint/2010/main" val="34355163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EP and BVA exercise</a:t>
            </a:r>
          </a:p>
        </p:txBody>
      </p:sp>
      <p:sp>
        <p:nvSpPr>
          <p:cNvPr id="3" name="Content Placeholder 2"/>
          <p:cNvSpPr>
            <a:spLocks noGrp="1"/>
          </p:cNvSpPr>
          <p:nvPr>
            <p:ph idx="1"/>
          </p:nvPr>
        </p:nvSpPr>
        <p:spPr/>
        <p:txBody>
          <a:bodyPr/>
          <a:lstStyle/>
          <a:p>
            <a:r>
              <a:rPr lang="en-US"/>
              <a:t>Exercise 3</a:t>
            </a:r>
          </a:p>
          <a:p>
            <a:pPr marL="393192" lvl="1" indent="0">
              <a:buNone/>
            </a:pPr>
            <a:r>
              <a:rPr lang="en-US"/>
              <a:t>A system is designed to accept scores from independent markers who have marked the same examination script. Each script should have 5 individual marks, each of which is out of 20, and a total for the script. Two markers’ scores are compared and differences greater than 3 in any question score or 10 overall are flagged for further examination.</a:t>
            </a:r>
          </a:p>
          <a:p>
            <a:pPr marL="393192" lvl="1" indent="0">
              <a:buNone/>
            </a:pPr>
            <a:r>
              <a:rPr lang="en-US"/>
              <a:t>Using equivalence partitioning and boundary value analysis identify the boundary values that you would explore for this scenario.</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57</a:t>
            </a:fld>
            <a:endParaRPr lang="en-US"/>
          </a:p>
        </p:txBody>
      </p:sp>
    </p:spTree>
    <p:extLst>
      <p:ext uri="{BB962C8B-B14F-4D97-AF65-F5344CB8AC3E}">
        <p14:creationId xmlns:p14="http://schemas.microsoft.com/office/powerpoint/2010/main" val="27008018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73207891"/>
              </p:ext>
            </p:extLst>
          </p:nvPr>
        </p:nvGraphicFramePr>
        <p:xfrm>
          <a:off x="457200" y="2362200"/>
          <a:ext cx="7848600" cy="2834640"/>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gridCol w="1752600">
                  <a:extLst>
                    <a:ext uri="{9D8B030D-6E8A-4147-A177-3AD203B41FA5}">
                      <a16:colId xmlns:a16="http://schemas.microsoft.com/office/drawing/2014/main" val="20004"/>
                    </a:ext>
                  </a:extLst>
                </a:gridCol>
              </a:tblGrid>
              <a:tr h="370840">
                <a:tc>
                  <a:txBody>
                    <a:bodyPr/>
                    <a:lstStyle/>
                    <a:p>
                      <a:endParaRPr lang="en-US" sz="2400">
                        <a:latin typeface="+mj-lt"/>
                      </a:endParaRPr>
                    </a:p>
                  </a:txBody>
                  <a:tcPr/>
                </a:tc>
                <a:tc>
                  <a:txBody>
                    <a:bodyPr/>
                    <a:lstStyle/>
                    <a:p>
                      <a:r>
                        <a:rPr lang="en-US" sz="2400">
                          <a:latin typeface="+mj-lt"/>
                        </a:rPr>
                        <a:t>Question scores </a:t>
                      </a:r>
                    </a:p>
                  </a:txBody>
                  <a:tcPr/>
                </a:tc>
                <a:tc>
                  <a:txBody>
                    <a:bodyPr/>
                    <a:lstStyle/>
                    <a:p>
                      <a:r>
                        <a:rPr lang="en-US" sz="2400">
                          <a:latin typeface="+mj-lt"/>
                        </a:rPr>
                        <a:t>Total </a:t>
                      </a:r>
                    </a:p>
                  </a:txBody>
                  <a:tcPr/>
                </a:tc>
                <a:tc>
                  <a:txBody>
                    <a:bodyPr/>
                    <a:lstStyle/>
                    <a:p>
                      <a:r>
                        <a:rPr lang="en-US" sz="2400">
                          <a:latin typeface="+mj-lt"/>
                        </a:rPr>
                        <a:t>Question differences</a:t>
                      </a:r>
                    </a:p>
                  </a:txBody>
                  <a:tcPr/>
                </a:tc>
                <a:tc>
                  <a:txBody>
                    <a:bodyPr/>
                    <a:lstStyle/>
                    <a:p>
                      <a:r>
                        <a:rPr lang="en-US" sz="2400">
                          <a:latin typeface="+mj-lt"/>
                        </a:rPr>
                        <a:t>Total differences </a:t>
                      </a:r>
                    </a:p>
                  </a:txBody>
                  <a:tcPr/>
                </a:tc>
                <a:extLst>
                  <a:ext uri="{0D108BD9-81ED-4DB2-BD59-A6C34878D82A}">
                    <a16:rowId xmlns:a16="http://schemas.microsoft.com/office/drawing/2014/main" val="10000"/>
                  </a:ext>
                </a:extLst>
              </a:tr>
              <a:tr h="370840">
                <a:tc>
                  <a:txBody>
                    <a:bodyPr/>
                    <a:lstStyle/>
                    <a:p>
                      <a:r>
                        <a:rPr lang="en-US" sz="2400">
                          <a:latin typeface="+mj-lt"/>
                        </a:rPr>
                        <a:t>Partitions</a:t>
                      </a:r>
                    </a:p>
                  </a:txBody>
                  <a:tcPr/>
                </a:tc>
                <a:tc>
                  <a:txBody>
                    <a:bodyPr/>
                    <a:lstStyle/>
                    <a:p>
                      <a:pPr algn="ctr"/>
                      <a:r>
                        <a:rPr lang="en-US" sz="2400">
                          <a:latin typeface="+mj-lt"/>
                        </a:rPr>
                        <a:t>0-20</a:t>
                      </a:r>
                    </a:p>
                  </a:txBody>
                  <a:tcPr/>
                </a:tc>
                <a:tc>
                  <a:txBody>
                    <a:bodyPr/>
                    <a:lstStyle/>
                    <a:p>
                      <a:pPr algn="ctr"/>
                      <a:r>
                        <a:rPr lang="en-US" sz="2400">
                          <a:latin typeface="+mj-lt"/>
                        </a:rPr>
                        <a:t>0-100</a:t>
                      </a:r>
                    </a:p>
                  </a:txBody>
                  <a:tcPr/>
                </a:tc>
                <a:tc>
                  <a:txBody>
                    <a:bodyPr/>
                    <a:lstStyle/>
                    <a:p>
                      <a:pPr algn="ctr"/>
                      <a:r>
                        <a:rPr lang="en-US" sz="2400">
                          <a:latin typeface="+mj-lt"/>
                        </a:rPr>
                        <a:t>0-3 and &gt;3</a:t>
                      </a:r>
                    </a:p>
                  </a:txBody>
                  <a:tcPr/>
                </a:tc>
                <a:tc>
                  <a:txBody>
                    <a:bodyPr/>
                    <a:lstStyle/>
                    <a:p>
                      <a:pPr algn="ctr"/>
                      <a:r>
                        <a:rPr lang="en-US" sz="2400">
                          <a:latin typeface="+mj-lt"/>
                        </a:rPr>
                        <a:t>1-10 and &gt;10</a:t>
                      </a:r>
                    </a:p>
                  </a:txBody>
                  <a:tcPr/>
                </a:tc>
                <a:extLst>
                  <a:ext uri="{0D108BD9-81ED-4DB2-BD59-A6C34878D82A}">
                    <a16:rowId xmlns:a16="http://schemas.microsoft.com/office/drawing/2014/main" val="10001"/>
                  </a:ext>
                </a:extLst>
              </a:tr>
              <a:tr h="370840">
                <a:tc>
                  <a:txBody>
                    <a:bodyPr/>
                    <a:lstStyle/>
                    <a:p>
                      <a:r>
                        <a:rPr lang="en-US" sz="2400">
                          <a:latin typeface="+mj-lt"/>
                        </a:rPr>
                        <a:t>Boundary values </a:t>
                      </a:r>
                    </a:p>
                  </a:txBody>
                  <a:tcPr/>
                </a:tc>
                <a:tc>
                  <a:txBody>
                    <a:bodyPr/>
                    <a:lstStyle/>
                    <a:p>
                      <a:pPr algn="ctr"/>
                      <a:r>
                        <a:rPr lang="en-US" sz="2400">
                          <a:latin typeface="+mj-lt"/>
                        </a:rPr>
                        <a:t>−1, 0</a:t>
                      </a:r>
                      <a:r>
                        <a:rPr lang="en-US" sz="2400" baseline="0">
                          <a:latin typeface="+mj-lt"/>
                        </a:rPr>
                        <a:t> </a:t>
                      </a:r>
                      <a:r>
                        <a:rPr lang="en-US" sz="2400">
                          <a:latin typeface="+mj-lt"/>
                        </a:rPr>
                        <a:t>and 20, 21 </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a:latin typeface="+mj-lt"/>
                        </a:rPr>
                        <a:t>−1, 0</a:t>
                      </a:r>
                    </a:p>
                    <a:p>
                      <a:pPr marL="0" marR="0" indent="0" algn="ctr" defTabSz="914400" rtl="0" eaLnBrk="1" fontAlgn="auto" latinLnBrk="0" hangingPunct="1">
                        <a:lnSpc>
                          <a:spcPct val="100000"/>
                        </a:lnSpc>
                        <a:spcBef>
                          <a:spcPts val="0"/>
                        </a:spcBef>
                        <a:spcAft>
                          <a:spcPts val="0"/>
                        </a:spcAft>
                        <a:buClrTx/>
                        <a:buSzTx/>
                        <a:buFontTx/>
                        <a:buNone/>
                        <a:tabLst/>
                        <a:defRPr/>
                      </a:pPr>
                      <a:r>
                        <a:rPr lang="en-US" sz="2400">
                          <a:latin typeface="+mj-lt"/>
                        </a:rPr>
                        <a:t>and 100, 101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a:latin typeface="+mj-lt"/>
                        </a:rPr>
                        <a:t>−1, 0</a:t>
                      </a:r>
                      <a:r>
                        <a:rPr lang="en-US" sz="2400" baseline="0">
                          <a:latin typeface="+mj-lt"/>
                        </a:rPr>
                        <a:t> </a:t>
                      </a:r>
                      <a:r>
                        <a:rPr lang="en-US" sz="2400">
                          <a:latin typeface="+mj-lt"/>
                        </a:rPr>
                        <a:t>and 3, 4</a:t>
                      </a:r>
                    </a:p>
                    <a:p>
                      <a:pPr algn="ctr"/>
                      <a:endParaRPr lang="en-US" sz="2400">
                        <a:latin typeface="+mj-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a:latin typeface="+mj-lt"/>
                        </a:rPr>
                        <a:t>0, 1</a:t>
                      </a:r>
                    </a:p>
                    <a:p>
                      <a:pPr marL="0" marR="0" indent="0" algn="ctr" defTabSz="914400" rtl="0" eaLnBrk="1" fontAlgn="auto" latinLnBrk="0" hangingPunct="1">
                        <a:lnSpc>
                          <a:spcPct val="100000"/>
                        </a:lnSpc>
                        <a:spcBef>
                          <a:spcPts val="0"/>
                        </a:spcBef>
                        <a:spcAft>
                          <a:spcPts val="0"/>
                        </a:spcAft>
                        <a:buClrTx/>
                        <a:buSzTx/>
                        <a:buFontTx/>
                        <a:buNone/>
                        <a:tabLst/>
                        <a:defRPr/>
                      </a:pPr>
                      <a:r>
                        <a:rPr lang="en-US" sz="2400">
                          <a:latin typeface="+mj-lt"/>
                        </a:rPr>
                        <a:t>and 10, 11</a:t>
                      </a:r>
                    </a:p>
                  </a:txBody>
                  <a:tcPr/>
                </a:tc>
                <a:extLst>
                  <a:ext uri="{0D108BD9-81ED-4DB2-BD59-A6C34878D82A}">
                    <a16:rowId xmlns:a16="http://schemas.microsoft.com/office/drawing/2014/main" val="10002"/>
                  </a:ext>
                </a:extLst>
              </a:tr>
            </a:tbl>
          </a:graphicData>
        </a:graphic>
      </p:graphicFrame>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58</a:t>
            </a:fld>
            <a:endParaRPr lang="en-US"/>
          </a:p>
        </p:txBody>
      </p:sp>
    </p:spTree>
    <p:extLst>
      <p:ext uri="{BB962C8B-B14F-4D97-AF65-F5344CB8AC3E}">
        <p14:creationId xmlns:p14="http://schemas.microsoft.com/office/powerpoint/2010/main" val="18303318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a:t>Lấy ví dụ về Cal: xem “Software Testing_Ron Patton” chapter 5</a:t>
            </a:r>
          </a:p>
          <a:p>
            <a:r>
              <a:rPr lang="en-US"/>
              <a:t>the goal of equivalence partitioning is to reduce the set of possible test cases into a smaller, manageable set that still adequately tests the software. You're taking on risk because you're choosing not to test everything, </a:t>
            </a:r>
            <a:r>
              <a:rPr lang="en-US" b="1"/>
              <a:t>so you need to be careful how you choose your classes</a:t>
            </a:r>
            <a:r>
              <a:rPr lang="en-US"/>
              <a:t>.</a:t>
            </a:r>
          </a:p>
          <a:p>
            <a:r>
              <a:rPr lang="en-US"/>
              <a:t>A final point about equivalence partitioning is that it can be subjective. </a:t>
            </a:r>
            <a:r>
              <a:rPr lang="en-US" b="1"/>
              <a:t>It's science but it's also art</a:t>
            </a:r>
            <a:r>
              <a:rPr lang="en-US"/>
              <a:t>. Two testers who test a complex program may arrive at two different sets of partitions. That's okay as long as the partitions are reviewed and everyone agrees that they acceptably cover the software being tested.</a:t>
            </a:r>
          </a:p>
          <a:p>
            <a:endParaRPr lang="en-US"/>
          </a:p>
        </p:txBody>
      </p:sp>
      <p:sp>
        <p:nvSpPr>
          <p:cNvPr id="5" name="AutoShape 2" descr="mk:@MSITStore:D:\DHCN_Khoa%20KHKTMT\Chuong%20trinh%20LT%20DH\Software%20Testing\Tai%20lieu%20Testing%20-%20Anh\0672327988_Software%20Testing_Ron%20Patton.chm::/0672327988/images/0672327988/graphics/05fig03.gif;446287"/>
          <p:cNvSpPr>
            <a:spLocks noChangeAspect="1" noChangeArrowheads="1"/>
          </p:cNvSpPr>
          <p:nvPr/>
        </p:nvSpPr>
        <p:spPr bwMode="auto">
          <a:xfrm>
            <a:off x="155575" y="-1150938"/>
            <a:ext cx="2476500" cy="2400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6" name="AutoShape 4" descr="mk:@MSITStore:D:\DHCN_Khoa%20KHKTMT\Chuong%20trinh%20LT%20DH\Software%20Testing\Tai%20lieu%20Testing%20-%20Anh\0672327988_Software%20Testing_Ron%20Patton.chm::/0672327988/images/0672327988/graphics/05fig03.gif;446287"/>
          <p:cNvSpPr>
            <a:spLocks noChangeAspect="1" noChangeArrowheads="1"/>
          </p:cNvSpPr>
          <p:nvPr/>
        </p:nvSpPr>
        <p:spPr bwMode="auto">
          <a:xfrm>
            <a:off x="307975" y="-998538"/>
            <a:ext cx="2476500" cy="2400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0"/>
            <a:ext cx="2413000" cy="2359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8"/>
          <p:cNvSpPr>
            <a:spLocks noGrp="1"/>
          </p:cNvSpPr>
          <p:nvPr>
            <p:ph type="sldNum" sz="quarter" idx="12"/>
          </p:nvPr>
        </p:nvSpPr>
        <p:spPr/>
        <p:txBody>
          <a:bodyPr/>
          <a:lstStyle/>
          <a:p>
            <a:r>
              <a:rPr lang="en-US"/>
              <a:t>Slide </a:t>
            </a:r>
            <a:fld id="{3900DC13-0C25-439E-AA75-E5DAAC4C3713}" type="slidenum">
              <a:rPr lang="en-US" smtClean="0"/>
              <a:pPr/>
              <a:t>59</a:t>
            </a:fld>
            <a:endParaRPr lang="en-US"/>
          </a:p>
        </p:txBody>
      </p:sp>
    </p:spTree>
    <p:extLst>
      <p:ext uri="{BB962C8B-B14F-4D97-AF65-F5344CB8AC3E}">
        <p14:creationId xmlns:p14="http://schemas.microsoft.com/office/powerpoint/2010/main" val="3559255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7" name="Rectangle 3"/>
          <p:cNvSpPr>
            <a:spLocks noGrp="1" noChangeArrowheads="1"/>
          </p:cNvSpPr>
          <p:nvPr>
            <p:ph type="body" idx="1"/>
          </p:nvPr>
        </p:nvSpPr>
        <p:spPr>
          <a:xfrm>
            <a:off x="304800" y="1905000"/>
            <a:ext cx="8610600" cy="4495800"/>
          </a:xfrm>
        </p:spPr>
        <p:txBody>
          <a:bodyPr>
            <a:normAutofit fontScale="92500" lnSpcReduction="10000"/>
          </a:bodyPr>
          <a:lstStyle/>
          <a:p>
            <a:pPr eaLnBrk="1" hangingPunct="1">
              <a:lnSpc>
                <a:spcPct val="150000"/>
              </a:lnSpc>
            </a:pPr>
            <a:r>
              <a:rPr lang="en-US" sz="2400"/>
              <a:t>Tổng kết</a:t>
            </a:r>
          </a:p>
          <a:p>
            <a:pPr lvl="1" eaLnBrk="1" hangingPunct="1">
              <a:lnSpc>
                <a:spcPct val="150000"/>
              </a:lnSpc>
            </a:pPr>
            <a:r>
              <a:rPr lang="en-US" sz="2000"/>
              <a:t>Các class lại có thể xếp vào 2 nhóm:</a:t>
            </a:r>
          </a:p>
          <a:p>
            <a:pPr lvl="2" eaLnBrk="1" hangingPunct="1">
              <a:lnSpc>
                <a:spcPct val="150000"/>
              </a:lnSpc>
            </a:pPr>
            <a:r>
              <a:rPr lang="en-US" sz="2000"/>
              <a:t>Positive tests (clean tests):</a:t>
            </a:r>
          </a:p>
          <a:p>
            <a:pPr lvl="3" eaLnBrk="1" hangingPunct="1">
              <a:lnSpc>
                <a:spcPct val="150000"/>
              </a:lnSpc>
            </a:pPr>
            <a:r>
              <a:rPr lang="en-US"/>
              <a:t>Test dựa trên defined requirements</a:t>
            </a:r>
          </a:p>
          <a:p>
            <a:pPr lvl="3" eaLnBrk="1" hangingPunct="1">
              <a:lnSpc>
                <a:spcPct val="150000"/>
              </a:lnSpc>
            </a:pPr>
            <a:r>
              <a:rPr lang="en-US"/>
              <a:t>Test những trường hợp, hoàn cảnh sử dụng thông thường</a:t>
            </a:r>
          </a:p>
          <a:p>
            <a:pPr lvl="2" eaLnBrk="1" hangingPunct="1">
              <a:lnSpc>
                <a:spcPct val="150000"/>
              </a:lnSpc>
            </a:pPr>
            <a:r>
              <a:rPr lang="en-US" sz="2000"/>
              <a:t>Negative tests (dirty tests):</a:t>
            </a:r>
          </a:p>
          <a:p>
            <a:pPr lvl="3" eaLnBrk="1" hangingPunct="1">
              <a:lnSpc>
                <a:spcPct val="150000"/>
              </a:lnSpc>
            </a:pPr>
            <a:r>
              <a:rPr lang="en-US"/>
              <a:t>Test nhằm tìm ra lỗi</a:t>
            </a:r>
          </a:p>
          <a:p>
            <a:pPr lvl="3" eaLnBrk="1" hangingPunct="1">
              <a:lnSpc>
                <a:spcPct val="150000"/>
              </a:lnSpc>
            </a:pPr>
            <a:r>
              <a:rPr lang="en-US"/>
              <a:t>Test những trường hợp, hoàn cảnh sử dụng đặc biệt, bất thường (như invalid input, vượt quá trị biên, chịu stress,…)</a:t>
            </a:r>
          </a:p>
        </p:txBody>
      </p:sp>
      <p:sp>
        <p:nvSpPr>
          <p:cNvPr id="11268" name="Title 1"/>
          <p:cNvSpPr>
            <a:spLocks noGrp="1"/>
          </p:cNvSpPr>
          <p:nvPr>
            <p:ph type="title"/>
          </p:nvPr>
        </p:nvSpPr>
        <p:spPr>
          <a:xfrm>
            <a:off x="228600" y="590550"/>
            <a:ext cx="8686800" cy="1085850"/>
          </a:xfrm>
        </p:spPr>
        <p:txBody>
          <a:bodyPr>
            <a:normAutofit fontScale="90000"/>
          </a:bodyPr>
          <a:lstStyle/>
          <a:p>
            <a:pPr marL="457200" indent="-457200" algn="ctr"/>
            <a:r>
              <a:rPr lang="en-US" sz="3600">
                <a:latin typeface="Times New Roman" pitchFamily="18" charset="0"/>
                <a:cs typeface="Times New Roman" pitchFamily="18" charset="0"/>
              </a:rPr>
              <a:t>4.1. PHÂN CHIA LỚP TƯƠNG ĐƯƠNG (EQUIVALENCE PARTITIONING)</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60</a:t>
            </a:fld>
            <a:endParaRPr lang="en-US"/>
          </a:p>
        </p:txBody>
      </p:sp>
    </p:spTree>
    <p:extLst>
      <p:ext uri="{BB962C8B-B14F-4D97-AF65-F5344CB8AC3E}">
        <p14:creationId xmlns:p14="http://schemas.microsoft.com/office/powerpoint/2010/main" val="29156306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1" name="Rectangle 3"/>
          <p:cNvSpPr>
            <a:spLocks noGrp="1" noChangeArrowheads="1"/>
          </p:cNvSpPr>
          <p:nvPr>
            <p:ph sz="quarter" idx="1"/>
          </p:nvPr>
        </p:nvSpPr>
        <p:spPr>
          <a:xfrm>
            <a:off x="566738" y="1814513"/>
            <a:ext cx="8001000" cy="700087"/>
          </a:xfrm>
        </p:spPr>
        <p:txBody>
          <a:bodyPr/>
          <a:lstStyle/>
          <a:p>
            <a:pPr eaLnBrk="1" hangingPunct="1"/>
            <a:r>
              <a:rPr lang="en-US"/>
              <a:t>Ví dụ: Phương thức đọc 10 ký tự từ bàn phím</a:t>
            </a:r>
          </a:p>
        </p:txBody>
      </p:sp>
      <p:sp>
        <p:nvSpPr>
          <p:cNvPr id="12292" name="Rectangle 4"/>
          <p:cNvSpPr>
            <a:spLocks noChangeArrowheads="1"/>
          </p:cNvSpPr>
          <p:nvPr/>
        </p:nvSpPr>
        <p:spPr bwMode="auto">
          <a:xfrm>
            <a:off x="762000" y="2514600"/>
            <a:ext cx="3733800" cy="35814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2562" tIns="46038" rIns="182562" bIns="46038"/>
          <a:lstStyle/>
          <a:p>
            <a:pPr marL="469900" indent="-469900">
              <a:spcBef>
                <a:spcPct val="20000"/>
              </a:spcBef>
              <a:buClr>
                <a:srgbClr val="009DD9"/>
              </a:buClr>
              <a:buFont typeface="Wingdings" pitchFamily="2" charset="2"/>
              <a:buNone/>
            </a:pPr>
            <a:r>
              <a:rPr lang="en-US" sz="2200">
                <a:solidFill>
                  <a:prstClr val="black"/>
                </a:solidFill>
                <a:latin typeface="Tahoma" pitchFamily="34" charset="0"/>
              </a:rPr>
              <a:t>Example program:</a:t>
            </a:r>
          </a:p>
          <a:p>
            <a:pPr marL="469900" indent="-469900">
              <a:spcBef>
                <a:spcPct val="20000"/>
              </a:spcBef>
              <a:buClr>
                <a:srgbClr val="009DD9"/>
              </a:buClr>
              <a:buFont typeface="Wingdings" pitchFamily="2" charset="2"/>
              <a:buNone/>
            </a:pPr>
            <a:endParaRPr lang="en-US" sz="2200">
              <a:solidFill>
                <a:prstClr val="black"/>
              </a:solidFill>
              <a:latin typeface="Tahoma" pitchFamily="34" charset="0"/>
            </a:endParaRPr>
          </a:p>
          <a:p>
            <a:pPr marL="469900" indent="-469900">
              <a:spcBef>
                <a:spcPct val="20000"/>
              </a:spcBef>
              <a:buClr>
                <a:srgbClr val="009DD9"/>
              </a:buClr>
              <a:buFont typeface="Wingdings" pitchFamily="2" charset="2"/>
              <a:buChar char="o"/>
            </a:pPr>
            <a:r>
              <a:rPr lang="en-US" sz="2200">
                <a:solidFill>
                  <a:prstClr val="black"/>
                </a:solidFill>
                <a:latin typeface="Tahoma" pitchFamily="34" charset="0"/>
              </a:rPr>
              <a:t>Begin</a:t>
            </a:r>
          </a:p>
          <a:p>
            <a:pPr marL="469900" indent="-469900">
              <a:spcBef>
                <a:spcPct val="20000"/>
              </a:spcBef>
              <a:buClr>
                <a:srgbClr val="009DD9"/>
              </a:buClr>
              <a:buFont typeface="Wingdings" pitchFamily="2" charset="2"/>
              <a:buChar char="o"/>
            </a:pPr>
            <a:r>
              <a:rPr lang="en-US" sz="2200">
                <a:solidFill>
                  <a:prstClr val="black"/>
                </a:solidFill>
                <a:latin typeface="Tahoma" pitchFamily="34" charset="0"/>
              </a:rPr>
              <a:t>Read (AAAAAAAAAA)</a:t>
            </a:r>
          </a:p>
          <a:p>
            <a:pPr marL="469900" indent="-469900">
              <a:spcBef>
                <a:spcPct val="20000"/>
              </a:spcBef>
              <a:buClr>
                <a:srgbClr val="009DD9"/>
              </a:buClr>
              <a:buFont typeface="Wingdings" pitchFamily="2" charset="2"/>
              <a:buChar char="o"/>
            </a:pPr>
            <a:r>
              <a:rPr lang="en-US" sz="2200">
                <a:solidFill>
                  <a:prstClr val="black"/>
                </a:solidFill>
                <a:latin typeface="Tahoma" pitchFamily="34" charset="0"/>
              </a:rPr>
              <a:t>Print </a:t>
            </a:r>
          </a:p>
          <a:p>
            <a:pPr marL="469900" indent="-469900">
              <a:spcBef>
                <a:spcPct val="20000"/>
              </a:spcBef>
              <a:buClr>
                <a:srgbClr val="009DD9"/>
              </a:buClr>
              <a:buFont typeface="Wingdings" pitchFamily="2" charset="2"/>
              <a:buChar char="o"/>
            </a:pPr>
            <a:r>
              <a:rPr lang="en-US" sz="2200">
                <a:solidFill>
                  <a:prstClr val="black"/>
                </a:solidFill>
                <a:latin typeface="Tahoma" pitchFamily="34" charset="0"/>
              </a:rPr>
              <a:t>End</a:t>
            </a:r>
          </a:p>
        </p:txBody>
      </p:sp>
      <p:sp>
        <p:nvSpPr>
          <p:cNvPr id="12293" name="Text Box 5"/>
          <p:cNvSpPr txBox="1">
            <a:spLocks noChangeArrowheads="1"/>
          </p:cNvSpPr>
          <p:nvPr/>
        </p:nvSpPr>
        <p:spPr bwMode="auto">
          <a:xfrm>
            <a:off x="5105400" y="3505200"/>
            <a:ext cx="36576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600" b="1">
                <a:solidFill>
                  <a:srgbClr val="4DE1EA"/>
                </a:solidFill>
                <a:latin typeface="Calibri" pitchFamily="34" charset="0"/>
              </a:defRPr>
            </a:lvl1pPr>
            <a:lvl2pPr marL="742950" indent="-285750" eaLnBrk="0" hangingPunct="0">
              <a:defRPr sz="3600" b="1">
                <a:solidFill>
                  <a:srgbClr val="4DE1EA"/>
                </a:solidFill>
                <a:latin typeface="Calibri" pitchFamily="34" charset="0"/>
              </a:defRPr>
            </a:lvl2pPr>
            <a:lvl3pPr marL="1143000" indent="-228600" eaLnBrk="0" hangingPunct="0">
              <a:defRPr sz="3600" b="1">
                <a:solidFill>
                  <a:srgbClr val="4DE1EA"/>
                </a:solidFill>
                <a:latin typeface="Calibri" pitchFamily="34" charset="0"/>
              </a:defRPr>
            </a:lvl3pPr>
            <a:lvl4pPr marL="1600200" indent="-228600" eaLnBrk="0" hangingPunct="0">
              <a:defRPr sz="3600" b="1">
                <a:solidFill>
                  <a:srgbClr val="4DE1EA"/>
                </a:solidFill>
                <a:latin typeface="Calibri" pitchFamily="34" charset="0"/>
              </a:defRPr>
            </a:lvl4pPr>
            <a:lvl5pPr marL="2057400" indent="-228600" eaLnBrk="0" hangingPunct="0">
              <a:defRPr sz="3600" b="1">
                <a:solidFill>
                  <a:srgbClr val="4DE1EA"/>
                </a:solidFill>
                <a:latin typeface="Calibri" pitchFamily="34" charset="0"/>
              </a:defRPr>
            </a:lvl5pPr>
            <a:lvl6pPr marL="2514600" indent="-228600" algn="ctr" eaLnBrk="0" fontAlgn="base" hangingPunct="0">
              <a:spcBef>
                <a:spcPct val="0"/>
              </a:spcBef>
              <a:spcAft>
                <a:spcPct val="0"/>
              </a:spcAft>
              <a:defRPr sz="3600" b="1">
                <a:solidFill>
                  <a:srgbClr val="4DE1EA"/>
                </a:solidFill>
                <a:latin typeface="Calibri" pitchFamily="34" charset="0"/>
              </a:defRPr>
            </a:lvl6pPr>
            <a:lvl7pPr marL="2971800" indent="-228600" algn="ctr" eaLnBrk="0" fontAlgn="base" hangingPunct="0">
              <a:spcBef>
                <a:spcPct val="0"/>
              </a:spcBef>
              <a:spcAft>
                <a:spcPct val="0"/>
              </a:spcAft>
              <a:defRPr sz="3600" b="1">
                <a:solidFill>
                  <a:srgbClr val="4DE1EA"/>
                </a:solidFill>
                <a:latin typeface="Calibri" pitchFamily="34" charset="0"/>
              </a:defRPr>
            </a:lvl7pPr>
            <a:lvl8pPr marL="3429000" indent="-228600" algn="ctr" eaLnBrk="0" fontAlgn="base" hangingPunct="0">
              <a:spcBef>
                <a:spcPct val="0"/>
              </a:spcBef>
              <a:spcAft>
                <a:spcPct val="0"/>
              </a:spcAft>
              <a:defRPr sz="3600" b="1">
                <a:solidFill>
                  <a:srgbClr val="4DE1EA"/>
                </a:solidFill>
                <a:latin typeface="Calibri" pitchFamily="34" charset="0"/>
              </a:defRPr>
            </a:lvl8pPr>
            <a:lvl9pPr marL="3886200" indent="-228600" algn="ctr" eaLnBrk="0" fontAlgn="base" hangingPunct="0">
              <a:spcBef>
                <a:spcPct val="0"/>
              </a:spcBef>
              <a:spcAft>
                <a:spcPct val="0"/>
              </a:spcAft>
              <a:defRPr sz="3600" b="1">
                <a:solidFill>
                  <a:srgbClr val="4DE1EA"/>
                </a:solidFill>
                <a:latin typeface="Calibri" pitchFamily="34" charset="0"/>
              </a:defRPr>
            </a:lvl9pPr>
          </a:lstStyle>
          <a:p>
            <a:pPr eaLnBrk="1" hangingPunct="1">
              <a:lnSpc>
                <a:spcPct val="150000"/>
              </a:lnSpc>
              <a:spcBef>
                <a:spcPct val="50000"/>
              </a:spcBef>
            </a:pPr>
            <a:r>
              <a:rPr lang="en-US" sz="2000">
                <a:solidFill>
                  <a:prstClr val="black"/>
                </a:solidFill>
                <a:latin typeface="Tahoma" pitchFamily="34" charset="0"/>
              </a:rPr>
              <a:t>Phân chia lớp tương đương như thế nào?</a:t>
            </a:r>
          </a:p>
        </p:txBody>
      </p:sp>
      <p:sp>
        <p:nvSpPr>
          <p:cNvPr id="12294" name="Title 1"/>
          <p:cNvSpPr>
            <a:spLocks noGrp="1"/>
          </p:cNvSpPr>
          <p:nvPr>
            <p:ph type="title"/>
          </p:nvPr>
        </p:nvSpPr>
        <p:spPr>
          <a:xfrm>
            <a:off x="228600" y="590550"/>
            <a:ext cx="8686800" cy="1085850"/>
          </a:xfrm>
        </p:spPr>
        <p:txBody>
          <a:bodyPr>
            <a:normAutofit fontScale="90000"/>
          </a:bodyPr>
          <a:lstStyle/>
          <a:p>
            <a:pPr marL="457200" indent="-457200" algn="ctr"/>
            <a:r>
              <a:rPr lang="en-US" sz="3600">
                <a:latin typeface="Times New Roman" pitchFamily="18" charset="0"/>
                <a:cs typeface="Times New Roman" pitchFamily="18" charset="0"/>
              </a:rPr>
              <a:t>4.1. PHÂN CHIA LỚP TƯƠNG ĐƯƠNG (EQUIVALENCE PARTITIONING)</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61</a:t>
            </a:fld>
            <a:endParaRPr lang="en-US"/>
          </a:p>
        </p:txBody>
      </p:sp>
    </p:spTree>
    <p:extLst>
      <p:ext uri="{BB962C8B-B14F-4D97-AF65-F5344CB8AC3E}">
        <p14:creationId xmlns:p14="http://schemas.microsoft.com/office/powerpoint/2010/main" val="11105033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5" name="Rectangle 4"/>
          <p:cNvSpPr>
            <a:spLocks noChangeArrowheads="1"/>
          </p:cNvSpPr>
          <p:nvPr/>
        </p:nvSpPr>
        <p:spPr bwMode="auto">
          <a:xfrm>
            <a:off x="685800" y="2209800"/>
            <a:ext cx="79248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69900" indent="-469900">
              <a:lnSpc>
                <a:spcPct val="90000"/>
              </a:lnSpc>
              <a:spcBef>
                <a:spcPct val="20000"/>
              </a:spcBef>
              <a:buClr>
                <a:srgbClr val="009DD9"/>
              </a:buClr>
              <a:buFont typeface="Wingdings" pitchFamily="2" charset="2"/>
              <a:buChar char="o"/>
            </a:pPr>
            <a:r>
              <a:rPr lang="en-US" sz="2000">
                <a:solidFill>
                  <a:prstClr val="black"/>
                </a:solidFill>
                <a:latin typeface="Tahoma" pitchFamily="34" charset="0"/>
              </a:rPr>
              <a:t>Equivalence classes for “positive” tests:</a:t>
            </a:r>
          </a:p>
          <a:p>
            <a:pPr marL="908050" lvl="1" indent="-436563">
              <a:lnSpc>
                <a:spcPct val="90000"/>
              </a:lnSpc>
              <a:spcBef>
                <a:spcPct val="20000"/>
              </a:spcBef>
              <a:buClr>
                <a:srgbClr val="009DD9"/>
              </a:buClr>
              <a:buFont typeface="Wingdings" pitchFamily="2" charset="2"/>
              <a:buChar char="n"/>
            </a:pPr>
            <a:r>
              <a:rPr lang="en-US" sz="2000">
                <a:solidFill>
                  <a:prstClr val="black"/>
                </a:solidFill>
                <a:latin typeface="Tahoma" pitchFamily="34" charset="0"/>
              </a:rPr>
              <a:t>All 10 inputs consist of the same character in upper case, repeated for each letter of the alphabet.</a:t>
            </a:r>
          </a:p>
          <a:p>
            <a:pPr marL="908050" lvl="1" indent="-436563">
              <a:lnSpc>
                <a:spcPct val="90000"/>
              </a:lnSpc>
              <a:spcBef>
                <a:spcPct val="20000"/>
              </a:spcBef>
              <a:buClr>
                <a:srgbClr val="009DD9"/>
              </a:buClr>
              <a:buFont typeface="Wingdings" pitchFamily="2" charset="2"/>
              <a:buChar char="n"/>
            </a:pPr>
            <a:r>
              <a:rPr lang="en-US" sz="2000">
                <a:solidFill>
                  <a:prstClr val="black"/>
                </a:solidFill>
                <a:latin typeface="Tahoma" pitchFamily="34" charset="0"/>
              </a:rPr>
              <a:t>ALL 10 inputs consist of the same character in lower case, repeated for each letter of the alphabet.</a:t>
            </a:r>
          </a:p>
          <a:p>
            <a:pPr marL="908050" lvl="1" indent="-436563">
              <a:lnSpc>
                <a:spcPct val="90000"/>
              </a:lnSpc>
              <a:spcBef>
                <a:spcPct val="20000"/>
              </a:spcBef>
              <a:buClr>
                <a:srgbClr val="009DD9"/>
              </a:buClr>
              <a:buFont typeface="Wingdings" pitchFamily="2" charset="2"/>
              <a:buChar char="n"/>
            </a:pPr>
            <a:r>
              <a:rPr lang="en-US" sz="2000">
                <a:solidFill>
                  <a:prstClr val="black"/>
                </a:solidFill>
                <a:latin typeface="Tahoma" pitchFamily="34" charset="0"/>
              </a:rPr>
              <a:t>All 10 inputs are different, mixed case.</a:t>
            </a:r>
          </a:p>
          <a:p>
            <a:pPr marL="469900" indent="-469900">
              <a:lnSpc>
                <a:spcPct val="90000"/>
              </a:lnSpc>
              <a:spcBef>
                <a:spcPct val="20000"/>
              </a:spcBef>
              <a:buClr>
                <a:srgbClr val="009DD9"/>
              </a:buClr>
              <a:buFont typeface="Wingdings" pitchFamily="2" charset="2"/>
              <a:buChar char="o"/>
            </a:pPr>
            <a:r>
              <a:rPr lang="en-US" sz="2000">
                <a:solidFill>
                  <a:prstClr val="black"/>
                </a:solidFill>
                <a:latin typeface="Tahoma" pitchFamily="34" charset="0"/>
              </a:rPr>
              <a:t>Test Cases:</a:t>
            </a:r>
          </a:p>
          <a:p>
            <a:pPr marL="908050" lvl="1" indent="-436563">
              <a:lnSpc>
                <a:spcPct val="90000"/>
              </a:lnSpc>
              <a:spcBef>
                <a:spcPct val="20000"/>
              </a:spcBef>
              <a:buClr>
                <a:srgbClr val="009DD9"/>
              </a:buClr>
              <a:buFont typeface="Wingdings" pitchFamily="2" charset="2"/>
              <a:buChar char="n"/>
            </a:pPr>
            <a:r>
              <a:rPr lang="en-US" sz="2000">
                <a:solidFill>
                  <a:prstClr val="black"/>
                </a:solidFill>
                <a:latin typeface="Tahoma" pitchFamily="34" charset="0"/>
              </a:rPr>
              <a:t>TC01 - Input: AAAAAAAAAA</a:t>
            </a:r>
          </a:p>
          <a:p>
            <a:pPr marL="908050" lvl="1" indent="-436563">
              <a:lnSpc>
                <a:spcPct val="90000"/>
              </a:lnSpc>
              <a:spcBef>
                <a:spcPct val="20000"/>
              </a:spcBef>
              <a:buClr>
                <a:srgbClr val="009DD9"/>
              </a:buClr>
              <a:buFont typeface="Wingdings" pitchFamily="2" charset="2"/>
              <a:buChar char="n"/>
            </a:pPr>
            <a:r>
              <a:rPr lang="en-US" sz="2000">
                <a:solidFill>
                  <a:prstClr val="black"/>
                </a:solidFill>
                <a:latin typeface="Tahoma" pitchFamily="34" charset="0"/>
              </a:rPr>
              <a:t>TC26 - Input: ZZZZZZZZZZ</a:t>
            </a:r>
          </a:p>
          <a:p>
            <a:pPr marL="908050" lvl="1" indent="-436563">
              <a:lnSpc>
                <a:spcPct val="90000"/>
              </a:lnSpc>
              <a:spcBef>
                <a:spcPct val="20000"/>
              </a:spcBef>
              <a:buClr>
                <a:srgbClr val="009DD9"/>
              </a:buClr>
              <a:buFont typeface="Wingdings" pitchFamily="2" charset="2"/>
              <a:buChar char="n"/>
            </a:pPr>
            <a:r>
              <a:rPr lang="en-US" sz="2000">
                <a:solidFill>
                  <a:prstClr val="black"/>
                </a:solidFill>
                <a:latin typeface="Tahoma" pitchFamily="34" charset="0"/>
              </a:rPr>
              <a:t>TC28 - Input: aaaaaaaaaa</a:t>
            </a:r>
          </a:p>
          <a:p>
            <a:pPr marL="908050" lvl="1" indent="-436563">
              <a:lnSpc>
                <a:spcPct val="90000"/>
              </a:lnSpc>
              <a:spcBef>
                <a:spcPct val="20000"/>
              </a:spcBef>
              <a:buClr>
                <a:srgbClr val="009DD9"/>
              </a:buClr>
              <a:buFont typeface="Wingdings" pitchFamily="2" charset="2"/>
              <a:buChar char="n"/>
            </a:pPr>
            <a:r>
              <a:rPr lang="en-US" sz="2000">
                <a:solidFill>
                  <a:prstClr val="black"/>
                </a:solidFill>
                <a:latin typeface="Tahoma" pitchFamily="34" charset="0"/>
              </a:rPr>
              <a:t>TC53 - Input: zzzzzzzzzz</a:t>
            </a:r>
          </a:p>
          <a:p>
            <a:pPr marL="908050" lvl="1" indent="-436563">
              <a:lnSpc>
                <a:spcPct val="90000"/>
              </a:lnSpc>
              <a:spcBef>
                <a:spcPct val="20000"/>
              </a:spcBef>
              <a:buClr>
                <a:srgbClr val="009DD9"/>
              </a:buClr>
              <a:buFont typeface="Wingdings" pitchFamily="2" charset="2"/>
              <a:buChar char="n"/>
            </a:pPr>
            <a:r>
              <a:rPr lang="en-US" sz="2000">
                <a:solidFill>
                  <a:prstClr val="black"/>
                </a:solidFill>
                <a:latin typeface="Tahoma" pitchFamily="34" charset="0"/>
              </a:rPr>
              <a:t>TC54 - aBcDeFgHiK</a:t>
            </a:r>
          </a:p>
          <a:p>
            <a:pPr marL="908050" lvl="1" indent="-436563">
              <a:lnSpc>
                <a:spcPct val="90000"/>
              </a:lnSpc>
              <a:spcBef>
                <a:spcPct val="20000"/>
              </a:spcBef>
              <a:buClr>
                <a:srgbClr val="009DD9"/>
              </a:buClr>
              <a:buFont typeface="Wingdings" pitchFamily="2" charset="2"/>
              <a:buChar char="n"/>
            </a:pPr>
            <a:r>
              <a:rPr lang="en-US" sz="2000">
                <a:solidFill>
                  <a:prstClr val="black"/>
                </a:solidFill>
                <a:latin typeface="Tahoma" pitchFamily="34" charset="0"/>
              </a:rPr>
              <a:t>TC55 - IhGfEdCbAe</a:t>
            </a:r>
          </a:p>
        </p:txBody>
      </p:sp>
      <p:sp>
        <p:nvSpPr>
          <p:cNvPr id="13316" name="Title 1"/>
          <p:cNvSpPr>
            <a:spLocks noGrp="1"/>
          </p:cNvSpPr>
          <p:nvPr>
            <p:ph type="title"/>
          </p:nvPr>
        </p:nvSpPr>
        <p:spPr>
          <a:xfrm>
            <a:off x="228600" y="590550"/>
            <a:ext cx="8686800" cy="1085850"/>
          </a:xfrm>
        </p:spPr>
        <p:txBody>
          <a:bodyPr>
            <a:normAutofit fontScale="90000"/>
          </a:bodyPr>
          <a:lstStyle/>
          <a:p>
            <a:pPr marL="457200" indent="-457200" algn="ctr"/>
            <a:r>
              <a:rPr lang="en-US" sz="3600">
                <a:latin typeface="Times New Roman" pitchFamily="18" charset="0"/>
                <a:cs typeface="Times New Roman" pitchFamily="18" charset="0"/>
              </a:rPr>
              <a:t>4.1. PHÂN CHIA LỚP TƯƠNG ĐƯƠNG (EQUIVALENCE PARTITIONING)</a:t>
            </a:r>
          </a:p>
        </p:txBody>
      </p:sp>
      <p:sp>
        <p:nvSpPr>
          <p:cNvPr id="13317" name="Rectangle 3"/>
          <p:cNvSpPr>
            <a:spLocks noGrp="1" noChangeArrowheads="1"/>
          </p:cNvSpPr>
          <p:nvPr>
            <p:ph sz="quarter" idx="1"/>
          </p:nvPr>
        </p:nvSpPr>
        <p:spPr>
          <a:xfrm>
            <a:off x="566738" y="1752600"/>
            <a:ext cx="8001000" cy="533400"/>
          </a:xfrm>
        </p:spPr>
        <p:txBody>
          <a:bodyPr/>
          <a:lstStyle/>
          <a:p>
            <a:pPr eaLnBrk="1" hangingPunct="1"/>
            <a:r>
              <a:rPr lang="en-US"/>
              <a:t>Ví dụ:</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62</a:t>
            </a:fld>
            <a:endParaRPr lang="en-US"/>
          </a:p>
        </p:txBody>
      </p:sp>
    </p:spTree>
    <p:extLst>
      <p:ext uri="{BB962C8B-B14F-4D97-AF65-F5344CB8AC3E}">
        <p14:creationId xmlns:p14="http://schemas.microsoft.com/office/powerpoint/2010/main" val="31593890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9" name="Rectangle 3"/>
          <p:cNvSpPr>
            <a:spLocks noGrp="1" noChangeArrowheads="1"/>
          </p:cNvSpPr>
          <p:nvPr>
            <p:ph sz="quarter" idx="1"/>
          </p:nvPr>
        </p:nvSpPr>
        <p:spPr>
          <a:xfrm>
            <a:off x="304800" y="1752600"/>
            <a:ext cx="8458200" cy="609600"/>
          </a:xfrm>
        </p:spPr>
        <p:txBody>
          <a:bodyPr/>
          <a:lstStyle/>
          <a:p>
            <a:pPr eaLnBrk="1" hangingPunct="1"/>
            <a:r>
              <a:rPr lang="en-US"/>
              <a:t>Ví dụ:</a:t>
            </a:r>
          </a:p>
        </p:txBody>
      </p:sp>
      <p:sp>
        <p:nvSpPr>
          <p:cNvPr id="14340" name="Rectangle 4"/>
          <p:cNvSpPr>
            <a:spLocks noChangeArrowheads="1"/>
          </p:cNvSpPr>
          <p:nvPr/>
        </p:nvSpPr>
        <p:spPr bwMode="auto">
          <a:xfrm>
            <a:off x="609600" y="2438400"/>
            <a:ext cx="80772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69900" indent="-469900">
              <a:spcBef>
                <a:spcPct val="20000"/>
              </a:spcBef>
              <a:buClr>
                <a:srgbClr val="009DD9"/>
              </a:buClr>
              <a:buFont typeface="Wingdings" pitchFamily="2" charset="2"/>
              <a:buChar char="o"/>
            </a:pPr>
            <a:r>
              <a:rPr lang="en-US" sz="2000">
                <a:solidFill>
                  <a:prstClr val="black"/>
                </a:solidFill>
                <a:latin typeface="Tahoma" pitchFamily="34" charset="0"/>
              </a:rPr>
              <a:t>Equivalence classes for “negative” tests:</a:t>
            </a:r>
          </a:p>
          <a:p>
            <a:pPr marL="908050" lvl="1" indent="-436563">
              <a:spcBef>
                <a:spcPct val="20000"/>
              </a:spcBef>
              <a:buClr>
                <a:srgbClr val="009DD9"/>
              </a:buClr>
              <a:buFont typeface="Wingdings" pitchFamily="2" charset="2"/>
              <a:buChar char="n"/>
            </a:pPr>
            <a:r>
              <a:rPr lang="en-US" sz="2000">
                <a:solidFill>
                  <a:prstClr val="black"/>
                </a:solidFill>
                <a:latin typeface="Tahoma" pitchFamily="34" charset="0"/>
              </a:rPr>
              <a:t>All 10 inputs are numeric.</a:t>
            </a:r>
          </a:p>
          <a:p>
            <a:pPr marL="908050" lvl="1" indent="-436563">
              <a:spcBef>
                <a:spcPct val="20000"/>
              </a:spcBef>
              <a:buClr>
                <a:srgbClr val="009DD9"/>
              </a:buClr>
              <a:buFont typeface="Wingdings" pitchFamily="2" charset="2"/>
              <a:buChar char="n"/>
            </a:pPr>
            <a:r>
              <a:rPr lang="en-US" sz="2000">
                <a:solidFill>
                  <a:prstClr val="black"/>
                </a:solidFill>
                <a:latin typeface="Tahoma" pitchFamily="34" charset="0"/>
              </a:rPr>
              <a:t>Mixed numeric and alphabetic inputs.</a:t>
            </a:r>
          </a:p>
          <a:p>
            <a:pPr marL="908050" lvl="1" indent="-436563">
              <a:spcBef>
                <a:spcPct val="20000"/>
              </a:spcBef>
              <a:buClr>
                <a:srgbClr val="009DD9"/>
              </a:buClr>
              <a:buFont typeface="Wingdings" pitchFamily="2" charset="2"/>
              <a:buChar char="n"/>
            </a:pPr>
            <a:r>
              <a:rPr lang="en-US" sz="2000">
                <a:solidFill>
                  <a:prstClr val="black"/>
                </a:solidFill>
                <a:latin typeface="Tahoma" pitchFamily="34" charset="0"/>
              </a:rPr>
              <a:t>Embedded blanks</a:t>
            </a:r>
          </a:p>
          <a:p>
            <a:pPr marL="908050" lvl="1" indent="-436563">
              <a:spcBef>
                <a:spcPct val="20000"/>
              </a:spcBef>
              <a:buClr>
                <a:srgbClr val="009DD9"/>
              </a:buClr>
              <a:buFont typeface="Wingdings" pitchFamily="2" charset="2"/>
              <a:buChar char="n"/>
            </a:pPr>
            <a:r>
              <a:rPr lang="en-US" sz="2000">
                <a:solidFill>
                  <a:prstClr val="black"/>
                </a:solidFill>
                <a:latin typeface="Tahoma" pitchFamily="34" charset="0"/>
              </a:rPr>
              <a:t>Input consists of one valid character.</a:t>
            </a:r>
          </a:p>
          <a:p>
            <a:pPr marL="908050" lvl="1" indent="-436563">
              <a:spcBef>
                <a:spcPct val="20000"/>
              </a:spcBef>
              <a:buClr>
                <a:srgbClr val="009DD9"/>
              </a:buClr>
              <a:buFont typeface="Wingdings" pitchFamily="2" charset="2"/>
              <a:buChar char="n"/>
            </a:pPr>
            <a:r>
              <a:rPr lang="en-US" sz="2000">
                <a:solidFill>
                  <a:prstClr val="black"/>
                </a:solidFill>
                <a:latin typeface="Tahoma" pitchFamily="34" charset="0"/>
              </a:rPr>
              <a:t>Input consists of one invalid character.</a:t>
            </a:r>
          </a:p>
          <a:p>
            <a:pPr marL="908050" lvl="1" indent="-436563">
              <a:spcBef>
                <a:spcPct val="20000"/>
              </a:spcBef>
              <a:buClr>
                <a:srgbClr val="009DD9"/>
              </a:buClr>
              <a:buFont typeface="Wingdings" pitchFamily="2" charset="2"/>
              <a:buChar char="n"/>
            </a:pPr>
            <a:r>
              <a:rPr lang="en-US" sz="2000">
                <a:solidFill>
                  <a:prstClr val="black"/>
                </a:solidFill>
                <a:latin typeface="Tahoma" pitchFamily="34" charset="0"/>
              </a:rPr>
              <a:t>Input includes special characters (*, &amp; %, etc.)</a:t>
            </a:r>
          </a:p>
          <a:p>
            <a:pPr marL="908050" lvl="1" indent="-436563">
              <a:spcBef>
                <a:spcPct val="20000"/>
              </a:spcBef>
              <a:buClr>
                <a:srgbClr val="009DD9"/>
              </a:buClr>
              <a:buFont typeface="Wingdings" pitchFamily="2" charset="2"/>
              <a:buChar char="n"/>
            </a:pPr>
            <a:r>
              <a:rPr lang="en-US" sz="2000">
                <a:solidFill>
                  <a:prstClr val="black"/>
                </a:solidFill>
                <a:latin typeface="Tahoma" pitchFamily="34" charset="0"/>
              </a:rPr>
              <a:t>Input consists of 11 characters.</a:t>
            </a:r>
          </a:p>
          <a:p>
            <a:pPr marL="469900" indent="-469900">
              <a:spcBef>
                <a:spcPct val="20000"/>
              </a:spcBef>
              <a:buClr>
                <a:srgbClr val="009DD9"/>
              </a:buClr>
              <a:buFont typeface="Wingdings" pitchFamily="2" charset="2"/>
              <a:buChar char="o"/>
            </a:pPr>
            <a:r>
              <a:rPr lang="en-US" sz="2000">
                <a:solidFill>
                  <a:prstClr val="black"/>
                </a:solidFill>
                <a:latin typeface="Tahoma" pitchFamily="34" charset="0"/>
              </a:rPr>
              <a:t>What would be a correct output for these cases?</a:t>
            </a:r>
          </a:p>
        </p:txBody>
      </p:sp>
      <p:sp>
        <p:nvSpPr>
          <p:cNvPr id="14341" name="Title 1"/>
          <p:cNvSpPr>
            <a:spLocks noGrp="1"/>
          </p:cNvSpPr>
          <p:nvPr>
            <p:ph type="title"/>
          </p:nvPr>
        </p:nvSpPr>
        <p:spPr>
          <a:xfrm>
            <a:off x="228600" y="590550"/>
            <a:ext cx="8686800" cy="1085850"/>
          </a:xfrm>
        </p:spPr>
        <p:txBody>
          <a:bodyPr>
            <a:normAutofit fontScale="90000"/>
          </a:bodyPr>
          <a:lstStyle/>
          <a:p>
            <a:pPr marL="457200" indent="-457200" algn="ctr"/>
            <a:r>
              <a:rPr lang="en-US" sz="3600">
                <a:latin typeface="Times New Roman" pitchFamily="18" charset="0"/>
                <a:cs typeface="Times New Roman" pitchFamily="18" charset="0"/>
              </a:rPr>
              <a:t>4.1. PHÂN CHIA LỚP TƯƠNG ĐƯƠNG (EQUIVALENCE PARTITIONING)</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63</a:t>
            </a:fld>
            <a:endParaRPr lang="en-US"/>
          </a:p>
        </p:txBody>
      </p:sp>
    </p:spTree>
    <p:extLst>
      <p:ext uri="{BB962C8B-B14F-4D97-AF65-F5344CB8AC3E}">
        <p14:creationId xmlns:p14="http://schemas.microsoft.com/office/powerpoint/2010/main" val="28156183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Equivalence partitioning</a:t>
            </a:r>
          </a:p>
        </p:txBody>
      </p:sp>
      <p:sp>
        <p:nvSpPr>
          <p:cNvPr id="3" name="Content Placeholder 2"/>
          <p:cNvSpPr>
            <a:spLocks noGrp="1"/>
          </p:cNvSpPr>
          <p:nvPr>
            <p:ph idx="1"/>
          </p:nvPr>
        </p:nvSpPr>
        <p:spPr/>
        <p:txBody>
          <a:bodyPr>
            <a:normAutofit/>
          </a:bodyPr>
          <a:lstStyle/>
          <a:p>
            <a:r>
              <a:rPr lang="en-US"/>
              <a:t>Recommendations for looking for equivalence classes</a:t>
            </a:r>
          </a:p>
          <a:p>
            <a:pPr lvl="1"/>
            <a:r>
              <a:rPr lang="en-US"/>
              <a:t>Don't forget equivalence classes for invalid inputs. </a:t>
            </a:r>
          </a:p>
          <a:p>
            <a:pPr lvl="1"/>
            <a:r>
              <a:rPr lang="en-US"/>
              <a:t>Organize your classifications into a table or an outline. </a:t>
            </a:r>
          </a:p>
          <a:p>
            <a:pPr lvl="1"/>
            <a:r>
              <a:rPr lang="en-US"/>
              <a:t>Look for ranges of numbers. </a:t>
            </a:r>
          </a:p>
          <a:p>
            <a:pPr lvl="1"/>
            <a:r>
              <a:rPr lang="en-US"/>
              <a:t>Look for membership in a group. </a:t>
            </a:r>
          </a:p>
          <a:p>
            <a:pPr lvl="1"/>
            <a:r>
              <a:rPr lang="en-US"/>
              <a:t>Analysis responses to lists and menus. </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64</a:t>
            </a:fld>
            <a:endParaRPr lang="en-US"/>
          </a:p>
        </p:txBody>
      </p:sp>
    </p:spTree>
    <p:extLst>
      <p:ext uri="{BB962C8B-B14F-4D97-AF65-F5344CB8AC3E}">
        <p14:creationId xmlns:p14="http://schemas.microsoft.com/office/powerpoint/2010/main" val="22088916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Equivalence partitioning</a:t>
            </a:r>
          </a:p>
        </p:txBody>
      </p:sp>
      <p:sp>
        <p:nvSpPr>
          <p:cNvPr id="3" name="Content Placeholder 2"/>
          <p:cNvSpPr>
            <a:spLocks noGrp="1"/>
          </p:cNvSpPr>
          <p:nvPr>
            <p:ph idx="1"/>
          </p:nvPr>
        </p:nvSpPr>
        <p:spPr/>
        <p:txBody>
          <a:bodyPr>
            <a:normAutofit/>
          </a:bodyPr>
          <a:lstStyle/>
          <a:p>
            <a:r>
              <a:rPr lang="en-US"/>
              <a:t>Recommendations for looking for equivalence classes (cont.)</a:t>
            </a:r>
          </a:p>
          <a:p>
            <a:pPr lvl="1"/>
            <a:r>
              <a:rPr lang="en-US"/>
              <a:t>Look for variables that must be equal. </a:t>
            </a:r>
          </a:p>
          <a:p>
            <a:pPr lvl="1"/>
            <a:r>
              <a:rPr lang="en-US"/>
              <a:t>Create time-determined equivalence classes. </a:t>
            </a:r>
          </a:p>
          <a:p>
            <a:pPr lvl="1"/>
            <a:r>
              <a:rPr lang="en-US"/>
              <a:t>Look for variable groups that must calculate to a certain value or range.  </a:t>
            </a:r>
          </a:p>
          <a:p>
            <a:pPr lvl="1"/>
            <a:r>
              <a:rPr lang="en-US"/>
              <a:t>Look for equivalent output events. </a:t>
            </a:r>
          </a:p>
          <a:p>
            <a:pPr lvl="1"/>
            <a:r>
              <a:rPr lang="en-US"/>
              <a:t>Look for equivalent operating environments. </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65</a:t>
            </a:fld>
            <a:endParaRPr lang="en-US"/>
          </a:p>
        </p:txBody>
      </p:sp>
    </p:spTree>
    <p:extLst>
      <p:ext uri="{BB962C8B-B14F-4D97-AF65-F5344CB8AC3E}">
        <p14:creationId xmlns:p14="http://schemas.microsoft.com/office/powerpoint/2010/main" val="9626737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Black-box techniques</a:t>
            </a:r>
            <a:br>
              <a:rPr lang="en-US" b="1"/>
            </a:br>
            <a:r>
              <a:rPr lang="en-US"/>
              <a:t>Extending</a:t>
            </a:r>
            <a:r>
              <a:rPr lang="en-US" b="1"/>
              <a:t> </a:t>
            </a:r>
            <a:r>
              <a:rPr lang="en-US"/>
              <a:t>EP and BVA</a:t>
            </a:r>
          </a:p>
        </p:txBody>
      </p:sp>
      <p:sp>
        <p:nvSpPr>
          <p:cNvPr id="3" name="Content Placeholder 2"/>
          <p:cNvSpPr>
            <a:spLocks noGrp="1"/>
          </p:cNvSpPr>
          <p:nvPr>
            <p:ph idx="1"/>
          </p:nvPr>
        </p:nvSpPr>
        <p:spPr/>
        <p:txBody>
          <a:bodyPr>
            <a:normAutofit/>
          </a:bodyPr>
          <a:lstStyle/>
          <a:p>
            <a:r>
              <a:rPr lang="en-US"/>
              <a:t>EP and BVA can be applied more than once to the same specification item</a:t>
            </a:r>
          </a:p>
          <a:p>
            <a:pPr lvl="1"/>
            <a:r>
              <a:rPr lang="en-US"/>
              <a:t>e.g an internal telephone system for a company with 200 telephones has 3-digit extension numbers from 100 to 699</a:t>
            </a:r>
          </a:p>
          <a:p>
            <a:pPr lvl="2"/>
            <a:r>
              <a:rPr lang="en-US"/>
              <a:t>digits (characters 0 to 9) with the invalid partition containing non-digits</a:t>
            </a:r>
          </a:p>
          <a:p>
            <a:pPr lvl="2"/>
            <a:r>
              <a:rPr lang="en-US"/>
              <a:t>number of digits, 3 (so invalid boundary values of 2 digits and 4 digits)</a:t>
            </a:r>
          </a:p>
          <a:p>
            <a:pPr lvl="2"/>
            <a:r>
              <a:rPr lang="en-US"/>
              <a:t>range of extension numbers (100 to 699), so invalid boundary values of 099 and 700</a:t>
            </a:r>
          </a:p>
          <a:p>
            <a:pPr lvl="2"/>
            <a:r>
              <a:rPr lang="en-US"/>
              <a:t>extensions that are in use and those that are not (two valid partitions, no boundaries)</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66</a:t>
            </a:fld>
            <a:endParaRPr lang="en-US"/>
          </a:p>
        </p:txBody>
      </p:sp>
    </p:spTree>
    <p:extLst>
      <p:ext uri="{BB962C8B-B14F-4D97-AF65-F5344CB8AC3E}">
        <p14:creationId xmlns:p14="http://schemas.microsoft.com/office/powerpoint/2010/main" val="12174045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Black-box techniques</a:t>
            </a:r>
            <a:br>
              <a:rPr lang="en-US" b="1"/>
            </a:br>
            <a:r>
              <a:rPr lang="en-US"/>
              <a:t>Extending</a:t>
            </a:r>
            <a:r>
              <a:rPr lang="en-US" b="1"/>
              <a:t> </a:t>
            </a:r>
            <a:r>
              <a:rPr lang="en-US"/>
              <a:t>EP and BVA</a:t>
            </a:r>
          </a:p>
        </p:txBody>
      </p:sp>
      <p:sp>
        <p:nvSpPr>
          <p:cNvPr id="3" name="Content Placeholder 2"/>
          <p:cNvSpPr>
            <a:spLocks noGrp="1"/>
          </p:cNvSpPr>
          <p:nvPr>
            <p:ph idx="1"/>
          </p:nvPr>
        </p:nvSpPr>
        <p:spPr/>
        <p:txBody>
          <a:bodyPr>
            <a:normAutofit/>
          </a:bodyPr>
          <a:lstStyle/>
          <a:p>
            <a:r>
              <a:rPr lang="en-US"/>
              <a:t>One test case could test more than one of partitions/boundaries</a:t>
            </a:r>
          </a:p>
          <a:p>
            <a:pPr lvl="1"/>
            <a:r>
              <a:rPr lang="en-US"/>
              <a:t>e.g Extension 409 which is in use would test four valid partitions: digits, the number of digits, the valid range, and the 'in use' partition. </a:t>
            </a:r>
          </a:p>
          <a:p>
            <a:r>
              <a:rPr lang="en-US"/>
              <a:t>There are two schools of thought about boundary value:</a:t>
            </a:r>
          </a:p>
          <a:p>
            <a:pPr lvl="1"/>
            <a:r>
              <a:rPr lang="en-US"/>
              <a:t>The boundary itself is not a value (2 values at a boundary)</a:t>
            </a:r>
          </a:p>
          <a:p>
            <a:pPr lvl="1"/>
            <a:r>
              <a:rPr lang="en-US"/>
              <a:t>The boundary is the actual value - the values in the valid partition (3 values at a boundary)</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67</a:t>
            </a:fld>
            <a:endParaRPr lang="en-US"/>
          </a:p>
        </p:txBody>
      </p:sp>
    </p:spTree>
    <p:extLst>
      <p:ext uri="{BB962C8B-B14F-4D97-AF65-F5344CB8AC3E}">
        <p14:creationId xmlns:p14="http://schemas.microsoft.com/office/powerpoint/2010/main" val="15789639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Black-box techniques</a:t>
            </a:r>
            <a:br>
              <a:rPr lang="en-US" b="1"/>
            </a:br>
            <a:r>
              <a:rPr lang="en-US"/>
              <a:t>Designing test case for EP and BVA</a:t>
            </a:r>
          </a:p>
        </p:txBody>
      </p:sp>
      <p:sp>
        <p:nvSpPr>
          <p:cNvPr id="3" name="Content Placeholder 2"/>
          <p:cNvSpPr>
            <a:spLocks noGrp="1"/>
          </p:cNvSpPr>
          <p:nvPr>
            <p:ph idx="1"/>
          </p:nvPr>
        </p:nvSpPr>
        <p:spPr/>
        <p:txBody>
          <a:bodyPr/>
          <a:lstStyle/>
          <a:p>
            <a:r>
              <a:rPr lang="en-US"/>
              <a:t>The more test conditions that can be covered in a single test case, the fewer test cases will be needed in order to cover all the conditions.</a:t>
            </a:r>
          </a:p>
          <a:p>
            <a:pPr lvl="1"/>
            <a:r>
              <a:rPr lang="en-US"/>
              <a:t>Example: Test a new customer with a balance of $500. It covers the partition from $100.01 to $999.99 and an output partition of a 5% interest rate, also covers a valid customer, a new customer, a customer with only one account,...</a:t>
            </a:r>
          </a:p>
          <a:p>
            <a:r>
              <a:rPr lang="en-US"/>
              <a:t>With the boundary test cases, it may combine all of the minimum valid boundaries for a group of fields into one test case and also the maximum boundary values.</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68</a:t>
            </a:fld>
            <a:endParaRPr lang="en-US"/>
          </a:p>
        </p:txBody>
      </p:sp>
    </p:spTree>
    <p:extLst>
      <p:ext uri="{BB962C8B-B14F-4D97-AF65-F5344CB8AC3E}">
        <p14:creationId xmlns:p14="http://schemas.microsoft.com/office/powerpoint/2010/main" val="2263853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Black-box techniques</a:t>
            </a:r>
            <a:br>
              <a:rPr lang="en-US"/>
            </a:br>
            <a:r>
              <a:rPr lang="en-US"/>
              <a:t>EP/BVA exercise </a:t>
            </a:r>
          </a:p>
        </p:txBody>
      </p:sp>
      <p:sp>
        <p:nvSpPr>
          <p:cNvPr id="3" name="Content Placeholder 2"/>
          <p:cNvSpPr>
            <a:spLocks noGrp="1"/>
          </p:cNvSpPr>
          <p:nvPr>
            <p:ph idx="1"/>
          </p:nvPr>
        </p:nvSpPr>
        <p:spPr/>
        <p:txBody>
          <a:bodyPr>
            <a:normAutofit/>
          </a:bodyPr>
          <a:lstStyle/>
          <a:p>
            <a:r>
              <a:rPr lang="en-US"/>
              <a:t>Scenario: If you take the train before 9:30 am or in the afternoon after 4:00 pm until 7:30 pm ('the rush hour'), you must pay full fare. A saver ticket is available for trains between 9:30 am and 4:00 pm, and after 7:30 pm.</a:t>
            </a:r>
          </a:p>
          <a:p>
            <a:r>
              <a:rPr lang="en-US"/>
              <a:t>What are the partitions and boundary values to test the train times for ticket types? Which are valid partitions and which are invalid partitions? What are the boundary values? (A table may be helpful to organize your partitions and boundaries.) </a:t>
            </a:r>
          </a:p>
          <a:p>
            <a:r>
              <a:rPr lang="en-US"/>
              <a:t>Derive test cases for the partitions and boundaries. </a:t>
            </a:r>
          </a:p>
          <a:p>
            <a:r>
              <a:rPr lang="en-US"/>
              <a:t>Are there any questions you have about this 'requirement'? Is anything unclear? </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69</a:t>
            </a:fld>
            <a:endParaRPr lang="en-US"/>
          </a:p>
        </p:txBody>
      </p:sp>
    </p:spTree>
    <p:extLst>
      <p:ext uri="{BB962C8B-B14F-4D97-AF65-F5344CB8AC3E}">
        <p14:creationId xmlns:p14="http://schemas.microsoft.com/office/powerpoint/2010/main" val="36797549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a:t>Equivalence partitioning and boundary value analysis can be applied to all levels of testing</a:t>
            </a:r>
          </a:p>
          <a:p>
            <a:pPr lvl="1"/>
            <a:r>
              <a:rPr lang="en-US"/>
              <a:t>Example, At a system level, we may have three basic configurations which our users can choose: system administrator, manager and customer liaison </a:t>
            </a:r>
            <a:r>
              <a:rPr lang="en-US">
                <a:sym typeface="Wingdings" pitchFamily="2" charset="2"/>
              </a:rPr>
              <a:t> test three equivalence partitions</a:t>
            </a:r>
          </a:p>
          <a:p>
            <a:r>
              <a:rPr lang="en-US"/>
              <a:t>Equivalence partitioning and boundary value analysis can be applied more than once to the same specification item</a:t>
            </a:r>
          </a:p>
          <a:p>
            <a:pPr lvl="1"/>
            <a:r>
              <a:rPr lang="en-US"/>
              <a:t>Example, if an internal telephone system for a company with 200 telephones has 3-digit extension numbers from 100 to 699</a:t>
            </a:r>
          </a:p>
          <a:p>
            <a:endParaRPr lang="en-US"/>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70</a:t>
            </a:fld>
            <a:endParaRPr lang="en-US"/>
          </a:p>
        </p:txBody>
      </p:sp>
    </p:spTree>
    <p:extLst>
      <p:ext uri="{BB962C8B-B14F-4D97-AF65-F5344CB8AC3E}">
        <p14:creationId xmlns:p14="http://schemas.microsoft.com/office/powerpoint/2010/main" val="5783143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6083" name="Content Placeholder 2"/>
          <p:cNvSpPr>
            <a:spLocks noGrp="1"/>
          </p:cNvSpPr>
          <p:nvPr>
            <p:ph idx="1"/>
          </p:nvPr>
        </p:nvSpPr>
        <p:spPr>
          <a:xfrm>
            <a:off x="457200" y="1905000"/>
            <a:ext cx="8534400" cy="4572000"/>
          </a:xfrm>
        </p:spPr>
        <p:txBody>
          <a:bodyPr/>
          <a:lstStyle/>
          <a:p>
            <a:pPr marL="823913" lvl="1" indent="-457200">
              <a:lnSpc>
                <a:spcPct val="150000"/>
              </a:lnSpc>
              <a:buFont typeface="Calibri" pitchFamily="34" charset="0"/>
              <a:buAutoNum type="arabicPeriod" startAt="2"/>
            </a:pPr>
            <a:r>
              <a:rPr lang="en-US"/>
              <a:t>Các loại điều kiện biên (Types of Boundary Conditions)</a:t>
            </a:r>
          </a:p>
          <a:p>
            <a:pPr lvl="3"/>
            <a:r>
              <a:rPr lang="en-US"/>
              <a:t>Numeric</a:t>
            </a:r>
          </a:p>
          <a:p>
            <a:pPr lvl="3"/>
            <a:r>
              <a:rPr lang="en-US"/>
              <a:t>Speed</a:t>
            </a:r>
          </a:p>
          <a:p>
            <a:pPr lvl="3"/>
            <a:r>
              <a:rPr lang="en-US"/>
              <a:t>Character</a:t>
            </a:r>
          </a:p>
          <a:p>
            <a:pPr lvl="3"/>
            <a:r>
              <a:rPr lang="en-US"/>
              <a:t>Location</a:t>
            </a:r>
          </a:p>
          <a:p>
            <a:pPr lvl="3"/>
            <a:r>
              <a:rPr lang="en-US"/>
              <a:t>Position</a:t>
            </a:r>
          </a:p>
          <a:p>
            <a:pPr lvl="3"/>
            <a:r>
              <a:rPr lang="en-US"/>
              <a:t>Size</a:t>
            </a:r>
          </a:p>
          <a:p>
            <a:pPr lvl="3"/>
            <a:r>
              <a:rPr lang="en-US"/>
              <a:t>Quantity</a:t>
            </a:r>
          </a:p>
        </p:txBody>
      </p:sp>
      <p:sp>
        <p:nvSpPr>
          <p:cNvPr id="26629" name="Title 1"/>
          <p:cNvSpPr>
            <a:spLocks noGrp="1"/>
          </p:cNvSpPr>
          <p:nvPr>
            <p:ph type="title"/>
          </p:nvPr>
        </p:nvSpPr>
        <p:spPr>
          <a:xfrm>
            <a:off x="228600" y="685800"/>
            <a:ext cx="8686800" cy="838200"/>
          </a:xfrm>
        </p:spPr>
        <p:txBody>
          <a:bodyPr/>
          <a:lstStyle/>
          <a:p>
            <a:pPr marL="457200" indent="-457200" algn="ctr"/>
            <a:r>
              <a:rPr lang="en-US" sz="3600">
                <a:latin typeface="Times New Roman" pitchFamily="18" charset="0"/>
                <a:cs typeface="Times New Roman" pitchFamily="18" charset="0"/>
              </a:rPr>
              <a:t>4.5. DOMAIN TESTING</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71</a:t>
            </a:fld>
            <a:endParaRPr lang="en-US"/>
          </a:p>
        </p:txBody>
      </p:sp>
    </p:spTree>
    <p:extLst>
      <p:ext uri="{BB962C8B-B14F-4D97-AF65-F5344CB8AC3E}">
        <p14:creationId xmlns:p14="http://schemas.microsoft.com/office/powerpoint/2010/main" val="8206730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box(in)">
                                      <p:cBhvr>
                                        <p:cTn id="7" dur="500"/>
                                        <p:tgtEl>
                                          <p:spTgt spid="460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6083">
                                            <p:txEl>
                                              <p:pRg st="1" end="1"/>
                                            </p:txEl>
                                          </p:spTgt>
                                        </p:tgtEl>
                                        <p:attrNameLst>
                                          <p:attrName>style.visibility</p:attrName>
                                        </p:attrNameLst>
                                      </p:cBhvr>
                                      <p:to>
                                        <p:strVal val="visible"/>
                                      </p:to>
                                    </p:set>
                                    <p:animEffect transition="in" filter="box(in)">
                                      <p:cBhvr>
                                        <p:cTn id="12" dur="500"/>
                                        <p:tgtEl>
                                          <p:spTgt spid="460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6083">
                                            <p:txEl>
                                              <p:pRg st="2" end="2"/>
                                            </p:txEl>
                                          </p:spTgt>
                                        </p:tgtEl>
                                        <p:attrNameLst>
                                          <p:attrName>style.visibility</p:attrName>
                                        </p:attrNameLst>
                                      </p:cBhvr>
                                      <p:to>
                                        <p:strVal val="visible"/>
                                      </p:to>
                                    </p:set>
                                    <p:animEffect transition="in" filter="box(in)">
                                      <p:cBhvr>
                                        <p:cTn id="17" dur="500"/>
                                        <p:tgtEl>
                                          <p:spTgt spid="460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6083">
                                            <p:txEl>
                                              <p:pRg st="3" end="3"/>
                                            </p:txEl>
                                          </p:spTgt>
                                        </p:tgtEl>
                                        <p:attrNameLst>
                                          <p:attrName>style.visibility</p:attrName>
                                        </p:attrNameLst>
                                      </p:cBhvr>
                                      <p:to>
                                        <p:strVal val="visible"/>
                                      </p:to>
                                    </p:set>
                                    <p:animEffect transition="in" filter="box(in)">
                                      <p:cBhvr>
                                        <p:cTn id="22" dur="500"/>
                                        <p:tgtEl>
                                          <p:spTgt spid="4608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6083">
                                            <p:txEl>
                                              <p:pRg st="4" end="4"/>
                                            </p:txEl>
                                          </p:spTgt>
                                        </p:tgtEl>
                                        <p:attrNameLst>
                                          <p:attrName>style.visibility</p:attrName>
                                        </p:attrNameLst>
                                      </p:cBhvr>
                                      <p:to>
                                        <p:strVal val="visible"/>
                                      </p:to>
                                    </p:set>
                                    <p:animEffect transition="in" filter="box(in)">
                                      <p:cBhvr>
                                        <p:cTn id="27" dur="500"/>
                                        <p:tgtEl>
                                          <p:spTgt spid="4608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6083">
                                            <p:txEl>
                                              <p:pRg st="5" end="5"/>
                                            </p:txEl>
                                          </p:spTgt>
                                        </p:tgtEl>
                                        <p:attrNameLst>
                                          <p:attrName>style.visibility</p:attrName>
                                        </p:attrNameLst>
                                      </p:cBhvr>
                                      <p:to>
                                        <p:strVal val="visible"/>
                                      </p:to>
                                    </p:set>
                                    <p:animEffect transition="in" filter="box(in)">
                                      <p:cBhvr>
                                        <p:cTn id="32" dur="500"/>
                                        <p:tgtEl>
                                          <p:spTgt spid="4608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6083">
                                            <p:txEl>
                                              <p:pRg st="6" end="6"/>
                                            </p:txEl>
                                          </p:spTgt>
                                        </p:tgtEl>
                                        <p:attrNameLst>
                                          <p:attrName>style.visibility</p:attrName>
                                        </p:attrNameLst>
                                      </p:cBhvr>
                                      <p:to>
                                        <p:strVal val="visible"/>
                                      </p:to>
                                    </p:set>
                                    <p:animEffect transition="in" filter="box(in)">
                                      <p:cBhvr>
                                        <p:cTn id="37" dur="500"/>
                                        <p:tgtEl>
                                          <p:spTgt spid="4608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46083">
                                            <p:txEl>
                                              <p:pRg st="7" end="7"/>
                                            </p:txEl>
                                          </p:spTgt>
                                        </p:tgtEl>
                                        <p:attrNameLst>
                                          <p:attrName>style.visibility</p:attrName>
                                        </p:attrNameLst>
                                      </p:cBhvr>
                                      <p:to>
                                        <p:strVal val="visible"/>
                                      </p:to>
                                    </p:set>
                                    <p:animEffect transition="in" filter="box(in)">
                                      <p:cBhvr>
                                        <p:cTn id="42" dur="500"/>
                                        <p:tgtEl>
                                          <p:spTgt spid="4608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6083" name="Content Placeholder 2"/>
          <p:cNvSpPr>
            <a:spLocks noGrp="1"/>
          </p:cNvSpPr>
          <p:nvPr>
            <p:ph idx="1"/>
          </p:nvPr>
        </p:nvSpPr>
        <p:spPr>
          <a:xfrm>
            <a:off x="457200" y="1905000"/>
            <a:ext cx="8534400" cy="4572000"/>
          </a:xfrm>
        </p:spPr>
        <p:txBody>
          <a:bodyPr/>
          <a:lstStyle/>
          <a:p>
            <a:pPr marL="823913" lvl="1" indent="-457200">
              <a:lnSpc>
                <a:spcPct val="150000"/>
              </a:lnSpc>
              <a:buFont typeface="Calibri" pitchFamily="34" charset="0"/>
              <a:buAutoNum type="arabicPeriod" startAt="2"/>
            </a:pPr>
            <a:r>
              <a:rPr lang="en-US"/>
              <a:t>Các loại điều kiện biên: để tìm ra các điều kiên biên, tester cần chú ý đến những từ ngữ sau trong bản đặc tả:</a:t>
            </a:r>
          </a:p>
        </p:txBody>
      </p:sp>
      <p:graphicFrame>
        <p:nvGraphicFramePr>
          <p:cNvPr id="4" name="Table 3"/>
          <p:cNvGraphicFramePr>
            <a:graphicFrameLocks noGrp="1"/>
          </p:cNvGraphicFramePr>
          <p:nvPr/>
        </p:nvGraphicFramePr>
        <p:xfrm>
          <a:off x="2057400" y="3048000"/>
          <a:ext cx="6172200" cy="3733800"/>
        </p:xfrm>
        <a:graphic>
          <a:graphicData uri="http://schemas.openxmlformats.org/drawingml/2006/table">
            <a:tbl>
              <a:tblPr/>
              <a:tblGrid>
                <a:gridCol w="3197016">
                  <a:extLst>
                    <a:ext uri="{9D8B030D-6E8A-4147-A177-3AD203B41FA5}">
                      <a16:colId xmlns:a16="http://schemas.microsoft.com/office/drawing/2014/main" val="20000"/>
                    </a:ext>
                  </a:extLst>
                </a:gridCol>
                <a:gridCol w="2975184">
                  <a:extLst>
                    <a:ext uri="{9D8B030D-6E8A-4147-A177-3AD203B41FA5}">
                      <a16:colId xmlns:a16="http://schemas.microsoft.com/office/drawing/2014/main" val="20001"/>
                    </a:ext>
                  </a:extLst>
                </a:gridCol>
              </a:tblGrid>
              <a:tr h="622300">
                <a:tc>
                  <a:txBody>
                    <a:bodyPr/>
                    <a:lstStyle/>
                    <a:p>
                      <a:pPr>
                        <a:lnSpc>
                          <a:spcPct val="150000"/>
                        </a:lnSpc>
                      </a:pPr>
                      <a:r>
                        <a:rPr lang="en-US" sz="1800" dirty="0">
                          <a:latin typeface="Times New Roman"/>
                          <a:ea typeface="Times New Roman"/>
                        </a:rPr>
                        <a:t>First/Last</a:t>
                      </a:r>
                    </a:p>
                  </a:txBody>
                  <a:tcPr marL="47625" marR="47625" marT="47625" marB="47625">
                    <a:lnL>
                      <a:noFill/>
                    </a:lnL>
                    <a:lnR>
                      <a:noFill/>
                    </a:lnR>
                    <a:lnT>
                      <a:noFill/>
                    </a:lnT>
                    <a:lnB>
                      <a:noFill/>
                    </a:lnB>
                  </a:tcPr>
                </a:tc>
                <a:tc>
                  <a:txBody>
                    <a:bodyPr/>
                    <a:lstStyle/>
                    <a:p>
                      <a:pPr>
                        <a:lnSpc>
                          <a:spcPct val="150000"/>
                        </a:lnSpc>
                      </a:pPr>
                      <a:r>
                        <a:rPr lang="en-US" sz="1800">
                          <a:latin typeface="Times New Roman"/>
                          <a:ea typeface="Times New Roman"/>
                        </a:rPr>
                        <a:t>Min/Max</a:t>
                      </a:r>
                    </a:p>
                  </a:txBody>
                  <a:tcPr marL="47625" marR="47625" marT="47625" marB="47625">
                    <a:lnL>
                      <a:noFill/>
                    </a:lnL>
                    <a:lnR>
                      <a:noFill/>
                    </a:lnR>
                    <a:lnT>
                      <a:noFill/>
                    </a:lnT>
                    <a:lnB>
                      <a:noFill/>
                    </a:lnB>
                  </a:tcPr>
                </a:tc>
                <a:extLst>
                  <a:ext uri="{0D108BD9-81ED-4DB2-BD59-A6C34878D82A}">
                    <a16:rowId xmlns:a16="http://schemas.microsoft.com/office/drawing/2014/main" val="10000"/>
                  </a:ext>
                </a:extLst>
              </a:tr>
              <a:tr h="622300">
                <a:tc>
                  <a:txBody>
                    <a:bodyPr/>
                    <a:lstStyle/>
                    <a:p>
                      <a:pPr>
                        <a:lnSpc>
                          <a:spcPct val="150000"/>
                        </a:lnSpc>
                      </a:pPr>
                      <a:r>
                        <a:rPr lang="en-US" sz="1800">
                          <a:latin typeface="Times New Roman"/>
                          <a:ea typeface="Times New Roman"/>
                        </a:rPr>
                        <a:t>Start/Finish</a:t>
                      </a:r>
                    </a:p>
                  </a:txBody>
                  <a:tcPr marL="47625" marR="47625" marT="47625" marB="47625">
                    <a:lnL>
                      <a:noFill/>
                    </a:lnL>
                    <a:lnR>
                      <a:noFill/>
                    </a:lnR>
                    <a:lnT>
                      <a:noFill/>
                    </a:lnT>
                    <a:lnB>
                      <a:noFill/>
                    </a:lnB>
                  </a:tcPr>
                </a:tc>
                <a:tc>
                  <a:txBody>
                    <a:bodyPr/>
                    <a:lstStyle/>
                    <a:p>
                      <a:pPr>
                        <a:lnSpc>
                          <a:spcPct val="150000"/>
                        </a:lnSpc>
                      </a:pPr>
                      <a:r>
                        <a:rPr lang="en-US" sz="1800">
                          <a:latin typeface="Times New Roman"/>
                          <a:ea typeface="Times New Roman"/>
                        </a:rPr>
                        <a:t>Over/Under</a:t>
                      </a:r>
                    </a:p>
                  </a:txBody>
                  <a:tcPr marL="47625" marR="47625" marT="47625" marB="47625">
                    <a:lnL>
                      <a:noFill/>
                    </a:lnL>
                    <a:lnR>
                      <a:noFill/>
                    </a:lnR>
                    <a:lnT>
                      <a:noFill/>
                    </a:lnT>
                    <a:lnB>
                      <a:noFill/>
                    </a:lnB>
                  </a:tcPr>
                </a:tc>
                <a:extLst>
                  <a:ext uri="{0D108BD9-81ED-4DB2-BD59-A6C34878D82A}">
                    <a16:rowId xmlns:a16="http://schemas.microsoft.com/office/drawing/2014/main" val="10001"/>
                  </a:ext>
                </a:extLst>
              </a:tr>
              <a:tr h="622300">
                <a:tc>
                  <a:txBody>
                    <a:bodyPr/>
                    <a:lstStyle/>
                    <a:p>
                      <a:pPr>
                        <a:lnSpc>
                          <a:spcPct val="150000"/>
                        </a:lnSpc>
                      </a:pPr>
                      <a:r>
                        <a:rPr lang="en-US" sz="1800" dirty="0">
                          <a:latin typeface="Times New Roman"/>
                          <a:ea typeface="Times New Roman"/>
                        </a:rPr>
                        <a:t>Empty/Full</a:t>
                      </a:r>
                    </a:p>
                  </a:txBody>
                  <a:tcPr marL="47625" marR="47625" marT="47625" marB="47625">
                    <a:lnL>
                      <a:noFill/>
                    </a:lnL>
                    <a:lnR>
                      <a:noFill/>
                    </a:lnR>
                    <a:lnT>
                      <a:noFill/>
                    </a:lnT>
                    <a:lnB>
                      <a:noFill/>
                    </a:lnB>
                  </a:tcPr>
                </a:tc>
                <a:tc>
                  <a:txBody>
                    <a:bodyPr/>
                    <a:lstStyle/>
                    <a:p>
                      <a:pPr>
                        <a:lnSpc>
                          <a:spcPct val="150000"/>
                        </a:lnSpc>
                      </a:pPr>
                      <a:r>
                        <a:rPr lang="en-US" sz="1800">
                          <a:latin typeface="Times New Roman"/>
                          <a:ea typeface="Times New Roman"/>
                        </a:rPr>
                        <a:t>Shortest/Longest</a:t>
                      </a:r>
                    </a:p>
                  </a:txBody>
                  <a:tcPr marL="47625" marR="47625" marT="47625" marB="47625">
                    <a:lnL>
                      <a:noFill/>
                    </a:lnL>
                    <a:lnR>
                      <a:noFill/>
                    </a:lnR>
                    <a:lnT>
                      <a:noFill/>
                    </a:lnT>
                    <a:lnB>
                      <a:noFill/>
                    </a:lnB>
                  </a:tcPr>
                </a:tc>
                <a:extLst>
                  <a:ext uri="{0D108BD9-81ED-4DB2-BD59-A6C34878D82A}">
                    <a16:rowId xmlns:a16="http://schemas.microsoft.com/office/drawing/2014/main" val="10002"/>
                  </a:ext>
                </a:extLst>
              </a:tr>
              <a:tr h="622300">
                <a:tc>
                  <a:txBody>
                    <a:bodyPr/>
                    <a:lstStyle/>
                    <a:p>
                      <a:pPr>
                        <a:lnSpc>
                          <a:spcPct val="150000"/>
                        </a:lnSpc>
                      </a:pPr>
                      <a:r>
                        <a:rPr lang="en-US" sz="1800">
                          <a:latin typeface="Times New Roman"/>
                          <a:ea typeface="Times New Roman"/>
                        </a:rPr>
                        <a:t>Slowest/Fastest</a:t>
                      </a:r>
                    </a:p>
                  </a:txBody>
                  <a:tcPr marL="47625" marR="47625" marT="47625" marB="47625">
                    <a:lnL>
                      <a:noFill/>
                    </a:lnL>
                    <a:lnR>
                      <a:noFill/>
                    </a:lnR>
                    <a:lnT>
                      <a:noFill/>
                    </a:lnT>
                    <a:lnB>
                      <a:noFill/>
                    </a:lnB>
                  </a:tcPr>
                </a:tc>
                <a:tc>
                  <a:txBody>
                    <a:bodyPr/>
                    <a:lstStyle/>
                    <a:p>
                      <a:pPr>
                        <a:lnSpc>
                          <a:spcPct val="150000"/>
                        </a:lnSpc>
                      </a:pPr>
                      <a:r>
                        <a:rPr lang="en-US" sz="1800">
                          <a:latin typeface="Times New Roman"/>
                          <a:ea typeface="Times New Roman"/>
                        </a:rPr>
                        <a:t>Soonest/Latest</a:t>
                      </a:r>
                    </a:p>
                  </a:txBody>
                  <a:tcPr marL="47625" marR="47625" marT="47625" marB="47625">
                    <a:lnL>
                      <a:noFill/>
                    </a:lnL>
                    <a:lnR>
                      <a:noFill/>
                    </a:lnR>
                    <a:lnT>
                      <a:noFill/>
                    </a:lnT>
                    <a:lnB>
                      <a:noFill/>
                    </a:lnB>
                  </a:tcPr>
                </a:tc>
                <a:extLst>
                  <a:ext uri="{0D108BD9-81ED-4DB2-BD59-A6C34878D82A}">
                    <a16:rowId xmlns:a16="http://schemas.microsoft.com/office/drawing/2014/main" val="10003"/>
                  </a:ext>
                </a:extLst>
              </a:tr>
              <a:tr h="622300">
                <a:tc>
                  <a:txBody>
                    <a:bodyPr/>
                    <a:lstStyle/>
                    <a:p>
                      <a:pPr>
                        <a:lnSpc>
                          <a:spcPct val="150000"/>
                        </a:lnSpc>
                      </a:pPr>
                      <a:r>
                        <a:rPr lang="en-US" sz="1800">
                          <a:latin typeface="Times New Roman"/>
                          <a:ea typeface="Times New Roman"/>
                        </a:rPr>
                        <a:t>Largest/Smallest</a:t>
                      </a:r>
                    </a:p>
                  </a:txBody>
                  <a:tcPr marL="47625" marR="47625" marT="47625" marB="47625">
                    <a:lnL>
                      <a:noFill/>
                    </a:lnL>
                    <a:lnR>
                      <a:noFill/>
                    </a:lnR>
                    <a:lnT>
                      <a:noFill/>
                    </a:lnT>
                    <a:lnB>
                      <a:noFill/>
                    </a:lnB>
                  </a:tcPr>
                </a:tc>
                <a:tc>
                  <a:txBody>
                    <a:bodyPr/>
                    <a:lstStyle/>
                    <a:p>
                      <a:pPr>
                        <a:lnSpc>
                          <a:spcPct val="150000"/>
                        </a:lnSpc>
                      </a:pPr>
                      <a:r>
                        <a:rPr lang="en-US" sz="1800">
                          <a:latin typeface="Times New Roman"/>
                          <a:ea typeface="Times New Roman"/>
                        </a:rPr>
                        <a:t>Highest/Lowest</a:t>
                      </a:r>
                    </a:p>
                  </a:txBody>
                  <a:tcPr marL="47625" marR="47625" marT="47625" marB="47625">
                    <a:lnL>
                      <a:noFill/>
                    </a:lnL>
                    <a:lnR>
                      <a:noFill/>
                    </a:lnR>
                    <a:lnT>
                      <a:noFill/>
                    </a:lnT>
                    <a:lnB>
                      <a:noFill/>
                    </a:lnB>
                  </a:tcPr>
                </a:tc>
                <a:extLst>
                  <a:ext uri="{0D108BD9-81ED-4DB2-BD59-A6C34878D82A}">
                    <a16:rowId xmlns:a16="http://schemas.microsoft.com/office/drawing/2014/main" val="10004"/>
                  </a:ext>
                </a:extLst>
              </a:tr>
              <a:tr h="622300">
                <a:tc>
                  <a:txBody>
                    <a:bodyPr/>
                    <a:lstStyle/>
                    <a:p>
                      <a:pPr>
                        <a:lnSpc>
                          <a:spcPct val="150000"/>
                        </a:lnSpc>
                      </a:pPr>
                      <a:r>
                        <a:rPr lang="en-US" sz="1800">
                          <a:latin typeface="Times New Roman"/>
                          <a:ea typeface="Times New Roman"/>
                        </a:rPr>
                        <a:t>Next-To/Farthest-From</a:t>
                      </a:r>
                    </a:p>
                  </a:txBody>
                  <a:tcPr marL="47625" marR="47625" marT="47625" marB="47625">
                    <a:lnL>
                      <a:noFill/>
                    </a:lnL>
                    <a:lnR>
                      <a:noFill/>
                    </a:lnR>
                    <a:lnT>
                      <a:noFill/>
                    </a:lnT>
                    <a:lnB>
                      <a:noFill/>
                    </a:lnB>
                  </a:tcPr>
                </a:tc>
                <a:tc>
                  <a:txBody>
                    <a:bodyPr/>
                    <a:lstStyle/>
                    <a:p>
                      <a:pPr>
                        <a:lnSpc>
                          <a:spcPct val="150000"/>
                        </a:lnSpc>
                        <a:spcAft>
                          <a:spcPts val="0"/>
                        </a:spcAft>
                      </a:pPr>
                      <a:endParaRPr lang="en-US" sz="1800">
                        <a:latin typeface="Times New Roman"/>
                        <a:ea typeface="Times New Roman"/>
                      </a:endParaRPr>
                    </a:p>
                  </a:txBody>
                  <a:tcPr marL="47625" marR="47625" marT="47625" marB="47625" anchor="ctr">
                    <a:lnL>
                      <a:noFill/>
                    </a:lnL>
                    <a:lnR>
                      <a:noFill/>
                    </a:lnR>
                    <a:lnT>
                      <a:noFill/>
                    </a:lnT>
                    <a:lnB>
                      <a:noFill/>
                    </a:lnB>
                  </a:tcPr>
                </a:tc>
                <a:extLst>
                  <a:ext uri="{0D108BD9-81ED-4DB2-BD59-A6C34878D82A}">
                    <a16:rowId xmlns:a16="http://schemas.microsoft.com/office/drawing/2014/main" val="10005"/>
                  </a:ext>
                </a:extLst>
              </a:tr>
            </a:tbl>
          </a:graphicData>
        </a:graphic>
      </p:graphicFrame>
      <p:sp>
        <p:nvSpPr>
          <p:cNvPr id="27666" name="Title 1"/>
          <p:cNvSpPr>
            <a:spLocks noGrp="1"/>
          </p:cNvSpPr>
          <p:nvPr>
            <p:ph type="title"/>
          </p:nvPr>
        </p:nvSpPr>
        <p:spPr>
          <a:xfrm>
            <a:off x="228600" y="685800"/>
            <a:ext cx="8686800" cy="838200"/>
          </a:xfrm>
        </p:spPr>
        <p:txBody>
          <a:bodyPr/>
          <a:lstStyle/>
          <a:p>
            <a:pPr marL="457200" indent="-457200" algn="ctr"/>
            <a:r>
              <a:rPr lang="en-US" sz="3600">
                <a:latin typeface="Times New Roman" pitchFamily="18" charset="0"/>
                <a:cs typeface="Times New Roman" pitchFamily="18" charset="0"/>
              </a:rPr>
              <a:t>4.5. DOMAIN TESTING</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72</a:t>
            </a:fld>
            <a:endParaRPr lang="en-US"/>
          </a:p>
        </p:txBody>
      </p:sp>
    </p:spTree>
    <p:extLst>
      <p:ext uri="{BB962C8B-B14F-4D97-AF65-F5344CB8AC3E}">
        <p14:creationId xmlns:p14="http://schemas.microsoft.com/office/powerpoint/2010/main" val="14542256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box(in)">
                                      <p:cBhvr>
                                        <p:cTn id="7" dur="500"/>
                                        <p:tgtEl>
                                          <p:spTgt spid="460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6083" name="Content Placeholder 2"/>
          <p:cNvSpPr>
            <a:spLocks noGrp="1"/>
          </p:cNvSpPr>
          <p:nvPr>
            <p:ph idx="1"/>
          </p:nvPr>
        </p:nvSpPr>
        <p:spPr>
          <a:xfrm>
            <a:off x="457200" y="1905000"/>
            <a:ext cx="8534400" cy="4572000"/>
          </a:xfrm>
        </p:spPr>
        <p:txBody>
          <a:bodyPr/>
          <a:lstStyle/>
          <a:p>
            <a:pPr marL="823913" lvl="1" indent="-457200">
              <a:lnSpc>
                <a:spcPct val="150000"/>
              </a:lnSpc>
              <a:buFont typeface="Calibri" pitchFamily="34" charset="0"/>
              <a:buAutoNum type="arabicPeriod" startAt="3"/>
            </a:pPr>
            <a:r>
              <a:rPr lang="en-US"/>
              <a:t>Kiểm thử những trường hợp biên (Testing the Boundary Edges)</a:t>
            </a:r>
          </a:p>
          <a:p>
            <a:pPr marL="1098550" lvl="2" indent="-457200">
              <a:lnSpc>
                <a:spcPct val="150000"/>
              </a:lnSpc>
            </a:pPr>
            <a:r>
              <a:rPr lang="en-US"/>
              <a:t>phân chia tập dữ liệu lộn xộn thành các </a:t>
            </a:r>
            <a:r>
              <a:rPr lang="en-US" i="1"/>
              <a:t>equivalence partition</a:t>
            </a:r>
          </a:p>
          <a:p>
            <a:pPr marL="1371600" lvl="3" indent="-457200">
              <a:lnSpc>
                <a:spcPct val="150000"/>
              </a:lnSpc>
            </a:pPr>
            <a:r>
              <a:rPr lang="en-US" i="1"/>
              <a:t>Phân vùng 1: chứa data mà hi vọng phần mềm làm việc tốt (dữ liệu trong biên)</a:t>
            </a:r>
          </a:p>
          <a:p>
            <a:pPr marL="1371600" lvl="3" indent="-457200">
              <a:lnSpc>
                <a:spcPct val="150000"/>
              </a:lnSpc>
            </a:pPr>
            <a:r>
              <a:rPr lang="en-US" i="1"/>
              <a:t>Phân vùng 2: chứ data mà phần mềm dễ phát sinh lỗi (dữ liệu tại 2 đầu của biên)</a:t>
            </a:r>
            <a:endParaRPr lang="en-US"/>
          </a:p>
        </p:txBody>
      </p:sp>
      <p:sp>
        <p:nvSpPr>
          <p:cNvPr id="28677" name="Title 1"/>
          <p:cNvSpPr>
            <a:spLocks noGrp="1"/>
          </p:cNvSpPr>
          <p:nvPr>
            <p:ph type="title"/>
          </p:nvPr>
        </p:nvSpPr>
        <p:spPr>
          <a:xfrm>
            <a:off x="228600" y="685800"/>
            <a:ext cx="8686800" cy="838200"/>
          </a:xfrm>
        </p:spPr>
        <p:txBody>
          <a:bodyPr/>
          <a:lstStyle/>
          <a:p>
            <a:pPr marL="457200" indent="-457200" algn="ctr"/>
            <a:r>
              <a:rPr lang="en-US" sz="3600">
                <a:latin typeface="Times New Roman" pitchFamily="18" charset="0"/>
                <a:cs typeface="Times New Roman" pitchFamily="18" charset="0"/>
              </a:rPr>
              <a:t>4.5. DOMAIN TESTING</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73</a:t>
            </a:fld>
            <a:endParaRPr lang="en-US"/>
          </a:p>
        </p:txBody>
      </p:sp>
    </p:spTree>
    <p:extLst>
      <p:ext uri="{BB962C8B-B14F-4D97-AF65-F5344CB8AC3E}">
        <p14:creationId xmlns:p14="http://schemas.microsoft.com/office/powerpoint/2010/main" val="30287963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box(in)">
                                      <p:cBhvr>
                                        <p:cTn id="7" dur="500"/>
                                        <p:tgtEl>
                                          <p:spTgt spid="460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6083">
                                            <p:txEl>
                                              <p:pRg st="1" end="1"/>
                                            </p:txEl>
                                          </p:spTgt>
                                        </p:tgtEl>
                                        <p:attrNameLst>
                                          <p:attrName>style.visibility</p:attrName>
                                        </p:attrNameLst>
                                      </p:cBhvr>
                                      <p:to>
                                        <p:strVal val="visible"/>
                                      </p:to>
                                    </p:set>
                                    <p:animEffect transition="in" filter="box(in)">
                                      <p:cBhvr>
                                        <p:cTn id="12" dur="500"/>
                                        <p:tgtEl>
                                          <p:spTgt spid="460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6083">
                                            <p:txEl>
                                              <p:pRg st="2" end="2"/>
                                            </p:txEl>
                                          </p:spTgt>
                                        </p:tgtEl>
                                        <p:attrNameLst>
                                          <p:attrName>style.visibility</p:attrName>
                                        </p:attrNameLst>
                                      </p:cBhvr>
                                      <p:to>
                                        <p:strVal val="visible"/>
                                      </p:to>
                                    </p:set>
                                    <p:animEffect transition="in" filter="box(in)">
                                      <p:cBhvr>
                                        <p:cTn id="17" dur="500"/>
                                        <p:tgtEl>
                                          <p:spTgt spid="460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6083">
                                            <p:txEl>
                                              <p:pRg st="3" end="3"/>
                                            </p:txEl>
                                          </p:spTgt>
                                        </p:tgtEl>
                                        <p:attrNameLst>
                                          <p:attrName>style.visibility</p:attrName>
                                        </p:attrNameLst>
                                      </p:cBhvr>
                                      <p:to>
                                        <p:strVal val="visible"/>
                                      </p:to>
                                    </p:set>
                                    <p:animEffect transition="in" filter="box(in)">
                                      <p:cBhvr>
                                        <p:cTn id="22" dur="500"/>
                                        <p:tgtEl>
                                          <p:spTgt spid="460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6083" name="Content Placeholder 2"/>
          <p:cNvSpPr>
            <a:spLocks noGrp="1"/>
          </p:cNvSpPr>
          <p:nvPr>
            <p:ph idx="1"/>
          </p:nvPr>
        </p:nvSpPr>
        <p:spPr>
          <a:xfrm>
            <a:off x="457200" y="1905000"/>
            <a:ext cx="8534400" cy="4800600"/>
          </a:xfrm>
        </p:spPr>
        <p:txBody>
          <a:bodyPr>
            <a:normAutofit lnSpcReduction="10000"/>
          </a:bodyPr>
          <a:lstStyle/>
          <a:p>
            <a:pPr marL="823913" lvl="1" indent="-457200">
              <a:lnSpc>
                <a:spcPct val="150000"/>
              </a:lnSpc>
              <a:buFont typeface="Calibri" pitchFamily="34" charset="0"/>
              <a:buAutoNum type="arabicPeriod" startAt="3"/>
            </a:pPr>
            <a:r>
              <a:rPr lang="en-US"/>
              <a:t>Kiểm thử những trường hợp biên</a:t>
            </a:r>
          </a:p>
          <a:p>
            <a:pPr marL="1098550" lvl="2" indent="-457200">
              <a:lnSpc>
                <a:spcPct val="150000"/>
              </a:lnSpc>
            </a:pPr>
            <a:r>
              <a:rPr lang="en-US" sz="2000"/>
              <a:t>Kiểm tra giá trị biên: (</a:t>
            </a:r>
            <a:r>
              <a:rPr lang="en-US" sz="2000" i="1"/>
              <a:t>thêm, bớt </a:t>
            </a:r>
            <a:r>
              <a:rPr lang="en-US" sz="2000"/>
              <a:t>các giá trị </a:t>
            </a:r>
            <a:r>
              <a:rPr lang="en-US" sz="2000" i="1"/>
              <a:t>max, min </a:t>
            </a:r>
            <a:r>
              <a:rPr lang="en-US" sz="2000"/>
              <a:t>1 đơn vị):</a:t>
            </a:r>
          </a:p>
          <a:p>
            <a:pPr lvl="4"/>
            <a:r>
              <a:rPr lang="en-US"/>
              <a:t>First-1/Last+1</a:t>
            </a:r>
          </a:p>
          <a:p>
            <a:pPr lvl="4"/>
            <a:r>
              <a:rPr lang="en-US"/>
              <a:t>Start-1/Finish+1</a:t>
            </a:r>
          </a:p>
          <a:p>
            <a:pPr lvl="4"/>
            <a:r>
              <a:rPr lang="en-US"/>
              <a:t>Less than Empty/More than Full</a:t>
            </a:r>
          </a:p>
          <a:p>
            <a:pPr lvl="4"/>
            <a:r>
              <a:rPr lang="en-US"/>
              <a:t>Even Slower/Even Faster</a:t>
            </a:r>
          </a:p>
          <a:p>
            <a:pPr lvl="4"/>
            <a:r>
              <a:rPr lang="en-US"/>
              <a:t>Largest+1/Smallest-1</a:t>
            </a:r>
          </a:p>
          <a:p>
            <a:pPr lvl="4"/>
            <a:r>
              <a:rPr lang="en-US"/>
              <a:t>Min-1/Max+1</a:t>
            </a:r>
          </a:p>
          <a:p>
            <a:pPr lvl="4"/>
            <a:r>
              <a:rPr lang="en-US"/>
              <a:t>Just Over/Just Under</a:t>
            </a:r>
          </a:p>
          <a:p>
            <a:pPr lvl="4"/>
            <a:r>
              <a:rPr lang="en-US"/>
              <a:t>Even Shorter/Longer</a:t>
            </a:r>
          </a:p>
          <a:p>
            <a:pPr lvl="4"/>
            <a:r>
              <a:rPr lang="en-US"/>
              <a:t>Even Sooner/Later</a:t>
            </a:r>
          </a:p>
          <a:p>
            <a:pPr lvl="4"/>
            <a:r>
              <a:rPr lang="en-US"/>
              <a:t>Highest+1/Lowest-1</a:t>
            </a:r>
          </a:p>
        </p:txBody>
      </p:sp>
      <p:sp>
        <p:nvSpPr>
          <p:cNvPr id="29701" name="Title 1"/>
          <p:cNvSpPr>
            <a:spLocks noGrp="1"/>
          </p:cNvSpPr>
          <p:nvPr>
            <p:ph type="title"/>
          </p:nvPr>
        </p:nvSpPr>
        <p:spPr>
          <a:xfrm>
            <a:off x="228600" y="685800"/>
            <a:ext cx="8686800" cy="838200"/>
          </a:xfrm>
        </p:spPr>
        <p:txBody>
          <a:bodyPr/>
          <a:lstStyle/>
          <a:p>
            <a:pPr marL="457200" indent="-457200" algn="ctr"/>
            <a:r>
              <a:rPr lang="en-US" sz="3600">
                <a:latin typeface="Times New Roman" pitchFamily="18" charset="0"/>
                <a:cs typeface="Times New Roman" pitchFamily="18" charset="0"/>
              </a:rPr>
              <a:t>4.5. DOMAIN TESTING</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74</a:t>
            </a:fld>
            <a:endParaRPr lang="en-US"/>
          </a:p>
        </p:txBody>
      </p:sp>
    </p:spTree>
    <p:extLst>
      <p:ext uri="{BB962C8B-B14F-4D97-AF65-F5344CB8AC3E}">
        <p14:creationId xmlns:p14="http://schemas.microsoft.com/office/powerpoint/2010/main" val="12668220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box(in)">
                                      <p:cBhvr>
                                        <p:cTn id="7" dur="500"/>
                                        <p:tgtEl>
                                          <p:spTgt spid="460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6083">
                                            <p:txEl>
                                              <p:pRg st="1" end="1"/>
                                            </p:txEl>
                                          </p:spTgt>
                                        </p:tgtEl>
                                        <p:attrNameLst>
                                          <p:attrName>style.visibility</p:attrName>
                                        </p:attrNameLst>
                                      </p:cBhvr>
                                      <p:to>
                                        <p:strVal val="visible"/>
                                      </p:to>
                                    </p:set>
                                    <p:animEffect transition="in" filter="box(in)">
                                      <p:cBhvr>
                                        <p:cTn id="12" dur="500"/>
                                        <p:tgtEl>
                                          <p:spTgt spid="460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6083">
                                            <p:txEl>
                                              <p:pRg st="2" end="2"/>
                                            </p:txEl>
                                          </p:spTgt>
                                        </p:tgtEl>
                                        <p:attrNameLst>
                                          <p:attrName>style.visibility</p:attrName>
                                        </p:attrNameLst>
                                      </p:cBhvr>
                                      <p:to>
                                        <p:strVal val="visible"/>
                                      </p:to>
                                    </p:set>
                                    <p:animEffect transition="in" filter="box(in)">
                                      <p:cBhvr>
                                        <p:cTn id="17" dur="500"/>
                                        <p:tgtEl>
                                          <p:spTgt spid="46083">
                                            <p:txEl>
                                              <p:pRg st="2" end="2"/>
                                            </p:txEl>
                                          </p:spTgt>
                                        </p:tgtEl>
                                      </p:cBhvr>
                                    </p:animEffect>
                                  </p:childTnLst>
                                </p:cTn>
                              </p:par>
                              <p:par>
                                <p:cTn id="18" presetID="4" presetClass="entr" presetSubtype="16" fill="hold" nodeType="withEffect">
                                  <p:stCondLst>
                                    <p:cond delay="0"/>
                                  </p:stCondLst>
                                  <p:childTnLst>
                                    <p:set>
                                      <p:cBhvr>
                                        <p:cTn id="19" dur="1" fill="hold">
                                          <p:stCondLst>
                                            <p:cond delay="0"/>
                                          </p:stCondLst>
                                        </p:cTn>
                                        <p:tgtEl>
                                          <p:spTgt spid="46083">
                                            <p:txEl>
                                              <p:pRg st="3" end="3"/>
                                            </p:txEl>
                                          </p:spTgt>
                                        </p:tgtEl>
                                        <p:attrNameLst>
                                          <p:attrName>style.visibility</p:attrName>
                                        </p:attrNameLst>
                                      </p:cBhvr>
                                      <p:to>
                                        <p:strVal val="visible"/>
                                      </p:to>
                                    </p:set>
                                    <p:animEffect transition="in" filter="box(in)">
                                      <p:cBhvr>
                                        <p:cTn id="20" dur="500"/>
                                        <p:tgtEl>
                                          <p:spTgt spid="46083">
                                            <p:txEl>
                                              <p:pRg st="3" end="3"/>
                                            </p:txEl>
                                          </p:spTgt>
                                        </p:tgtEl>
                                      </p:cBhvr>
                                    </p:animEffect>
                                  </p:childTnLst>
                                </p:cTn>
                              </p:par>
                              <p:par>
                                <p:cTn id="21" presetID="4" presetClass="entr" presetSubtype="16" fill="hold" nodeType="withEffect">
                                  <p:stCondLst>
                                    <p:cond delay="0"/>
                                  </p:stCondLst>
                                  <p:childTnLst>
                                    <p:set>
                                      <p:cBhvr>
                                        <p:cTn id="22" dur="1" fill="hold">
                                          <p:stCondLst>
                                            <p:cond delay="0"/>
                                          </p:stCondLst>
                                        </p:cTn>
                                        <p:tgtEl>
                                          <p:spTgt spid="46083">
                                            <p:txEl>
                                              <p:pRg st="4" end="4"/>
                                            </p:txEl>
                                          </p:spTgt>
                                        </p:tgtEl>
                                        <p:attrNameLst>
                                          <p:attrName>style.visibility</p:attrName>
                                        </p:attrNameLst>
                                      </p:cBhvr>
                                      <p:to>
                                        <p:strVal val="visible"/>
                                      </p:to>
                                    </p:set>
                                    <p:animEffect transition="in" filter="box(in)">
                                      <p:cBhvr>
                                        <p:cTn id="23" dur="500"/>
                                        <p:tgtEl>
                                          <p:spTgt spid="46083">
                                            <p:txEl>
                                              <p:pRg st="4" end="4"/>
                                            </p:txEl>
                                          </p:spTgt>
                                        </p:tgtEl>
                                      </p:cBhvr>
                                    </p:animEffect>
                                  </p:childTnLst>
                                </p:cTn>
                              </p:par>
                              <p:par>
                                <p:cTn id="24" presetID="4" presetClass="entr" presetSubtype="16" fill="hold" nodeType="withEffect">
                                  <p:stCondLst>
                                    <p:cond delay="0"/>
                                  </p:stCondLst>
                                  <p:childTnLst>
                                    <p:set>
                                      <p:cBhvr>
                                        <p:cTn id="25" dur="1" fill="hold">
                                          <p:stCondLst>
                                            <p:cond delay="0"/>
                                          </p:stCondLst>
                                        </p:cTn>
                                        <p:tgtEl>
                                          <p:spTgt spid="46083">
                                            <p:txEl>
                                              <p:pRg st="5" end="5"/>
                                            </p:txEl>
                                          </p:spTgt>
                                        </p:tgtEl>
                                        <p:attrNameLst>
                                          <p:attrName>style.visibility</p:attrName>
                                        </p:attrNameLst>
                                      </p:cBhvr>
                                      <p:to>
                                        <p:strVal val="visible"/>
                                      </p:to>
                                    </p:set>
                                    <p:animEffect transition="in" filter="box(in)">
                                      <p:cBhvr>
                                        <p:cTn id="26" dur="500"/>
                                        <p:tgtEl>
                                          <p:spTgt spid="46083">
                                            <p:txEl>
                                              <p:pRg st="5" end="5"/>
                                            </p:txEl>
                                          </p:spTgt>
                                        </p:tgtEl>
                                      </p:cBhvr>
                                    </p:animEffect>
                                  </p:childTnLst>
                                </p:cTn>
                              </p:par>
                              <p:par>
                                <p:cTn id="27" presetID="4" presetClass="entr" presetSubtype="16" fill="hold" nodeType="withEffect">
                                  <p:stCondLst>
                                    <p:cond delay="0"/>
                                  </p:stCondLst>
                                  <p:childTnLst>
                                    <p:set>
                                      <p:cBhvr>
                                        <p:cTn id="28" dur="1" fill="hold">
                                          <p:stCondLst>
                                            <p:cond delay="0"/>
                                          </p:stCondLst>
                                        </p:cTn>
                                        <p:tgtEl>
                                          <p:spTgt spid="46083">
                                            <p:txEl>
                                              <p:pRg st="6" end="6"/>
                                            </p:txEl>
                                          </p:spTgt>
                                        </p:tgtEl>
                                        <p:attrNameLst>
                                          <p:attrName>style.visibility</p:attrName>
                                        </p:attrNameLst>
                                      </p:cBhvr>
                                      <p:to>
                                        <p:strVal val="visible"/>
                                      </p:to>
                                    </p:set>
                                    <p:animEffect transition="in" filter="box(in)">
                                      <p:cBhvr>
                                        <p:cTn id="29" dur="500"/>
                                        <p:tgtEl>
                                          <p:spTgt spid="46083">
                                            <p:txEl>
                                              <p:pRg st="6" end="6"/>
                                            </p:txEl>
                                          </p:spTgt>
                                        </p:tgtEl>
                                      </p:cBhvr>
                                    </p:animEffect>
                                  </p:childTnLst>
                                </p:cTn>
                              </p:par>
                              <p:par>
                                <p:cTn id="30" presetID="4" presetClass="entr" presetSubtype="16" fill="hold" nodeType="withEffect">
                                  <p:stCondLst>
                                    <p:cond delay="0"/>
                                  </p:stCondLst>
                                  <p:childTnLst>
                                    <p:set>
                                      <p:cBhvr>
                                        <p:cTn id="31" dur="1" fill="hold">
                                          <p:stCondLst>
                                            <p:cond delay="0"/>
                                          </p:stCondLst>
                                        </p:cTn>
                                        <p:tgtEl>
                                          <p:spTgt spid="46083">
                                            <p:txEl>
                                              <p:pRg st="7" end="7"/>
                                            </p:txEl>
                                          </p:spTgt>
                                        </p:tgtEl>
                                        <p:attrNameLst>
                                          <p:attrName>style.visibility</p:attrName>
                                        </p:attrNameLst>
                                      </p:cBhvr>
                                      <p:to>
                                        <p:strVal val="visible"/>
                                      </p:to>
                                    </p:set>
                                    <p:animEffect transition="in" filter="box(in)">
                                      <p:cBhvr>
                                        <p:cTn id="32" dur="500"/>
                                        <p:tgtEl>
                                          <p:spTgt spid="46083">
                                            <p:txEl>
                                              <p:pRg st="7" end="7"/>
                                            </p:txEl>
                                          </p:spTgt>
                                        </p:tgtEl>
                                      </p:cBhvr>
                                    </p:animEffect>
                                  </p:childTnLst>
                                </p:cTn>
                              </p:par>
                              <p:par>
                                <p:cTn id="33" presetID="4" presetClass="entr" presetSubtype="16" fill="hold" nodeType="withEffect">
                                  <p:stCondLst>
                                    <p:cond delay="0"/>
                                  </p:stCondLst>
                                  <p:childTnLst>
                                    <p:set>
                                      <p:cBhvr>
                                        <p:cTn id="34" dur="1" fill="hold">
                                          <p:stCondLst>
                                            <p:cond delay="0"/>
                                          </p:stCondLst>
                                        </p:cTn>
                                        <p:tgtEl>
                                          <p:spTgt spid="46083">
                                            <p:txEl>
                                              <p:pRg st="8" end="8"/>
                                            </p:txEl>
                                          </p:spTgt>
                                        </p:tgtEl>
                                        <p:attrNameLst>
                                          <p:attrName>style.visibility</p:attrName>
                                        </p:attrNameLst>
                                      </p:cBhvr>
                                      <p:to>
                                        <p:strVal val="visible"/>
                                      </p:to>
                                    </p:set>
                                    <p:animEffect transition="in" filter="box(in)">
                                      <p:cBhvr>
                                        <p:cTn id="35" dur="500"/>
                                        <p:tgtEl>
                                          <p:spTgt spid="46083">
                                            <p:txEl>
                                              <p:pRg st="8" end="8"/>
                                            </p:txEl>
                                          </p:spTgt>
                                        </p:tgtEl>
                                      </p:cBhvr>
                                    </p:animEffect>
                                  </p:childTnLst>
                                </p:cTn>
                              </p:par>
                              <p:par>
                                <p:cTn id="36" presetID="4" presetClass="entr" presetSubtype="16" fill="hold" nodeType="withEffect">
                                  <p:stCondLst>
                                    <p:cond delay="0"/>
                                  </p:stCondLst>
                                  <p:childTnLst>
                                    <p:set>
                                      <p:cBhvr>
                                        <p:cTn id="37" dur="1" fill="hold">
                                          <p:stCondLst>
                                            <p:cond delay="0"/>
                                          </p:stCondLst>
                                        </p:cTn>
                                        <p:tgtEl>
                                          <p:spTgt spid="46083">
                                            <p:txEl>
                                              <p:pRg st="9" end="9"/>
                                            </p:txEl>
                                          </p:spTgt>
                                        </p:tgtEl>
                                        <p:attrNameLst>
                                          <p:attrName>style.visibility</p:attrName>
                                        </p:attrNameLst>
                                      </p:cBhvr>
                                      <p:to>
                                        <p:strVal val="visible"/>
                                      </p:to>
                                    </p:set>
                                    <p:animEffect transition="in" filter="box(in)">
                                      <p:cBhvr>
                                        <p:cTn id="38" dur="500"/>
                                        <p:tgtEl>
                                          <p:spTgt spid="46083">
                                            <p:txEl>
                                              <p:pRg st="9" end="9"/>
                                            </p:txEl>
                                          </p:spTgt>
                                        </p:tgtEl>
                                      </p:cBhvr>
                                    </p:animEffect>
                                  </p:childTnLst>
                                </p:cTn>
                              </p:par>
                              <p:par>
                                <p:cTn id="39" presetID="4" presetClass="entr" presetSubtype="16" fill="hold" nodeType="withEffect">
                                  <p:stCondLst>
                                    <p:cond delay="0"/>
                                  </p:stCondLst>
                                  <p:childTnLst>
                                    <p:set>
                                      <p:cBhvr>
                                        <p:cTn id="40" dur="1" fill="hold">
                                          <p:stCondLst>
                                            <p:cond delay="0"/>
                                          </p:stCondLst>
                                        </p:cTn>
                                        <p:tgtEl>
                                          <p:spTgt spid="46083">
                                            <p:txEl>
                                              <p:pRg st="10" end="10"/>
                                            </p:txEl>
                                          </p:spTgt>
                                        </p:tgtEl>
                                        <p:attrNameLst>
                                          <p:attrName>style.visibility</p:attrName>
                                        </p:attrNameLst>
                                      </p:cBhvr>
                                      <p:to>
                                        <p:strVal val="visible"/>
                                      </p:to>
                                    </p:set>
                                    <p:animEffect transition="in" filter="box(in)">
                                      <p:cBhvr>
                                        <p:cTn id="41" dur="500"/>
                                        <p:tgtEl>
                                          <p:spTgt spid="46083">
                                            <p:txEl>
                                              <p:pRg st="10" end="10"/>
                                            </p:txEl>
                                          </p:spTgt>
                                        </p:tgtEl>
                                      </p:cBhvr>
                                    </p:animEffect>
                                  </p:childTnLst>
                                </p:cTn>
                              </p:par>
                              <p:par>
                                <p:cTn id="42" presetID="4" presetClass="entr" presetSubtype="16" fill="hold" nodeType="withEffect">
                                  <p:stCondLst>
                                    <p:cond delay="0"/>
                                  </p:stCondLst>
                                  <p:childTnLst>
                                    <p:set>
                                      <p:cBhvr>
                                        <p:cTn id="43" dur="1" fill="hold">
                                          <p:stCondLst>
                                            <p:cond delay="0"/>
                                          </p:stCondLst>
                                        </p:cTn>
                                        <p:tgtEl>
                                          <p:spTgt spid="46083">
                                            <p:txEl>
                                              <p:pRg st="11" end="11"/>
                                            </p:txEl>
                                          </p:spTgt>
                                        </p:tgtEl>
                                        <p:attrNameLst>
                                          <p:attrName>style.visibility</p:attrName>
                                        </p:attrNameLst>
                                      </p:cBhvr>
                                      <p:to>
                                        <p:strVal val="visible"/>
                                      </p:to>
                                    </p:set>
                                    <p:animEffect transition="in" filter="box(in)">
                                      <p:cBhvr>
                                        <p:cTn id="44" dur="500"/>
                                        <p:tgtEl>
                                          <p:spTgt spid="4608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6083" name="Content Placeholder 2"/>
          <p:cNvSpPr>
            <a:spLocks noGrp="1"/>
          </p:cNvSpPr>
          <p:nvPr>
            <p:ph idx="1"/>
          </p:nvPr>
        </p:nvSpPr>
        <p:spPr>
          <a:xfrm>
            <a:off x="304800" y="1905000"/>
            <a:ext cx="8686800" cy="4800600"/>
          </a:xfrm>
        </p:spPr>
        <p:txBody>
          <a:bodyPr/>
          <a:lstStyle/>
          <a:p>
            <a:pPr marL="823913" lvl="1" indent="-457200">
              <a:lnSpc>
                <a:spcPct val="150000"/>
              </a:lnSpc>
              <a:buFont typeface="Calibri" pitchFamily="34" charset="0"/>
              <a:buAutoNum type="arabicPeriod" startAt="3"/>
            </a:pPr>
            <a:r>
              <a:rPr lang="en-US"/>
              <a:t>Kiểm thử những trường hợp biên. Ví dụ:</a:t>
            </a:r>
          </a:p>
          <a:p>
            <a:pPr marL="1098550" lvl="2" indent="-457200">
              <a:lnSpc>
                <a:spcPct val="150000"/>
              </a:lnSpc>
            </a:pPr>
            <a:r>
              <a:rPr lang="en-US" sz="2400"/>
              <a:t>VD1: Nhập 1 số giới hạn [0-255]</a:t>
            </a:r>
          </a:p>
          <a:p>
            <a:pPr marL="1098550" lvl="2" indent="-457200">
              <a:lnSpc>
                <a:spcPct val="150000"/>
              </a:lnSpc>
            </a:pPr>
            <a:r>
              <a:rPr lang="en-US" sz="2400"/>
              <a:t>VD2: Chương trình đọc và ghi CD-R</a:t>
            </a:r>
          </a:p>
          <a:p>
            <a:pPr marL="1098550" lvl="2" indent="-457200">
              <a:lnSpc>
                <a:spcPct val="150000"/>
              </a:lnSpc>
            </a:pPr>
            <a:r>
              <a:rPr lang="en-US" sz="2400"/>
              <a:t>VD3: Phần mềm cho phép in nhiều trang trên 1 khổ giấy (trong spec mô tả PM có thể in tối đa 8 trang/1 khổ giấy)</a:t>
            </a:r>
          </a:p>
          <a:p>
            <a:pPr marL="1098550" lvl="2" indent="-457200">
              <a:lnSpc>
                <a:spcPct val="150000"/>
              </a:lnSpc>
            </a:pPr>
            <a:r>
              <a:rPr lang="en-US" sz="2400"/>
              <a:t>VD4: Chương trình mô phỏng các chuyến bay</a:t>
            </a:r>
          </a:p>
        </p:txBody>
      </p:sp>
      <p:sp>
        <p:nvSpPr>
          <p:cNvPr id="30725" name="Title 1"/>
          <p:cNvSpPr>
            <a:spLocks noGrp="1"/>
          </p:cNvSpPr>
          <p:nvPr>
            <p:ph type="title"/>
          </p:nvPr>
        </p:nvSpPr>
        <p:spPr>
          <a:xfrm>
            <a:off x="228600" y="685800"/>
            <a:ext cx="8686800" cy="838200"/>
          </a:xfrm>
        </p:spPr>
        <p:txBody>
          <a:bodyPr/>
          <a:lstStyle/>
          <a:p>
            <a:pPr marL="457200" indent="-457200" algn="ctr"/>
            <a:r>
              <a:rPr lang="en-US" sz="3600">
                <a:latin typeface="Times New Roman" pitchFamily="18" charset="0"/>
                <a:cs typeface="Times New Roman" pitchFamily="18" charset="0"/>
              </a:rPr>
              <a:t>4.5. DOMAIN TESTING</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75</a:t>
            </a:fld>
            <a:endParaRPr lang="en-US"/>
          </a:p>
        </p:txBody>
      </p:sp>
    </p:spTree>
    <p:extLst>
      <p:ext uri="{BB962C8B-B14F-4D97-AF65-F5344CB8AC3E}">
        <p14:creationId xmlns:p14="http://schemas.microsoft.com/office/powerpoint/2010/main" val="16198695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box(in)">
                                      <p:cBhvr>
                                        <p:cTn id="7" dur="500"/>
                                        <p:tgtEl>
                                          <p:spTgt spid="460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6083">
                                            <p:txEl>
                                              <p:pRg st="1" end="1"/>
                                            </p:txEl>
                                          </p:spTgt>
                                        </p:tgtEl>
                                        <p:attrNameLst>
                                          <p:attrName>style.visibility</p:attrName>
                                        </p:attrNameLst>
                                      </p:cBhvr>
                                      <p:to>
                                        <p:strVal val="visible"/>
                                      </p:to>
                                    </p:set>
                                    <p:animEffect transition="in" filter="box(in)">
                                      <p:cBhvr>
                                        <p:cTn id="12" dur="500"/>
                                        <p:tgtEl>
                                          <p:spTgt spid="460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6083">
                                            <p:txEl>
                                              <p:pRg st="2" end="2"/>
                                            </p:txEl>
                                          </p:spTgt>
                                        </p:tgtEl>
                                        <p:attrNameLst>
                                          <p:attrName>style.visibility</p:attrName>
                                        </p:attrNameLst>
                                      </p:cBhvr>
                                      <p:to>
                                        <p:strVal val="visible"/>
                                      </p:to>
                                    </p:set>
                                    <p:animEffect transition="in" filter="box(in)">
                                      <p:cBhvr>
                                        <p:cTn id="17" dur="500"/>
                                        <p:tgtEl>
                                          <p:spTgt spid="460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6083">
                                            <p:txEl>
                                              <p:pRg st="3" end="3"/>
                                            </p:txEl>
                                          </p:spTgt>
                                        </p:tgtEl>
                                        <p:attrNameLst>
                                          <p:attrName>style.visibility</p:attrName>
                                        </p:attrNameLst>
                                      </p:cBhvr>
                                      <p:to>
                                        <p:strVal val="visible"/>
                                      </p:to>
                                    </p:set>
                                    <p:animEffect transition="in" filter="box(in)">
                                      <p:cBhvr>
                                        <p:cTn id="22" dur="500"/>
                                        <p:tgtEl>
                                          <p:spTgt spid="4608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6083">
                                            <p:txEl>
                                              <p:pRg st="4" end="4"/>
                                            </p:txEl>
                                          </p:spTgt>
                                        </p:tgtEl>
                                        <p:attrNameLst>
                                          <p:attrName>style.visibility</p:attrName>
                                        </p:attrNameLst>
                                      </p:cBhvr>
                                      <p:to>
                                        <p:strVal val="visible"/>
                                      </p:to>
                                    </p:set>
                                    <p:animEffect transition="in" filter="box(in)">
                                      <p:cBhvr>
                                        <p:cTn id="27" dur="500"/>
                                        <p:tgtEl>
                                          <p:spTgt spid="460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6083" name="Content Placeholder 2"/>
          <p:cNvSpPr>
            <a:spLocks noGrp="1"/>
          </p:cNvSpPr>
          <p:nvPr>
            <p:ph idx="1"/>
          </p:nvPr>
        </p:nvSpPr>
        <p:spPr>
          <a:xfrm>
            <a:off x="457200" y="1905000"/>
            <a:ext cx="8534400" cy="1752600"/>
          </a:xfrm>
        </p:spPr>
        <p:txBody>
          <a:bodyPr/>
          <a:lstStyle/>
          <a:p>
            <a:pPr marL="823913" lvl="1" indent="-457200">
              <a:lnSpc>
                <a:spcPct val="150000"/>
              </a:lnSpc>
              <a:buFont typeface="Calibri" pitchFamily="34" charset="0"/>
              <a:buAutoNum type="arabicPeriod" startAt="4"/>
            </a:pPr>
            <a:r>
              <a:rPr lang="en-US"/>
              <a:t>Các điều kiên biên con (</a:t>
            </a:r>
            <a:r>
              <a:rPr lang="en-US" i="1"/>
              <a:t>Sub-Boundary Conditions</a:t>
            </a:r>
            <a:r>
              <a:rPr lang="en-US"/>
              <a:t> hay </a:t>
            </a:r>
            <a:r>
              <a:rPr lang="en-US" i="1"/>
              <a:t>internal boundary conditions</a:t>
            </a:r>
            <a:r>
              <a:rPr lang="en-US"/>
              <a:t>).</a:t>
            </a:r>
          </a:p>
          <a:p>
            <a:pPr marL="823913" lvl="1" indent="-457200">
              <a:lnSpc>
                <a:spcPct val="150000"/>
              </a:lnSpc>
            </a:pPr>
            <a:r>
              <a:rPr lang="en-US" sz="1800"/>
              <a:t>Ví dụ: Phần mềm sử dụng ASCII, có 1 testbox cho phép nhập A-Z và a-z</a:t>
            </a:r>
          </a:p>
        </p:txBody>
      </p:sp>
      <p:pic>
        <p:nvPicPr>
          <p:cNvPr id="1771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3657600"/>
            <a:ext cx="6135688" cy="29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Title 1"/>
          <p:cNvSpPr>
            <a:spLocks noGrp="1"/>
          </p:cNvSpPr>
          <p:nvPr>
            <p:ph type="title"/>
          </p:nvPr>
        </p:nvSpPr>
        <p:spPr>
          <a:xfrm>
            <a:off x="228600" y="685800"/>
            <a:ext cx="8686800" cy="838200"/>
          </a:xfrm>
        </p:spPr>
        <p:txBody>
          <a:bodyPr/>
          <a:lstStyle/>
          <a:p>
            <a:pPr marL="457200" indent="-457200" algn="ctr"/>
            <a:r>
              <a:rPr lang="en-US" sz="3600">
                <a:latin typeface="Times New Roman" pitchFamily="18" charset="0"/>
                <a:cs typeface="Times New Roman" pitchFamily="18" charset="0"/>
              </a:rPr>
              <a:t>4.5. DOMAIN TESTING</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76</a:t>
            </a:fld>
            <a:endParaRPr lang="en-US"/>
          </a:p>
        </p:txBody>
      </p:sp>
    </p:spTree>
    <p:extLst>
      <p:ext uri="{BB962C8B-B14F-4D97-AF65-F5344CB8AC3E}">
        <p14:creationId xmlns:p14="http://schemas.microsoft.com/office/powerpoint/2010/main" val="39938607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box(in)">
                                      <p:cBhvr>
                                        <p:cTn id="7" dur="500"/>
                                        <p:tgtEl>
                                          <p:spTgt spid="460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6083">
                                            <p:txEl>
                                              <p:pRg st="1" end="1"/>
                                            </p:txEl>
                                          </p:spTgt>
                                        </p:tgtEl>
                                        <p:attrNameLst>
                                          <p:attrName>style.visibility</p:attrName>
                                        </p:attrNameLst>
                                      </p:cBhvr>
                                      <p:to>
                                        <p:strVal val="visible"/>
                                      </p:to>
                                    </p:set>
                                    <p:animEffect transition="in" filter="box(in)">
                                      <p:cBhvr>
                                        <p:cTn id="12" dur="500"/>
                                        <p:tgtEl>
                                          <p:spTgt spid="460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77154"/>
                                        </p:tgtEl>
                                        <p:attrNameLst>
                                          <p:attrName>style.visibility</p:attrName>
                                        </p:attrNameLst>
                                      </p:cBhvr>
                                      <p:to>
                                        <p:strVal val="visible"/>
                                      </p:to>
                                    </p:set>
                                    <p:animEffect transition="in" filter="box(in)">
                                      <p:cBhvr>
                                        <p:cTn id="17" dur="500"/>
                                        <p:tgtEl>
                                          <p:spTgt spid="177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6083" name="Content Placeholder 2"/>
          <p:cNvSpPr>
            <a:spLocks noGrp="1"/>
          </p:cNvSpPr>
          <p:nvPr>
            <p:ph idx="1"/>
          </p:nvPr>
        </p:nvSpPr>
        <p:spPr>
          <a:xfrm>
            <a:off x="457200" y="1905000"/>
            <a:ext cx="8534400" cy="2057400"/>
          </a:xfrm>
        </p:spPr>
        <p:txBody>
          <a:bodyPr>
            <a:normAutofit fontScale="92500" lnSpcReduction="10000"/>
          </a:bodyPr>
          <a:lstStyle/>
          <a:p>
            <a:pPr marL="823913" lvl="1" indent="-457200">
              <a:lnSpc>
                <a:spcPct val="150000"/>
              </a:lnSpc>
              <a:buFont typeface="Calibri" pitchFamily="34" charset="0"/>
              <a:buAutoNum type="arabicPeriod" startAt="5"/>
            </a:pPr>
            <a:r>
              <a:rPr lang="en-US"/>
              <a:t>Default, Empty, Blank, Null, Zero, và None</a:t>
            </a:r>
          </a:p>
          <a:p>
            <a:pPr marL="1098550" lvl="2" indent="-457200">
              <a:lnSpc>
                <a:spcPct val="150000"/>
              </a:lnSpc>
            </a:pPr>
            <a:r>
              <a:rPr lang="en-US"/>
              <a:t>Phần mềm yêu cầu nhập thông tin =&gt; người dùng không nhập =&gt;  Ok =&gt; sinh lỗi. Spec thường không mô tả, coder dễ bỏ qua</a:t>
            </a:r>
          </a:p>
          <a:p>
            <a:pPr marL="1098550" lvl="2" indent="-457200">
              <a:lnSpc>
                <a:spcPct val="150000"/>
              </a:lnSpc>
            </a:pPr>
            <a:r>
              <a:rPr lang="en-US"/>
              <a:t>Ví dụ: phần mềm </a:t>
            </a:r>
            <a:r>
              <a:rPr lang="en-US" i="1"/>
              <a:t>Windows Paint</a:t>
            </a:r>
          </a:p>
        </p:txBody>
      </p:sp>
      <p:pic>
        <p:nvPicPr>
          <p:cNvPr id="1781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4097338"/>
            <a:ext cx="3124200" cy="260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817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4953000"/>
            <a:ext cx="29686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5" name="Title 1"/>
          <p:cNvSpPr>
            <a:spLocks noGrp="1"/>
          </p:cNvSpPr>
          <p:nvPr>
            <p:ph type="title"/>
          </p:nvPr>
        </p:nvSpPr>
        <p:spPr>
          <a:xfrm>
            <a:off x="228600" y="685800"/>
            <a:ext cx="8686800" cy="838200"/>
          </a:xfrm>
        </p:spPr>
        <p:txBody>
          <a:bodyPr/>
          <a:lstStyle/>
          <a:p>
            <a:pPr marL="457200" indent="-457200" algn="ctr"/>
            <a:r>
              <a:rPr lang="en-US" sz="3600">
                <a:latin typeface="Times New Roman" pitchFamily="18" charset="0"/>
                <a:cs typeface="Times New Roman" pitchFamily="18" charset="0"/>
              </a:rPr>
              <a:t>4.5. DOMAIN TESTING</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77</a:t>
            </a:fld>
            <a:endParaRPr lang="en-US"/>
          </a:p>
        </p:txBody>
      </p:sp>
    </p:spTree>
    <p:extLst>
      <p:ext uri="{BB962C8B-B14F-4D97-AF65-F5344CB8AC3E}">
        <p14:creationId xmlns:p14="http://schemas.microsoft.com/office/powerpoint/2010/main" val="488203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box(in)">
                                      <p:cBhvr>
                                        <p:cTn id="7" dur="500"/>
                                        <p:tgtEl>
                                          <p:spTgt spid="460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6083">
                                            <p:txEl>
                                              <p:pRg st="1" end="1"/>
                                            </p:txEl>
                                          </p:spTgt>
                                        </p:tgtEl>
                                        <p:attrNameLst>
                                          <p:attrName>style.visibility</p:attrName>
                                        </p:attrNameLst>
                                      </p:cBhvr>
                                      <p:to>
                                        <p:strVal val="visible"/>
                                      </p:to>
                                    </p:set>
                                    <p:animEffect transition="in" filter="box(in)">
                                      <p:cBhvr>
                                        <p:cTn id="12" dur="500"/>
                                        <p:tgtEl>
                                          <p:spTgt spid="460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6083">
                                            <p:txEl>
                                              <p:pRg st="2" end="2"/>
                                            </p:txEl>
                                          </p:spTgt>
                                        </p:tgtEl>
                                        <p:attrNameLst>
                                          <p:attrName>style.visibility</p:attrName>
                                        </p:attrNameLst>
                                      </p:cBhvr>
                                      <p:to>
                                        <p:strVal val="visible"/>
                                      </p:to>
                                    </p:set>
                                    <p:animEffect transition="in" filter="box(in)">
                                      <p:cBhvr>
                                        <p:cTn id="17" dur="500"/>
                                        <p:tgtEl>
                                          <p:spTgt spid="460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78178"/>
                                        </p:tgtEl>
                                        <p:attrNameLst>
                                          <p:attrName>style.visibility</p:attrName>
                                        </p:attrNameLst>
                                      </p:cBhvr>
                                      <p:to>
                                        <p:strVal val="visible"/>
                                      </p:to>
                                    </p:set>
                                    <p:animEffect transition="in" filter="box(in)">
                                      <p:cBhvr>
                                        <p:cTn id="22" dur="500"/>
                                        <p:tgtEl>
                                          <p:spTgt spid="17817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78179"/>
                                        </p:tgtEl>
                                        <p:attrNameLst>
                                          <p:attrName>style.visibility</p:attrName>
                                        </p:attrNameLst>
                                      </p:cBhvr>
                                      <p:to>
                                        <p:strVal val="visible"/>
                                      </p:to>
                                    </p:set>
                                    <p:animEffect transition="in" filter="box(in)">
                                      <p:cBhvr>
                                        <p:cTn id="27" dur="500"/>
                                        <p:tgtEl>
                                          <p:spTgt spid="178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6083" name="Content Placeholder 2"/>
          <p:cNvSpPr>
            <a:spLocks noGrp="1"/>
          </p:cNvSpPr>
          <p:nvPr>
            <p:ph idx="1"/>
          </p:nvPr>
        </p:nvSpPr>
        <p:spPr>
          <a:xfrm>
            <a:off x="457200" y="1905000"/>
            <a:ext cx="8534400" cy="4572000"/>
          </a:xfrm>
        </p:spPr>
        <p:txBody>
          <a:bodyPr/>
          <a:lstStyle/>
          <a:p>
            <a:pPr marL="823913" lvl="1" indent="-457200">
              <a:lnSpc>
                <a:spcPct val="150000"/>
              </a:lnSpc>
              <a:buFont typeface="Calibri" pitchFamily="34" charset="0"/>
              <a:buAutoNum type="arabicPeriod" startAt="6"/>
            </a:pPr>
            <a:r>
              <a:rPr lang="en-US"/>
              <a:t>Invalid, Wrong, Incorrect, và Garbage (vô nghĩa) Data</a:t>
            </a:r>
          </a:p>
          <a:p>
            <a:pPr marL="1098550" lvl="2" indent="-457200">
              <a:lnSpc>
                <a:spcPct val="150000"/>
              </a:lnSpc>
            </a:pPr>
            <a:r>
              <a:rPr lang="en-US"/>
              <a:t>Sau khi </a:t>
            </a:r>
            <a:r>
              <a:rPr lang="en-US" i="1"/>
              <a:t>Test – to – pass</a:t>
            </a:r>
            <a:r>
              <a:rPr lang="en-US"/>
              <a:t> với các </a:t>
            </a:r>
            <a:r>
              <a:rPr lang="en-US" i="1"/>
              <a:t>boundary testing, sub-boundary testing</a:t>
            </a:r>
            <a:r>
              <a:rPr lang="en-US"/>
              <a:t>, và </a:t>
            </a:r>
            <a:r>
              <a:rPr lang="en-US" i="1"/>
              <a:t>default testing,</a:t>
            </a:r>
            <a:r>
              <a:rPr lang="en-US"/>
              <a:t> tester thấy phần mềm hoạt động tốt</a:t>
            </a:r>
          </a:p>
          <a:p>
            <a:pPr marL="1098550" lvl="2" indent="-457200">
              <a:lnSpc>
                <a:spcPct val="150000"/>
              </a:lnSpc>
            </a:pPr>
            <a:r>
              <a:rPr lang="en-US"/>
              <a:t>Giờ, cần </a:t>
            </a:r>
            <a:r>
              <a:rPr lang="en-US" i="1"/>
              <a:t>Test – to – fail</a:t>
            </a:r>
            <a:r>
              <a:rPr lang="en-US"/>
              <a:t> để tìm ra lỗi với các các </a:t>
            </a:r>
            <a:r>
              <a:rPr lang="en-US" i="1"/>
              <a:t>invalid, wrong, incorrect,</a:t>
            </a:r>
            <a:r>
              <a:rPr lang="en-US"/>
              <a:t> và </a:t>
            </a:r>
            <a:r>
              <a:rPr lang="en-US" i="1"/>
              <a:t>garbage data</a:t>
            </a:r>
            <a:r>
              <a:rPr lang="en-US"/>
              <a:t>.</a:t>
            </a:r>
          </a:p>
          <a:p>
            <a:pPr marL="1098550" lvl="2" indent="-457200">
              <a:lnSpc>
                <a:spcPct val="150000"/>
              </a:lnSpc>
            </a:pPr>
            <a:r>
              <a:rPr lang="en-US"/>
              <a:t>Không có một quy tắc nào cho quá trình kiểm tra này cả, mà tester hãy “</a:t>
            </a:r>
            <a:r>
              <a:rPr lang="en-US" i="1"/>
              <a:t>to break the software</a:t>
            </a:r>
            <a:r>
              <a:rPr lang="en-US"/>
              <a:t>”, “</a:t>
            </a:r>
            <a:r>
              <a:rPr lang="en-US" i="1"/>
              <a:t>Be creative</a:t>
            </a:r>
            <a:r>
              <a:rPr lang="en-US"/>
              <a:t> (sáng tạo)”, “</a:t>
            </a:r>
            <a:r>
              <a:rPr lang="en-US" i="1"/>
              <a:t>Be devious</a:t>
            </a:r>
            <a:r>
              <a:rPr lang="en-US"/>
              <a:t> (láu cá, xảo quyệt)”. Rất thú vị!</a:t>
            </a:r>
          </a:p>
        </p:txBody>
      </p:sp>
      <p:sp>
        <p:nvSpPr>
          <p:cNvPr id="33797" name="Title 1"/>
          <p:cNvSpPr>
            <a:spLocks noGrp="1"/>
          </p:cNvSpPr>
          <p:nvPr>
            <p:ph type="title"/>
          </p:nvPr>
        </p:nvSpPr>
        <p:spPr>
          <a:xfrm>
            <a:off x="228600" y="685800"/>
            <a:ext cx="8686800" cy="838200"/>
          </a:xfrm>
        </p:spPr>
        <p:txBody>
          <a:bodyPr/>
          <a:lstStyle/>
          <a:p>
            <a:pPr marL="457200" indent="-457200" algn="ctr"/>
            <a:r>
              <a:rPr lang="en-US" sz="3600">
                <a:latin typeface="Times New Roman" pitchFamily="18" charset="0"/>
                <a:cs typeface="Times New Roman" pitchFamily="18" charset="0"/>
              </a:rPr>
              <a:t>4.5. DOMAIN TESTING</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78</a:t>
            </a:fld>
            <a:endParaRPr lang="en-US"/>
          </a:p>
        </p:txBody>
      </p:sp>
    </p:spTree>
    <p:extLst>
      <p:ext uri="{BB962C8B-B14F-4D97-AF65-F5344CB8AC3E}">
        <p14:creationId xmlns:p14="http://schemas.microsoft.com/office/powerpoint/2010/main" val="39828071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box(in)">
                                      <p:cBhvr>
                                        <p:cTn id="7" dur="500"/>
                                        <p:tgtEl>
                                          <p:spTgt spid="460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6083">
                                            <p:txEl>
                                              <p:pRg st="1" end="1"/>
                                            </p:txEl>
                                          </p:spTgt>
                                        </p:tgtEl>
                                        <p:attrNameLst>
                                          <p:attrName>style.visibility</p:attrName>
                                        </p:attrNameLst>
                                      </p:cBhvr>
                                      <p:to>
                                        <p:strVal val="visible"/>
                                      </p:to>
                                    </p:set>
                                    <p:animEffect transition="in" filter="box(in)">
                                      <p:cBhvr>
                                        <p:cTn id="12" dur="500"/>
                                        <p:tgtEl>
                                          <p:spTgt spid="460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6083">
                                            <p:txEl>
                                              <p:pRg st="2" end="2"/>
                                            </p:txEl>
                                          </p:spTgt>
                                        </p:tgtEl>
                                        <p:attrNameLst>
                                          <p:attrName>style.visibility</p:attrName>
                                        </p:attrNameLst>
                                      </p:cBhvr>
                                      <p:to>
                                        <p:strVal val="visible"/>
                                      </p:to>
                                    </p:set>
                                    <p:animEffect transition="in" filter="box(in)">
                                      <p:cBhvr>
                                        <p:cTn id="17" dur="500"/>
                                        <p:tgtEl>
                                          <p:spTgt spid="460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6083">
                                            <p:txEl>
                                              <p:pRg st="3" end="3"/>
                                            </p:txEl>
                                          </p:spTgt>
                                        </p:tgtEl>
                                        <p:attrNameLst>
                                          <p:attrName>style.visibility</p:attrName>
                                        </p:attrNameLst>
                                      </p:cBhvr>
                                      <p:to>
                                        <p:strVal val="visible"/>
                                      </p:to>
                                    </p:set>
                                    <p:animEffect transition="in" filter="box(in)">
                                      <p:cBhvr>
                                        <p:cTn id="22" dur="500"/>
                                        <p:tgtEl>
                                          <p:spTgt spid="460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Black-box techniques</a:t>
            </a:r>
            <a:br>
              <a:rPr lang="en-US"/>
            </a:br>
            <a:r>
              <a:rPr lang="en-US"/>
              <a:t>Decision tables testing exercise</a:t>
            </a:r>
          </a:p>
        </p:txBody>
      </p:sp>
      <p:sp>
        <p:nvSpPr>
          <p:cNvPr id="3" name="Content Placeholder 2"/>
          <p:cNvSpPr>
            <a:spLocks noGrp="1"/>
          </p:cNvSpPr>
          <p:nvPr>
            <p:ph idx="1"/>
          </p:nvPr>
        </p:nvSpPr>
        <p:spPr/>
        <p:txBody>
          <a:bodyPr>
            <a:normAutofit/>
          </a:bodyPr>
          <a:lstStyle/>
          <a:p>
            <a:r>
              <a:rPr lang="en-US"/>
              <a:t>Exercise 1</a:t>
            </a:r>
          </a:p>
          <a:p>
            <a:pPr lvl="1"/>
            <a:r>
              <a:rPr lang="en-US"/>
              <a:t>A mutual insurance company has decided to float its shares on the stock exchange and is offering its members rewards for their past custom at the time of flotation. Anyone with a current policy will benefit provided it is a ‘with-profits’ policy and they have held it since 2001. Those who meet these criteria can opt for either a cash payment or an allocation of shares in the new company; those who have held a qualifying policy for less than the required time will be eligible for a cash payment but not for shares. Here is a decision table reflecting those rules.</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79</a:t>
            </a:fld>
            <a:endParaRPr lang="en-US"/>
          </a:p>
        </p:txBody>
      </p:sp>
    </p:spTree>
    <p:extLst>
      <p:ext uri="{BB962C8B-B14F-4D97-AF65-F5344CB8AC3E}">
        <p14:creationId xmlns:p14="http://schemas.microsoft.com/office/powerpoint/2010/main" val="293890442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Black-box techniques</a:t>
            </a:r>
            <a:br>
              <a:rPr lang="en-US"/>
            </a:br>
            <a:r>
              <a:rPr lang="en-US"/>
              <a:t>Decision tables testing</a:t>
            </a:r>
          </a:p>
        </p:txBody>
      </p:sp>
      <p:sp>
        <p:nvSpPr>
          <p:cNvPr id="3" name="Content Placeholder 2"/>
          <p:cNvSpPr>
            <a:spLocks noGrp="1"/>
          </p:cNvSpPr>
          <p:nvPr>
            <p:ph idx="1"/>
          </p:nvPr>
        </p:nvSpPr>
        <p:spPr/>
        <p:txBody>
          <a:bodyPr>
            <a:normAutofit/>
          </a:bodyPr>
          <a:lstStyle/>
          <a:p>
            <a:r>
              <a:rPr lang="en-US"/>
              <a:t>Exercise (cont.)</a:t>
            </a:r>
          </a:p>
          <a:p>
            <a:endParaRPr lang="en-US"/>
          </a:p>
          <a:p>
            <a:endParaRPr lang="en-US"/>
          </a:p>
          <a:p>
            <a:endParaRPr lang="en-US"/>
          </a:p>
          <a:p>
            <a:endParaRPr lang="en-US"/>
          </a:p>
          <a:p>
            <a:endParaRPr lang="en-US"/>
          </a:p>
          <a:p>
            <a:endParaRPr lang="en-US"/>
          </a:p>
          <a:p>
            <a:r>
              <a:rPr lang="en-US"/>
              <a:t>What expected result would you expect to get for the following test case:</a:t>
            </a:r>
          </a:p>
          <a:p>
            <a:pPr lvl="1"/>
            <a:r>
              <a:rPr lang="en-US"/>
              <a:t>Billy Bunter is a current policy holder who has held a ‘with-profits’ policy since 2003.</a:t>
            </a:r>
          </a:p>
        </p:txBody>
      </p:sp>
      <p:graphicFrame>
        <p:nvGraphicFramePr>
          <p:cNvPr id="4" name="Table 3"/>
          <p:cNvGraphicFramePr>
            <a:graphicFrameLocks noGrp="1"/>
          </p:cNvGraphicFramePr>
          <p:nvPr>
            <p:extLst>
              <p:ext uri="{D42A27DB-BD31-4B8C-83A1-F6EECF244321}">
                <p14:modId xmlns:p14="http://schemas.microsoft.com/office/powerpoint/2010/main" val="334762155"/>
              </p:ext>
            </p:extLst>
          </p:nvPr>
        </p:nvGraphicFramePr>
        <p:xfrm>
          <a:off x="3048000" y="1828800"/>
          <a:ext cx="5623560" cy="293116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tblGrid>
              <a:tr h="370840">
                <a:tc>
                  <a:txBody>
                    <a:bodyPr/>
                    <a:lstStyle/>
                    <a:p>
                      <a:endParaRPr lang="en-US" sz="1800" b="1"/>
                    </a:p>
                  </a:txBody>
                  <a:tcPr/>
                </a:tc>
                <a:tc>
                  <a:txBody>
                    <a:bodyPr/>
                    <a:lstStyle/>
                    <a:p>
                      <a:r>
                        <a:rPr lang="en-US" sz="1800"/>
                        <a:t>R1</a:t>
                      </a:r>
                    </a:p>
                  </a:txBody>
                  <a:tcPr/>
                </a:tc>
                <a:tc>
                  <a:txBody>
                    <a:bodyPr/>
                    <a:lstStyle/>
                    <a:p>
                      <a:r>
                        <a:rPr lang="en-US" sz="1800"/>
                        <a:t>R2</a:t>
                      </a:r>
                    </a:p>
                  </a:txBody>
                  <a:tcPr/>
                </a:tc>
                <a:tc>
                  <a:txBody>
                    <a:bodyPr/>
                    <a:lstStyle/>
                    <a:p>
                      <a:r>
                        <a:rPr lang="en-US" sz="1800"/>
                        <a:t>R3</a:t>
                      </a:r>
                    </a:p>
                  </a:txBody>
                  <a:tcPr/>
                </a:tc>
                <a:tc>
                  <a:txBody>
                    <a:bodyPr/>
                    <a:lstStyle/>
                    <a:p>
                      <a:r>
                        <a:rPr lang="en-US" sz="1800"/>
                        <a:t>R4</a:t>
                      </a:r>
                    </a:p>
                  </a:txBody>
                  <a:tcPr/>
                </a:tc>
                <a:extLst>
                  <a:ext uri="{0D108BD9-81ED-4DB2-BD59-A6C34878D82A}">
                    <a16:rowId xmlns:a16="http://schemas.microsoft.com/office/drawing/2014/main" val="10000"/>
                  </a:ext>
                </a:extLst>
              </a:tr>
              <a:tr h="365760">
                <a:tc>
                  <a:txBody>
                    <a:bodyPr/>
                    <a:lstStyle/>
                    <a:p>
                      <a:r>
                        <a:rPr lang="en-US" sz="1800" b="1"/>
                        <a:t>Conditions</a:t>
                      </a:r>
                    </a:p>
                  </a:txBody>
                  <a:tcPr/>
                </a:tc>
                <a:tc>
                  <a:txBody>
                    <a:bodyPr/>
                    <a:lstStyle/>
                    <a:p>
                      <a:pPr algn="ctr"/>
                      <a:endParaRPr lang="en-US" sz="1800"/>
                    </a:p>
                  </a:txBody>
                  <a:tcPr/>
                </a:tc>
                <a:tc>
                  <a:txBody>
                    <a:bodyPr/>
                    <a:lstStyle/>
                    <a:p>
                      <a:pPr algn="ctr"/>
                      <a:endParaRPr lang="en-US" sz="1800"/>
                    </a:p>
                  </a:txBody>
                  <a:tcPr/>
                </a:tc>
                <a:tc>
                  <a:txBody>
                    <a:bodyPr/>
                    <a:lstStyle/>
                    <a:p>
                      <a:pPr algn="ctr"/>
                      <a:endParaRPr lang="en-US" sz="1800"/>
                    </a:p>
                  </a:txBody>
                  <a:tcPr/>
                </a:tc>
                <a:tc>
                  <a:txBody>
                    <a:bodyPr/>
                    <a:lstStyle/>
                    <a:p>
                      <a:pPr algn="ctr"/>
                      <a:endParaRPr lang="en-US" sz="1800"/>
                    </a:p>
                  </a:txBody>
                  <a:tcPr/>
                </a:tc>
                <a:extLst>
                  <a:ext uri="{0D108BD9-81ED-4DB2-BD59-A6C34878D82A}">
                    <a16:rowId xmlns:a16="http://schemas.microsoft.com/office/drawing/2014/main" val="10001"/>
                  </a:ext>
                </a:extLst>
              </a:tr>
              <a:tr h="365760">
                <a:tc>
                  <a:txBody>
                    <a:bodyPr/>
                    <a:lstStyle/>
                    <a:p>
                      <a:r>
                        <a:rPr lang="en-US" sz="1800"/>
                        <a:t>Current policy holder</a:t>
                      </a:r>
                    </a:p>
                  </a:txBody>
                  <a:tcPr/>
                </a:tc>
                <a:tc>
                  <a:txBody>
                    <a:bodyPr/>
                    <a:lstStyle/>
                    <a:p>
                      <a:pPr algn="ctr"/>
                      <a:r>
                        <a:rPr lang="en-US" sz="1800"/>
                        <a:t>T</a:t>
                      </a:r>
                    </a:p>
                  </a:txBody>
                  <a:tcPr/>
                </a:tc>
                <a:tc>
                  <a:txBody>
                    <a:bodyPr/>
                    <a:lstStyle/>
                    <a:p>
                      <a:pPr algn="ctr"/>
                      <a:r>
                        <a:rPr lang="en-US" sz="1800"/>
                        <a:t>T</a:t>
                      </a:r>
                    </a:p>
                  </a:txBody>
                  <a:tcPr/>
                </a:tc>
                <a:tc>
                  <a:txBody>
                    <a:bodyPr/>
                    <a:lstStyle/>
                    <a:p>
                      <a:pPr algn="ctr"/>
                      <a:r>
                        <a:rPr lang="en-US" sz="1800"/>
                        <a:t>T</a:t>
                      </a:r>
                    </a:p>
                  </a:txBody>
                  <a:tcPr/>
                </a:tc>
                <a:tc>
                  <a:txBody>
                    <a:bodyPr/>
                    <a:lstStyle/>
                    <a:p>
                      <a:pPr algn="ctr"/>
                      <a:r>
                        <a:rPr lang="en-US" sz="1800"/>
                        <a:t>F</a:t>
                      </a:r>
                    </a:p>
                  </a:txBody>
                  <a:tcPr/>
                </a:tc>
                <a:extLst>
                  <a:ext uri="{0D108BD9-81ED-4DB2-BD59-A6C34878D82A}">
                    <a16:rowId xmlns:a16="http://schemas.microsoft.com/office/drawing/2014/main" val="10002"/>
                  </a:ext>
                </a:extLst>
              </a:tr>
              <a:tr h="365760">
                <a:tc>
                  <a:txBody>
                    <a:bodyPr/>
                    <a:lstStyle/>
                    <a:p>
                      <a:r>
                        <a:rPr lang="en-US" sz="1800"/>
                        <a:t>Policy holder since 2001</a:t>
                      </a:r>
                    </a:p>
                  </a:txBody>
                  <a:tcPr/>
                </a:tc>
                <a:tc>
                  <a:txBody>
                    <a:bodyPr/>
                    <a:lstStyle/>
                    <a:p>
                      <a:pPr algn="ctr"/>
                      <a:r>
                        <a:rPr lang="en-US" sz="1800"/>
                        <a:t>F</a:t>
                      </a:r>
                    </a:p>
                  </a:txBody>
                  <a:tcPr/>
                </a:tc>
                <a:tc>
                  <a:txBody>
                    <a:bodyPr/>
                    <a:lstStyle/>
                    <a:p>
                      <a:pPr algn="ctr"/>
                      <a:r>
                        <a:rPr lang="en-US" sz="1800"/>
                        <a:t>T</a:t>
                      </a:r>
                    </a:p>
                  </a:txBody>
                  <a:tcPr/>
                </a:tc>
                <a:tc>
                  <a:txBody>
                    <a:bodyPr/>
                    <a:lstStyle/>
                    <a:p>
                      <a:pPr algn="ctr"/>
                      <a:r>
                        <a:rPr lang="en-US" sz="1800"/>
                        <a:t>F</a:t>
                      </a:r>
                    </a:p>
                  </a:txBody>
                  <a:tcPr/>
                </a:tc>
                <a:tc>
                  <a:txBody>
                    <a:bodyPr/>
                    <a:lstStyle/>
                    <a:p>
                      <a:pPr algn="ctr"/>
                      <a:r>
                        <a:rPr lang="en-US" sz="1800"/>
                        <a:t>-</a:t>
                      </a:r>
                    </a:p>
                  </a:txBody>
                  <a:tcPr/>
                </a:tc>
                <a:extLst>
                  <a:ext uri="{0D108BD9-81ED-4DB2-BD59-A6C34878D82A}">
                    <a16:rowId xmlns:a16="http://schemas.microsoft.com/office/drawing/2014/main" val="10003"/>
                  </a:ext>
                </a:extLst>
              </a:tr>
              <a:tr h="365760">
                <a:tc>
                  <a:txBody>
                    <a:bodyPr/>
                    <a:lstStyle/>
                    <a:p>
                      <a:r>
                        <a:rPr lang="en-US" sz="1800"/>
                        <a:t>‘With-proﬁts’ policy</a:t>
                      </a:r>
                    </a:p>
                  </a:txBody>
                  <a:tcPr/>
                </a:tc>
                <a:tc>
                  <a:txBody>
                    <a:bodyPr/>
                    <a:lstStyle/>
                    <a:p>
                      <a:pPr algn="ctr"/>
                      <a:r>
                        <a:rPr lang="en-US" sz="1800"/>
                        <a:t>T</a:t>
                      </a:r>
                    </a:p>
                  </a:txBody>
                  <a:tcPr/>
                </a:tc>
                <a:tc>
                  <a:txBody>
                    <a:bodyPr/>
                    <a:lstStyle/>
                    <a:p>
                      <a:pPr algn="ctr"/>
                      <a:r>
                        <a:rPr lang="en-US" sz="1800"/>
                        <a:t>T</a:t>
                      </a:r>
                    </a:p>
                  </a:txBody>
                  <a:tcPr/>
                </a:tc>
                <a:tc>
                  <a:txBody>
                    <a:bodyPr/>
                    <a:lstStyle/>
                    <a:p>
                      <a:pPr algn="ctr"/>
                      <a:r>
                        <a:rPr lang="en-US" sz="1800"/>
                        <a:t>F</a:t>
                      </a:r>
                    </a:p>
                  </a:txBody>
                  <a:tcPr/>
                </a:tc>
                <a:tc>
                  <a:txBody>
                    <a:bodyPr/>
                    <a:lstStyle/>
                    <a:p>
                      <a:pPr algn="ctr"/>
                      <a:r>
                        <a:rPr lang="en-US" sz="1800"/>
                        <a:t>-</a:t>
                      </a:r>
                    </a:p>
                  </a:txBody>
                  <a:tcPr/>
                </a:tc>
                <a:extLst>
                  <a:ext uri="{0D108BD9-81ED-4DB2-BD59-A6C34878D82A}">
                    <a16:rowId xmlns:a16="http://schemas.microsoft.com/office/drawing/2014/main" val="10004"/>
                  </a:ext>
                </a:extLst>
              </a:tr>
              <a:tr h="365760">
                <a:tc>
                  <a:txBody>
                    <a:bodyPr/>
                    <a:lstStyle/>
                    <a:p>
                      <a:r>
                        <a:rPr lang="en-US" sz="1800" b="1"/>
                        <a:t>Actions</a:t>
                      </a:r>
                    </a:p>
                  </a:txBody>
                  <a:tcPr/>
                </a:tc>
                <a:tc>
                  <a:txBody>
                    <a:bodyPr/>
                    <a:lstStyle/>
                    <a:p>
                      <a:pPr algn="ctr"/>
                      <a:endParaRPr lang="en-US" sz="1800"/>
                    </a:p>
                  </a:txBody>
                  <a:tcPr/>
                </a:tc>
                <a:tc>
                  <a:txBody>
                    <a:bodyPr/>
                    <a:lstStyle/>
                    <a:p>
                      <a:pPr algn="ctr"/>
                      <a:endParaRPr lang="en-US" sz="1800"/>
                    </a:p>
                  </a:txBody>
                  <a:tcPr/>
                </a:tc>
                <a:tc>
                  <a:txBody>
                    <a:bodyPr/>
                    <a:lstStyle/>
                    <a:p>
                      <a:pPr algn="ctr"/>
                      <a:endParaRPr lang="en-US" sz="1800"/>
                    </a:p>
                  </a:txBody>
                  <a:tcPr/>
                </a:tc>
                <a:tc>
                  <a:txBody>
                    <a:bodyPr/>
                    <a:lstStyle/>
                    <a:p>
                      <a:pPr algn="ctr"/>
                      <a:endParaRPr lang="en-US" sz="1800"/>
                    </a:p>
                  </a:txBody>
                  <a:tcPr/>
                </a:tc>
                <a:extLst>
                  <a:ext uri="{0D108BD9-81ED-4DB2-BD59-A6C34878D82A}">
                    <a16:rowId xmlns:a16="http://schemas.microsoft.com/office/drawing/2014/main" val="10005"/>
                  </a:ext>
                </a:extLst>
              </a:tr>
              <a:tr h="365760">
                <a:tc>
                  <a:txBody>
                    <a:bodyPr/>
                    <a:lstStyle/>
                    <a:p>
                      <a:r>
                        <a:rPr lang="en-US" sz="1800"/>
                        <a:t>Eligible for cash  Payment</a:t>
                      </a:r>
                    </a:p>
                  </a:txBody>
                  <a:tcPr/>
                </a:tc>
                <a:tc>
                  <a:txBody>
                    <a:bodyPr/>
                    <a:lstStyle/>
                    <a:p>
                      <a:pPr algn="ctr"/>
                      <a:r>
                        <a:rPr lang="en-US" sz="1800"/>
                        <a:t>F</a:t>
                      </a:r>
                    </a:p>
                  </a:txBody>
                  <a:tcPr/>
                </a:tc>
                <a:tc>
                  <a:txBody>
                    <a:bodyPr/>
                    <a:lstStyle/>
                    <a:p>
                      <a:pPr algn="ctr"/>
                      <a:r>
                        <a:rPr lang="en-US" sz="1800"/>
                        <a:t>T</a:t>
                      </a:r>
                    </a:p>
                  </a:txBody>
                  <a:tcPr/>
                </a:tc>
                <a:tc>
                  <a:txBody>
                    <a:bodyPr/>
                    <a:lstStyle/>
                    <a:p>
                      <a:pPr algn="ctr"/>
                      <a:r>
                        <a:rPr lang="en-US" sz="1800"/>
                        <a:t>F</a:t>
                      </a:r>
                    </a:p>
                  </a:txBody>
                  <a:tcPr/>
                </a:tc>
                <a:tc>
                  <a:txBody>
                    <a:bodyPr/>
                    <a:lstStyle/>
                    <a:p>
                      <a:pPr algn="ctr"/>
                      <a:r>
                        <a:rPr lang="en-US" sz="1800"/>
                        <a:t>F</a:t>
                      </a:r>
                    </a:p>
                  </a:txBody>
                  <a:tcPr/>
                </a:tc>
                <a:extLst>
                  <a:ext uri="{0D108BD9-81ED-4DB2-BD59-A6C34878D82A}">
                    <a16:rowId xmlns:a16="http://schemas.microsoft.com/office/drawing/2014/main" val="10006"/>
                  </a:ext>
                </a:extLst>
              </a:tr>
              <a:tr h="365760">
                <a:tc>
                  <a:txBody>
                    <a:bodyPr/>
                    <a:lstStyle/>
                    <a:p>
                      <a:r>
                        <a:rPr lang="en-US" sz="1800"/>
                        <a:t>Eligible for share allocations</a:t>
                      </a:r>
                    </a:p>
                  </a:txBody>
                  <a:tcPr/>
                </a:tc>
                <a:tc>
                  <a:txBody>
                    <a:bodyPr/>
                    <a:lstStyle/>
                    <a:p>
                      <a:pPr algn="ctr"/>
                      <a:r>
                        <a:rPr lang="en-US" sz="1800"/>
                        <a:t>F</a:t>
                      </a:r>
                    </a:p>
                  </a:txBody>
                  <a:tcPr/>
                </a:tc>
                <a:tc>
                  <a:txBody>
                    <a:bodyPr/>
                    <a:lstStyle/>
                    <a:p>
                      <a:pPr algn="ctr"/>
                      <a:r>
                        <a:rPr lang="en-US" sz="1800"/>
                        <a:t>T</a:t>
                      </a:r>
                    </a:p>
                  </a:txBody>
                  <a:tcPr/>
                </a:tc>
                <a:tc>
                  <a:txBody>
                    <a:bodyPr/>
                    <a:lstStyle/>
                    <a:p>
                      <a:pPr algn="ctr"/>
                      <a:r>
                        <a:rPr lang="en-US" sz="1800"/>
                        <a:t>F</a:t>
                      </a:r>
                    </a:p>
                  </a:txBody>
                  <a:tcPr/>
                </a:tc>
                <a:tc>
                  <a:txBody>
                    <a:bodyPr/>
                    <a:lstStyle/>
                    <a:p>
                      <a:pPr algn="ctr"/>
                      <a:r>
                        <a:rPr lang="en-US" sz="1800"/>
                        <a:t>F</a:t>
                      </a:r>
                    </a:p>
                  </a:txBody>
                  <a:tcPr/>
                </a:tc>
                <a:extLst>
                  <a:ext uri="{0D108BD9-81ED-4DB2-BD59-A6C34878D82A}">
                    <a16:rowId xmlns:a16="http://schemas.microsoft.com/office/drawing/2014/main" val="10007"/>
                  </a:ext>
                </a:extLst>
              </a:tr>
            </a:tbl>
          </a:graphicData>
        </a:graphic>
      </p:graphicFrame>
      <p:sp>
        <p:nvSpPr>
          <p:cNvPr id="7" name="Slide Number Placeholder 6"/>
          <p:cNvSpPr>
            <a:spLocks noGrp="1"/>
          </p:cNvSpPr>
          <p:nvPr>
            <p:ph type="sldNum" sz="quarter" idx="12"/>
          </p:nvPr>
        </p:nvSpPr>
        <p:spPr/>
        <p:txBody>
          <a:bodyPr/>
          <a:lstStyle/>
          <a:p>
            <a:r>
              <a:rPr lang="en-US"/>
              <a:t>Slide </a:t>
            </a:r>
            <a:fld id="{3900DC13-0C25-439E-AA75-E5DAAC4C3713}" type="slidenum">
              <a:rPr lang="en-US" smtClean="0"/>
              <a:pPr/>
              <a:t>80</a:t>
            </a:fld>
            <a:endParaRPr lang="en-US"/>
          </a:p>
        </p:txBody>
      </p:sp>
    </p:spTree>
    <p:extLst>
      <p:ext uri="{BB962C8B-B14F-4D97-AF65-F5344CB8AC3E}">
        <p14:creationId xmlns:p14="http://schemas.microsoft.com/office/powerpoint/2010/main" val="124409962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Decision coverage example</a:t>
            </a:r>
          </a:p>
        </p:txBody>
      </p:sp>
      <p:sp>
        <p:nvSpPr>
          <p:cNvPr id="3" name="Content Placeholder 2"/>
          <p:cNvSpPr>
            <a:spLocks noGrp="1"/>
          </p:cNvSpPr>
          <p:nvPr>
            <p:ph idx="1"/>
          </p:nvPr>
        </p:nvSpPr>
        <p:spPr/>
        <p:txBody>
          <a:bodyPr/>
          <a:lstStyle/>
          <a:p>
            <a:r>
              <a:rPr lang="en-US"/>
              <a:t>What test-case to make a full decision coverage?</a:t>
            </a:r>
          </a:p>
          <a:p>
            <a:endParaRPr lang="en-US"/>
          </a:p>
        </p:txBody>
      </p:sp>
      <p:pic>
        <p:nvPicPr>
          <p:cNvPr id="21506" name="Picture 2" descr="http://4.bp.blogspot.com/_RqaYDMMCxaM/R0Ig1e7io7I/AAAAAAAAByY/lvGpsPmtcHM/s400/decis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558165"/>
            <a:ext cx="6324600" cy="4110992"/>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81</a:t>
            </a:fld>
            <a:endParaRPr lang="en-US"/>
          </a:p>
        </p:txBody>
      </p:sp>
    </p:spTree>
    <p:extLst>
      <p:ext uri="{BB962C8B-B14F-4D97-AF65-F5344CB8AC3E}">
        <p14:creationId xmlns:p14="http://schemas.microsoft.com/office/powerpoint/2010/main" val="168214215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Decision coverage example</a:t>
            </a:r>
          </a:p>
        </p:txBody>
      </p:sp>
      <p:sp>
        <p:nvSpPr>
          <p:cNvPr id="3" name="Content Placeholder 2"/>
          <p:cNvSpPr>
            <a:spLocks noGrp="1"/>
          </p:cNvSpPr>
          <p:nvPr>
            <p:ph idx="1"/>
          </p:nvPr>
        </p:nvSpPr>
        <p:spPr/>
        <p:txBody>
          <a:bodyPr/>
          <a:lstStyle/>
          <a:p>
            <a:r>
              <a:rPr lang="en-US"/>
              <a:t>What test-case to make a full decision coverage?</a:t>
            </a:r>
          </a:p>
          <a:p>
            <a:endParaRPr lang="en-US"/>
          </a:p>
        </p:txBody>
      </p:sp>
      <p:pic>
        <p:nvPicPr>
          <p:cNvPr id="29698" name="Picture 2" descr="http://1.bp.blogspot.com/_RqaYDMMCxaM/R0ImUu7io9I/AAAAAAAAByo/NYYOYazWh_U/s400/decis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514600"/>
            <a:ext cx="6781800" cy="413690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82</a:t>
            </a:fld>
            <a:endParaRPr lang="en-US"/>
          </a:p>
        </p:txBody>
      </p:sp>
    </p:spTree>
    <p:extLst>
      <p:ext uri="{BB962C8B-B14F-4D97-AF65-F5344CB8AC3E}">
        <p14:creationId xmlns:p14="http://schemas.microsoft.com/office/powerpoint/2010/main" val="166552992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a:t>Control-flow graph - Example</a:t>
            </a:r>
          </a:p>
        </p:txBody>
      </p:sp>
      <p:sp>
        <p:nvSpPr>
          <p:cNvPr id="8" name="Content Placeholder 7"/>
          <p:cNvSpPr>
            <a:spLocks noGrp="1"/>
          </p:cNvSpPr>
          <p:nvPr>
            <p:ph idx="1"/>
          </p:nvPr>
        </p:nvSpPr>
        <p:spPr/>
        <p:txBody>
          <a:bodyPr/>
          <a:lstStyle/>
          <a:p>
            <a:r>
              <a:rPr lang="en-US"/>
              <a:t>Draw control-flow graph for the following code.</a:t>
            </a:r>
          </a:p>
          <a:p>
            <a:endParaRPr lang="en-US"/>
          </a:p>
          <a:p>
            <a:endParaRPr lang="en-US"/>
          </a:p>
        </p:txBody>
      </p:sp>
      <p:pic>
        <p:nvPicPr>
          <p:cNvPr id="11268" name="Picture 4"/>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62000" y="2466914"/>
            <a:ext cx="4048334" cy="4317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2" name="Picture 8"/>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239000" y="1369042"/>
            <a:ext cx="1447800" cy="5214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83</a:t>
            </a:fld>
            <a:endParaRPr lang="en-US"/>
          </a:p>
        </p:txBody>
      </p:sp>
    </p:spTree>
    <p:extLst>
      <p:ext uri="{BB962C8B-B14F-4D97-AF65-F5344CB8AC3E}">
        <p14:creationId xmlns:p14="http://schemas.microsoft.com/office/powerpoint/2010/main" val="186314478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Coverage techniques</a:t>
            </a:r>
          </a:p>
        </p:txBody>
      </p:sp>
      <p:sp>
        <p:nvSpPr>
          <p:cNvPr id="6" name="Content Placeholder 5"/>
          <p:cNvSpPr>
            <a:spLocks noGrp="1"/>
          </p:cNvSpPr>
          <p:nvPr>
            <p:ph sz="half" idx="1"/>
          </p:nvPr>
        </p:nvSpPr>
        <p:spPr>
          <a:xfrm>
            <a:off x="457200" y="1920085"/>
            <a:ext cx="3124200" cy="4434840"/>
          </a:xfrm>
        </p:spPr>
        <p:txBody>
          <a:bodyPr/>
          <a:lstStyle/>
          <a:p>
            <a:r>
              <a:rPr lang="en-US"/>
              <a:t>Exercise: Draw a hybrid ﬂow graph to represent the following code</a:t>
            </a:r>
          </a:p>
        </p:txBody>
      </p:sp>
      <p:sp>
        <p:nvSpPr>
          <p:cNvPr id="8" name="Content Placeholder 7"/>
          <p:cNvSpPr>
            <a:spLocks noGrp="1"/>
          </p:cNvSpPr>
          <p:nvPr>
            <p:ph sz="half" idx="2"/>
          </p:nvPr>
        </p:nvSpPr>
        <p:spPr/>
        <p:txBody>
          <a:bodyPr/>
          <a:lstStyle/>
          <a:p>
            <a:endParaRPr lang="en-US"/>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2048" y="1143001"/>
            <a:ext cx="5458626"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84</a:t>
            </a:fld>
            <a:endParaRPr lang="en-US"/>
          </a:p>
        </p:txBody>
      </p:sp>
    </p:spTree>
    <p:extLst>
      <p:ext uri="{BB962C8B-B14F-4D97-AF65-F5344CB8AC3E}">
        <p14:creationId xmlns:p14="http://schemas.microsoft.com/office/powerpoint/2010/main" val="254932236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i="1"/>
              <a:t>Statement coverage</a:t>
            </a:r>
            <a:r>
              <a:rPr lang="en-US"/>
              <a:t> for this function will be satisfied if it was called e.g. as foo(1,1), as in this case, every line in the function is executed including z = x;.</a:t>
            </a:r>
          </a:p>
          <a:p>
            <a:r>
              <a:rPr lang="en-US"/>
              <a:t>Tests calling foo(1,1) and foo(0,1) will satisfy </a:t>
            </a:r>
            <a:r>
              <a:rPr lang="en-US" i="1"/>
              <a:t>decision coverage</a:t>
            </a:r>
            <a:r>
              <a:rPr lang="en-US"/>
              <a:t>, as in the first case the if condition and the </a:t>
            </a:r>
            <a:r>
              <a:rPr lang="en-US">
                <a:hlinkClick r:id="rId2" tooltip="Short-circuit evaluation"/>
              </a:rPr>
              <a:t>short circuit</a:t>
            </a:r>
            <a:r>
              <a:rPr lang="en-US"/>
              <a:t> condition are satisfied and z = x; is executed, and in the second neither conditional is satisfied and x is not assigned to z.</a:t>
            </a:r>
          </a:p>
          <a:p>
            <a:r>
              <a:rPr lang="en-US" i="1"/>
              <a:t>Condition coverage</a:t>
            </a:r>
            <a:r>
              <a:rPr lang="en-US"/>
              <a:t> can be satisfied with tests that call foo(1,1), foo(1,0) and foo(0,0). These are necessary as in the first two cases (x&gt;0) evaluates to true while in the third it evaluates false. At the same time, the first case makes (y&gt;0) true while the second and third make it false.</a:t>
            </a:r>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0"/>
            <a:ext cx="3048000" cy="1881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85</a:t>
            </a:fld>
            <a:endParaRPr lang="en-US"/>
          </a:p>
        </p:txBody>
      </p:sp>
    </p:spTree>
    <p:extLst>
      <p:ext uri="{BB962C8B-B14F-4D97-AF65-F5344CB8AC3E}">
        <p14:creationId xmlns:p14="http://schemas.microsoft.com/office/powerpoint/2010/main" val="104295441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97491"/>
            <a:ext cx="4981575" cy="6660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3900DC13-0C25-439E-AA75-E5DAAC4C3713}" type="slidenum">
              <a:rPr lang="en-US" smtClean="0"/>
              <a:t>86</a:t>
            </a:fld>
            <a:endParaRPr lang="en-US"/>
          </a:p>
        </p:txBody>
      </p:sp>
    </p:spTree>
    <p:extLst>
      <p:ext uri="{BB962C8B-B14F-4D97-AF65-F5344CB8AC3E}">
        <p14:creationId xmlns:p14="http://schemas.microsoft.com/office/powerpoint/2010/main" val="27436481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Statement coverage example</a:t>
            </a:r>
          </a:p>
        </p:txBody>
      </p:sp>
      <p:sp>
        <p:nvSpPr>
          <p:cNvPr id="3" name="Content Placeholder 2"/>
          <p:cNvSpPr>
            <a:spLocks noGrp="1"/>
          </p:cNvSpPr>
          <p:nvPr>
            <p:ph idx="1"/>
          </p:nvPr>
        </p:nvSpPr>
        <p:spPr/>
        <p:txBody>
          <a:bodyPr/>
          <a:lstStyle/>
          <a:p>
            <a:r>
              <a:rPr lang="en-US"/>
              <a:t>Example 1:</a:t>
            </a:r>
          </a:p>
          <a:p>
            <a:pPr marL="276225" indent="0">
              <a:buNone/>
            </a:pPr>
            <a:r>
              <a:rPr lang="en-US"/>
              <a:t>1  READ A </a:t>
            </a:r>
          </a:p>
          <a:p>
            <a:pPr marL="276225" indent="0">
              <a:buNone/>
            </a:pPr>
            <a:r>
              <a:rPr lang="en-US"/>
              <a:t>2  READ B </a:t>
            </a:r>
          </a:p>
          <a:p>
            <a:pPr marL="276225" indent="0">
              <a:buNone/>
            </a:pPr>
            <a:r>
              <a:rPr lang="en-US"/>
              <a:t>3  C =A + 2*B </a:t>
            </a:r>
          </a:p>
          <a:p>
            <a:pPr marL="276225" indent="0">
              <a:buNone/>
            </a:pPr>
            <a:r>
              <a:rPr lang="en-US"/>
              <a:t>4  IF C&gt; 50 THEN </a:t>
            </a:r>
          </a:p>
          <a:p>
            <a:pPr marL="276225" indent="0">
              <a:buNone/>
            </a:pPr>
            <a:r>
              <a:rPr lang="en-US"/>
              <a:t>5    	PRINT large C </a:t>
            </a:r>
          </a:p>
          <a:p>
            <a:pPr marL="276225" indent="0">
              <a:buNone/>
            </a:pPr>
            <a:r>
              <a:rPr lang="en-US"/>
              <a:t>6  ENDIF </a:t>
            </a:r>
          </a:p>
        </p:txBody>
      </p:sp>
      <p:sp>
        <p:nvSpPr>
          <p:cNvPr id="4" name="Rectangle 3"/>
          <p:cNvSpPr/>
          <p:nvPr/>
        </p:nvSpPr>
        <p:spPr>
          <a:xfrm>
            <a:off x="4114800" y="2438400"/>
            <a:ext cx="4724400" cy="3046988"/>
          </a:xfrm>
          <a:prstGeom prst="rect">
            <a:avLst/>
          </a:prstGeom>
        </p:spPr>
        <p:txBody>
          <a:bodyPr wrap="square">
            <a:spAutoFit/>
          </a:bodyPr>
          <a:lstStyle/>
          <a:p>
            <a:r>
              <a:rPr lang="en-US" sz="2400">
                <a:solidFill>
                  <a:srgbClr val="000099"/>
                </a:solidFill>
                <a:latin typeface="Calibri"/>
              </a:rPr>
              <a:t>TEST SET 1 </a:t>
            </a:r>
          </a:p>
          <a:p>
            <a:r>
              <a:rPr lang="en-US" sz="2400">
                <a:solidFill>
                  <a:srgbClr val="000099"/>
                </a:solidFill>
                <a:latin typeface="Calibri"/>
              </a:rPr>
              <a:t>Test 1_1: A = 2, B = 3 </a:t>
            </a:r>
          </a:p>
          <a:p>
            <a:r>
              <a:rPr lang="en-US" sz="2400">
                <a:solidFill>
                  <a:srgbClr val="000099"/>
                </a:solidFill>
                <a:latin typeface="Calibri"/>
              </a:rPr>
              <a:t>Test 1_2: A = 0, B = 25 </a:t>
            </a:r>
          </a:p>
          <a:p>
            <a:r>
              <a:rPr lang="en-US" sz="2400">
                <a:solidFill>
                  <a:srgbClr val="000099"/>
                </a:solidFill>
                <a:latin typeface="Calibri"/>
              </a:rPr>
              <a:t>Test 1_3: A = 47, B = 1</a:t>
            </a:r>
          </a:p>
          <a:p>
            <a:r>
              <a:rPr lang="en-US" sz="2400">
                <a:solidFill>
                  <a:srgbClr val="000099"/>
                </a:solidFill>
                <a:latin typeface="Calibri"/>
              </a:rPr>
              <a:t>Which statements have we covered? </a:t>
            </a:r>
          </a:p>
          <a:p>
            <a:endParaRPr lang="en-US" sz="2400">
              <a:solidFill>
                <a:srgbClr val="000099"/>
              </a:solidFill>
              <a:latin typeface="Calibri"/>
            </a:endParaRPr>
          </a:p>
          <a:p>
            <a:r>
              <a:rPr lang="en-US" sz="2400">
                <a:solidFill>
                  <a:srgbClr val="000099"/>
                </a:solidFill>
                <a:latin typeface="Calibri"/>
              </a:rPr>
              <a:t>How about this:</a:t>
            </a:r>
          </a:p>
          <a:p>
            <a:r>
              <a:rPr lang="en-US" sz="2400">
                <a:solidFill>
                  <a:srgbClr val="000099"/>
                </a:solidFill>
                <a:latin typeface="Calibri"/>
              </a:rPr>
              <a:t>Test 1_4: A = 20, B = 25</a:t>
            </a:r>
          </a:p>
        </p:txBody>
      </p:sp>
      <p:sp>
        <p:nvSpPr>
          <p:cNvPr id="7" name="Slide Number Placeholder 6"/>
          <p:cNvSpPr>
            <a:spLocks noGrp="1"/>
          </p:cNvSpPr>
          <p:nvPr>
            <p:ph type="sldNum" sz="quarter" idx="12"/>
          </p:nvPr>
        </p:nvSpPr>
        <p:spPr/>
        <p:txBody>
          <a:bodyPr/>
          <a:lstStyle/>
          <a:p>
            <a:r>
              <a:rPr lang="en-US"/>
              <a:t>Slide </a:t>
            </a:r>
            <a:fld id="{3900DC13-0C25-439E-AA75-E5DAAC4C3713}" type="slidenum">
              <a:rPr lang="en-US" smtClean="0"/>
              <a:pPr/>
              <a:t>87</a:t>
            </a:fld>
            <a:endParaRPr lang="en-US"/>
          </a:p>
        </p:txBody>
      </p:sp>
    </p:spTree>
    <p:extLst>
      <p:ext uri="{BB962C8B-B14F-4D97-AF65-F5344CB8AC3E}">
        <p14:creationId xmlns:p14="http://schemas.microsoft.com/office/powerpoint/2010/main" val="427024691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Statement coverage example 2</a:t>
            </a:r>
          </a:p>
        </p:txBody>
      </p:sp>
      <p:sp>
        <p:nvSpPr>
          <p:cNvPr id="8" name="Content Placeholder 7"/>
          <p:cNvSpPr>
            <a:spLocks noGrp="1"/>
          </p:cNvSpPr>
          <p:nvPr>
            <p:ph idx="1"/>
          </p:nvPr>
        </p:nvSpPr>
        <p:spPr/>
        <p:txBody>
          <a:bodyPr/>
          <a:lstStyle/>
          <a:p>
            <a:endParaRPr lang="en-US"/>
          </a:p>
          <a:p>
            <a:endParaRPr lang="en-US"/>
          </a:p>
        </p:txBody>
      </p:sp>
      <p:sp>
        <p:nvSpPr>
          <p:cNvPr id="9" name="Rectangle 8"/>
          <p:cNvSpPr/>
          <p:nvPr/>
        </p:nvSpPr>
        <p:spPr>
          <a:xfrm>
            <a:off x="6384518" y="1871008"/>
            <a:ext cx="2530882" cy="1938992"/>
          </a:xfrm>
          <a:prstGeom prst="rect">
            <a:avLst/>
          </a:prstGeom>
        </p:spPr>
        <p:txBody>
          <a:bodyPr wrap="square">
            <a:spAutoFit/>
          </a:bodyPr>
          <a:lstStyle/>
          <a:p>
            <a:r>
              <a:rPr lang="en-US" sz="2400">
                <a:solidFill>
                  <a:srgbClr val="002060"/>
                </a:solidFill>
                <a:latin typeface="Calibri"/>
              </a:rPr>
              <a:t>To achieve 100% statement coverage, using a single test case: </a:t>
            </a:r>
          </a:p>
          <a:p>
            <a:r>
              <a:rPr lang="en-US" sz="2400">
                <a:solidFill>
                  <a:srgbClr val="002060"/>
                </a:solidFill>
                <a:latin typeface="Calibri"/>
              </a:rPr>
              <a:t>A = 2 and X = 2</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4749" y="1524000"/>
            <a:ext cx="1369769" cy="4924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5775" y="1905000"/>
            <a:ext cx="4262328"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402286" y="5879068"/>
            <a:ext cx="4968348" cy="430887"/>
          </a:xfrm>
          <a:prstGeom prst="rect">
            <a:avLst/>
          </a:prstGeom>
          <a:solidFill>
            <a:srgbClr val="00B050"/>
          </a:solidFill>
        </p:spPr>
        <p:txBody>
          <a:bodyPr wrap="none">
            <a:spAutoFit/>
          </a:bodyPr>
          <a:lstStyle/>
          <a:p>
            <a:r>
              <a:rPr lang="en-US" sz="2200" b="1">
                <a:solidFill>
                  <a:prstClr val="black"/>
                </a:solidFill>
                <a:latin typeface="Calibri"/>
              </a:rPr>
              <a:t>The number of executable statements:  6</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88</a:t>
            </a:fld>
            <a:endParaRPr lang="en-US"/>
          </a:p>
        </p:txBody>
      </p:sp>
    </p:spTree>
    <p:extLst>
      <p:ext uri="{BB962C8B-B14F-4D97-AF65-F5344CB8AC3E}">
        <p14:creationId xmlns:p14="http://schemas.microsoft.com/office/powerpoint/2010/main" val="3122079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animBg="1"/>
    </p:bld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Exercise</a:t>
            </a:r>
          </a:p>
        </p:txBody>
      </p:sp>
      <p:sp>
        <p:nvSpPr>
          <p:cNvPr id="5" name="Content Placeholder 4"/>
          <p:cNvSpPr>
            <a:spLocks noGrp="1"/>
          </p:cNvSpPr>
          <p:nvPr>
            <p:ph idx="1"/>
          </p:nvPr>
        </p:nvSpPr>
        <p:spPr/>
        <p:txBody>
          <a:bodyPr/>
          <a:lstStyle/>
          <a:p>
            <a:r>
              <a:rPr lang="en-US"/>
              <a:t>Đưa vào bt module</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89</a:t>
            </a:fld>
            <a:endParaRPr lang="en-US"/>
          </a:p>
        </p:txBody>
      </p:sp>
    </p:spTree>
    <p:extLst>
      <p:ext uri="{BB962C8B-B14F-4D97-AF65-F5344CB8AC3E}">
        <p14:creationId xmlns:p14="http://schemas.microsoft.com/office/powerpoint/2010/main" val="109155122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Exercise</a:t>
            </a:r>
          </a:p>
        </p:txBody>
      </p:sp>
      <p:sp>
        <p:nvSpPr>
          <p:cNvPr id="5" name="Content Placeholder 4"/>
          <p:cNvSpPr>
            <a:spLocks noGrp="1"/>
          </p:cNvSpPr>
          <p:nvPr>
            <p:ph idx="1"/>
          </p:nvPr>
        </p:nvSpPr>
        <p:spPr/>
        <p:txBody>
          <a:bodyPr/>
          <a:lstStyle/>
          <a:p>
            <a:r>
              <a:rPr lang="en-US"/>
              <a:t>Đưa vào bt module</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90</a:t>
            </a:fld>
            <a:endParaRPr lang="en-US"/>
          </a:p>
        </p:txBody>
      </p:sp>
    </p:spTree>
    <p:extLst>
      <p:ext uri="{BB962C8B-B14F-4D97-AF65-F5344CB8AC3E}">
        <p14:creationId xmlns:p14="http://schemas.microsoft.com/office/powerpoint/2010/main" val="14831442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Exercise</a:t>
            </a:r>
          </a:p>
        </p:txBody>
      </p:sp>
      <p:sp>
        <p:nvSpPr>
          <p:cNvPr id="5" name="Content Placeholder 4"/>
          <p:cNvSpPr>
            <a:spLocks noGrp="1"/>
          </p:cNvSpPr>
          <p:nvPr>
            <p:ph idx="1"/>
          </p:nvPr>
        </p:nvSpPr>
        <p:spPr/>
        <p:txBody>
          <a:bodyPr/>
          <a:lstStyle/>
          <a:p>
            <a:r>
              <a:rPr lang="en-US"/>
              <a:t>Đưa vào bt module</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91</a:t>
            </a:fld>
            <a:endParaRPr lang="en-US"/>
          </a:p>
        </p:txBody>
      </p:sp>
    </p:spTree>
    <p:extLst>
      <p:ext uri="{BB962C8B-B14F-4D97-AF65-F5344CB8AC3E}">
        <p14:creationId xmlns:p14="http://schemas.microsoft.com/office/powerpoint/2010/main" val="57024718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6869" y="914400"/>
            <a:ext cx="6473131" cy="5750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92</a:t>
            </a:fld>
            <a:endParaRPr lang="en-US"/>
          </a:p>
        </p:txBody>
      </p:sp>
    </p:spTree>
    <p:extLst>
      <p:ext uri="{BB962C8B-B14F-4D97-AF65-F5344CB8AC3E}">
        <p14:creationId xmlns:p14="http://schemas.microsoft.com/office/powerpoint/2010/main" val="368946725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a:t>Đưa vào bt module or exam?</a:t>
            </a:r>
          </a:p>
        </p:txBody>
      </p:sp>
      <p:pic>
        <p:nvPicPr>
          <p:cNvPr id="15362" name="Picture 2"/>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bwMode="auto">
          <a:xfrm>
            <a:off x="381000" y="1676400"/>
            <a:ext cx="8596312"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4038600" y="2468940"/>
            <a:ext cx="4953000" cy="1938992"/>
          </a:xfrm>
          <a:prstGeom prst="rect">
            <a:avLst/>
          </a:prstGeom>
        </p:spPr>
        <p:txBody>
          <a:bodyPr wrap="square">
            <a:spAutoFit/>
          </a:bodyPr>
          <a:lstStyle/>
          <a:p>
            <a:r>
              <a:rPr lang="en-US" sz="2400" b="1">
                <a:solidFill>
                  <a:srgbClr val="002060"/>
                </a:solidFill>
                <a:latin typeface="Calibri"/>
              </a:rPr>
              <a:t>a. How many test cases to achieve 100% decision coverage? </a:t>
            </a:r>
          </a:p>
          <a:p>
            <a:r>
              <a:rPr lang="en-US" sz="2400" b="1">
                <a:solidFill>
                  <a:srgbClr val="002060"/>
                </a:solidFill>
                <a:latin typeface="Calibri"/>
              </a:rPr>
              <a:t>b. What level of decision coverage would be achieved by the single input A = –1?</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93</a:t>
            </a:fld>
            <a:endParaRPr lang="en-US"/>
          </a:p>
        </p:txBody>
      </p:sp>
    </p:spTree>
    <p:extLst>
      <p:ext uri="{BB962C8B-B14F-4D97-AF65-F5344CB8AC3E}">
        <p14:creationId xmlns:p14="http://schemas.microsoft.com/office/powerpoint/2010/main" val="361254852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Exercise</a:t>
            </a:r>
          </a:p>
        </p:txBody>
      </p:sp>
      <p:sp>
        <p:nvSpPr>
          <p:cNvPr id="5" name="Content Placeholder 4"/>
          <p:cNvSpPr>
            <a:spLocks noGrp="1"/>
          </p:cNvSpPr>
          <p:nvPr>
            <p:ph idx="1"/>
          </p:nvPr>
        </p:nvSpPr>
        <p:spPr/>
        <p:txBody>
          <a:bodyPr/>
          <a:lstStyle/>
          <a:p>
            <a:r>
              <a:rPr lang="en-US"/>
              <a:t>Đưa vào bt module</a:t>
            </a:r>
          </a:p>
        </p:txBody>
      </p:sp>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94</a:t>
            </a:fld>
            <a:endParaRPr lang="en-US"/>
          </a:p>
        </p:txBody>
      </p:sp>
    </p:spTree>
    <p:extLst>
      <p:ext uri="{BB962C8B-B14F-4D97-AF65-F5344CB8AC3E}">
        <p14:creationId xmlns:p14="http://schemas.microsoft.com/office/powerpoint/2010/main" val="331335762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Condition testing example</a:t>
            </a:r>
          </a:p>
        </p:txBody>
      </p:sp>
      <p:sp>
        <p:nvSpPr>
          <p:cNvPr id="5" name="Rectangle 4"/>
          <p:cNvSpPr/>
          <p:nvPr/>
        </p:nvSpPr>
        <p:spPr>
          <a:xfrm>
            <a:off x="6172200" y="3230940"/>
            <a:ext cx="2895600" cy="1569660"/>
          </a:xfrm>
          <a:prstGeom prst="rect">
            <a:avLst/>
          </a:prstGeom>
        </p:spPr>
        <p:txBody>
          <a:bodyPr wrap="square">
            <a:spAutoFit/>
          </a:bodyPr>
          <a:lstStyle/>
          <a:p>
            <a:r>
              <a:rPr lang="en-US" sz="2400" b="1">
                <a:solidFill>
                  <a:srgbClr val="002060"/>
                </a:solidFill>
                <a:latin typeface="Calibri"/>
              </a:rPr>
              <a:t>To achieve 100% condition coverage, how many test cases can be used?</a:t>
            </a:r>
            <a:endParaRPr lang="en-US" sz="2400" b="1" u="sng">
              <a:solidFill>
                <a:srgbClr val="002060"/>
              </a:solidFill>
              <a:latin typeface="Calibri"/>
            </a:endParaRPr>
          </a:p>
        </p:txBody>
      </p:sp>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92" y="2436440"/>
            <a:ext cx="4003608" cy="350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5560" y="1754057"/>
            <a:ext cx="1434240" cy="4722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Slide Number Placeholder 7"/>
          <p:cNvSpPr>
            <a:spLocks noGrp="1"/>
          </p:cNvSpPr>
          <p:nvPr>
            <p:ph type="sldNum" sz="quarter" idx="12"/>
          </p:nvPr>
        </p:nvSpPr>
        <p:spPr/>
        <p:txBody>
          <a:bodyPr/>
          <a:lstStyle/>
          <a:p>
            <a:r>
              <a:rPr lang="en-US"/>
              <a:t>Slide </a:t>
            </a:r>
            <a:fld id="{3900DC13-0C25-439E-AA75-E5DAAC4C3713}" type="slidenum">
              <a:rPr lang="en-US" smtClean="0"/>
              <a:pPr/>
              <a:t>95</a:t>
            </a:fld>
            <a:endParaRPr lang="en-US"/>
          </a:p>
        </p:txBody>
      </p:sp>
    </p:spTree>
    <p:extLst>
      <p:ext uri="{BB962C8B-B14F-4D97-AF65-F5344CB8AC3E}">
        <p14:creationId xmlns:p14="http://schemas.microsoft.com/office/powerpoint/2010/main" val="1962350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Condition testing example</a:t>
            </a:r>
          </a:p>
        </p:txBody>
      </p:sp>
      <p:sp>
        <p:nvSpPr>
          <p:cNvPr id="3" name="Content Placeholder 2"/>
          <p:cNvSpPr>
            <a:spLocks noGrp="1"/>
          </p:cNvSpPr>
          <p:nvPr>
            <p:ph idx="1"/>
          </p:nvPr>
        </p:nvSpPr>
        <p:spPr/>
        <p:txBody>
          <a:bodyPr/>
          <a:lstStyle/>
          <a:p>
            <a:r>
              <a:rPr lang="en-US"/>
              <a:t>Test all decisions?</a:t>
            </a:r>
          </a:p>
        </p:txBody>
      </p:sp>
      <p:graphicFrame>
        <p:nvGraphicFramePr>
          <p:cNvPr id="4" name="Table 3"/>
          <p:cNvGraphicFramePr>
            <a:graphicFrameLocks noGrp="1"/>
          </p:cNvGraphicFramePr>
          <p:nvPr>
            <p:extLst>
              <p:ext uri="{D42A27DB-BD31-4B8C-83A1-F6EECF244321}">
                <p14:modId xmlns:p14="http://schemas.microsoft.com/office/powerpoint/2010/main" val="850514102"/>
              </p:ext>
            </p:extLst>
          </p:nvPr>
        </p:nvGraphicFramePr>
        <p:xfrm>
          <a:off x="3961821" y="3124200"/>
          <a:ext cx="4953579" cy="1828800"/>
        </p:xfrm>
        <a:graphic>
          <a:graphicData uri="http://schemas.openxmlformats.org/drawingml/2006/table">
            <a:tbl>
              <a:tblPr firstRow="1" bandRow="1">
                <a:tableStyleId>{5C22544A-7EE6-4342-B048-85BDC9FD1C3A}</a:tableStyleId>
              </a:tblPr>
              <a:tblGrid>
                <a:gridCol w="1041343">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92493">
                  <a:extLst>
                    <a:ext uri="{9D8B030D-6E8A-4147-A177-3AD203B41FA5}">
                      <a16:colId xmlns:a16="http://schemas.microsoft.com/office/drawing/2014/main" val="20003"/>
                    </a:ext>
                  </a:extLst>
                </a:gridCol>
                <a:gridCol w="1343343">
                  <a:extLst>
                    <a:ext uri="{9D8B030D-6E8A-4147-A177-3AD203B41FA5}">
                      <a16:colId xmlns:a16="http://schemas.microsoft.com/office/drawing/2014/main" val="20004"/>
                    </a:ext>
                  </a:extLst>
                </a:gridCol>
              </a:tblGrid>
              <a:tr h="370840">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bg1"/>
                          </a:solidFill>
                          <a:latin typeface="+mj-lt"/>
                        </a:rPr>
                        <a:t>A&gt;1 AND X=2 </a:t>
                      </a:r>
                    </a:p>
                  </a:txBody>
                  <a:tcPr>
                    <a:solidFill>
                      <a:srgbClr val="0070C0"/>
                    </a:solidFill>
                  </a:tcPr>
                </a:tc>
                <a:tc hMerge="1">
                  <a:txBody>
                    <a:bodyPr/>
                    <a:lstStyle/>
                    <a:p>
                      <a:endParaRPr lang="en-US"/>
                    </a:p>
                  </a:txBody>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bg1"/>
                          </a:solidFill>
                          <a:latin typeface="+mj-lt"/>
                        </a:rPr>
                        <a:t>A=2</a:t>
                      </a:r>
                      <a:r>
                        <a:rPr lang="en-US" sz="2400" baseline="0">
                          <a:solidFill>
                            <a:schemeClr val="bg1"/>
                          </a:solidFill>
                          <a:latin typeface="+mj-lt"/>
                        </a:rPr>
                        <a:t> OR X=2</a:t>
                      </a:r>
                      <a:endParaRPr lang="en-US" sz="2400">
                        <a:solidFill>
                          <a:schemeClr val="bg1"/>
                        </a:solidFill>
                        <a:latin typeface="+mj-lt"/>
                      </a:endParaRPr>
                    </a:p>
                  </a:txBody>
                  <a:tcPr>
                    <a:solidFill>
                      <a:srgbClr val="0070C0"/>
                    </a:solidFill>
                  </a:tcPr>
                </a:tc>
                <a:tc hMerge="1">
                  <a:txBody>
                    <a:bodyPr/>
                    <a:lstStyle/>
                    <a:p>
                      <a:endParaRPr lang="en-US"/>
                    </a:p>
                  </a:txBody>
                  <a:tcPr/>
                </a:tc>
                <a:tc rowSpan="2">
                  <a:txBody>
                    <a:bodyPr/>
                    <a:lstStyle/>
                    <a:p>
                      <a:pPr algn="ctr"/>
                      <a:r>
                        <a:rPr lang="en-US" sz="2400">
                          <a:solidFill>
                            <a:schemeClr val="bg1"/>
                          </a:solidFill>
                          <a:latin typeface="+mj-lt"/>
                        </a:rPr>
                        <a:t>Input</a:t>
                      </a:r>
                    </a:p>
                  </a:txBody>
                  <a:tcPr anchor="ctr">
                    <a:solidFill>
                      <a:srgbClr val="0070C0"/>
                    </a:solidFill>
                  </a:tcPr>
                </a:tc>
                <a:extLst>
                  <a:ext uri="{0D108BD9-81ED-4DB2-BD59-A6C34878D82A}">
                    <a16:rowId xmlns:a16="http://schemas.microsoft.com/office/drawing/2014/main" val="10000"/>
                  </a:ext>
                </a:extLst>
              </a:tr>
              <a:tr h="370840">
                <a:tc>
                  <a:txBody>
                    <a:bodyPr/>
                    <a:lstStyle/>
                    <a:p>
                      <a:pPr algn="ctr"/>
                      <a:r>
                        <a:rPr lang="en-US" sz="2400">
                          <a:solidFill>
                            <a:schemeClr val="bg1"/>
                          </a:solidFill>
                          <a:latin typeface="+mj-lt"/>
                        </a:rPr>
                        <a:t>A&gt;1</a:t>
                      </a:r>
                    </a:p>
                  </a:txBody>
                  <a:tcPr>
                    <a:solidFill>
                      <a:srgbClr val="0070C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bg1"/>
                          </a:solidFill>
                          <a:latin typeface="+mj-lt"/>
                        </a:rPr>
                        <a:t>X=2</a:t>
                      </a:r>
                    </a:p>
                  </a:txBody>
                  <a:tcPr>
                    <a:solidFill>
                      <a:srgbClr val="0070C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bg1"/>
                          </a:solidFill>
                          <a:latin typeface="+mj-lt"/>
                        </a:rPr>
                        <a:t>A=2</a:t>
                      </a:r>
                    </a:p>
                  </a:txBody>
                  <a:tcPr>
                    <a:solidFill>
                      <a:srgbClr val="0070C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aseline="0">
                          <a:solidFill>
                            <a:schemeClr val="bg1"/>
                          </a:solidFill>
                          <a:latin typeface="+mj-lt"/>
                        </a:rPr>
                        <a:t>X=2</a:t>
                      </a:r>
                      <a:endParaRPr lang="en-US" sz="2400">
                        <a:solidFill>
                          <a:schemeClr val="bg1"/>
                        </a:solidFill>
                        <a:latin typeface="+mj-lt"/>
                      </a:endParaRPr>
                    </a:p>
                  </a:txBody>
                  <a:tcPr>
                    <a:solidFill>
                      <a:srgbClr val="0070C0"/>
                    </a:solid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a:latin typeface="+mj-lt"/>
                        </a:rPr>
                        <a:t>T</a:t>
                      </a:r>
                    </a:p>
                  </a:txBody>
                  <a:tcPr/>
                </a:tc>
                <a:tc>
                  <a:txBody>
                    <a:bodyPr/>
                    <a:lstStyle/>
                    <a:p>
                      <a:pPr algn="ctr"/>
                      <a:r>
                        <a:rPr lang="en-US" sz="2400">
                          <a:latin typeface="+mj-lt"/>
                        </a:rPr>
                        <a:t>F</a:t>
                      </a:r>
                    </a:p>
                  </a:txBody>
                  <a:tcPr/>
                </a:tc>
                <a:tc>
                  <a:txBody>
                    <a:bodyPr/>
                    <a:lstStyle/>
                    <a:p>
                      <a:pPr algn="ctr"/>
                      <a:r>
                        <a:rPr lang="en-US" sz="2400">
                          <a:latin typeface="+mj-lt"/>
                        </a:rPr>
                        <a:t>T</a:t>
                      </a:r>
                    </a:p>
                  </a:txBody>
                  <a:tcPr/>
                </a:tc>
                <a:tc>
                  <a:txBody>
                    <a:bodyPr/>
                    <a:lstStyle/>
                    <a:p>
                      <a:pPr algn="ctr"/>
                      <a:r>
                        <a:rPr lang="en-US" sz="2400">
                          <a:latin typeface="+mj-lt"/>
                        </a:rPr>
                        <a:t>F</a:t>
                      </a:r>
                    </a:p>
                  </a:txBody>
                  <a:tcPr/>
                </a:tc>
                <a:tc>
                  <a:txBody>
                    <a:bodyPr/>
                    <a:lstStyle/>
                    <a:p>
                      <a:pPr algn="ctr"/>
                      <a:r>
                        <a:rPr lang="en-US" sz="2400">
                          <a:latin typeface="+mj-lt"/>
                        </a:rPr>
                        <a:t>A=2, X=3</a:t>
                      </a:r>
                    </a:p>
                  </a:txBody>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a:latin typeface="+mj-lt"/>
                        </a:rPr>
                        <a:t>F</a:t>
                      </a:r>
                    </a:p>
                  </a:txBody>
                  <a:tcPr/>
                </a:tc>
                <a:tc>
                  <a:txBody>
                    <a:bodyPr/>
                    <a:lstStyle/>
                    <a:p>
                      <a:pPr algn="ctr"/>
                      <a:r>
                        <a:rPr lang="en-US" sz="2400">
                          <a:latin typeface="+mj-lt"/>
                        </a:rPr>
                        <a:t>T</a:t>
                      </a:r>
                    </a:p>
                  </a:txBody>
                  <a:tcPr/>
                </a:tc>
                <a:tc>
                  <a:txBody>
                    <a:bodyPr/>
                    <a:lstStyle/>
                    <a:p>
                      <a:pPr algn="ctr"/>
                      <a:r>
                        <a:rPr lang="en-US" sz="2400">
                          <a:latin typeface="+mj-lt"/>
                        </a:rPr>
                        <a:t>F</a:t>
                      </a:r>
                    </a:p>
                  </a:txBody>
                  <a:tcPr/>
                </a:tc>
                <a:tc>
                  <a:txBody>
                    <a:bodyPr/>
                    <a:lstStyle/>
                    <a:p>
                      <a:pPr algn="ctr"/>
                      <a:r>
                        <a:rPr lang="en-US" sz="2400">
                          <a:latin typeface="+mj-lt"/>
                        </a:rPr>
                        <a:t>T</a:t>
                      </a:r>
                    </a:p>
                  </a:txBody>
                  <a:tcPr/>
                </a:tc>
                <a:tc>
                  <a:txBody>
                    <a:bodyPr/>
                    <a:lstStyle/>
                    <a:p>
                      <a:pPr algn="ctr"/>
                      <a:r>
                        <a:rPr lang="en-US" sz="2400">
                          <a:latin typeface="+mj-lt"/>
                        </a:rPr>
                        <a:t>A=0, X=2</a:t>
                      </a:r>
                    </a:p>
                  </a:txBody>
                  <a:tcPr/>
                </a:tc>
                <a:extLst>
                  <a:ext uri="{0D108BD9-81ED-4DB2-BD59-A6C34878D82A}">
                    <a16:rowId xmlns:a16="http://schemas.microsoft.com/office/drawing/2014/main" val="10003"/>
                  </a:ext>
                </a:extLst>
              </a:tr>
            </a:tbl>
          </a:graphicData>
        </a:graphic>
      </p:graphicFrame>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514600"/>
            <a:ext cx="3653426"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Slide Number Placeholder 7"/>
          <p:cNvSpPr>
            <a:spLocks noGrp="1"/>
          </p:cNvSpPr>
          <p:nvPr>
            <p:ph type="sldNum" sz="quarter" idx="12"/>
          </p:nvPr>
        </p:nvSpPr>
        <p:spPr/>
        <p:txBody>
          <a:bodyPr/>
          <a:lstStyle/>
          <a:p>
            <a:r>
              <a:rPr lang="en-US"/>
              <a:t>Slide </a:t>
            </a:r>
            <a:fld id="{3900DC13-0C25-439E-AA75-E5DAAC4C3713}" type="slidenum">
              <a:rPr lang="en-US" smtClean="0"/>
              <a:pPr/>
              <a:t>96</a:t>
            </a:fld>
            <a:endParaRPr lang="en-US"/>
          </a:p>
        </p:txBody>
      </p:sp>
    </p:spTree>
    <p:extLst>
      <p:ext uri="{BB962C8B-B14F-4D97-AF65-F5344CB8AC3E}">
        <p14:creationId xmlns:p14="http://schemas.microsoft.com/office/powerpoint/2010/main" val="2464257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5.xml.rels><?xml version="1.0" encoding="UTF-8" standalone="yes"?>
<Relationships xmlns="http://schemas.openxmlformats.org/package/2006/relationships"><Relationship Id="rId1" Type="http://schemas.openxmlformats.org/officeDocument/2006/relationships/image" Target="../media/image1.jpeg"/></Relationships>
</file>

<file path=ppt/theme/_rels/theme16.xml.rels><?xml version="1.0" encoding="UTF-8" standalone="yes"?>
<Relationships xmlns="http://schemas.openxmlformats.org/package/2006/relationships"><Relationship Id="rId1" Type="http://schemas.openxmlformats.org/officeDocument/2006/relationships/image" Target="../media/image1.jpeg"/></Relationships>
</file>

<file path=ppt/theme/_rels/theme17.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9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0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1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1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16.xml><?xml version="1.0" encoding="utf-8"?>
<a:theme xmlns:a="http://schemas.openxmlformats.org/drawingml/2006/main" name="2_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17.xml><?xml version="1.0" encoding="utf-8"?>
<a:theme xmlns:a="http://schemas.openxmlformats.org/drawingml/2006/main" name="3_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1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TS010338266</Template>
  <TotalTime>83672</TotalTime>
  <Words>14790</Words>
  <Application>Microsoft Office PowerPoint</Application>
  <PresentationFormat>On-screen Show (4:3)</PresentationFormat>
  <Paragraphs>1481</Paragraphs>
  <Slides>96</Slides>
  <Notes>85</Notes>
  <HiddenSlides>53</HiddenSlides>
  <MMClips>0</MMClips>
  <ScaleCrop>false</ScaleCrop>
  <HeadingPairs>
    <vt:vector size="6" baseType="variant">
      <vt:variant>
        <vt:lpstr>Fonts Used</vt:lpstr>
      </vt:variant>
      <vt:variant>
        <vt:i4>8</vt:i4>
      </vt:variant>
      <vt:variant>
        <vt:lpstr>Theme</vt:lpstr>
      </vt:variant>
      <vt:variant>
        <vt:i4>17</vt:i4>
      </vt:variant>
      <vt:variant>
        <vt:lpstr>Slide Titles</vt:lpstr>
      </vt:variant>
      <vt:variant>
        <vt:i4>96</vt:i4>
      </vt:variant>
    </vt:vector>
  </HeadingPairs>
  <TitlesOfParts>
    <vt:vector size="121" baseType="lpstr">
      <vt:lpstr>Arial</vt:lpstr>
      <vt:lpstr>Calibri</vt:lpstr>
      <vt:lpstr>Cambria Math</vt:lpstr>
      <vt:lpstr>Constantia</vt:lpstr>
      <vt:lpstr>Tahoma</vt:lpstr>
      <vt:lpstr>Times New Roman</vt:lpstr>
      <vt:lpstr>Wingdings</vt:lpstr>
      <vt:lpstr>Wingdings 2</vt:lpstr>
      <vt:lpstr>1_Office Theme</vt:lpstr>
      <vt:lpstr>Office Theme</vt:lpstr>
      <vt:lpstr>2_Office Theme</vt:lpstr>
      <vt:lpstr>3_Office Theme</vt:lpstr>
      <vt:lpstr>4_Office Theme</vt:lpstr>
      <vt:lpstr>5_Office Theme</vt:lpstr>
      <vt:lpstr>6_Office Theme</vt:lpstr>
      <vt:lpstr>7_Office Theme</vt:lpstr>
      <vt:lpstr>8_Office Theme</vt:lpstr>
      <vt:lpstr>9_Office Theme</vt:lpstr>
      <vt:lpstr>10_Office Theme</vt:lpstr>
      <vt:lpstr>11_Office Theme</vt:lpstr>
      <vt:lpstr>12_Office Theme</vt:lpstr>
      <vt:lpstr>13_Office Theme</vt:lpstr>
      <vt:lpstr>Flow</vt:lpstr>
      <vt:lpstr>2_Flow</vt:lpstr>
      <vt:lpstr>3_Flow</vt:lpstr>
      <vt:lpstr>Dynamic techniques (cont.)</vt:lpstr>
      <vt:lpstr>References</vt:lpstr>
      <vt:lpstr>Contents</vt:lpstr>
      <vt:lpstr>White-box techniques</vt:lpstr>
      <vt:lpstr>White-box techniques</vt:lpstr>
      <vt:lpstr>Control-flow graph</vt:lpstr>
      <vt:lpstr>Control-flow graph - Example</vt:lpstr>
      <vt:lpstr>Statement testing (Level 1)</vt:lpstr>
      <vt:lpstr>Statement coverage example 1</vt:lpstr>
      <vt:lpstr>Statement coverage example 2</vt:lpstr>
      <vt:lpstr>Statement coverage example 2 - Solution</vt:lpstr>
      <vt:lpstr>Statement coverage example 2 - Solution</vt:lpstr>
      <vt:lpstr>Statement coverage exercise</vt:lpstr>
      <vt:lpstr>Statement coverage exercise: Solution</vt:lpstr>
      <vt:lpstr>Statement coverage problems</vt:lpstr>
      <vt:lpstr>Decision testing (Level 2)</vt:lpstr>
      <vt:lpstr>Decision testing (cont’d)</vt:lpstr>
      <vt:lpstr>Decision testing example 1</vt:lpstr>
      <vt:lpstr>Decision testing example 2</vt:lpstr>
      <vt:lpstr>Decision testing exercise 1</vt:lpstr>
      <vt:lpstr>Solution exercise 1</vt:lpstr>
      <vt:lpstr>Decision testing exercise 2</vt:lpstr>
      <vt:lpstr>Solution exercise 2</vt:lpstr>
      <vt:lpstr>Decision testing exercise 3</vt:lpstr>
      <vt:lpstr>Solution exercise 3</vt:lpstr>
      <vt:lpstr>Test</vt:lpstr>
      <vt:lpstr>Decision testing problems</vt:lpstr>
      <vt:lpstr>Condition testing (Level 3)</vt:lpstr>
      <vt:lpstr>Decision/Condition testing (Level 4)</vt:lpstr>
      <vt:lpstr>Multiple condition testing (Level 5)</vt:lpstr>
      <vt:lpstr>Path testing (Level 6)</vt:lpstr>
      <vt:lpstr>Paths through code</vt:lpstr>
      <vt:lpstr>Paths through code with loops</vt:lpstr>
      <vt:lpstr>White box techniques - Advantages</vt:lpstr>
      <vt:lpstr>White box techniques - Disadvantages</vt:lpstr>
      <vt:lpstr>Contents</vt:lpstr>
      <vt:lpstr>Non-systematic test techniques</vt:lpstr>
      <vt:lpstr>Error guessing</vt:lpstr>
      <vt:lpstr>Exploratory testing</vt:lpstr>
      <vt:lpstr>Contents</vt:lpstr>
      <vt:lpstr>Choosing test techniques</vt:lpstr>
      <vt:lpstr>Choosing test techniques (cont’d)</vt:lpstr>
      <vt:lpstr>Choosing test techniques (cont’d)</vt:lpstr>
      <vt:lpstr>Exploratory testing</vt:lpstr>
      <vt:lpstr>Test</vt:lpstr>
      <vt:lpstr>Test</vt:lpstr>
      <vt:lpstr>Exploratory testing process</vt:lpstr>
      <vt:lpstr>Advantages of exploratory testing</vt:lpstr>
      <vt:lpstr>Disadvantages of exploratory testing</vt:lpstr>
      <vt:lpstr>Sửa bài tập</vt:lpstr>
      <vt:lpstr>Sửa bài tập</vt:lpstr>
      <vt:lpstr>Example</vt:lpstr>
      <vt:lpstr>Example solution</vt:lpstr>
      <vt:lpstr>Example solution (cont’d)</vt:lpstr>
      <vt:lpstr>Black-box techniques Decision tables testing</vt:lpstr>
      <vt:lpstr>Black-box techniques Decision tables testing</vt:lpstr>
      <vt:lpstr>EP and BVA exercise</vt:lpstr>
      <vt:lpstr>PowerPoint Presentation</vt:lpstr>
      <vt:lpstr>PowerPoint Presentation</vt:lpstr>
      <vt:lpstr>4.1. PHÂN CHIA LỚP TƯƠNG ĐƯƠNG (EQUIVALENCE PARTITIONING)</vt:lpstr>
      <vt:lpstr>4.1. PHÂN CHIA LỚP TƯƠNG ĐƯƠNG (EQUIVALENCE PARTITIONING)</vt:lpstr>
      <vt:lpstr>4.1. PHÂN CHIA LỚP TƯƠNG ĐƯƠNG (EQUIVALENCE PARTITIONING)</vt:lpstr>
      <vt:lpstr>4.1. PHÂN CHIA LỚP TƯƠNG ĐƯƠNG (EQUIVALENCE PARTITIONING)</vt:lpstr>
      <vt:lpstr>Equivalence partitioning</vt:lpstr>
      <vt:lpstr>Equivalence partitioning</vt:lpstr>
      <vt:lpstr>Black-box techniques Extending EP and BVA</vt:lpstr>
      <vt:lpstr>Black-box techniques Extending EP and BVA</vt:lpstr>
      <vt:lpstr>Black-box techniques Designing test case for EP and BVA</vt:lpstr>
      <vt:lpstr>Black-box techniques EP/BVA exercise </vt:lpstr>
      <vt:lpstr>PowerPoint Presentation</vt:lpstr>
      <vt:lpstr>4.5. DOMAIN TESTING</vt:lpstr>
      <vt:lpstr>4.5. DOMAIN TESTING</vt:lpstr>
      <vt:lpstr>4.5. DOMAIN TESTING</vt:lpstr>
      <vt:lpstr>4.5. DOMAIN TESTING</vt:lpstr>
      <vt:lpstr>4.5. DOMAIN TESTING</vt:lpstr>
      <vt:lpstr>4.5. DOMAIN TESTING</vt:lpstr>
      <vt:lpstr>4.5. DOMAIN TESTING</vt:lpstr>
      <vt:lpstr>4.5. DOMAIN TESTING</vt:lpstr>
      <vt:lpstr>Black-box techniques Decision tables testing exercise</vt:lpstr>
      <vt:lpstr>Black-box techniques Decision tables testing</vt:lpstr>
      <vt:lpstr>Decision coverage example</vt:lpstr>
      <vt:lpstr>Decision coverage example</vt:lpstr>
      <vt:lpstr>Control-flow graph - Example</vt:lpstr>
      <vt:lpstr>Coverage techniques</vt:lpstr>
      <vt:lpstr>PowerPoint Presentation</vt:lpstr>
      <vt:lpstr>PowerPoint Presentation</vt:lpstr>
      <vt:lpstr>Statement coverage example</vt:lpstr>
      <vt:lpstr>Statement coverage example 2</vt:lpstr>
      <vt:lpstr>Exercise</vt:lpstr>
      <vt:lpstr>Exercise</vt:lpstr>
      <vt:lpstr>Exercise</vt:lpstr>
      <vt:lpstr>PowerPoint Presentation</vt:lpstr>
      <vt:lpstr>Đưa vào bt module or exam?</vt:lpstr>
      <vt:lpstr>Exercise</vt:lpstr>
      <vt:lpstr>Condition testing example</vt:lpstr>
      <vt:lpstr>Condition testing 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CHAUHAI</dc:creator>
  <cp:lastModifiedBy>License For You And Lifetime</cp:lastModifiedBy>
  <cp:revision>1891</cp:revision>
  <dcterms:created xsi:type="dcterms:W3CDTF">2011-10-06T02:30:27Z</dcterms:created>
  <dcterms:modified xsi:type="dcterms:W3CDTF">2024-06-23T03:48:41Z</dcterms:modified>
</cp:coreProperties>
</file>